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0C0"/>
    <a:srgbClr val="002D86"/>
    <a:srgbClr val="FFFF00"/>
    <a:srgbClr val="FF33CC"/>
    <a:srgbClr val="006600"/>
    <a:srgbClr val="003399"/>
    <a:srgbClr val="254061"/>
    <a:srgbClr val="002060"/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8" autoAdjust="0"/>
    <p:restoredTop sz="99234" autoAdjust="0"/>
  </p:normalViewPr>
  <p:slideViewPr>
    <p:cSldViewPr>
      <p:cViewPr varScale="1">
        <p:scale>
          <a:sx n="117" d="100"/>
          <a:sy n="117" d="100"/>
        </p:scale>
        <p:origin x="480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BCBCB-036B-453E-BF70-851563E2DECA}" type="datetimeFigureOut">
              <a:rPr lang="es-ES" smtClean="0"/>
              <a:pPr/>
              <a:t>10/08/2022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E9763-4EA5-456F-BE99-B64CE06C9C6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236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7F99C-8866-486B-B56F-6AB871EF7A36}" type="slidenum">
              <a:rPr lang="es-ES" smtClean="0"/>
              <a:pPr/>
              <a:t>1</a:t>
            </a:fld>
            <a:endParaRPr lang="es-E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2C811-28ED-4A95-A132-4F20DA413F26}" type="datetime1">
              <a:rPr lang="es-ES" smtClean="0"/>
              <a:t>10/08/2022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CC4FA-E1C6-44BF-9030-8D4F22E24516}" type="datetime1">
              <a:rPr lang="es-ES" smtClean="0"/>
              <a:t>10/08/2022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041A-C3FC-4419-A1FA-185A4604612E}" type="datetime1">
              <a:rPr lang="es-ES" smtClean="0"/>
              <a:t>10/08/2022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85DD4-8DC8-497C-AB68-B50BAF23C7A7}" type="datetime1">
              <a:rPr lang="es-ES" smtClean="0"/>
              <a:t>10/08/2022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383-0856-4D6F-91D0-D93769F44810}" type="datetime1">
              <a:rPr lang="es-ES" smtClean="0"/>
              <a:t>10/08/2022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E4FE-4B2B-4FF0-93C8-F90208E1C8FE}" type="datetime1">
              <a:rPr lang="es-ES" smtClean="0"/>
              <a:t>10/08/2022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3CA2-C457-41B4-A9DE-8C56E6135130}" type="datetime1">
              <a:rPr lang="es-ES" smtClean="0"/>
              <a:t>10/08/2022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159591-2568-4DE8-9BFD-2ABD54E1DEC4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7451725" y="1052512"/>
            <a:ext cx="1152723" cy="216248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s-ES" dirty="0" smtClean="0"/>
              <a:t>volver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6398-E37A-4821-AB64-868D2292FF3F}" type="datetime1">
              <a:rPr lang="es-ES" smtClean="0"/>
              <a:t>10/08/2022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5" name="6 Título"/>
          <p:cNvSpPr txBox="1">
            <a:spLocks/>
          </p:cNvSpPr>
          <p:nvPr userDrawn="1"/>
        </p:nvSpPr>
        <p:spPr>
          <a:xfrm>
            <a:off x="152400" y="462744"/>
            <a:ext cx="5410944" cy="310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 fontScale="47500" lnSpcReduction="20000"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EXCEL(.</a:t>
            </a:r>
            <a:r>
              <a:rPr lang="es-ES" sz="2200" b="1" dirty="0" err="1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xlsx</a:t>
            </a: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2200" b="1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4566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A615-66DD-444E-9A0E-B0D6F9A07DB9}" type="datetime1">
              <a:rPr lang="es-ES" smtClean="0"/>
              <a:t>10/08/2022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F7DAD-1473-4A57-A48C-1A968C933396}" type="datetime1">
              <a:rPr lang="es-ES" smtClean="0"/>
              <a:t>10/08/2022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86D5-46EC-4EF5-9555-8B882887C988}" type="datetime1">
              <a:rPr lang="es-ES" smtClean="0"/>
              <a:t>10/08/2022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8295-8956-46F1-AB42-EC2C6612A287}" type="datetime1">
              <a:rPr lang="es-ES" smtClean="0"/>
              <a:t>10/08/2022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7350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9CAF-5B30-47A7-BF4C-805041D42615}" type="datetime1">
              <a:rPr lang="es-ES" smtClean="0"/>
              <a:t>10/08/2022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17BDE-278E-45AC-9E00-A9F51DF70CF9}" type="datetime1">
              <a:rPr lang="es-ES" smtClean="0"/>
              <a:t>10/08/2022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10" name="12 Imagen" descr="Batz®.png"/>
          <p:cNvPicPr>
            <a:picLocks noChangeAspect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6715140" y="84683"/>
            <a:ext cx="2008187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Rectángulo redondeado"/>
          <p:cNvSpPr/>
          <p:nvPr userDrawn="1"/>
        </p:nvSpPr>
        <p:spPr>
          <a:xfrm>
            <a:off x="168395" y="692696"/>
            <a:ext cx="684000" cy="144000"/>
          </a:xfrm>
          <a:prstGeom prst="roundRect">
            <a:avLst/>
          </a:prstGeom>
          <a:solidFill>
            <a:srgbClr val="009A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" name="11 Rectángulo redondeado"/>
          <p:cNvSpPr/>
          <p:nvPr userDrawn="1"/>
        </p:nvSpPr>
        <p:spPr>
          <a:xfrm>
            <a:off x="-11246" y="692696"/>
            <a:ext cx="144000" cy="144000"/>
          </a:xfrm>
          <a:prstGeom prst="roundRect">
            <a:avLst/>
          </a:prstGeom>
          <a:solidFill>
            <a:srgbClr val="009A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" name="6 Título"/>
          <p:cNvSpPr txBox="1">
            <a:spLocks/>
          </p:cNvSpPr>
          <p:nvPr userDrawn="1"/>
        </p:nvSpPr>
        <p:spPr>
          <a:xfrm>
            <a:off x="0" y="0"/>
            <a:ext cx="5410944" cy="62068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APLICACIÓN</a:t>
            </a:r>
            <a:r>
              <a:rPr lang="es-ES" sz="2200" b="1" baseline="0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 COST CARRIERS</a:t>
            </a:r>
            <a:endParaRPr lang="en-US" sz="2200" b="1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13 Rectángulo"/>
          <p:cNvSpPr/>
          <p:nvPr userDrawn="1"/>
        </p:nvSpPr>
        <p:spPr>
          <a:xfrm>
            <a:off x="0" y="908720"/>
            <a:ext cx="9123363" cy="552614"/>
          </a:xfrm>
          <a:prstGeom prst="rect">
            <a:avLst/>
          </a:prstGeom>
          <a:solidFill>
            <a:schemeClr val="tx2">
              <a:lumMod val="20000"/>
              <a:lumOff val="80000"/>
              <a:alpha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0000" tIns="46800" rIns="234000" bIns="46800" anchor="ctr"/>
          <a:lstStyle/>
          <a:p>
            <a:pPr algn="r">
              <a:defRPr/>
            </a:pPr>
            <a:endParaRPr lang="es-ES" dirty="0"/>
          </a:p>
        </p:txBody>
      </p:sp>
      <p:sp>
        <p:nvSpPr>
          <p:cNvPr id="15" name="14 Flecha derecha"/>
          <p:cNvSpPr/>
          <p:nvPr userDrawn="1"/>
        </p:nvSpPr>
        <p:spPr>
          <a:xfrm>
            <a:off x="107950" y="980728"/>
            <a:ext cx="143570" cy="436326"/>
          </a:xfrm>
          <a:prstGeom prst="rightArrow">
            <a:avLst>
              <a:gd name="adj1" fmla="val 100000"/>
              <a:gd name="adj2" fmla="val 69256"/>
            </a:avLst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56" r:id="rId9"/>
    <p:sldLayoutId id="2147483657" r:id="rId10"/>
    <p:sldLayoutId id="2147483658" r:id="rId11"/>
    <p:sldLayoutId id="2147483660" r:id="rId12"/>
    <p:sldLayoutId id="2147483659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b="15360"/>
          <a:stretch>
            <a:fillRect/>
          </a:stretch>
        </p:blipFill>
        <p:spPr bwMode="auto">
          <a:xfrm>
            <a:off x="3260866" y="1268760"/>
            <a:ext cx="5883134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Rectángulo"/>
          <p:cNvSpPr/>
          <p:nvPr/>
        </p:nvSpPr>
        <p:spPr>
          <a:xfrm>
            <a:off x="0" y="0"/>
            <a:ext cx="3275856" cy="68861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76672"/>
            <a:ext cx="2448272" cy="66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7 CuadroTexto"/>
          <p:cNvSpPr txBox="1"/>
          <p:nvPr/>
        </p:nvSpPr>
        <p:spPr>
          <a:xfrm>
            <a:off x="240398" y="1268760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i="1" dirty="0" smtClean="0">
                <a:solidFill>
                  <a:schemeClr val="bg1"/>
                </a:solidFill>
              </a:rPr>
              <a:t>Meeting </a:t>
            </a:r>
            <a:r>
              <a:rPr lang="en-US" sz="2000" i="1" dirty="0" smtClean="0">
                <a:solidFill>
                  <a:schemeClr val="bg1"/>
                </a:solidFill>
              </a:rPr>
              <a:t>your</a:t>
            </a:r>
            <a:r>
              <a:rPr lang="es-ES" sz="2000" i="1" dirty="0" smtClean="0">
                <a:solidFill>
                  <a:schemeClr val="bg1"/>
                </a:solidFill>
              </a:rPr>
              <a:t> </a:t>
            </a:r>
            <a:r>
              <a:rPr lang="en-US" sz="2000" i="1" dirty="0" smtClean="0">
                <a:solidFill>
                  <a:schemeClr val="bg1"/>
                </a:solidFill>
              </a:rPr>
              <a:t>challenges</a:t>
            </a:r>
            <a:endParaRPr lang="en-US" sz="2000" i="1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3203848" y="17329"/>
            <a:ext cx="56743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 smtClean="0">
                <a:solidFill>
                  <a:schemeClr val="tx2">
                    <a:lumMod val="75000"/>
                  </a:schemeClr>
                </a:solidFill>
              </a:rPr>
              <a:t>BATZ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 smtClean="0">
                <a:solidFill>
                  <a:schemeClr val="tx2">
                    <a:lumMod val="75000"/>
                  </a:schemeClr>
                </a:solidFill>
              </a:rPr>
              <a:t>AUTOMOTIVE SYSTEMS</a:t>
            </a:r>
            <a:endParaRPr lang="es-ES" sz="4000" b="1" dirty="0" smtClean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539552" y="6405632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smtClean="0">
                <a:solidFill>
                  <a:schemeClr val="bg1"/>
                </a:solidFill>
              </a:rPr>
              <a:t>Agosto 2022</a:t>
            </a:r>
            <a:endParaRPr lang="es-ES" sz="2000" b="1" dirty="0">
              <a:solidFill>
                <a:schemeClr val="bg1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3362165" y="5601434"/>
            <a:ext cx="56743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800" b="1" dirty="0" smtClean="0">
                <a:solidFill>
                  <a:srgbClr val="17375E"/>
                </a:solidFill>
              </a:rPr>
              <a:t>APLICACIÓN COST CARRIERS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600" b="1" dirty="0" smtClean="0">
                <a:solidFill>
                  <a:srgbClr val="254061"/>
                </a:solidFill>
              </a:rPr>
              <a:t>VALIDADORES</a:t>
            </a:r>
            <a:endParaRPr lang="en-US" sz="1600" b="1" dirty="0" smtClean="0">
              <a:solidFill>
                <a:srgbClr val="254061"/>
              </a:solidFill>
            </a:endParaRP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1</a:t>
            </a:fld>
            <a:endParaRPr lang="es-E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6100892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" name="4 CuadroTexto"/>
          <p:cNvSpPr txBox="1"/>
          <p:nvPr/>
        </p:nvSpPr>
        <p:spPr>
          <a:xfrm>
            <a:off x="251521" y="1043444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OBJETIVO, ALCANCE Y ACCESO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251521" y="1822172"/>
            <a:ext cx="8496944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OBJETIVO: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Mejorar el proceso de solicitud de portadores de coste de los proyectos nuevos o modificaciones. Mejorar el seguimiento económico del proyecto, reducir el tiempo para la obtención de indicadores. </a:t>
            </a:r>
          </a:p>
          <a:p>
            <a:pPr algn="just"/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ALCANCE: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Todos los portadores de costes de los proyectos de Industrialización (P*) y de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Advance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(D*) se solicitarán a través de esta aplicación</a:t>
            </a:r>
            <a:endParaRPr lang="es-E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ACCESO: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Icono de la intranet.</a:t>
            </a:r>
          </a:p>
          <a:p>
            <a:pPr algn="just"/>
            <a:endParaRPr lang="es-E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135" y="5338141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50" y="3454499"/>
            <a:ext cx="6686550" cy="1714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085" y="1591073"/>
            <a:ext cx="4098259" cy="13096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3</a:t>
            </a:fld>
            <a:endParaRPr lang="es-E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11116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8" name="17 Llamada rectangular"/>
          <p:cNvSpPr/>
          <p:nvPr/>
        </p:nvSpPr>
        <p:spPr>
          <a:xfrm>
            <a:off x="5250042" y="1782540"/>
            <a:ext cx="2494546" cy="762001"/>
          </a:xfrm>
          <a:prstGeom prst="wedgeRectCallout">
            <a:avLst>
              <a:gd name="adj1" fmla="val -62046"/>
              <a:gd name="adj2" fmla="val -4831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Validations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+ “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Pending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”. Listado de proyectos con gastos pendientes de mi aprobación.</a:t>
            </a:r>
          </a:p>
        </p:txBody>
      </p:sp>
      <p:sp>
        <p:nvSpPr>
          <p:cNvPr id="24" name="23 Llamada rectangular"/>
          <p:cNvSpPr/>
          <p:nvPr/>
        </p:nvSpPr>
        <p:spPr>
          <a:xfrm>
            <a:off x="5092892" y="3879701"/>
            <a:ext cx="1548172" cy="432048"/>
          </a:xfrm>
          <a:prstGeom prst="wedgeRectCallout">
            <a:avLst>
              <a:gd name="adj1" fmla="val -20102"/>
              <a:gd name="adj2" fmla="val 83978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Pending validations.</a:t>
            </a:r>
          </a:p>
        </p:txBody>
      </p:sp>
      <p:sp>
        <p:nvSpPr>
          <p:cNvPr id="22" name="21 Rectángulo redondeado"/>
          <p:cNvSpPr/>
          <p:nvPr/>
        </p:nvSpPr>
        <p:spPr>
          <a:xfrm>
            <a:off x="576496" y="2583010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2 Rectángulo redondeado"/>
          <p:cNvSpPr/>
          <p:nvPr/>
        </p:nvSpPr>
        <p:spPr>
          <a:xfrm>
            <a:off x="2291472" y="2309477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Flecha derecha"/>
          <p:cNvSpPr/>
          <p:nvPr/>
        </p:nvSpPr>
        <p:spPr>
          <a:xfrm>
            <a:off x="1403648" y="2131204"/>
            <a:ext cx="504056" cy="229398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1 Grupo"/>
          <p:cNvGrpSpPr/>
          <p:nvPr/>
        </p:nvGrpSpPr>
        <p:grpSpPr>
          <a:xfrm>
            <a:off x="718632" y="5274099"/>
            <a:ext cx="6013608" cy="1158199"/>
            <a:chOff x="827584" y="5274099"/>
            <a:chExt cx="6013608" cy="1158199"/>
          </a:xfrm>
        </p:grpSpPr>
        <p:sp>
          <p:nvSpPr>
            <p:cNvPr id="32" name="31 Rectángulo"/>
            <p:cNvSpPr/>
            <p:nvPr/>
          </p:nvSpPr>
          <p:spPr>
            <a:xfrm>
              <a:off x="936536" y="5274099"/>
              <a:ext cx="5904656" cy="11581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2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Pending</a:t>
              </a:r>
              <a:r>
                <a:rPr lang="es-ES" sz="12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S" sz="12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validations</a:t>
              </a:r>
              <a:r>
                <a:rPr lang="es-ES" sz="12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Para ver la nueva solicitud relativa a ese proyecto.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s-E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2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Totals</a:t>
              </a:r>
              <a:r>
                <a:rPr lang="es-ES" sz="12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Todos los gastos del proyecto que han sido aprobados hasta ahora.</a:t>
              </a:r>
            </a:p>
          </p:txBody>
        </p:sp>
        <p:pic>
          <p:nvPicPr>
            <p:cNvPr id="33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96266"/>
              <a:ext cx="317822" cy="317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951" y="5905167"/>
              <a:ext cx="360040" cy="292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6" name="35 Rectángulo redondeado"/>
          <p:cNvSpPr/>
          <p:nvPr/>
        </p:nvSpPr>
        <p:spPr>
          <a:xfrm>
            <a:off x="5452932" y="4581128"/>
            <a:ext cx="216024" cy="28803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36 CuadroTexto"/>
          <p:cNvSpPr txBox="1"/>
          <p:nvPr/>
        </p:nvSpPr>
        <p:spPr>
          <a:xfrm>
            <a:off x="267320" y="980728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VALIDACIONES PENDIENTES. ACCESO.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17" name="22 Rectángulo redondeado"/>
          <p:cNvSpPr/>
          <p:nvPr/>
        </p:nvSpPr>
        <p:spPr>
          <a:xfrm>
            <a:off x="4912872" y="4611527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22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15" name="14 CuadroTexto"/>
          <p:cNvSpPr txBox="1"/>
          <p:nvPr/>
        </p:nvSpPr>
        <p:spPr>
          <a:xfrm>
            <a:off x="267320" y="980728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VALIDACIONES PENDIENTES. DETALLES.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772" y="3861048"/>
            <a:ext cx="3810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upo 6"/>
          <p:cNvGrpSpPr/>
          <p:nvPr/>
        </p:nvGrpSpPr>
        <p:grpSpPr>
          <a:xfrm>
            <a:off x="23266" y="1691304"/>
            <a:ext cx="8221142" cy="4339487"/>
            <a:chOff x="23266" y="1691304"/>
            <a:chExt cx="8221142" cy="4339487"/>
          </a:xfrm>
        </p:grpSpPr>
        <p:pic>
          <p:nvPicPr>
            <p:cNvPr id="2054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512" y="1691304"/>
              <a:ext cx="8064896" cy="43394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32" name="31 Llamada rectangular"/>
            <p:cNvSpPr/>
            <p:nvPr/>
          </p:nvSpPr>
          <p:spPr>
            <a:xfrm>
              <a:off x="1547664" y="1745407"/>
              <a:ext cx="5143054" cy="315512"/>
            </a:xfrm>
            <a:prstGeom prst="wedgeRectCallout">
              <a:avLst>
                <a:gd name="adj1" fmla="val -63754"/>
                <a:gd name="adj2" fmla="val 3246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s-E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Etiqueta </a:t>
              </a:r>
              <a:r>
                <a:rPr lang="es-E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 nombre con el que se guarda esta solicitud en el histórico de solicitudes.</a:t>
              </a:r>
            </a:p>
          </p:txBody>
        </p:sp>
        <p:sp>
          <p:nvSpPr>
            <p:cNvPr id="33" name="32 Llamada rectangular"/>
            <p:cNvSpPr/>
            <p:nvPr/>
          </p:nvSpPr>
          <p:spPr>
            <a:xfrm>
              <a:off x="1547664" y="2060919"/>
              <a:ext cx="6696744" cy="503985"/>
            </a:xfrm>
            <a:prstGeom prst="wedgeRectCallout">
              <a:avLst>
                <a:gd name="adj1" fmla="val -61234"/>
                <a:gd name="adj2" fmla="val -43790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s-E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 </a:t>
              </a:r>
              <a:r>
                <a:rPr lang="es-E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los proyectos del tipo industrialización se utiliza para explicar las </a:t>
              </a:r>
              <a:r>
                <a:rPr lang="es-E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evoluciones </a:t>
              </a:r>
              <a:r>
                <a:rPr lang="es-E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los conceptos económicos recogidos en el cuadro General </a:t>
              </a:r>
              <a:r>
                <a:rPr lang="es-ES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info</a:t>
              </a:r>
              <a:r>
                <a:rPr lang="es-E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En los demás tipos de proyectos se describen los proyectos..</a:t>
              </a:r>
              <a:endParaRPr lang="es-E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1570" y="2660103"/>
              <a:ext cx="8082838" cy="3370687"/>
            </a:xfrm>
            <a:prstGeom prst="rect">
              <a:avLst/>
            </a:prstGeom>
          </p:spPr>
        </p:pic>
        <p:sp>
          <p:nvSpPr>
            <p:cNvPr id="11" name="29 Llamada rectangular"/>
            <p:cNvSpPr/>
            <p:nvPr/>
          </p:nvSpPr>
          <p:spPr>
            <a:xfrm>
              <a:off x="23266" y="3236472"/>
              <a:ext cx="1440160" cy="1296144"/>
            </a:xfrm>
            <a:prstGeom prst="wedgeRectCallout">
              <a:avLst>
                <a:gd name="adj1" fmla="val 59029"/>
                <a:gd name="adj2" fmla="val -71454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s-E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Solo </a:t>
              </a:r>
              <a:r>
                <a:rPr lang="es-E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 proyectos de industrialización. </a:t>
              </a:r>
              <a:r>
                <a:rPr lang="es-E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evolución </a:t>
              </a:r>
              <a:r>
                <a:rPr lang="es-E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que los conceptos del cuadro han tenido en las distintas solicitudes.</a:t>
              </a:r>
              <a:endParaRPr lang="es-E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30 Llamada rectangular"/>
            <p:cNvSpPr/>
            <p:nvPr/>
          </p:nvSpPr>
          <p:spPr>
            <a:xfrm>
              <a:off x="2690820" y="3346208"/>
              <a:ext cx="5121540" cy="720081"/>
            </a:xfrm>
            <a:prstGeom prst="wedgeRectCallout">
              <a:avLst>
                <a:gd name="adj1" fmla="val -86989"/>
                <a:gd name="adj2" fmla="val 242162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s-E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 </a:t>
              </a:r>
              <a:r>
                <a:rPr lang="es-E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cada PLANTA, </a:t>
              </a:r>
              <a:r>
                <a:rPr lang="es-E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cantidad que se solicita y su margen </a:t>
              </a:r>
              <a:r>
                <a:rPr lang="es-E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(</a:t>
              </a:r>
              <a:r>
                <a:rPr lang="es-ES" sz="1000" b="1" i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pasos </a:t>
              </a:r>
              <a:r>
                <a:rPr lang="es-ES" sz="1000" b="1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agrupados por grupo de coste</a:t>
              </a:r>
              <a:r>
                <a:rPr lang="es-E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, para ver todos los pasos, pulsar sobre “</a:t>
              </a:r>
              <a:r>
                <a:rPr lang="es-ES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See</a:t>
              </a:r>
              <a:r>
                <a:rPr lang="es-E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es-ES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steps</a:t>
              </a:r>
              <a:r>
                <a:rPr lang="es-E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es-ES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details</a:t>
              </a:r>
              <a:r>
                <a:rPr lang="es-E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”). Si esta parte aparece vacía (no se solicitan gastos) es porque se requiere la validación del cuadro “General </a:t>
              </a:r>
              <a:r>
                <a:rPr lang="es-ES" sz="10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info</a:t>
              </a:r>
              <a:r>
                <a:rPr lang="es-E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”</a:t>
              </a:r>
              <a:endPara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" name="Rectángulo redondeado 3"/>
            <p:cNvSpPr/>
            <p:nvPr/>
          </p:nvSpPr>
          <p:spPr>
            <a:xfrm>
              <a:off x="3635896" y="5589240"/>
              <a:ext cx="1296144" cy="44155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 redondeado 13"/>
            <p:cNvSpPr/>
            <p:nvPr/>
          </p:nvSpPr>
          <p:spPr>
            <a:xfrm>
              <a:off x="4949982" y="5589240"/>
              <a:ext cx="2002431" cy="441550"/>
            </a:xfrm>
            <a:prstGeom prst="roundRect">
              <a:avLst/>
            </a:prstGeom>
            <a:noFill/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" name="Llamada rectangular 4"/>
            <p:cNvSpPr/>
            <p:nvPr/>
          </p:nvSpPr>
          <p:spPr>
            <a:xfrm>
              <a:off x="4230570" y="4706990"/>
              <a:ext cx="1421549" cy="768897"/>
            </a:xfrm>
            <a:prstGeom prst="wedgeRectCallou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1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Request</a:t>
              </a:r>
              <a:r>
                <a:rPr lang="en-U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10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Cantidad</a:t>
              </a:r>
              <a:r>
                <a:rPr lang="en-U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0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solicitada</a:t>
              </a:r>
              <a:r>
                <a:rPr lang="en-U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0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  <a:r>
                <a:rPr lang="en-U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0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esta</a:t>
              </a:r>
              <a:r>
                <a:rPr lang="en-U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0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validación</a:t>
              </a:r>
              <a:endPara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Llamada rectangular 15"/>
            <p:cNvSpPr/>
            <p:nvPr/>
          </p:nvSpPr>
          <p:spPr>
            <a:xfrm>
              <a:off x="5683638" y="4703693"/>
              <a:ext cx="2128722" cy="768897"/>
            </a:xfrm>
            <a:prstGeom prst="wedgeRectCallou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1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TOTAL STATUS</a:t>
              </a:r>
              <a:r>
                <a:rPr lang="en-U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algn="just"/>
              <a:r>
                <a:rPr lang="en-US" sz="10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Cantidad</a:t>
              </a:r>
              <a:r>
                <a:rPr lang="en-U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0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aprobada</a:t>
              </a:r>
              <a:r>
                <a:rPr lang="en-U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0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  <a:r>
                <a:rPr lang="en-U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0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validaciones</a:t>
              </a:r>
              <a:r>
                <a:rPr lang="en-U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000" dirty="0" err="1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previas</a:t>
              </a:r>
              <a:r>
                <a:rPr lang="en-US" sz="1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+ New request</a:t>
              </a:r>
              <a:endPara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447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6" y="1537817"/>
            <a:ext cx="9121304" cy="4817889"/>
          </a:xfrm>
          <a:prstGeom prst="rect">
            <a:avLst/>
          </a:prstGeom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15" name="14 CuadroTexto"/>
          <p:cNvSpPr txBox="1"/>
          <p:nvPr/>
        </p:nvSpPr>
        <p:spPr>
          <a:xfrm>
            <a:off x="267320" y="980728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VALIDACIONES PENDIENTES. OPCIONES DE APROBADO/RECHAZO.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772" y="3861048"/>
            <a:ext cx="3810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10 Llamada rectangular"/>
          <p:cNvSpPr/>
          <p:nvPr/>
        </p:nvSpPr>
        <p:spPr>
          <a:xfrm>
            <a:off x="1659225" y="3041372"/>
            <a:ext cx="7056784" cy="963514"/>
          </a:xfrm>
          <a:prstGeom prst="wedgeRectCallout">
            <a:avLst>
              <a:gd name="adj1" fmla="val -49755"/>
              <a:gd name="adj2" fmla="val -25564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Opciones de Aprobado/Rechazo: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s-ES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OPCIÓN A: Aprobado/Rechazo de todos los </a:t>
            </a:r>
            <a:r>
              <a:rPr lang="es-ES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pasos enviados en esta validación por </a:t>
            </a:r>
            <a:r>
              <a:rPr lang="es-E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PLANTA</a:t>
            </a:r>
          </a:p>
          <a:p>
            <a:r>
              <a:rPr lang="es-E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OPCIÓN </a:t>
            </a:r>
            <a:r>
              <a:rPr lang="es-ES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B: </a:t>
            </a:r>
            <a:r>
              <a:rPr lang="es-E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Aprobado/Rechazo de todos los pasos enviados en esta validación por GRUPO </a:t>
            </a:r>
            <a:r>
              <a:rPr lang="es-E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COSTE</a:t>
            </a:r>
          </a:p>
          <a:p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OPCIÓN 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C: Aprobado/Rechazo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PASO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267320" y="1728218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7 Llamada rectangular"/>
          <p:cNvSpPr/>
          <p:nvPr/>
        </p:nvSpPr>
        <p:spPr>
          <a:xfrm>
            <a:off x="3192798" y="1656182"/>
            <a:ext cx="847302" cy="288032"/>
          </a:xfrm>
          <a:prstGeom prst="wedgeRectCallout">
            <a:avLst>
              <a:gd name="adj1" fmla="val -102341"/>
              <a:gd name="adj2" fmla="val -51569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Opción A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18 Llamada rectangular"/>
          <p:cNvSpPr/>
          <p:nvPr/>
        </p:nvSpPr>
        <p:spPr>
          <a:xfrm>
            <a:off x="2987824" y="5661247"/>
            <a:ext cx="847302" cy="288032"/>
          </a:xfrm>
          <a:prstGeom prst="wedgeRectCallout">
            <a:avLst>
              <a:gd name="adj1" fmla="val -86924"/>
              <a:gd name="adj2" fmla="val -88418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Opción A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19 Llamada rectangular"/>
          <p:cNvSpPr/>
          <p:nvPr/>
        </p:nvSpPr>
        <p:spPr>
          <a:xfrm>
            <a:off x="8192417" y="5265203"/>
            <a:ext cx="847302" cy="288032"/>
          </a:xfrm>
          <a:prstGeom prst="wedgeRectCallout">
            <a:avLst>
              <a:gd name="adj1" fmla="val -54805"/>
              <a:gd name="adj2" fmla="val -135187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Opción B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20 Llamada rectangular"/>
          <p:cNvSpPr/>
          <p:nvPr/>
        </p:nvSpPr>
        <p:spPr>
          <a:xfrm>
            <a:off x="6660232" y="6457074"/>
            <a:ext cx="847302" cy="288032"/>
          </a:xfrm>
          <a:prstGeom prst="wedgeRectCallout">
            <a:avLst>
              <a:gd name="adj1" fmla="val 65158"/>
              <a:gd name="adj2" fmla="val -147470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Opción B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2 Rectángulo redondeado"/>
          <p:cNvSpPr/>
          <p:nvPr/>
        </p:nvSpPr>
        <p:spPr>
          <a:xfrm>
            <a:off x="7698035" y="6021288"/>
            <a:ext cx="988765" cy="379983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23 Rectángulo redondeado"/>
          <p:cNvSpPr/>
          <p:nvPr/>
        </p:nvSpPr>
        <p:spPr>
          <a:xfrm>
            <a:off x="7744642" y="4666494"/>
            <a:ext cx="895550" cy="360041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24 Rectángulo redondeado"/>
          <p:cNvSpPr/>
          <p:nvPr/>
        </p:nvSpPr>
        <p:spPr>
          <a:xfrm>
            <a:off x="1573981" y="1440157"/>
            <a:ext cx="1095847" cy="360041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25 Rectángulo redondeado"/>
          <p:cNvSpPr/>
          <p:nvPr/>
        </p:nvSpPr>
        <p:spPr>
          <a:xfrm>
            <a:off x="1547664" y="5373215"/>
            <a:ext cx="1095847" cy="360041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54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3" y="4822017"/>
            <a:ext cx="7841138" cy="14152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708438"/>
            <a:ext cx="7626616" cy="13253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6</a:t>
            </a:fld>
            <a:endParaRPr lang="es-ES" dirty="0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772" y="3861048"/>
            <a:ext cx="3810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10 Llamada rectangular"/>
          <p:cNvSpPr/>
          <p:nvPr/>
        </p:nvSpPr>
        <p:spPr>
          <a:xfrm>
            <a:off x="3537305" y="1526146"/>
            <a:ext cx="4900934" cy="963514"/>
          </a:xfrm>
          <a:prstGeom prst="wedgeRectCallout">
            <a:avLst>
              <a:gd name="adj1" fmla="val -49594"/>
              <a:gd name="adj2" fmla="val -19632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Opciones de Aprobado/Rechazo: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OPCIÓN A: Aprobado/Rechazo de todos los gastos de la PLANTA.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OPCIÓN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B: Aprobado/Rechazo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todos los gastos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GRUPO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COSTE.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OPCIÓN </a:t>
            </a:r>
            <a:r>
              <a:rPr lang="es-E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C: Aprobado/Rechazo </a:t>
            </a:r>
            <a:r>
              <a:rPr lang="es-E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E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PASO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206299" y="1711921"/>
            <a:ext cx="792088" cy="20823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364292" y="5020346"/>
            <a:ext cx="1268190" cy="432048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31 Llamada rectangular"/>
          <p:cNvSpPr/>
          <p:nvPr/>
        </p:nvSpPr>
        <p:spPr>
          <a:xfrm>
            <a:off x="2339752" y="5236370"/>
            <a:ext cx="847302" cy="288032"/>
          </a:xfrm>
          <a:prstGeom prst="wedgeRectCallout">
            <a:avLst>
              <a:gd name="adj1" fmla="val -129334"/>
              <a:gd name="adj2" fmla="val -57164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Opción C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2 Flecha abajo"/>
          <p:cNvSpPr/>
          <p:nvPr/>
        </p:nvSpPr>
        <p:spPr>
          <a:xfrm>
            <a:off x="5508104" y="2408226"/>
            <a:ext cx="144016" cy="216024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33 Rectángulo redondeado"/>
          <p:cNvSpPr/>
          <p:nvPr/>
        </p:nvSpPr>
        <p:spPr>
          <a:xfrm>
            <a:off x="6660232" y="3076963"/>
            <a:ext cx="1008112" cy="276173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34 Flecha abajo"/>
          <p:cNvSpPr/>
          <p:nvPr/>
        </p:nvSpPr>
        <p:spPr>
          <a:xfrm>
            <a:off x="7082620" y="3443340"/>
            <a:ext cx="184850" cy="1118021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267320" y="980728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VALIDACIONES PENDIENTES. OPCIONES DE APROBADO/RECHAZO II.</a:t>
            </a:r>
            <a:endParaRPr lang="en-US" b="1" dirty="0">
              <a:solidFill>
                <a:srgbClr val="2540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01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36" name="35 CuadroTexto"/>
          <p:cNvSpPr txBox="1"/>
          <p:nvPr/>
        </p:nvSpPr>
        <p:spPr>
          <a:xfrm>
            <a:off x="267320" y="980728"/>
            <a:ext cx="889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HISTÓRICO DE VALIDACIONES. ACCESO.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11116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3" name="22 Rectángulo redondeado"/>
          <p:cNvSpPr/>
          <p:nvPr/>
        </p:nvSpPr>
        <p:spPr>
          <a:xfrm>
            <a:off x="576496" y="2583010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24 Flecha derecha"/>
          <p:cNvSpPr/>
          <p:nvPr/>
        </p:nvSpPr>
        <p:spPr>
          <a:xfrm>
            <a:off x="1403648" y="2131204"/>
            <a:ext cx="504056" cy="229398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811116"/>
            <a:ext cx="3352800" cy="1304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7" name="26 Rectángulo redondeado"/>
          <p:cNvSpPr/>
          <p:nvPr/>
        </p:nvSpPr>
        <p:spPr>
          <a:xfrm>
            <a:off x="2291472" y="2309477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Llamada rectangular"/>
          <p:cNvSpPr/>
          <p:nvPr/>
        </p:nvSpPr>
        <p:spPr>
          <a:xfrm>
            <a:off x="5364088" y="2309477"/>
            <a:ext cx="2494546" cy="762001"/>
          </a:xfrm>
          <a:prstGeom prst="wedgeRectCallout">
            <a:avLst>
              <a:gd name="adj1" fmla="val -62046"/>
              <a:gd name="adj2" fmla="val -4831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Validations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+ 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“Actual status and 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”. Listado de proyectos con su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istórico de validaciones y su estado actual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19" y="3071478"/>
            <a:ext cx="6673618" cy="30467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8" name="37 Rectángulo redondeado"/>
          <p:cNvSpPr/>
          <p:nvPr/>
        </p:nvSpPr>
        <p:spPr>
          <a:xfrm>
            <a:off x="110133" y="3830961"/>
            <a:ext cx="7185000" cy="28803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38 Llamada rectangular"/>
          <p:cNvSpPr/>
          <p:nvPr/>
        </p:nvSpPr>
        <p:spPr>
          <a:xfrm>
            <a:off x="6323558" y="3116041"/>
            <a:ext cx="2494546" cy="554321"/>
          </a:xfrm>
          <a:prstGeom prst="wedgeRectCallout">
            <a:avLst>
              <a:gd name="adj1" fmla="val -66628"/>
              <a:gd name="adj2" fmla="val 62669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Seleccione Producto y/o 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estado +  “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39 Rectángulo redondeado"/>
          <p:cNvSpPr/>
          <p:nvPr/>
        </p:nvSpPr>
        <p:spPr>
          <a:xfrm>
            <a:off x="5476528" y="3256434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41 Rectángulo redondeado"/>
          <p:cNvSpPr/>
          <p:nvPr/>
        </p:nvSpPr>
        <p:spPr>
          <a:xfrm>
            <a:off x="6868499" y="4450848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42 Rectángulo redondeado"/>
          <p:cNvSpPr/>
          <p:nvPr/>
        </p:nvSpPr>
        <p:spPr>
          <a:xfrm>
            <a:off x="6411881" y="4443599"/>
            <a:ext cx="398959" cy="288032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90" y="4973140"/>
            <a:ext cx="7214989" cy="17163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  <a:extLst/>
        </p:spPr>
      </p:pic>
      <p:sp>
        <p:nvSpPr>
          <p:cNvPr id="45" name="44 Llamada rectangular"/>
          <p:cNvSpPr/>
          <p:nvPr/>
        </p:nvSpPr>
        <p:spPr>
          <a:xfrm>
            <a:off x="7570830" y="4278437"/>
            <a:ext cx="1399865" cy="554321"/>
          </a:xfrm>
          <a:prstGeom prst="wedgeRectCallout">
            <a:avLst>
              <a:gd name="adj1" fmla="val -73432"/>
              <a:gd name="adj2" fmla="val 12838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Pulse para acceder al histórico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3 Flecha abajo"/>
          <p:cNvSpPr/>
          <p:nvPr/>
        </p:nvSpPr>
        <p:spPr>
          <a:xfrm rot="1247999">
            <a:off x="6731584" y="4796844"/>
            <a:ext cx="237679" cy="1025717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92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4203</TotalTime>
  <Words>450</Words>
  <Application>Microsoft Office PowerPoint</Application>
  <PresentationFormat>Presentación en pantalla (4:3)</PresentationFormat>
  <Paragraphs>70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Maite Olivares Beobide</dc:creator>
  <cp:lastModifiedBy>Maite Olivares Beobide</cp:lastModifiedBy>
  <cp:revision>621</cp:revision>
  <dcterms:created xsi:type="dcterms:W3CDTF">2016-09-22T15:22:34Z</dcterms:created>
  <dcterms:modified xsi:type="dcterms:W3CDTF">2022-08-10T11:09:29Z</dcterms:modified>
</cp:coreProperties>
</file>