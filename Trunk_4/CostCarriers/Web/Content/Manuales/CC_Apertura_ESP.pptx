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1" r:id="rId5"/>
    <p:sldId id="264" r:id="rId6"/>
    <p:sldId id="262" r:id="rId7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70C0"/>
    <a:srgbClr val="002D86"/>
    <a:srgbClr val="FFFF00"/>
    <a:srgbClr val="FF33CC"/>
    <a:srgbClr val="006600"/>
    <a:srgbClr val="003399"/>
    <a:srgbClr val="254061"/>
    <a:srgbClr val="002060"/>
    <a:srgbClr val="1737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7292A2E-F333-43FB-9621-5CBBE7FDCDCB}" styleName="Estilo claro 2 - Acento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8" autoAdjust="0"/>
    <p:restoredTop sz="99234" autoAdjust="0"/>
  </p:normalViewPr>
  <p:slideViewPr>
    <p:cSldViewPr>
      <p:cViewPr varScale="1">
        <p:scale>
          <a:sx n="118" d="100"/>
          <a:sy n="118" d="100"/>
        </p:scale>
        <p:origin x="-1164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8BCBCB-036B-453E-BF70-851563E2DECA}" type="datetimeFigureOut">
              <a:rPr lang="es-ES" smtClean="0"/>
              <a:pPr/>
              <a:t>22/07/2020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FE9763-4EA5-456F-BE99-B64CE06C9C6E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236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7F99C-8866-486B-B56F-6AB871EF7A36}" type="slidenum">
              <a:rPr lang="es-ES" smtClean="0"/>
              <a:pPr/>
              <a:t>1</a:t>
            </a:fld>
            <a:endParaRPr lang="es-E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2C811-28ED-4A95-A132-4F20DA413F26}" type="datetime1">
              <a:rPr lang="es-ES" smtClean="0"/>
              <a:t>22/07/2020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CC4FA-E1C6-44BF-9030-8D4F22E24516}" type="datetime1">
              <a:rPr lang="es-ES" smtClean="0"/>
              <a:t>22/07/2020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7041A-C3FC-4419-A1FA-185A4604612E}" type="datetime1">
              <a:rPr lang="es-ES" smtClean="0"/>
              <a:t>22/07/2020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85DD4-8DC8-497C-AB68-B50BAF23C7A7}" type="datetime1">
              <a:rPr lang="es-ES" smtClean="0"/>
              <a:t>22/07/2020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D5383-0856-4D6F-91D0-D93769F44810}" type="datetime1">
              <a:rPr lang="es-ES" smtClean="0"/>
              <a:t>22/07/2020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7E4FE-4B2B-4FF0-93C8-F90208E1C8FE}" type="datetime1">
              <a:rPr lang="es-ES" smtClean="0"/>
              <a:t>22/07/2020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63CA2-C457-41B4-A9DE-8C56E6135130}" type="datetime1">
              <a:rPr lang="es-ES" smtClean="0"/>
              <a:t>22/07/2020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3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6C159591-2568-4DE8-9BFD-2ABD54E1DEC4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8" name="7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7451725" y="1052512"/>
            <a:ext cx="1152723" cy="216248"/>
          </a:xfr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s-ES" dirty="0" smtClean="0"/>
              <a:t>volver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96398-E37A-4821-AB64-868D2292FF3F}" type="datetime1">
              <a:rPr lang="es-ES" smtClean="0"/>
              <a:t>22/07/2020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5" name="6 Título"/>
          <p:cNvSpPr txBox="1">
            <a:spLocks/>
          </p:cNvSpPr>
          <p:nvPr userDrawn="1"/>
        </p:nvSpPr>
        <p:spPr>
          <a:xfrm>
            <a:off x="152400" y="462744"/>
            <a:ext cx="5410944" cy="31034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 anchorCtr="0">
            <a:normAutofit fontScale="47500" lnSpcReduction="20000"/>
          </a:bodyPr>
          <a:lstStyle/>
          <a:p>
            <a:pPr lvl="0">
              <a:lnSpc>
                <a:spcPct val="150000"/>
              </a:lnSpc>
              <a:spcBef>
                <a:spcPct val="20000"/>
              </a:spcBef>
            </a:pPr>
            <a:r>
              <a:rPr lang="es-ES" sz="2200" b="1" dirty="0" smtClean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>EXCEL(.</a:t>
            </a:r>
            <a:r>
              <a:rPr lang="es-ES" sz="2200" b="1" dirty="0" err="1" smtClean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>xlsx</a:t>
            </a:r>
            <a:r>
              <a:rPr lang="es-ES" sz="2200" b="1" dirty="0" smtClean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>)</a:t>
            </a:r>
            <a:endParaRPr lang="en-US" sz="2200" b="1" dirty="0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54566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3A615-66DD-444E-9A0E-B0D6F9A07DB9}" type="datetime1">
              <a:rPr lang="es-ES" smtClean="0"/>
              <a:t>22/07/2020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F7DAD-1473-4A57-A48C-1A968C933396}" type="datetime1">
              <a:rPr lang="es-ES" smtClean="0"/>
              <a:t>22/07/2020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A86D5-46EC-4EF5-9555-8B882887C988}" type="datetime1">
              <a:rPr lang="es-ES" smtClean="0"/>
              <a:t>22/07/2020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08295-8956-46F1-AB42-EC2C6612A287}" type="datetime1">
              <a:rPr lang="es-ES" smtClean="0"/>
              <a:t>22/07/2020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17350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D9CAF-5B30-47A7-BF4C-805041D42615}" type="datetime1">
              <a:rPr lang="es-ES" smtClean="0"/>
              <a:t>22/07/2020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317BDE-278E-45AC-9E00-A9F51DF70CF9}" type="datetime1">
              <a:rPr lang="es-ES" smtClean="0"/>
              <a:t>22/07/2020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pic>
        <p:nvPicPr>
          <p:cNvPr id="10" name="12 Imagen" descr="Batz®.png"/>
          <p:cNvPicPr>
            <a:picLocks noChangeAspect="1"/>
          </p:cNvPicPr>
          <p:nvPr userDrawn="1"/>
        </p:nvPicPr>
        <p:blipFill>
          <a:blip r:embed="rId15" cstate="email"/>
          <a:srcRect/>
          <a:stretch>
            <a:fillRect/>
          </a:stretch>
        </p:blipFill>
        <p:spPr bwMode="auto">
          <a:xfrm>
            <a:off x="7596336" y="205234"/>
            <a:ext cx="1343015" cy="4066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10 Rectángulo redondeado"/>
          <p:cNvSpPr/>
          <p:nvPr userDrawn="1"/>
        </p:nvSpPr>
        <p:spPr>
          <a:xfrm>
            <a:off x="168395" y="692696"/>
            <a:ext cx="684000" cy="144000"/>
          </a:xfrm>
          <a:prstGeom prst="roundRect">
            <a:avLst/>
          </a:prstGeom>
          <a:solidFill>
            <a:srgbClr val="009A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2" name="11 Rectángulo redondeado"/>
          <p:cNvSpPr/>
          <p:nvPr userDrawn="1"/>
        </p:nvSpPr>
        <p:spPr>
          <a:xfrm>
            <a:off x="-11246" y="692696"/>
            <a:ext cx="144000" cy="144000"/>
          </a:xfrm>
          <a:prstGeom prst="roundRect">
            <a:avLst/>
          </a:prstGeom>
          <a:solidFill>
            <a:srgbClr val="009A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3" name="6 Título"/>
          <p:cNvSpPr txBox="1">
            <a:spLocks/>
          </p:cNvSpPr>
          <p:nvPr userDrawn="1"/>
        </p:nvSpPr>
        <p:spPr>
          <a:xfrm>
            <a:off x="0" y="0"/>
            <a:ext cx="5410944" cy="62068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 anchorCtr="0">
            <a:normAutofit fontScale="32500" lnSpcReduction="20000"/>
          </a:bodyPr>
          <a:lstStyle/>
          <a:p>
            <a:pPr lvl="0">
              <a:lnSpc>
                <a:spcPct val="150000"/>
              </a:lnSpc>
              <a:spcBef>
                <a:spcPct val="20000"/>
              </a:spcBef>
            </a:pPr>
            <a:r>
              <a:rPr lang="es-ES" sz="3400" b="1" dirty="0" smtClean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>APLICACIÓN</a:t>
            </a:r>
            <a:r>
              <a:rPr lang="es-ES" sz="3400" b="1" baseline="0" dirty="0" smtClean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> COST CARRIERS</a:t>
            </a:r>
          </a:p>
          <a:p>
            <a:pPr lvl="0">
              <a:lnSpc>
                <a:spcPct val="150000"/>
              </a:lnSpc>
              <a:spcBef>
                <a:spcPct val="20000"/>
              </a:spcBef>
            </a:pPr>
            <a:r>
              <a:rPr lang="es-ES" sz="2900" b="1" baseline="0" dirty="0" smtClean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>APERTURA DE PORTADORES</a:t>
            </a:r>
          </a:p>
        </p:txBody>
      </p:sp>
      <p:sp>
        <p:nvSpPr>
          <p:cNvPr id="14" name="13 Rectángulo"/>
          <p:cNvSpPr/>
          <p:nvPr userDrawn="1"/>
        </p:nvSpPr>
        <p:spPr>
          <a:xfrm>
            <a:off x="0" y="908720"/>
            <a:ext cx="9123363" cy="552614"/>
          </a:xfrm>
          <a:prstGeom prst="rect">
            <a:avLst/>
          </a:prstGeom>
          <a:solidFill>
            <a:schemeClr val="tx2">
              <a:lumMod val="20000"/>
              <a:lumOff val="80000"/>
              <a:alpha val="6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lIns="90000" tIns="46800" rIns="234000" bIns="46800" anchor="ctr"/>
          <a:lstStyle/>
          <a:p>
            <a:pPr algn="r">
              <a:defRPr/>
            </a:pPr>
            <a:endParaRPr lang="es-ES" dirty="0"/>
          </a:p>
        </p:txBody>
      </p:sp>
      <p:sp>
        <p:nvSpPr>
          <p:cNvPr id="15" name="14 Flecha derecha"/>
          <p:cNvSpPr/>
          <p:nvPr userDrawn="1"/>
        </p:nvSpPr>
        <p:spPr>
          <a:xfrm>
            <a:off x="107950" y="980728"/>
            <a:ext cx="143570" cy="436326"/>
          </a:xfrm>
          <a:prstGeom prst="rightArrow">
            <a:avLst>
              <a:gd name="adj1" fmla="val 100000"/>
              <a:gd name="adj2" fmla="val 69256"/>
            </a:avLst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1" r:id="rId8"/>
    <p:sldLayoutId id="2147483656" r:id="rId9"/>
    <p:sldLayoutId id="2147483657" r:id="rId10"/>
    <p:sldLayoutId id="2147483658" r:id="rId11"/>
    <p:sldLayoutId id="2147483660" r:id="rId12"/>
    <p:sldLayoutId id="2147483659" r:id="rId13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w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0 Rectángul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 b="15360"/>
          <a:stretch>
            <a:fillRect/>
          </a:stretch>
        </p:blipFill>
        <p:spPr bwMode="auto">
          <a:xfrm>
            <a:off x="3260866" y="1268760"/>
            <a:ext cx="5883134" cy="3888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8 Rectángulo"/>
          <p:cNvSpPr/>
          <p:nvPr/>
        </p:nvSpPr>
        <p:spPr>
          <a:xfrm>
            <a:off x="0" y="0"/>
            <a:ext cx="3275856" cy="688613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dirty="0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3528" y="476672"/>
            <a:ext cx="2448272" cy="66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7 CuadroTexto"/>
          <p:cNvSpPr txBox="1"/>
          <p:nvPr/>
        </p:nvSpPr>
        <p:spPr>
          <a:xfrm>
            <a:off x="240398" y="1268760"/>
            <a:ext cx="28083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i="1" dirty="0" smtClean="0">
                <a:solidFill>
                  <a:schemeClr val="bg1"/>
                </a:solidFill>
              </a:rPr>
              <a:t>Meeting </a:t>
            </a:r>
            <a:r>
              <a:rPr lang="en-US" sz="2000" i="1" dirty="0" smtClean="0">
                <a:solidFill>
                  <a:schemeClr val="bg1"/>
                </a:solidFill>
              </a:rPr>
              <a:t>your</a:t>
            </a:r>
            <a:r>
              <a:rPr lang="es-ES" sz="2000" i="1" dirty="0" smtClean="0">
                <a:solidFill>
                  <a:schemeClr val="bg1"/>
                </a:solidFill>
              </a:rPr>
              <a:t> </a:t>
            </a:r>
            <a:r>
              <a:rPr lang="en-US" sz="2000" i="1" dirty="0" smtClean="0">
                <a:solidFill>
                  <a:schemeClr val="bg1"/>
                </a:solidFill>
              </a:rPr>
              <a:t>challenges</a:t>
            </a:r>
            <a:endParaRPr lang="en-US" sz="2000" i="1" dirty="0">
              <a:solidFill>
                <a:schemeClr val="bg1"/>
              </a:solidFill>
            </a:endParaRPr>
          </a:p>
        </p:txBody>
      </p:sp>
      <p:sp>
        <p:nvSpPr>
          <p:cNvPr id="12" name="11 CuadroTexto"/>
          <p:cNvSpPr txBox="1"/>
          <p:nvPr/>
        </p:nvSpPr>
        <p:spPr>
          <a:xfrm>
            <a:off x="3203848" y="17329"/>
            <a:ext cx="567433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4000" b="1" dirty="0" smtClean="0">
                <a:solidFill>
                  <a:schemeClr val="tx2">
                    <a:lumMod val="75000"/>
                  </a:schemeClr>
                </a:solidFill>
              </a:rPr>
              <a:t>BATZ 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4000" b="1" dirty="0" smtClean="0">
                <a:solidFill>
                  <a:schemeClr val="tx2">
                    <a:lumMod val="75000"/>
                  </a:schemeClr>
                </a:solidFill>
              </a:rPr>
              <a:t>AUTOMOTIVE SYSTEMS</a:t>
            </a:r>
            <a:endParaRPr lang="es-ES" sz="4000" b="1" dirty="0" smtClean="0">
              <a:solidFill>
                <a:schemeClr val="tx2">
                  <a:lumMod val="75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7" name="6 CuadroTexto"/>
          <p:cNvSpPr txBox="1"/>
          <p:nvPr/>
        </p:nvSpPr>
        <p:spPr>
          <a:xfrm>
            <a:off x="539552" y="6405632"/>
            <a:ext cx="2664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</a:rPr>
              <a:t>Julio 2020</a:t>
            </a:r>
            <a:endParaRPr lang="es-ES" sz="2000" b="1" dirty="0">
              <a:solidFill>
                <a:schemeClr val="bg1"/>
              </a:solidFill>
            </a:endParaRPr>
          </a:p>
        </p:txBody>
      </p:sp>
      <p:sp>
        <p:nvSpPr>
          <p:cNvPr id="10" name="9 CuadroTexto"/>
          <p:cNvSpPr txBox="1"/>
          <p:nvPr/>
        </p:nvSpPr>
        <p:spPr>
          <a:xfrm>
            <a:off x="3362165" y="5601434"/>
            <a:ext cx="567433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2800" b="1" dirty="0" smtClean="0">
                <a:solidFill>
                  <a:srgbClr val="17375E"/>
                </a:solidFill>
              </a:rPr>
              <a:t>APLICACIÓN COST CARRIERS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1600" b="1" dirty="0" smtClean="0">
                <a:solidFill>
                  <a:srgbClr val="254061"/>
                </a:solidFill>
              </a:rPr>
              <a:t>APERTURA DE PORTADORES</a:t>
            </a:r>
            <a:endParaRPr lang="en-US" sz="1600" b="1" dirty="0" smtClean="0">
              <a:solidFill>
                <a:srgbClr val="254061"/>
              </a:solidFill>
            </a:endParaRPr>
          </a:p>
        </p:txBody>
      </p:sp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1</a:t>
            </a:fld>
            <a:endParaRPr lang="es-ES" dirty="0"/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6100892"/>
            <a:ext cx="1190625" cy="704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2</a:t>
            </a:fld>
            <a:endParaRPr lang="es-ES" dirty="0"/>
          </a:p>
        </p:txBody>
      </p:sp>
      <p:sp>
        <p:nvSpPr>
          <p:cNvPr id="5" name="4 CuadroTexto"/>
          <p:cNvSpPr txBox="1"/>
          <p:nvPr/>
        </p:nvSpPr>
        <p:spPr>
          <a:xfrm>
            <a:off x="251521" y="1043444"/>
            <a:ext cx="7632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>
                <a:solidFill>
                  <a:srgbClr val="254061"/>
                </a:solidFill>
              </a:rPr>
              <a:t>OBJETIVO, ALCANCE Y ACCESO</a:t>
            </a:r>
            <a:endParaRPr lang="en-US" b="1" dirty="0">
              <a:solidFill>
                <a:srgbClr val="254061"/>
              </a:solidFill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251521" y="1822172"/>
            <a:ext cx="849694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OBJETIVO: </a:t>
            </a:r>
            <a:r>
              <a:rPr lang="es-E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Asociar 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más </a:t>
            </a:r>
            <a:r>
              <a:rPr lang="es-E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información (metadatos) a 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los portadores de coste</a:t>
            </a:r>
            <a:r>
              <a:rPr lang="es-E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(presupuesto, SOP, cantidad pagada por cliente, </a:t>
            </a:r>
            <a:r>
              <a:rPr lang="es-E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s-E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), que la que pueda alimentarse desde el ERP (</a:t>
            </a:r>
            <a:r>
              <a:rPr lang="es-E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Xpert</a:t>
            </a:r>
            <a:r>
              <a:rPr lang="es-E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o Navision dependiendo de la planta). </a:t>
            </a:r>
            <a:r>
              <a:rPr lang="es-ES" sz="1400" i="1" dirty="0" smtClean="0">
                <a:latin typeface="Arial" panose="020B0604020202020204" pitchFamily="34" charset="0"/>
                <a:cs typeface="Arial" panose="020B0604020202020204" pitchFamily="34" charset="0"/>
              </a:rPr>
              <a:t>Los portadores de coste se crearán en AMBAS APLICACIONES (en </a:t>
            </a:r>
            <a:r>
              <a:rPr lang="es-ES" sz="1400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Cost</a:t>
            </a:r>
            <a:r>
              <a:rPr lang="es-ES" sz="1400" i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400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carriers</a:t>
            </a:r>
            <a:r>
              <a:rPr lang="es-ES" sz="1400" i="1" dirty="0" smtClean="0">
                <a:latin typeface="Arial" panose="020B0604020202020204" pitchFamily="34" charset="0"/>
                <a:cs typeface="Arial" panose="020B0604020202020204" pitchFamily="34" charset="0"/>
              </a:rPr>
              <a:t> y en el ERP)</a:t>
            </a:r>
            <a:r>
              <a:rPr lang="es-ES" sz="14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y estarán asociadas por código de portador. El objetivo principal es mejorar sustancialmente en capacidad de análisis de datos, si no hay información digitalizada, ésta no puede explotarse.  </a:t>
            </a:r>
            <a:endParaRPr lang="es-E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s-ES" sz="14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s-ES" sz="14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ALCANCE: 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Todos los portadores de costes de los proyectos de </a:t>
            </a:r>
            <a:r>
              <a:rPr lang="es-ES" sz="1400" i="1" dirty="0" smtClean="0">
                <a:latin typeface="Arial" panose="020B0604020202020204" pitchFamily="34" charset="0"/>
                <a:cs typeface="Arial" panose="020B0604020202020204" pitchFamily="34" charset="0"/>
              </a:rPr>
              <a:t>Industrialización, </a:t>
            </a:r>
            <a:r>
              <a:rPr lang="es-E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s-ES" sz="1400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redesarrollo</a:t>
            </a:r>
            <a:r>
              <a:rPr lang="es-ES" sz="1400" i="1" dirty="0" smtClean="0">
                <a:latin typeface="Arial" panose="020B0604020202020204" pitchFamily="34" charset="0"/>
                <a:cs typeface="Arial" panose="020B0604020202020204" pitchFamily="34" charset="0"/>
              </a:rPr>
              <a:t>, modificación </a:t>
            </a:r>
            <a:r>
              <a:rPr lang="es-ES" sz="1400" i="1" dirty="0">
                <a:latin typeface="Arial" panose="020B0604020202020204" pitchFamily="34" charset="0"/>
                <a:cs typeface="Arial" panose="020B0604020202020204" pitchFamily="34" charset="0"/>
              </a:rPr>
              <a:t>y de </a:t>
            </a:r>
            <a:r>
              <a:rPr lang="es-E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Advance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se 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solicitarán a través de esta aplicación</a:t>
            </a:r>
            <a:endParaRPr lang="es-ES" sz="14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s-E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s-ES" sz="14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s-E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ACCESO: 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Icono de la intranet.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s-E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4437112"/>
            <a:ext cx="1190625" cy="704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2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3620" y="1561728"/>
            <a:ext cx="3171825" cy="1219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3</a:t>
            </a:fld>
            <a:endParaRPr lang="es-ES" dirty="0"/>
          </a:p>
        </p:txBody>
      </p:sp>
      <p:sp>
        <p:nvSpPr>
          <p:cNvPr id="5" name="4 CuadroTexto"/>
          <p:cNvSpPr txBox="1"/>
          <p:nvPr/>
        </p:nvSpPr>
        <p:spPr>
          <a:xfrm>
            <a:off x="296643" y="1043444"/>
            <a:ext cx="7659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>
                <a:solidFill>
                  <a:srgbClr val="254061"/>
                </a:solidFill>
              </a:rPr>
              <a:t>MANAGE STEPS OPENING I</a:t>
            </a:r>
            <a:endParaRPr lang="en-US" b="1" dirty="0">
              <a:solidFill>
                <a:srgbClr val="254061"/>
              </a:solidFill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811116"/>
            <a:ext cx="1190625" cy="704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6" name="15 Rectángulo"/>
          <p:cNvSpPr/>
          <p:nvPr/>
        </p:nvSpPr>
        <p:spPr>
          <a:xfrm>
            <a:off x="3864425" y="2031141"/>
            <a:ext cx="1656183" cy="3687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17 Llamada rectangular"/>
          <p:cNvSpPr/>
          <p:nvPr/>
        </p:nvSpPr>
        <p:spPr>
          <a:xfrm>
            <a:off x="6469942" y="1772816"/>
            <a:ext cx="2494546" cy="627114"/>
          </a:xfrm>
          <a:prstGeom prst="wedgeRectCallout">
            <a:avLst>
              <a:gd name="adj1" fmla="val -62046"/>
              <a:gd name="adj2" fmla="val -4831"/>
            </a:avLst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“Opening” + “Manage steps opening”</a:t>
            </a:r>
            <a:r>
              <a:rPr lang="en-U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Muestra el </a:t>
            </a:r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listado de proyectos de los que tengo que abrir los portadores.</a:t>
            </a:r>
          </a:p>
        </p:txBody>
      </p:sp>
      <p:sp>
        <p:nvSpPr>
          <p:cNvPr id="20" name="19 Flecha derecha"/>
          <p:cNvSpPr/>
          <p:nvPr/>
        </p:nvSpPr>
        <p:spPr>
          <a:xfrm>
            <a:off x="1403648" y="2061510"/>
            <a:ext cx="576064" cy="376720"/>
          </a:xfrm>
          <a:prstGeom prst="rightArrow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3167709"/>
            <a:ext cx="6238503" cy="182064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4" name="23 Llamada rectangular"/>
          <p:cNvSpPr/>
          <p:nvPr/>
        </p:nvSpPr>
        <p:spPr>
          <a:xfrm>
            <a:off x="5436096" y="3284984"/>
            <a:ext cx="2638122" cy="742362"/>
          </a:xfrm>
          <a:prstGeom prst="wedgeRectCallout">
            <a:avLst>
              <a:gd name="adj1" fmla="val -20102"/>
              <a:gd name="adj2" fmla="val 83978"/>
            </a:avLst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E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 primero es asignar el código al proyecto. Esto lo realiza siempre financiero CORPORATIVO pulsando sobre el lápiz</a:t>
            </a:r>
            <a:r>
              <a:rPr lang="en-U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9970" y="5197423"/>
            <a:ext cx="3759126" cy="1707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25 Llamada rectangular"/>
          <p:cNvSpPr/>
          <p:nvPr/>
        </p:nvSpPr>
        <p:spPr>
          <a:xfrm>
            <a:off x="6523361" y="5655177"/>
            <a:ext cx="2009080" cy="396044"/>
          </a:xfrm>
          <a:prstGeom prst="wedgeRectCallout">
            <a:avLst>
              <a:gd name="adj1" fmla="val -74922"/>
              <a:gd name="adj2" fmla="val -4617"/>
            </a:avLst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E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Escribir </a:t>
            </a:r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código del proyecto+ “</a:t>
            </a:r>
            <a:r>
              <a:rPr lang="es-E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Save</a:t>
            </a:r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 </a:t>
            </a:r>
          </a:p>
        </p:txBody>
      </p:sp>
      <p:sp>
        <p:nvSpPr>
          <p:cNvPr id="6" name="5 Rectángulo"/>
          <p:cNvSpPr/>
          <p:nvPr/>
        </p:nvSpPr>
        <p:spPr>
          <a:xfrm>
            <a:off x="3635896" y="5949280"/>
            <a:ext cx="2376264" cy="2880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4419575"/>
            <a:ext cx="100965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18 Rectángulo"/>
          <p:cNvSpPr/>
          <p:nvPr/>
        </p:nvSpPr>
        <p:spPr>
          <a:xfrm>
            <a:off x="6012160" y="4365104"/>
            <a:ext cx="326368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21 Rectángulo redondeado"/>
          <p:cNvSpPr/>
          <p:nvPr/>
        </p:nvSpPr>
        <p:spPr>
          <a:xfrm>
            <a:off x="522796" y="2695205"/>
            <a:ext cx="360040" cy="2735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E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22 Rectángulo redondeado"/>
          <p:cNvSpPr/>
          <p:nvPr/>
        </p:nvSpPr>
        <p:spPr>
          <a:xfrm>
            <a:off x="5669691" y="2103871"/>
            <a:ext cx="360040" cy="2735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E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28 Rectángulo redondeado"/>
          <p:cNvSpPr/>
          <p:nvPr/>
        </p:nvSpPr>
        <p:spPr>
          <a:xfrm>
            <a:off x="6212831" y="4726078"/>
            <a:ext cx="360040" cy="2735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s-E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29 Rectángulo redondeado"/>
          <p:cNvSpPr/>
          <p:nvPr/>
        </p:nvSpPr>
        <p:spPr>
          <a:xfrm>
            <a:off x="4938517" y="6309320"/>
            <a:ext cx="360040" cy="2735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s-E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224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59591-2568-4DE8-9BFD-2ABD54E1DEC4}" type="slidenum">
              <a:rPr lang="es-ES" smtClean="0"/>
              <a:pPr/>
              <a:t>4</a:t>
            </a:fld>
            <a:endParaRPr lang="es-ES" dirty="0"/>
          </a:p>
        </p:txBody>
      </p:sp>
      <p:sp>
        <p:nvSpPr>
          <p:cNvPr id="14" name="13 Rectángulo"/>
          <p:cNvSpPr/>
          <p:nvPr/>
        </p:nvSpPr>
        <p:spPr>
          <a:xfrm>
            <a:off x="0" y="1556792"/>
            <a:ext cx="873629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El menú </a:t>
            </a:r>
            <a:r>
              <a:rPr lang="es-ES" sz="12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Manage Steps opening </a:t>
            </a:r>
            <a:r>
              <a:rPr lang="es-E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muestra: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“Steps </a:t>
            </a:r>
            <a:r>
              <a:rPr lang="es-E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es-E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open”</a:t>
            </a:r>
            <a:r>
              <a:rPr lang="es-ES" sz="1200" dirty="0" smtClean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El proyecto tiene pasos que han sido aprobados y Financiero debe abrirlos en el ERP (</a:t>
            </a:r>
            <a:r>
              <a:rPr lang="es-ES" sz="12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Xpert</a:t>
            </a:r>
            <a:r>
              <a:rPr lang="es-ES" sz="1200" dirty="0" smtClean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/Navision)</a:t>
            </a:r>
            <a:endParaRPr lang="es-E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200" baseline="-250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(</a:t>
            </a:r>
            <a:r>
              <a:rPr lang="es-ES" sz="1200" baseline="-25000" dirty="0">
                <a:latin typeface="Arial" panose="020B0604020202020204" pitchFamily="34" charset="0"/>
                <a:cs typeface="Arial" panose="020B0604020202020204" pitchFamily="34" charset="0"/>
              </a:rPr>
              <a:t>Go </a:t>
            </a:r>
            <a:r>
              <a:rPr lang="es-ES" sz="1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es-ES" sz="1200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steps</a:t>
            </a:r>
            <a:r>
              <a:rPr lang="es-ES" sz="1200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detail</a:t>
            </a:r>
            <a:r>
              <a:rPr lang="es-ES" sz="1200" baseline="-25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s-ES" sz="1200" dirty="0" smtClean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1200" dirty="0" smtClean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Muestra  todos los pasos que han sido abiertos para ese proyectos. Por el momento, no hay pasos</a:t>
            </a:r>
          </a:p>
          <a:p>
            <a:pPr algn="just"/>
            <a:endParaRPr lang="es-ES" sz="12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algn="just"/>
            <a:r>
              <a:rPr lang="es-ES" sz="1200" dirty="0" smtClean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pendientes de abrir.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14 CuadroTexto"/>
          <p:cNvSpPr txBox="1"/>
          <p:nvPr/>
        </p:nvSpPr>
        <p:spPr>
          <a:xfrm>
            <a:off x="267320" y="1043444"/>
            <a:ext cx="8892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254061"/>
                </a:solidFill>
              </a:rPr>
              <a:t>MANAGE STEPS OPENING </a:t>
            </a:r>
            <a:r>
              <a:rPr lang="es-ES" b="1" dirty="0" smtClean="0">
                <a:solidFill>
                  <a:srgbClr val="254061"/>
                </a:solidFill>
              </a:rPr>
              <a:t>II</a:t>
            </a:r>
            <a:endParaRPr lang="en-US" b="1" dirty="0">
              <a:solidFill>
                <a:srgbClr val="254061"/>
              </a:solidFill>
            </a:endParaRPr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716" y="4869160"/>
            <a:ext cx="8238180" cy="1278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16 Rectángulo"/>
          <p:cNvSpPr/>
          <p:nvPr/>
        </p:nvSpPr>
        <p:spPr>
          <a:xfrm>
            <a:off x="7884368" y="5364512"/>
            <a:ext cx="432048" cy="3687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9" name="18 Llamada rectangular"/>
          <p:cNvSpPr/>
          <p:nvPr/>
        </p:nvSpPr>
        <p:spPr>
          <a:xfrm>
            <a:off x="6588224" y="3885941"/>
            <a:ext cx="2160240" cy="983219"/>
          </a:xfrm>
          <a:prstGeom prst="wedgeRectCallout">
            <a:avLst>
              <a:gd name="adj1" fmla="val 21603"/>
              <a:gd name="adj2" fmla="val 89542"/>
            </a:avLst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E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DESPUÉS </a:t>
            </a:r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CREAR ESOS PORTADORES EN EL ERP, seleccionar el + para crear los metadatos en esta aplicación.</a:t>
            </a:r>
          </a:p>
        </p:txBody>
      </p:sp>
      <p:grpSp>
        <p:nvGrpSpPr>
          <p:cNvPr id="3" name="2 Grupo"/>
          <p:cNvGrpSpPr/>
          <p:nvPr/>
        </p:nvGrpSpPr>
        <p:grpSpPr>
          <a:xfrm>
            <a:off x="180226" y="2636912"/>
            <a:ext cx="6188546" cy="1464913"/>
            <a:chOff x="180226" y="2636912"/>
            <a:chExt cx="6188546" cy="1464913"/>
          </a:xfrm>
        </p:grpSpPr>
        <p:pic>
          <p:nvPicPr>
            <p:cNvPr id="9" name="Picture 7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226" y="2636912"/>
              <a:ext cx="6188546" cy="1338064"/>
            </a:xfrm>
            <a:prstGeom prst="rect">
              <a:avLst/>
            </a:prstGeom>
            <a:noFill/>
            <a:ln w="9525">
              <a:gradFill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pic>
          <p:nvPicPr>
            <p:cNvPr id="11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9060" y="3821736"/>
              <a:ext cx="5713816" cy="2800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Picture 4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4968" y="3861048"/>
              <a:ext cx="38100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3742" y="3861048"/>
            <a:ext cx="34290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1" name="20 Conector recto de flecha"/>
          <p:cNvCxnSpPr/>
          <p:nvPr/>
        </p:nvCxnSpPr>
        <p:spPr>
          <a:xfrm flipH="1">
            <a:off x="3635896" y="3813933"/>
            <a:ext cx="1946522" cy="1199243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1306" y="3861048"/>
            <a:ext cx="38100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7772" y="3861048"/>
            <a:ext cx="38100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3005" y="3613176"/>
            <a:ext cx="100965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23 Elipse"/>
          <p:cNvSpPr/>
          <p:nvPr/>
        </p:nvSpPr>
        <p:spPr>
          <a:xfrm>
            <a:off x="5434558" y="3539330"/>
            <a:ext cx="1009650" cy="32171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25" name="Picture 5" title="Go to steps detail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720" y="2049104"/>
            <a:ext cx="342900" cy="2381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6" name="25 Llamada rectangular"/>
          <p:cNvSpPr/>
          <p:nvPr/>
        </p:nvSpPr>
        <p:spPr>
          <a:xfrm>
            <a:off x="4713559" y="2445840"/>
            <a:ext cx="2965853" cy="736597"/>
          </a:xfrm>
          <a:prstGeom prst="wedgeRectCallout">
            <a:avLst>
              <a:gd name="adj1" fmla="val -12631"/>
              <a:gd name="adj2" fmla="val 89814"/>
            </a:avLst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ES" sz="1000" b="1" i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</a:t>
            </a:r>
            <a:r>
              <a:rPr lang="es-E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deben </a:t>
            </a:r>
            <a:r>
              <a:rPr lang="es-ES" sz="1000" b="1" i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ABRIR </a:t>
            </a:r>
            <a:r>
              <a:rPr lang="es-E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todos estos pasos en el ERP</a:t>
            </a:r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Se recomienda utilizar el código +  </a:t>
            </a:r>
            <a:r>
              <a:rPr lang="es-E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E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ame” </a:t>
            </a:r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 propone el listado. </a:t>
            </a:r>
          </a:p>
        </p:txBody>
      </p:sp>
      <p:sp>
        <p:nvSpPr>
          <p:cNvPr id="27" name="26 Rectángulo redondeado"/>
          <p:cNvSpPr/>
          <p:nvPr/>
        </p:nvSpPr>
        <p:spPr>
          <a:xfrm>
            <a:off x="6516216" y="3476409"/>
            <a:ext cx="360040" cy="2735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es-E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27 Rectángulo redondeado"/>
          <p:cNvSpPr/>
          <p:nvPr/>
        </p:nvSpPr>
        <p:spPr>
          <a:xfrm>
            <a:off x="8316416" y="5733255"/>
            <a:ext cx="360040" cy="2735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s-E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4478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59591-2568-4DE8-9BFD-2ABD54E1DEC4}" type="slidenum">
              <a:rPr lang="es-ES" smtClean="0"/>
              <a:pPr/>
              <a:t>5</a:t>
            </a:fld>
            <a:endParaRPr lang="es-ES" dirty="0"/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272" y="2005228"/>
            <a:ext cx="8141366" cy="288032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298886" y="2348880"/>
            <a:ext cx="1368152" cy="3600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5 Rectángulo"/>
          <p:cNvSpPr/>
          <p:nvPr/>
        </p:nvSpPr>
        <p:spPr>
          <a:xfrm>
            <a:off x="2307332" y="4149080"/>
            <a:ext cx="6225108" cy="50405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E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financiero todos los campos le llegan rellenados.  El campo </a:t>
            </a:r>
            <a:r>
              <a:rPr lang="es-ES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“Coda” </a:t>
            </a:r>
            <a:r>
              <a:rPr lang="es-E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muestra el paso que hay el ERP con ese código. </a:t>
            </a:r>
          </a:p>
        </p:txBody>
      </p:sp>
      <p:sp>
        <p:nvSpPr>
          <p:cNvPr id="7" name="6 Llamada rectangular"/>
          <p:cNvSpPr/>
          <p:nvPr/>
        </p:nvSpPr>
        <p:spPr>
          <a:xfrm>
            <a:off x="1667038" y="1556792"/>
            <a:ext cx="1608818" cy="389336"/>
          </a:xfrm>
          <a:prstGeom prst="wedgeRectCallout">
            <a:avLst>
              <a:gd name="adj1" fmla="val -65835"/>
              <a:gd name="adj2" fmla="val 99880"/>
            </a:avLst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E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Pulsar </a:t>
            </a:r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s-E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Save</a:t>
            </a:r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s-E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</a:t>
            </a:r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</a:t>
            </a:r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as </a:t>
            </a:r>
            <a:r>
              <a:rPr lang="es-E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opened</a:t>
            </a:r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””</a:t>
            </a:r>
          </a:p>
        </p:txBody>
      </p:sp>
      <p:sp>
        <p:nvSpPr>
          <p:cNvPr id="9" name="8 Rectángulo redondeado"/>
          <p:cNvSpPr/>
          <p:nvPr/>
        </p:nvSpPr>
        <p:spPr>
          <a:xfrm>
            <a:off x="1835696" y="2464069"/>
            <a:ext cx="360040" cy="2735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es-E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9 CuadroTexto"/>
          <p:cNvSpPr txBox="1"/>
          <p:nvPr/>
        </p:nvSpPr>
        <p:spPr>
          <a:xfrm>
            <a:off x="267320" y="1043444"/>
            <a:ext cx="8892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254061"/>
                </a:solidFill>
              </a:rPr>
              <a:t>MANAGE STEPS OPENING </a:t>
            </a:r>
            <a:r>
              <a:rPr lang="es-ES" b="1" dirty="0" smtClean="0">
                <a:solidFill>
                  <a:srgbClr val="254061"/>
                </a:solidFill>
              </a:rPr>
              <a:t>III</a:t>
            </a:r>
            <a:endParaRPr lang="en-US" b="1" dirty="0">
              <a:solidFill>
                <a:srgbClr val="254061"/>
              </a:solidFill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6691" y="5733256"/>
            <a:ext cx="6386389" cy="87358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2" name="11 Llamada rectangular"/>
          <p:cNvSpPr/>
          <p:nvPr/>
        </p:nvSpPr>
        <p:spPr>
          <a:xfrm>
            <a:off x="267320" y="5013176"/>
            <a:ext cx="2360792" cy="936104"/>
          </a:xfrm>
          <a:prstGeom prst="wedgeRectCallout">
            <a:avLst>
              <a:gd name="adj1" fmla="val 71314"/>
              <a:gd name="adj2" fmla="val 55602"/>
            </a:avLst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E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Repetir </a:t>
            </a:r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operación </a:t>
            </a:r>
            <a:r>
              <a:rPr lang="es-E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(“+”) y 7 (“</a:t>
            </a:r>
            <a:r>
              <a:rPr lang="es-ES" sz="1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Save</a:t>
            </a:r>
            <a:r>
              <a:rPr lang="es-E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s-ES" sz="1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</a:t>
            </a:r>
            <a:r>
              <a:rPr lang="es-E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</a:t>
            </a:r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as </a:t>
            </a:r>
            <a:r>
              <a:rPr lang="es-E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opened</a:t>
            </a:r>
            <a:r>
              <a:rPr lang="es-E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”) </a:t>
            </a:r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 todo el listado hasta que todos </a:t>
            </a:r>
            <a:r>
              <a:rPr lang="es-ES" sz="1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esten</a:t>
            </a:r>
            <a:r>
              <a:rPr lang="es-E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Open.</a:t>
            </a:r>
          </a:p>
        </p:txBody>
      </p:sp>
      <p:sp>
        <p:nvSpPr>
          <p:cNvPr id="13" name="12 Rectángulo redondeado"/>
          <p:cNvSpPr/>
          <p:nvPr/>
        </p:nvSpPr>
        <p:spPr>
          <a:xfrm>
            <a:off x="2771800" y="5344461"/>
            <a:ext cx="360040" cy="2735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es-E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3174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59591-2568-4DE8-9BFD-2ABD54E1DEC4}" type="slidenum">
              <a:rPr lang="es-ES" smtClean="0"/>
              <a:pPr/>
              <a:t>6</a:t>
            </a:fld>
            <a:endParaRPr lang="es-ES" dirty="0"/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4791048"/>
            <a:ext cx="8590086" cy="58216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5572479"/>
            <a:ext cx="5873678" cy="129649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1" name="10 CuadroTexto"/>
          <p:cNvSpPr txBox="1"/>
          <p:nvPr/>
        </p:nvSpPr>
        <p:spPr>
          <a:xfrm>
            <a:off x="251521" y="1043444"/>
            <a:ext cx="7198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>
                <a:solidFill>
                  <a:srgbClr val="254061"/>
                </a:solidFill>
              </a:rPr>
              <a:t>BÚSQUEDA DE PORTADORES</a:t>
            </a:r>
            <a:endParaRPr lang="en-US" b="1" dirty="0">
              <a:solidFill>
                <a:srgbClr val="254061"/>
              </a:solidFill>
            </a:endParaRPr>
          </a:p>
        </p:txBody>
      </p:sp>
      <p:sp>
        <p:nvSpPr>
          <p:cNvPr id="14" name="13 Llamada rectangular"/>
          <p:cNvSpPr/>
          <p:nvPr/>
        </p:nvSpPr>
        <p:spPr>
          <a:xfrm>
            <a:off x="52580" y="5526136"/>
            <a:ext cx="1476164" cy="331938"/>
          </a:xfrm>
          <a:prstGeom prst="wedgeRectCallout">
            <a:avLst>
              <a:gd name="adj1" fmla="val -23240"/>
              <a:gd name="adj2" fmla="val -111611"/>
            </a:avLst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Resultado de la búsqueda</a:t>
            </a:r>
          </a:p>
        </p:txBody>
      </p:sp>
      <p:sp>
        <p:nvSpPr>
          <p:cNvPr id="7" name="6 Rectángulo"/>
          <p:cNvSpPr/>
          <p:nvPr/>
        </p:nvSpPr>
        <p:spPr>
          <a:xfrm>
            <a:off x="8423800" y="5019862"/>
            <a:ext cx="305125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2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095" y="1534839"/>
            <a:ext cx="2507705" cy="778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0738" y="1544364"/>
            <a:ext cx="123319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4 Grupo"/>
          <p:cNvGrpSpPr/>
          <p:nvPr/>
        </p:nvGrpSpPr>
        <p:grpSpPr>
          <a:xfrm>
            <a:off x="236636" y="1534838"/>
            <a:ext cx="8158039" cy="3042281"/>
            <a:chOff x="236636" y="1534838"/>
            <a:chExt cx="8158039" cy="3042281"/>
          </a:xfrm>
        </p:grpSpPr>
        <p:grpSp>
          <p:nvGrpSpPr>
            <p:cNvPr id="4" name="3 Grupo"/>
            <p:cNvGrpSpPr/>
            <p:nvPr/>
          </p:nvGrpSpPr>
          <p:grpSpPr>
            <a:xfrm>
              <a:off x="236636" y="1534838"/>
              <a:ext cx="8158039" cy="3042281"/>
              <a:chOff x="236636" y="1534838"/>
              <a:chExt cx="8158039" cy="3042281"/>
            </a:xfrm>
          </p:grpSpPr>
          <p:pic>
            <p:nvPicPr>
              <p:cNvPr id="3076" name="Picture 4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6636" y="1534838"/>
                <a:ext cx="8158039" cy="304228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</p:pic>
          <p:sp>
            <p:nvSpPr>
              <p:cNvPr id="13" name="12 Llamada rectangular"/>
              <p:cNvSpPr/>
              <p:nvPr/>
            </p:nvSpPr>
            <p:spPr>
              <a:xfrm>
                <a:off x="3419872" y="2558072"/>
                <a:ext cx="2952328" cy="331938"/>
              </a:xfrm>
              <a:prstGeom prst="wedgeRectCallout">
                <a:avLst>
                  <a:gd name="adj1" fmla="val -61055"/>
                  <a:gd name="adj2" fmla="val 58158"/>
                </a:avLst>
              </a:prstGeom>
              <a:solidFill>
                <a:schemeClr val="accent3">
                  <a:lumMod val="40000"/>
                  <a:lumOff val="60000"/>
                </a:schemeClr>
              </a:soli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r>
                  <a:rPr lang="es-ES" sz="1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Escribir portador + </a:t>
                </a:r>
                <a:r>
                  <a:rPr lang="es-ES" sz="10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click</a:t>
                </a:r>
                <a:r>
                  <a:rPr lang="es-ES" sz="1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“</a:t>
                </a:r>
                <a:r>
                  <a:rPr lang="es-ES" sz="10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Search</a:t>
                </a:r>
                <a:r>
                  <a:rPr lang="es-ES" sz="1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”</a:t>
                </a:r>
              </a:p>
            </p:txBody>
          </p:sp>
          <p:pic>
            <p:nvPicPr>
              <p:cNvPr id="1026" name="Picture 2"/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75656" y="1534839"/>
                <a:ext cx="1172791" cy="8209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47429" y="1544364"/>
              <a:ext cx="1203286" cy="260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8" name="17 Rectángulo redondeado"/>
          <p:cNvSpPr/>
          <p:nvPr/>
        </p:nvSpPr>
        <p:spPr>
          <a:xfrm>
            <a:off x="2815055" y="1954396"/>
            <a:ext cx="360040" cy="2735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E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18 Rectángulo redondeado"/>
          <p:cNvSpPr/>
          <p:nvPr/>
        </p:nvSpPr>
        <p:spPr>
          <a:xfrm>
            <a:off x="2712705" y="2558072"/>
            <a:ext cx="360040" cy="2735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E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5 Flecha abajo"/>
          <p:cNvSpPr/>
          <p:nvPr/>
        </p:nvSpPr>
        <p:spPr>
          <a:xfrm>
            <a:off x="2821841" y="3212976"/>
            <a:ext cx="382007" cy="1578072"/>
          </a:xfrm>
          <a:prstGeom prst="downArrow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20 Flecha abajo"/>
          <p:cNvSpPr/>
          <p:nvPr/>
        </p:nvSpPr>
        <p:spPr>
          <a:xfrm rot="2785107">
            <a:off x="7891969" y="5161870"/>
            <a:ext cx="240934" cy="954564"/>
          </a:xfrm>
          <a:prstGeom prst="downArrow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21 Llamada rectangular"/>
          <p:cNvSpPr/>
          <p:nvPr/>
        </p:nvSpPr>
        <p:spPr>
          <a:xfrm>
            <a:off x="7956376" y="5607384"/>
            <a:ext cx="969698" cy="331938"/>
          </a:xfrm>
          <a:prstGeom prst="wedgeRectCallout">
            <a:avLst>
              <a:gd name="adj1" fmla="val 23578"/>
              <a:gd name="adj2" fmla="val -153252"/>
            </a:avLst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Budget anual</a:t>
            </a:r>
          </a:p>
        </p:txBody>
      </p:sp>
    </p:spTree>
    <p:extLst>
      <p:ext uri="{BB962C8B-B14F-4D97-AF65-F5344CB8AC3E}">
        <p14:creationId xmlns:p14="http://schemas.microsoft.com/office/powerpoint/2010/main" val="3264020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icin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cin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8100"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4028</TotalTime>
  <Words>408</Words>
  <Application>Microsoft Office PowerPoint</Application>
  <PresentationFormat>Presentación en pantalla (4:3)</PresentationFormat>
  <Paragraphs>52</Paragraphs>
  <Slides>6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7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Maite Olivares Beobide</dc:creator>
  <cp:lastModifiedBy>Maite Olivares Beobide</cp:lastModifiedBy>
  <cp:revision>606</cp:revision>
  <dcterms:created xsi:type="dcterms:W3CDTF">2016-09-22T15:22:34Z</dcterms:created>
  <dcterms:modified xsi:type="dcterms:W3CDTF">2020-07-22T11:39:58Z</dcterms:modified>
</cp:coreProperties>
</file>