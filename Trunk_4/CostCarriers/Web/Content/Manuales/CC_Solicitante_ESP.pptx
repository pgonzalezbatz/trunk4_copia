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74" r:id="rId2"/>
  </p:sldMasterIdLst>
  <p:notesMasterIdLst>
    <p:notesMasterId r:id="rId41"/>
  </p:notesMasterIdLst>
  <p:sldIdLst>
    <p:sldId id="256" r:id="rId3"/>
    <p:sldId id="281" r:id="rId4"/>
    <p:sldId id="282" r:id="rId5"/>
    <p:sldId id="257" r:id="rId6"/>
    <p:sldId id="258" r:id="rId7"/>
    <p:sldId id="265" r:id="rId8"/>
    <p:sldId id="261" r:id="rId9"/>
    <p:sldId id="264" r:id="rId10"/>
    <p:sldId id="266" r:id="rId11"/>
    <p:sldId id="295" r:id="rId12"/>
    <p:sldId id="267" r:id="rId13"/>
    <p:sldId id="296" r:id="rId14"/>
    <p:sldId id="294" r:id="rId15"/>
    <p:sldId id="268" r:id="rId16"/>
    <p:sldId id="269" r:id="rId17"/>
    <p:sldId id="277" r:id="rId18"/>
    <p:sldId id="270" r:id="rId19"/>
    <p:sldId id="271" r:id="rId20"/>
    <p:sldId id="272" r:id="rId21"/>
    <p:sldId id="273" r:id="rId22"/>
    <p:sldId id="274" r:id="rId23"/>
    <p:sldId id="280" r:id="rId24"/>
    <p:sldId id="299" r:id="rId25"/>
    <p:sldId id="298" r:id="rId26"/>
    <p:sldId id="297" r:id="rId27"/>
    <p:sldId id="290" r:id="rId28"/>
    <p:sldId id="293" r:id="rId29"/>
    <p:sldId id="291" r:id="rId30"/>
    <p:sldId id="275" r:id="rId31"/>
    <p:sldId id="276" r:id="rId32"/>
    <p:sldId id="278" r:id="rId33"/>
    <p:sldId id="279" r:id="rId34"/>
    <p:sldId id="300" r:id="rId35"/>
    <p:sldId id="284" r:id="rId36"/>
    <p:sldId id="285" r:id="rId37"/>
    <p:sldId id="287" r:id="rId38"/>
    <p:sldId id="288" r:id="rId39"/>
    <p:sldId id="289" r:id="rId40"/>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70C0"/>
    <a:srgbClr val="002D86"/>
    <a:srgbClr val="FFFF00"/>
    <a:srgbClr val="FF33CC"/>
    <a:srgbClr val="006600"/>
    <a:srgbClr val="003399"/>
    <a:srgbClr val="254061"/>
    <a:srgbClr val="002060"/>
    <a:srgbClr val="17375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7292A2E-F333-43FB-9621-5CBBE7FDCDCB}" styleName="Estilo claro 2 - Acento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359" autoAdjust="0"/>
    <p:restoredTop sz="96552" autoAdjust="0"/>
  </p:normalViewPr>
  <p:slideViewPr>
    <p:cSldViewPr>
      <p:cViewPr varScale="1">
        <p:scale>
          <a:sx n="113" d="100"/>
          <a:sy n="113" d="100"/>
        </p:scale>
        <p:origin x="1320"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98BCBCB-036B-453E-BF70-851563E2DECA}" type="datetimeFigureOut">
              <a:rPr lang="es-ES" smtClean="0"/>
              <a:pPr/>
              <a:t>11/09/2023</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3FE9763-4EA5-456F-BE99-B64CE06C9C6E}" type="slidenum">
              <a:rPr lang="es-ES" smtClean="0"/>
              <a:pPr/>
              <a:t>‹Nº›</a:t>
            </a:fld>
            <a:endParaRPr lang="es-ES"/>
          </a:p>
        </p:txBody>
      </p:sp>
    </p:spTree>
    <p:extLst>
      <p:ext uri="{BB962C8B-B14F-4D97-AF65-F5344CB8AC3E}">
        <p14:creationId xmlns:p14="http://schemas.microsoft.com/office/powerpoint/2010/main" val="172236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B1E7F99C-8866-486B-B56F-6AB871EF7A36}" type="slidenum">
              <a:rPr lang="es-ES" smtClean="0"/>
              <a:pPr/>
              <a:t>1</a:t>
            </a:fld>
            <a:endParaRPr lang="es-E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B1E7F99C-8866-486B-B56F-6AB871EF7A36}" type="slidenum">
              <a:rPr lang="es-ES" smtClean="0"/>
              <a:pPr/>
              <a:t>2</a:t>
            </a:fld>
            <a:endParaRPr lang="es-E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3FE9763-4EA5-456F-BE99-B64CE06C9C6E}" type="slidenum">
              <a:rPr lang="es-ES" smtClean="0"/>
              <a:pPr/>
              <a:t>3</a:t>
            </a:fld>
            <a:endParaRPr lang="es-ES"/>
          </a:p>
        </p:txBody>
      </p:sp>
    </p:spTree>
    <p:extLst>
      <p:ext uri="{BB962C8B-B14F-4D97-AF65-F5344CB8AC3E}">
        <p14:creationId xmlns:p14="http://schemas.microsoft.com/office/powerpoint/2010/main" val="2230561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3FE9763-4EA5-456F-BE99-B64CE06C9C6E}" type="slidenum">
              <a:rPr lang="es-ES" smtClean="0"/>
              <a:pPr/>
              <a:t>10</a:t>
            </a:fld>
            <a:endParaRPr lang="es-ES"/>
          </a:p>
        </p:txBody>
      </p:sp>
    </p:spTree>
    <p:extLst>
      <p:ext uri="{BB962C8B-B14F-4D97-AF65-F5344CB8AC3E}">
        <p14:creationId xmlns:p14="http://schemas.microsoft.com/office/powerpoint/2010/main" val="39570487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73FE9763-4EA5-456F-BE99-B64CE06C9C6E}" type="slidenum">
              <a:rPr lang="es-ES" smtClean="0"/>
              <a:pPr/>
              <a:t>22</a:t>
            </a:fld>
            <a:endParaRPr lang="es-ES"/>
          </a:p>
        </p:txBody>
      </p:sp>
    </p:spTree>
    <p:extLst>
      <p:ext uri="{BB962C8B-B14F-4D97-AF65-F5344CB8AC3E}">
        <p14:creationId xmlns:p14="http://schemas.microsoft.com/office/powerpoint/2010/main" val="35789051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10"/>
          </p:nvPr>
        </p:nvSpPr>
        <p:spPr/>
        <p:txBody>
          <a:bodyPr/>
          <a:lstStyle/>
          <a:p>
            <a:fld id="{73FE9763-4EA5-456F-BE99-B64CE06C9C6E}" type="slidenum">
              <a:rPr lang="es-ES" smtClean="0"/>
              <a:pPr/>
              <a:t>25</a:t>
            </a:fld>
            <a:endParaRPr lang="es-ES"/>
          </a:p>
        </p:txBody>
      </p:sp>
    </p:spTree>
    <p:extLst>
      <p:ext uri="{BB962C8B-B14F-4D97-AF65-F5344CB8AC3E}">
        <p14:creationId xmlns:p14="http://schemas.microsoft.com/office/powerpoint/2010/main" val="16806669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B1E7F99C-8866-486B-B56F-6AB871EF7A36}" type="slidenum">
              <a:rPr lang="es-ES" smtClean="0"/>
              <a:pPr/>
              <a:t>34</a:t>
            </a:fld>
            <a:endParaRPr lang="es-E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5412C811-28ED-4A95-A132-4F20DA413F26}"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993CC4FA-E1C6-44BF-9030-8D4F22E24516}"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5247041A-C3FC-4419-A1FA-185A4604612E}"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DBF85DD4-8DC8-497C-AB68-B50BAF23C7A7}"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939D5383-0856-4D6F-91D0-D93769F44810}" type="datetime1">
              <a:rPr lang="es-ES" smtClean="0"/>
              <a:t>11/09/2023</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B737E4FE-4B2B-4FF0-93C8-F90208E1C8FE}" type="datetime1">
              <a:rPr lang="es-ES" smtClean="0"/>
              <a:t>11/09/2023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
        <p:nvSpPr>
          <p:cNvPr id="8" name="7 Marcador de texto"/>
          <p:cNvSpPr>
            <a:spLocks noGrp="1"/>
          </p:cNvSpPr>
          <p:nvPr>
            <p:ph type="body" sz="quarter" idx="13" hasCustomPrompt="1"/>
          </p:nvPr>
        </p:nvSpPr>
        <p:spPr>
          <a:xfrm>
            <a:off x="7451725" y="1052512"/>
            <a:ext cx="1152723" cy="216248"/>
          </a:xfrm>
          <a:ln>
            <a:noFill/>
          </a:ln>
        </p:spPr>
        <p:txBody>
          <a:bodyPr>
            <a:noAutofit/>
          </a:bodyPr>
          <a:lstStyle>
            <a:lvl1pPr marL="0" indent="0">
              <a:buNone/>
              <a:defRPr sz="1200"/>
            </a:lvl1pPr>
          </a:lstStyle>
          <a:p>
            <a:pPr lvl="0"/>
            <a:r>
              <a:rPr lang="es-ES" dirty="0" smtClean="0"/>
              <a:t>volver</a:t>
            </a:r>
            <a:endParaRPr lang="en-US" dirty="0"/>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1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5796398-E37A-4821-AB64-868D2292FF3F}"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5" name="6 Título"/>
          <p:cNvSpPr txBox="1">
            <a:spLocks/>
          </p:cNvSpPr>
          <p:nvPr userDrawn="1"/>
        </p:nvSpPr>
        <p:spPr>
          <a:xfrm>
            <a:off x="152400" y="462744"/>
            <a:ext cx="5410944" cy="310344"/>
          </a:xfrm>
          <a:prstGeom prst="rect">
            <a:avLst/>
          </a:prstGeom>
          <a:ln>
            <a:noFill/>
          </a:ln>
        </p:spPr>
        <p:txBody>
          <a:bodyPr vert="horz" lIns="91440" tIns="45720" rIns="91440" bIns="45720" rtlCol="0" anchor="ctr" anchorCtr="0">
            <a:normAutofit fontScale="47500" lnSpcReduction="20000"/>
          </a:bodyPr>
          <a:lstStyle/>
          <a:p>
            <a:pPr lvl="0">
              <a:lnSpc>
                <a:spcPct val="150000"/>
              </a:lnSpc>
              <a:spcBef>
                <a:spcPct val="20000"/>
              </a:spcBef>
            </a:pPr>
            <a:r>
              <a:rPr lang="es-ES" sz="2200" b="1" dirty="0" smtClean="0">
                <a:solidFill>
                  <a:srgbClr val="1F497D"/>
                </a:solidFill>
                <a:latin typeface="Arial" pitchFamily="34" charset="0"/>
                <a:cs typeface="Arial" pitchFamily="34" charset="0"/>
              </a:rPr>
              <a:t>EXCEL(.</a:t>
            </a:r>
            <a:r>
              <a:rPr lang="es-ES" sz="2200" b="1" dirty="0" err="1" smtClean="0">
                <a:solidFill>
                  <a:srgbClr val="1F497D"/>
                </a:solidFill>
                <a:latin typeface="Arial" pitchFamily="34" charset="0"/>
                <a:cs typeface="Arial" pitchFamily="34" charset="0"/>
              </a:rPr>
              <a:t>xlsx</a:t>
            </a:r>
            <a:r>
              <a:rPr lang="es-ES" sz="2200" b="1" dirty="0" smtClean="0">
                <a:solidFill>
                  <a:srgbClr val="1F497D"/>
                </a:solidFill>
                <a:latin typeface="Arial" pitchFamily="34" charset="0"/>
                <a:cs typeface="Arial" pitchFamily="34" charset="0"/>
              </a:rPr>
              <a:t>)</a:t>
            </a:r>
            <a:endParaRPr lang="en-US" sz="2200" b="1" dirty="0">
              <a:solidFill>
                <a:srgbClr val="1F497D"/>
              </a:solidFill>
              <a:latin typeface="Arial" pitchFamily="34" charset="0"/>
              <a:cs typeface="Arial" pitchFamily="34" charset="0"/>
            </a:endParaRPr>
          </a:p>
        </p:txBody>
      </p:sp>
    </p:spTree>
    <p:extLst>
      <p:ext uri="{BB962C8B-B14F-4D97-AF65-F5344CB8AC3E}">
        <p14:creationId xmlns:p14="http://schemas.microsoft.com/office/powerpoint/2010/main" val="465456665"/>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9B3A615-66DD-444E-9A0E-B0D6F9A07DB9}"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51F7DAD-1473-4A57-A48C-1A968C933396}"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264A86D5-46EC-4EF5-9555-8B882887C988}"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81508295-8956-46F1-AB42-EC2C6612A287}" type="datetime1">
              <a:rPr lang="es-ES" smtClean="0"/>
              <a:t>11/09/2023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511735002"/>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F05D9CAF-5B30-47A7-BF4C-805041D42615}"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Tree>
    <p:extLst>
      <p:ext uri="{BB962C8B-B14F-4D97-AF65-F5344CB8AC3E}">
        <p14:creationId xmlns:p14="http://schemas.microsoft.com/office/powerpoint/2010/main" val="2680056711"/>
      </p:ext>
    </p:extLst>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Tree>
    <p:extLst>
      <p:ext uri="{BB962C8B-B14F-4D97-AF65-F5344CB8AC3E}">
        <p14:creationId xmlns:p14="http://schemas.microsoft.com/office/powerpoint/2010/main" val="2680056711"/>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4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Tree>
    <p:extLst>
      <p:ext uri="{BB962C8B-B14F-4D97-AF65-F5344CB8AC3E}">
        <p14:creationId xmlns:p14="http://schemas.microsoft.com/office/powerpoint/2010/main" val="268005671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a:prstGeom prst="rect">
            <a:avLst/>
          </a:prstGeo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5412C811-28ED-4A95-A132-4F20DA413F26}"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498964928"/>
      </p:ext>
    </p:extLst>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993CC4FA-E1C6-44BF-9030-8D4F22E24516}"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4196177339"/>
      </p:ext>
    </p:extLst>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5247041A-C3FC-4419-A1FA-185A4604612E}"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4065070262"/>
      </p:ext>
    </p:extLst>
  </p:cSld>
  <p:clrMapOvr>
    <a:masterClrMapping/>
  </p:clrMapOvr>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DBF85DD4-8DC8-497C-AB68-B50BAF23C7A7}"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42822271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939D5383-0856-4D6F-91D0-D93769F44810}" type="datetime1">
              <a:rPr lang="es-ES" smtClean="0"/>
              <a:t>11/09/2023</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1912281268"/>
      </p:ext>
    </p:extLst>
  </p:cSld>
  <p:clrMapOvr>
    <a:masterClrMapping/>
  </p:clrMapOvr>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B737E4FE-4B2B-4FF0-93C8-F90208E1C8FE}" type="datetime1">
              <a:rPr lang="es-ES" smtClean="0"/>
              <a:t>11/09/2023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911114975"/>
      </p:ext>
    </p:extLst>
  </p:cSld>
  <p:clrMapOvr>
    <a:masterClrMapping/>
  </p:clrMapOvr>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87B63CA2-C457-41B4-A9DE-8C56E6135130}"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dirty="0"/>
          </a:p>
        </p:txBody>
      </p:sp>
      <p:sp>
        <p:nvSpPr>
          <p:cNvPr id="6" name="3 Marcador de número de diapositiva"/>
          <p:cNvSpPr>
            <a:spLocks noGrp="1"/>
          </p:cNvSpPr>
          <p:nvPr>
            <p:ph type="sldNum" sz="quarter" idx="12"/>
          </p:nvPr>
        </p:nvSpPr>
        <p:spPr>
          <a:xfrm>
            <a:off x="6553200" y="6356350"/>
            <a:ext cx="2133600" cy="365125"/>
          </a:xfrm>
        </p:spPr>
        <p:txBody>
          <a:bodyPr/>
          <a:lstStyle>
            <a:lvl1pPr>
              <a:defRPr>
                <a:solidFill>
                  <a:schemeClr val="bg1">
                    <a:lumMod val="65000"/>
                  </a:schemeClr>
                </a:solidFill>
              </a:defRPr>
            </a:lvl1pPr>
          </a:lstStyle>
          <a:p>
            <a:fld id="{6C159591-2568-4DE8-9BFD-2ABD54E1DEC4}" type="slidenum">
              <a:rPr lang="es-ES" smtClean="0"/>
              <a:pPr/>
              <a:t>‹Nº›</a:t>
            </a:fld>
            <a:endParaRPr lang="es-ES" dirty="0"/>
          </a:p>
        </p:txBody>
      </p:sp>
    </p:spTree>
    <p:extLst>
      <p:ext uri="{BB962C8B-B14F-4D97-AF65-F5344CB8AC3E}">
        <p14:creationId xmlns:p14="http://schemas.microsoft.com/office/powerpoint/2010/main" val="21055094"/>
      </p:ext>
    </p:extLst>
  </p:cSld>
  <p:clrMapOvr>
    <a:masterClrMapping/>
  </p:clrMapOvr>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75796398-E37A-4821-AB64-868D2292FF3F}" type="datetime1">
              <a:rPr lang="es-ES" smtClean="0"/>
              <a:t>11/09/2023</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
        <p:nvSpPr>
          <p:cNvPr id="5" name="6 Título"/>
          <p:cNvSpPr txBox="1">
            <a:spLocks/>
          </p:cNvSpPr>
          <p:nvPr userDrawn="1"/>
        </p:nvSpPr>
        <p:spPr>
          <a:xfrm>
            <a:off x="152400" y="462744"/>
            <a:ext cx="5410944" cy="310344"/>
          </a:xfrm>
          <a:prstGeom prst="rect">
            <a:avLst/>
          </a:prstGeom>
          <a:ln>
            <a:noFill/>
          </a:ln>
        </p:spPr>
        <p:txBody>
          <a:bodyPr vert="horz" lIns="91440" tIns="45720" rIns="91440" bIns="45720" rtlCol="0" anchor="ctr" anchorCtr="0">
            <a:normAutofit fontScale="47500" lnSpcReduction="20000"/>
          </a:bodyPr>
          <a:lstStyle/>
          <a:p>
            <a:pPr lvl="0">
              <a:lnSpc>
                <a:spcPct val="150000"/>
              </a:lnSpc>
              <a:spcBef>
                <a:spcPct val="20000"/>
              </a:spcBef>
            </a:pPr>
            <a:r>
              <a:rPr lang="es-ES" sz="2200" b="1" dirty="0" smtClean="0">
                <a:solidFill>
                  <a:srgbClr val="1F497D"/>
                </a:solidFill>
                <a:latin typeface="Arial" pitchFamily="34" charset="0"/>
                <a:cs typeface="Arial" pitchFamily="34" charset="0"/>
              </a:rPr>
              <a:t>EXCEL(.</a:t>
            </a:r>
            <a:r>
              <a:rPr lang="es-ES" sz="2200" b="1" dirty="0" err="1" smtClean="0">
                <a:solidFill>
                  <a:srgbClr val="1F497D"/>
                </a:solidFill>
                <a:latin typeface="Arial" pitchFamily="34" charset="0"/>
                <a:cs typeface="Arial" pitchFamily="34" charset="0"/>
              </a:rPr>
              <a:t>xlsx</a:t>
            </a:r>
            <a:r>
              <a:rPr lang="es-ES" sz="2200" b="1" dirty="0" smtClean="0">
                <a:solidFill>
                  <a:srgbClr val="1F497D"/>
                </a:solidFill>
                <a:latin typeface="Arial" pitchFamily="34" charset="0"/>
                <a:cs typeface="Arial" pitchFamily="34" charset="0"/>
              </a:rPr>
              <a:t>)</a:t>
            </a:r>
            <a:endParaRPr lang="en-US" sz="2200" b="1" dirty="0">
              <a:solidFill>
                <a:srgbClr val="1F497D"/>
              </a:solidFill>
              <a:latin typeface="Arial" pitchFamily="34" charset="0"/>
              <a:cs typeface="Arial" pitchFamily="34" charset="0"/>
            </a:endParaRPr>
          </a:p>
        </p:txBody>
      </p:sp>
    </p:spTree>
    <p:extLst>
      <p:ext uri="{BB962C8B-B14F-4D97-AF65-F5344CB8AC3E}">
        <p14:creationId xmlns:p14="http://schemas.microsoft.com/office/powerpoint/2010/main" val="1792325396"/>
      </p:ext>
    </p:extLst>
  </p:cSld>
  <p:clrMapOvr>
    <a:masterClrMapping/>
  </p:clrMapOvr>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19B3A615-66DD-444E-9A0E-B0D6F9A07DB9}"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2091577920"/>
      </p:ext>
    </p:extLst>
  </p:cSld>
  <p:clrMapOvr>
    <a:masterClrMapping/>
  </p:clrMapOvr>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a:prstGeom prst="rect">
            <a:avLst/>
          </a:prstGeo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351F7DAD-1473-4A57-A48C-1A968C933396}" type="datetime1">
              <a:rPr lang="es-ES" smtClean="0"/>
              <a:t>11/09/2023</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130198052"/>
      </p:ext>
    </p:extLst>
  </p:cSld>
  <p:clrMapOvr>
    <a:masterClrMapping/>
  </p:clrMapOvr>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264A86D5-46EC-4EF5-9555-8B882887C988}"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507642373"/>
      </p:ext>
    </p:extLst>
  </p:cSld>
  <p:clrMapOvr>
    <a:masterClrMapping/>
  </p:clrMapOvr>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seño personalizad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4638"/>
            <a:ext cx="8229600" cy="1143000"/>
          </a:xfrm>
          <a:prstGeom prst="rect">
            <a:avLst/>
          </a:prstGeom>
        </p:spPr>
        <p:txBody>
          <a:bodyPr/>
          <a:lstStyle/>
          <a:p>
            <a:r>
              <a:rPr lang="es-ES" smtClean="0"/>
              <a:t>Haga clic para modificar el estilo de título del patrón</a:t>
            </a:r>
            <a:endParaRPr lang="en-US"/>
          </a:p>
        </p:txBody>
      </p:sp>
      <p:sp>
        <p:nvSpPr>
          <p:cNvPr id="3" name="2 Marcador de fecha"/>
          <p:cNvSpPr>
            <a:spLocks noGrp="1"/>
          </p:cNvSpPr>
          <p:nvPr>
            <p:ph type="dt" sz="half" idx="10"/>
          </p:nvPr>
        </p:nvSpPr>
        <p:spPr/>
        <p:txBody>
          <a:bodyPr/>
          <a:lstStyle/>
          <a:p>
            <a:fld id="{81508295-8956-46F1-AB42-EC2C6612A287}" type="datetime1">
              <a:rPr lang="es-ES" smtClean="0"/>
              <a:t>11/09/2023</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192980401"/>
      </p:ext>
    </p:extLst>
  </p:cSld>
  <p:clrMapOvr>
    <a:masterClrMapping/>
  </p:clrMapOvr>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a:prstGeom prst="rect">
            <a:avLst/>
          </a:prstGeo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F05D9CAF-5B30-47A7-BF4C-805041D42615}" type="datetime1">
              <a:rPr lang="es-ES" smtClean="0"/>
              <a:t>11/09/2023</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extLst>
      <p:ext uri="{BB962C8B-B14F-4D97-AF65-F5344CB8AC3E}">
        <p14:creationId xmlns:p14="http://schemas.microsoft.com/office/powerpoint/2010/main" val="3355770247"/>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 Target="../slides/slide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image" Target="../media/image3.png"/><Relationship Id="rId2" Type="http://schemas.openxmlformats.org/officeDocument/2006/relationships/slideLayout" Target="../slideLayouts/slideLayout18.xml"/><Relationship Id="rId16" Type="http://schemas.openxmlformats.org/officeDocument/2006/relationships/slide" Target="../slides/slide34.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image" Target="../media/image1.png"/><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317BDE-278E-45AC-9E00-A9F51DF70CF9}" type="datetime1">
              <a:rPr lang="es-ES" smtClean="0"/>
              <a:t>11/09/2023</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‹Nº›</a:t>
            </a:fld>
            <a:endParaRPr lang="es-ES"/>
          </a:p>
        </p:txBody>
      </p:sp>
      <p:pic>
        <p:nvPicPr>
          <p:cNvPr id="10" name="12 Imagen" descr="Batz®.png"/>
          <p:cNvPicPr>
            <a:picLocks noChangeAspect="1"/>
          </p:cNvPicPr>
          <p:nvPr userDrawn="1"/>
        </p:nvPicPr>
        <p:blipFill>
          <a:blip r:embed="rId18" cstate="email"/>
          <a:srcRect/>
          <a:stretch>
            <a:fillRect/>
          </a:stretch>
        </p:blipFill>
        <p:spPr bwMode="auto">
          <a:xfrm>
            <a:off x="7812360" y="114350"/>
            <a:ext cx="1078664" cy="326584"/>
          </a:xfrm>
          <a:prstGeom prst="rect">
            <a:avLst/>
          </a:prstGeom>
          <a:noFill/>
          <a:ln w="9525">
            <a:noFill/>
            <a:miter lim="800000"/>
            <a:headEnd/>
            <a:tailEnd/>
          </a:ln>
        </p:spPr>
      </p:pic>
      <p:sp>
        <p:nvSpPr>
          <p:cNvPr id="11" name="10 Rectángulo redondeado"/>
          <p:cNvSpPr/>
          <p:nvPr userDrawn="1"/>
        </p:nvSpPr>
        <p:spPr>
          <a:xfrm>
            <a:off x="168395" y="692696"/>
            <a:ext cx="684000" cy="144000"/>
          </a:xfrm>
          <a:prstGeom prst="roundRect">
            <a:avLst/>
          </a:prstGeom>
          <a:solidFill>
            <a:srgbClr val="009A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2" name="11 Rectángulo redondeado"/>
          <p:cNvSpPr/>
          <p:nvPr userDrawn="1"/>
        </p:nvSpPr>
        <p:spPr>
          <a:xfrm>
            <a:off x="-11246" y="692696"/>
            <a:ext cx="144000" cy="144000"/>
          </a:xfrm>
          <a:prstGeom prst="roundRect">
            <a:avLst/>
          </a:prstGeom>
          <a:solidFill>
            <a:srgbClr val="009A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3" name="6 Título"/>
          <p:cNvSpPr txBox="1">
            <a:spLocks/>
          </p:cNvSpPr>
          <p:nvPr userDrawn="1"/>
        </p:nvSpPr>
        <p:spPr>
          <a:xfrm>
            <a:off x="0" y="0"/>
            <a:ext cx="5410944" cy="620688"/>
          </a:xfrm>
          <a:prstGeom prst="rect">
            <a:avLst/>
          </a:prstGeom>
          <a:ln>
            <a:noFill/>
          </a:ln>
        </p:spPr>
        <p:txBody>
          <a:bodyPr vert="horz" lIns="91440" tIns="45720" rIns="91440" bIns="45720" rtlCol="0" anchor="ctr" anchorCtr="0">
            <a:normAutofit fontScale="77500" lnSpcReduction="20000"/>
          </a:bodyPr>
          <a:lstStyle/>
          <a:p>
            <a:pPr lvl="0">
              <a:lnSpc>
                <a:spcPct val="150000"/>
              </a:lnSpc>
              <a:spcBef>
                <a:spcPct val="20000"/>
              </a:spcBef>
            </a:pPr>
            <a:r>
              <a:rPr lang="en-US" sz="1800" b="1" i="1" dirty="0" smtClean="0">
                <a:solidFill>
                  <a:srgbClr val="1F497D"/>
                </a:solidFill>
                <a:latin typeface="Arial" pitchFamily="34" charset="0"/>
                <a:cs typeface="Arial" pitchFamily="34" charset="0"/>
              </a:rPr>
              <a:t>SOLICITAR APERTURA/MODIFICACIÓN</a:t>
            </a:r>
            <a:r>
              <a:rPr lang="en-US" sz="1800" b="1" i="1" baseline="0" dirty="0" smtClean="0">
                <a:solidFill>
                  <a:srgbClr val="1F497D"/>
                </a:solidFill>
                <a:latin typeface="Arial" pitchFamily="34" charset="0"/>
                <a:cs typeface="Arial" pitchFamily="34" charset="0"/>
              </a:rPr>
              <a:t> DE PORTADORES</a:t>
            </a:r>
            <a:endParaRPr lang="en-US" sz="1800" b="1" i="1" dirty="0">
              <a:solidFill>
                <a:srgbClr val="1F497D"/>
              </a:solidFill>
              <a:latin typeface="Arial" pitchFamily="34" charset="0"/>
              <a:cs typeface="Arial" pitchFamily="34" charset="0"/>
            </a:endParaRPr>
          </a:p>
        </p:txBody>
      </p:sp>
      <p:sp>
        <p:nvSpPr>
          <p:cNvPr id="14" name="13 Rectángulo"/>
          <p:cNvSpPr/>
          <p:nvPr userDrawn="1"/>
        </p:nvSpPr>
        <p:spPr>
          <a:xfrm>
            <a:off x="0" y="908720"/>
            <a:ext cx="9123363" cy="552614"/>
          </a:xfrm>
          <a:prstGeom prst="rect">
            <a:avLst/>
          </a:prstGeom>
          <a:solidFill>
            <a:schemeClr val="tx2">
              <a:lumMod val="20000"/>
              <a:lumOff val="80000"/>
              <a:alpha val="60000"/>
            </a:schemeClr>
          </a:solidFill>
          <a:ln w="9525">
            <a:noFill/>
            <a:miter lim="800000"/>
            <a:headEnd/>
            <a:tailEnd/>
          </a:ln>
        </p:spPr>
        <p:txBody>
          <a:bodyPr wrap="none" lIns="90000" tIns="46800" rIns="234000" bIns="46800" anchor="ctr"/>
          <a:lstStyle/>
          <a:p>
            <a:pPr algn="r">
              <a:defRPr/>
            </a:pPr>
            <a:endParaRPr lang="es-ES" dirty="0"/>
          </a:p>
        </p:txBody>
      </p:sp>
      <p:sp>
        <p:nvSpPr>
          <p:cNvPr id="15" name="14 Flecha derecha"/>
          <p:cNvSpPr/>
          <p:nvPr userDrawn="1"/>
        </p:nvSpPr>
        <p:spPr>
          <a:xfrm>
            <a:off x="107950" y="980728"/>
            <a:ext cx="143570" cy="436326"/>
          </a:xfrm>
          <a:prstGeom prst="rightArrow">
            <a:avLst>
              <a:gd name="adj1" fmla="val 100000"/>
              <a:gd name="adj2" fmla="val 69256"/>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1026" name="Picture 2" descr="C:\Users\molivares\AppData\Local\Microsoft\Windows\Temporary Internet Files\Content.IE5\8Q51644P\home-150499_960_720[1].png">
            <a:hlinkClick r:id="rId19" action="ppaction://hlinksldjump"/>
          </p:cNvPr>
          <p:cNvPicPr>
            <a:picLocks noChangeAspect="1" noChangeArrowheads="1"/>
          </p:cNvPicPr>
          <p:nvPr userDrawn="1"/>
        </p:nvPicPr>
        <p:blipFill>
          <a:blip r:embed="rId20" cstate="print">
            <a:extLst>
              <a:ext uri="{28A0092B-C50C-407E-A947-70E740481C1C}">
                <a14:useLocalDpi xmlns:a14="http://schemas.microsoft.com/office/drawing/2010/main" val="0"/>
              </a:ext>
            </a:extLst>
          </a:blip>
          <a:srcRect/>
          <a:stretch>
            <a:fillRect/>
          </a:stretch>
        </p:blipFill>
        <p:spPr bwMode="auto">
          <a:xfrm>
            <a:off x="8638215" y="1061211"/>
            <a:ext cx="326273" cy="330402"/>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1" r:id="rId8"/>
    <p:sldLayoutId id="2147483656" r:id="rId9"/>
    <p:sldLayoutId id="2147483657" r:id="rId10"/>
    <p:sldLayoutId id="2147483658" r:id="rId11"/>
    <p:sldLayoutId id="2147483660" r:id="rId12"/>
    <p:sldLayoutId id="2147483659" r:id="rId13"/>
    <p:sldLayoutId id="2147483688" r:id="rId14"/>
    <p:sldLayoutId id="2147483689" r:id="rId15"/>
    <p:sldLayoutId id="2147483690" r:id="rId16"/>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317BDE-278E-45AC-9E00-A9F51DF70CF9}" type="datetime1">
              <a:rPr lang="es-ES" smtClean="0"/>
              <a:t>11/09/2023</a:t>
            </a:fld>
            <a:endParaRPr lang="es-ES"/>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‹Nº›</a:t>
            </a:fld>
            <a:endParaRPr lang="es-ES"/>
          </a:p>
        </p:txBody>
      </p:sp>
      <p:pic>
        <p:nvPicPr>
          <p:cNvPr id="10" name="12 Imagen" descr="Batz®.png"/>
          <p:cNvPicPr>
            <a:picLocks noChangeAspect="1"/>
          </p:cNvPicPr>
          <p:nvPr userDrawn="1"/>
        </p:nvPicPr>
        <p:blipFill>
          <a:blip r:embed="rId15" cstate="email"/>
          <a:srcRect/>
          <a:stretch>
            <a:fillRect/>
          </a:stretch>
        </p:blipFill>
        <p:spPr bwMode="auto">
          <a:xfrm>
            <a:off x="7812360" y="114350"/>
            <a:ext cx="1078664" cy="326584"/>
          </a:xfrm>
          <a:prstGeom prst="rect">
            <a:avLst/>
          </a:prstGeom>
          <a:noFill/>
          <a:ln w="9525">
            <a:noFill/>
            <a:miter lim="800000"/>
            <a:headEnd/>
            <a:tailEnd/>
          </a:ln>
        </p:spPr>
      </p:pic>
      <p:sp>
        <p:nvSpPr>
          <p:cNvPr id="11" name="10 Rectángulo redondeado"/>
          <p:cNvSpPr/>
          <p:nvPr userDrawn="1"/>
        </p:nvSpPr>
        <p:spPr>
          <a:xfrm>
            <a:off x="168395" y="692696"/>
            <a:ext cx="684000" cy="144000"/>
          </a:xfrm>
          <a:prstGeom prst="roundRect">
            <a:avLst/>
          </a:prstGeom>
          <a:solidFill>
            <a:srgbClr val="009A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2" name="11 Rectángulo redondeado"/>
          <p:cNvSpPr/>
          <p:nvPr userDrawn="1"/>
        </p:nvSpPr>
        <p:spPr>
          <a:xfrm>
            <a:off x="-11246" y="692696"/>
            <a:ext cx="144000" cy="144000"/>
          </a:xfrm>
          <a:prstGeom prst="roundRect">
            <a:avLst/>
          </a:prstGeom>
          <a:solidFill>
            <a:srgbClr val="009AD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s-ES"/>
          </a:p>
        </p:txBody>
      </p:sp>
      <p:sp>
        <p:nvSpPr>
          <p:cNvPr id="13" name="6 Título"/>
          <p:cNvSpPr txBox="1">
            <a:spLocks/>
          </p:cNvSpPr>
          <p:nvPr userDrawn="1"/>
        </p:nvSpPr>
        <p:spPr>
          <a:xfrm>
            <a:off x="0" y="0"/>
            <a:ext cx="6084168" cy="620688"/>
          </a:xfrm>
          <a:prstGeom prst="rect">
            <a:avLst/>
          </a:prstGeom>
          <a:ln>
            <a:noFill/>
          </a:ln>
        </p:spPr>
        <p:txBody>
          <a:bodyPr vert="horz" lIns="91440" tIns="45720" rIns="91440" bIns="45720" rtlCol="0" anchor="ctr" anchorCtr="0">
            <a:normAutofit/>
          </a:bodyPr>
          <a:lstStyle/>
          <a:p>
            <a:pPr lvl="0">
              <a:lnSpc>
                <a:spcPct val="150000"/>
              </a:lnSpc>
              <a:spcBef>
                <a:spcPct val="20000"/>
              </a:spcBef>
            </a:pPr>
            <a:r>
              <a:rPr lang="en-US" sz="1800" b="1" i="1" baseline="0" dirty="0" smtClean="0">
                <a:solidFill>
                  <a:srgbClr val="1F497D"/>
                </a:solidFill>
                <a:latin typeface="Arial" pitchFamily="34" charset="0"/>
                <a:cs typeface="Arial" pitchFamily="34" charset="0"/>
              </a:rPr>
              <a:t>SOLICITAR FACTURACIÓN</a:t>
            </a:r>
            <a:endParaRPr lang="en-US" sz="1800" b="1" i="1" dirty="0">
              <a:solidFill>
                <a:srgbClr val="1F497D"/>
              </a:solidFill>
              <a:latin typeface="Arial" pitchFamily="34" charset="0"/>
              <a:cs typeface="Arial" pitchFamily="34" charset="0"/>
            </a:endParaRPr>
          </a:p>
        </p:txBody>
      </p:sp>
      <p:sp>
        <p:nvSpPr>
          <p:cNvPr id="14" name="13 Rectángulo"/>
          <p:cNvSpPr/>
          <p:nvPr userDrawn="1"/>
        </p:nvSpPr>
        <p:spPr>
          <a:xfrm>
            <a:off x="0" y="908720"/>
            <a:ext cx="9123363" cy="552614"/>
          </a:xfrm>
          <a:prstGeom prst="rect">
            <a:avLst/>
          </a:prstGeom>
          <a:solidFill>
            <a:schemeClr val="tx2">
              <a:lumMod val="20000"/>
              <a:lumOff val="80000"/>
              <a:alpha val="60000"/>
            </a:schemeClr>
          </a:solidFill>
          <a:ln w="9525">
            <a:noFill/>
            <a:miter lim="800000"/>
            <a:headEnd/>
            <a:tailEnd/>
          </a:ln>
        </p:spPr>
        <p:txBody>
          <a:bodyPr wrap="none" lIns="90000" tIns="46800" rIns="234000" bIns="46800" anchor="ctr"/>
          <a:lstStyle/>
          <a:p>
            <a:pPr algn="r">
              <a:defRPr/>
            </a:pPr>
            <a:endParaRPr lang="es-ES" dirty="0"/>
          </a:p>
        </p:txBody>
      </p:sp>
      <p:sp>
        <p:nvSpPr>
          <p:cNvPr id="15" name="14 Flecha derecha"/>
          <p:cNvSpPr/>
          <p:nvPr userDrawn="1"/>
        </p:nvSpPr>
        <p:spPr>
          <a:xfrm>
            <a:off x="107950" y="980728"/>
            <a:ext cx="143570" cy="436326"/>
          </a:xfrm>
          <a:prstGeom prst="rightArrow">
            <a:avLst>
              <a:gd name="adj1" fmla="val 100000"/>
              <a:gd name="adj2" fmla="val 69256"/>
            </a:avLst>
          </a:prstGeom>
          <a:solidFill>
            <a:srgbClr val="1F497D"/>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16" name="Picture 2" descr="C:\Users\molivares\AppData\Local\Microsoft\Windows\Temporary Internet Files\Content.IE5\OFG0M4TQ\inicio[1].png">
            <a:hlinkClick r:id="rId16" action="ppaction://hlinksldjump"/>
          </p:cNvPr>
          <p:cNvPicPr>
            <a:picLocks noChangeAspect="1" noChangeArrowheads="1"/>
          </p:cNvPicPr>
          <p:nvPr userDrawn="1"/>
        </p:nvPicPr>
        <p:blipFill>
          <a:blip r:embed="rId17" cstate="print">
            <a:extLst>
              <a:ext uri="{28A0092B-C50C-407E-A947-70E740481C1C}">
                <a14:useLocalDpi xmlns:a14="http://schemas.microsoft.com/office/drawing/2010/main" val="0"/>
              </a:ext>
            </a:extLst>
          </a:blip>
          <a:srcRect/>
          <a:stretch>
            <a:fillRect/>
          </a:stretch>
        </p:blipFill>
        <p:spPr bwMode="auto">
          <a:xfrm>
            <a:off x="8491148" y="985089"/>
            <a:ext cx="399876" cy="399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622057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slide" Target="slide34.xm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slide" Target="slide2.xml"/><Relationship Id="rId5" Type="http://schemas.openxmlformats.org/officeDocument/2006/relationships/image" Target="../media/image6.png"/><Relationship Id="rId4" Type="http://schemas.openxmlformats.org/officeDocument/2006/relationships/image" Target="../media/image5.wmf"/></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5.wmf"/></Relationships>
</file>

<file path=ppt/slides/_rels/slide3.xml.rels><?xml version="1.0" encoding="UTF-8" standalone="yes"?>
<Relationships xmlns="http://schemas.openxmlformats.org/package/2006/relationships"><Relationship Id="rId8" Type="http://schemas.openxmlformats.org/officeDocument/2006/relationships/slide" Target="slide18.xml"/><Relationship Id="rId13" Type="http://schemas.openxmlformats.org/officeDocument/2006/relationships/slide" Target="slide25.xml"/><Relationship Id="rId18" Type="http://schemas.openxmlformats.org/officeDocument/2006/relationships/slide" Target="slide31.xml"/><Relationship Id="rId3" Type="http://schemas.openxmlformats.org/officeDocument/2006/relationships/slide" Target="slide4.xml"/><Relationship Id="rId7" Type="http://schemas.openxmlformats.org/officeDocument/2006/relationships/slide" Target="slide17.xml"/><Relationship Id="rId12" Type="http://schemas.openxmlformats.org/officeDocument/2006/relationships/slide" Target="slide24.xml"/><Relationship Id="rId17" Type="http://schemas.openxmlformats.org/officeDocument/2006/relationships/slide" Target="slide30.xml"/><Relationship Id="rId2" Type="http://schemas.openxmlformats.org/officeDocument/2006/relationships/notesSlide" Target="../notesSlides/notesSlide3.xml"/><Relationship Id="rId16" Type="http://schemas.openxmlformats.org/officeDocument/2006/relationships/slide" Target="slide29.xml"/><Relationship Id="rId20" Type="http://schemas.openxmlformats.org/officeDocument/2006/relationships/slide" Target="slide33.xml"/><Relationship Id="rId1" Type="http://schemas.openxmlformats.org/officeDocument/2006/relationships/slideLayout" Target="../slideLayouts/slideLayout2.xml"/><Relationship Id="rId6" Type="http://schemas.openxmlformats.org/officeDocument/2006/relationships/slide" Target="slide9.xml"/><Relationship Id="rId11" Type="http://schemas.openxmlformats.org/officeDocument/2006/relationships/slide" Target="slide23.xml"/><Relationship Id="rId5" Type="http://schemas.openxmlformats.org/officeDocument/2006/relationships/slide" Target="slide7.xml"/><Relationship Id="rId15" Type="http://schemas.openxmlformats.org/officeDocument/2006/relationships/slide" Target="slide28.xml"/><Relationship Id="rId10" Type="http://schemas.openxmlformats.org/officeDocument/2006/relationships/slide" Target="slide22.xml"/><Relationship Id="rId19" Type="http://schemas.openxmlformats.org/officeDocument/2006/relationships/slide" Target="slide32.xml"/><Relationship Id="rId4" Type="http://schemas.openxmlformats.org/officeDocument/2006/relationships/slide" Target="slide5.xml"/><Relationship Id="rId9" Type="http://schemas.openxmlformats.org/officeDocument/2006/relationships/slide" Target="slide19.xml"/><Relationship Id="rId14" Type="http://schemas.openxmlformats.org/officeDocument/2006/relationships/slide" Target="slide2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xml"/><Relationship Id="rId1" Type="http://schemas.openxmlformats.org/officeDocument/2006/relationships/slideLayout" Target="../slideLayouts/slideLayout15.xml"/><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image" Target="../media/image49.png"/><Relationship Id="rId1" Type="http://schemas.openxmlformats.org/officeDocument/2006/relationships/slideLayout" Target="../slideLayouts/slideLayout12.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23.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slide" Target="slide17.xml"/><Relationship Id="rId2" Type="http://schemas.openxmlformats.org/officeDocument/2006/relationships/image" Target="../media/image64.png"/><Relationship Id="rId1" Type="http://schemas.openxmlformats.org/officeDocument/2006/relationships/slideLayout" Target="../slideLayouts/slideLayout15.xml"/><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6.png"/><Relationship Id="rId7" Type="http://schemas.openxmlformats.org/officeDocument/2006/relationships/image" Target="../media/image69.png"/><Relationship Id="rId2" Type="http://schemas.openxmlformats.org/officeDocument/2006/relationships/notesSlide" Target="../notesSlides/notesSlide6.xml"/><Relationship Id="rId1" Type="http://schemas.openxmlformats.org/officeDocument/2006/relationships/slideLayout" Target="../slideLayouts/slideLayout15.xml"/><Relationship Id="rId6" Type="http://schemas.openxmlformats.org/officeDocument/2006/relationships/image" Target="../media/image68.png"/><Relationship Id="rId5" Type="http://schemas.openxmlformats.org/officeDocument/2006/relationships/slide" Target="slide12.xml"/><Relationship Id="rId4" Type="http://schemas.openxmlformats.org/officeDocument/2006/relationships/image" Target="../media/image67.png"/><Relationship Id="rId9" Type="http://schemas.openxmlformats.org/officeDocument/2006/relationships/image" Target="../media/image71.png"/></Relationships>
</file>

<file path=ppt/slides/_rels/slide2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png"/></Relationships>
</file>

<file path=ppt/slides/_rels/slide29.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81.png"/><Relationship Id="rId7" Type="http://schemas.openxmlformats.org/officeDocument/2006/relationships/image" Target="../media/image85.png"/><Relationship Id="rId2" Type="http://schemas.openxmlformats.org/officeDocument/2006/relationships/image" Target="../media/image80.png"/><Relationship Id="rId1"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s>
</file>

<file path=ppt/slides/_rels/slide3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hyperlink" Target="https://cognos.batz.es/ibmcognos/bi/?perspective=authoring&amp;id=iC82D95E94EEB4F8BB85B3EC500F208A6&amp;objRef=iC82D95E94EEB4F8BB85B3EC500F208A6&amp;action=run&amp;format=HTML&amp;prompt=false&amp;cmPropStr=%7B%22id%22%3A%22iC82D95E94EEB4F8BB85B3EC500F208A6%22%2C%22type%22%3A%22report%22%2C%22defaultName%22%3A%22Cost%20Carriers%20report%22%2C%22permissions%22%3A%5B%22execute%22%2C%22read%22%2C%22traverse%22%5D%7D" TargetMode="External"/><Relationship Id="rId1" Type="http://schemas.openxmlformats.org/officeDocument/2006/relationships/slideLayout" Target="../slideLayouts/slideLayout7.xml"/><Relationship Id="rId4" Type="http://schemas.openxmlformats.org/officeDocument/2006/relationships/image" Target="../media/image88.png"/></Relationships>
</file>

<file path=ppt/slides/_rels/slide3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89.png"/><Relationship Id="rId1" Type="http://schemas.openxmlformats.org/officeDocument/2006/relationships/slideLayout" Target="../slideLayouts/slideLayout7.xml"/><Relationship Id="rId4" Type="http://schemas.openxmlformats.org/officeDocument/2006/relationships/image" Target="../media/image92.png"/></Relationships>
</file>

<file path=ppt/slides/_rels/slide33.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wmf"/></Relationships>
</file>

<file path=ppt/slides/_rels/slide3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1.xml"/><Relationship Id="rId4" Type="http://schemas.openxmlformats.org/officeDocument/2006/relationships/image" Target="../media/image97.png"/></Relationships>
</file>

<file path=ppt/slides/_rels/slide3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14.xml"/><Relationship Id="rId4" Type="http://schemas.openxmlformats.org/officeDocument/2006/relationships/image" Target="../media/image100.png"/></Relationships>
</file>

<file path=ppt/slides/_rels/slide37.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2051" name="Picture 3"/>
          <p:cNvPicPr>
            <a:picLocks noChangeAspect="1" noChangeArrowheads="1"/>
          </p:cNvPicPr>
          <p:nvPr/>
        </p:nvPicPr>
        <p:blipFill>
          <a:blip r:embed="rId3" cstate="print"/>
          <a:srcRect b="15360"/>
          <a:stretch>
            <a:fillRect/>
          </a:stretch>
        </p:blipFill>
        <p:spPr bwMode="auto">
          <a:xfrm>
            <a:off x="3260866" y="1268760"/>
            <a:ext cx="5883134" cy="3888432"/>
          </a:xfrm>
          <a:prstGeom prst="rect">
            <a:avLst/>
          </a:prstGeom>
          <a:noFill/>
          <a:ln w="9525">
            <a:noFill/>
            <a:miter lim="800000"/>
            <a:headEnd/>
            <a:tailEnd/>
          </a:ln>
          <a:effectLst/>
        </p:spPr>
      </p:pic>
      <p:sp>
        <p:nvSpPr>
          <p:cNvPr id="9" name="8 Rectángulo"/>
          <p:cNvSpPr/>
          <p:nvPr/>
        </p:nvSpPr>
        <p:spPr>
          <a:xfrm>
            <a:off x="0" y="0"/>
            <a:ext cx="3275856" cy="688613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6" name="Picture 6"/>
          <p:cNvPicPr>
            <a:picLocks noChangeAspect="1" noChangeArrowheads="1"/>
          </p:cNvPicPr>
          <p:nvPr/>
        </p:nvPicPr>
        <p:blipFill>
          <a:blip r:embed="rId4" cstate="print"/>
          <a:srcRect/>
          <a:stretch>
            <a:fillRect/>
          </a:stretch>
        </p:blipFill>
        <p:spPr bwMode="auto">
          <a:xfrm>
            <a:off x="323528" y="476672"/>
            <a:ext cx="2448272" cy="661600"/>
          </a:xfrm>
          <a:prstGeom prst="rect">
            <a:avLst/>
          </a:prstGeom>
          <a:noFill/>
          <a:ln w="9525">
            <a:noFill/>
            <a:miter lim="800000"/>
            <a:headEnd/>
            <a:tailEnd/>
          </a:ln>
          <a:effectLst/>
        </p:spPr>
      </p:pic>
      <p:sp>
        <p:nvSpPr>
          <p:cNvPr id="8" name="7 CuadroTexto"/>
          <p:cNvSpPr txBox="1"/>
          <p:nvPr/>
        </p:nvSpPr>
        <p:spPr>
          <a:xfrm>
            <a:off x="240398" y="1268760"/>
            <a:ext cx="2808312" cy="400110"/>
          </a:xfrm>
          <a:prstGeom prst="rect">
            <a:avLst/>
          </a:prstGeom>
          <a:noFill/>
        </p:spPr>
        <p:txBody>
          <a:bodyPr wrap="square" rtlCol="0">
            <a:spAutoFit/>
          </a:bodyPr>
          <a:lstStyle/>
          <a:p>
            <a:r>
              <a:rPr lang="es-ES" sz="2000" i="1" dirty="0" smtClean="0">
                <a:solidFill>
                  <a:schemeClr val="bg1"/>
                </a:solidFill>
              </a:rPr>
              <a:t>Meeting </a:t>
            </a:r>
            <a:r>
              <a:rPr lang="en-US" sz="2000" i="1" dirty="0" smtClean="0">
                <a:solidFill>
                  <a:schemeClr val="bg1"/>
                </a:solidFill>
              </a:rPr>
              <a:t>your</a:t>
            </a:r>
            <a:r>
              <a:rPr lang="es-ES" sz="2000" i="1" dirty="0" smtClean="0">
                <a:solidFill>
                  <a:schemeClr val="bg1"/>
                </a:solidFill>
              </a:rPr>
              <a:t> </a:t>
            </a:r>
            <a:r>
              <a:rPr lang="en-US" sz="2000" i="1" dirty="0" smtClean="0">
                <a:solidFill>
                  <a:schemeClr val="bg1"/>
                </a:solidFill>
              </a:rPr>
              <a:t>challenges</a:t>
            </a:r>
            <a:endParaRPr lang="en-US" sz="2000" i="1" dirty="0">
              <a:solidFill>
                <a:schemeClr val="bg1"/>
              </a:solidFill>
            </a:endParaRPr>
          </a:p>
        </p:txBody>
      </p:sp>
      <p:sp>
        <p:nvSpPr>
          <p:cNvPr id="12" name="11 CuadroTexto"/>
          <p:cNvSpPr txBox="1"/>
          <p:nvPr/>
        </p:nvSpPr>
        <p:spPr>
          <a:xfrm>
            <a:off x="3203848" y="17329"/>
            <a:ext cx="5674331" cy="1323439"/>
          </a:xfrm>
          <a:prstGeom prst="rect">
            <a:avLst/>
          </a:prstGeom>
          <a:noFill/>
        </p:spPr>
        <p:txBody>
          <a:bodyPr wrap="square">
            <a:spAutoFit/>
          </a:bodyPr>
          <a:lstStyle/>
          <a:p>
            <a:pPr algn="r" fontAlgn="auto">
              <a:spcBef>
                <a:spcPts val="0"/>
              </a:spcBef>
              <a:spcAft>
                <a:spcPts val="0"/>
              </a:spcAft>
              <a:defRPr/>
            </a:pPr>
            <a:r>
              <a:rPr lang="es-ES" sz="4000" b="1" dirty="0" smtClean="0">
                <a:solidFill>
                  <a:schemeClr val="tx2">
                    <a:lumMod val="75000"/>
                  </a:schemeClr>
                </a:solidFill>
              </a:rPr>
              <a:t>BATZ </a:t>
            </a:r>
          </a:p>
          <a:p>
            <a:pPr algn="r" fontAlgn="auto">
              <a:spcBef>
                <a:spcPts val="0"/>
              </a:spcBef>
              <a:spcAft>
                <a:spcPts val="0"/>
              </a:spcAft>
              <a:defRPr/>
            </a:pPr>
            <a:r>
              <a:rPr lang="es-ES" sz="4000" b="1" dirty="0" smtClean="0">
                <a:solidFill>
                  <a:schemeClr val="tx2">
                    <a:lumMod val="75000"/>
                  </a:schemeClr>
                </a:solidFill>
              </a:rPr>
              <a:t>AUTOMOTIVE SYSTEMS</a:t>
            </a:r>
          </a:p>
        </p:txBody>
      </p:sp>
      <p:sp>
        <p:nvSpPr>
          <p:cNvPr id="7" name="6 CuadroTexto"/>
          <p:cNvSpPr txBox="1"/>
          <p:nvPr/>
        </p:nvSpPr>
        <p:spPr>
          <a:xfrm>
            <a:off x="35496" y="6165304"/>
            <a:ext cx="2664296" cy="400110"/>
          </a:xfrm>
          <a:prstGeom prst="rect">
            <a:avLst/>
          </a:prstGeom>
          <a:noFill/>
        </p:spPr>
        <p:txBody>
          <a:bodyPr wrap="square" rtlCol="0">
            <a:spAutoFit/>
          </a:bodyPr>
          <a:lstStyle/>
          <a:p>
            <a:r>
              <a:rPr lang="en-US" sz="2000" b="1" dirty="0" smtClean="0">
                <a:solidFill>
                  <a:schemeClr val="bg1"/>
                </a:solidFill>
              </a:rPr>
              <a:t>Agosto</a:t>
            </a:r>
            <a:r>
              <a:rPr lang="es-ES" sz="2000" b="1" dirty="0" smtClean="0">
                <a:solidFill>
                  <a:schemeClr val="bg1"/>
                </a:solidFill>
              </a:rPr>
              <a:t> 2022</a:t>
            </a:r>
            <a:endParaRPr lang="es-ES" sz="2000" b="1" dirty="0">
              <a:solidFill>
                <a:schemeClr val="bg1"/>
              </a:solidFill>
            </a:endParaRPr>
          </a:p>
        </p:txBody>
      </p:sp>
      <p:sp>
        <p:nvSpPr>
          <p:cNvPr id="10" name="9 CuadroTexto"/>
          <p:cNvSpPr txBox="1"/>
          <p:nvPr/>
        </p:nvSpPr>
        <p:spPr>
          <a:xfrm>
            <a:off x="3275856" y="2973708"/>
            <a:ext cx="5674331" cy="1046440"/>
          </a:xfrm>
          <a:prstGeom prst="rect">
            <a:avLst/>
          </a:prstGeom>
          <a:solidFill>
            <a:schemeClr val="bg1"/>
          </a:solidFill>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fontAlgn="auto">
              <a:spcBef>
                <a:spcPts val="0"/>
              </a:spcBef>
              <a:spcAft>
                <a:spcPts val="0"/>
              </a:spcAft>
              <a:defRPr/>
            </a:pPr>
            <a:r>
              <a:rPr lang="es-ES" sz="3000" b="1" cap="all" dirty="0" smtClean="0">
                <a:ln w="0"/>
                <a:solidFill>
                  <a:schemeClr val="tx2">
                    <a:lumMod val="50000"/>
                  </a:schemeClr>
                </a:solidFill>
                <a:effectLst>
                  <a:reflection blurRad="12700" stA="50000" endPos="50000" dist="5000" dir="5400000" sy="-100000" rotWithShape="0"/>
                </a:effectLst>
              </a:rPr>
              <a:t>APLICACIÓN COST CARRIERS </a:t>
            </a:r>
          </a:p>
          <a:p>
            <a:pPr algn="ctr" fontAlgn="auto">
              <a:spcBef>
                <a:spcPts val="0"/>
              </a:spcBef>
              <a:spcAft>
                <a:spcPts val="0"/>
              </a:spcAft>
              <a:defRPr/>
            </a:pPr>
            <a:r>
              <a:rPr lang="es-ES" sz="3200" b="1" i="1" cap="all" dirty="0" smtClean="0">
                <a:ln w="0"/>
                <a:solidFill>
                  <a:schemeClr val="tx2">
                    <a:lumMod val="50000"/>
                  </a:schemeClr>
                </a:solidFill>
                <a:effectLst>
                  <a:reflection blurRad="12700" stA="50000" endPos="50000" dist="5000" dir="5400000" sy="-100000" rotWithShape="0"/>
                </a:effectLst>
              </a:rPr>
              <a:t>SOLICITANTE</a:t>
            </a:r>
            <a:endParaRPr lang="en-US" sz="3200" b="1" i="1" cap="all" dirty="0" smtClean="0">
              <a:ln w="0"/>
              <a:solidFill>
                <a:schemeClr val="tx2">
                  <a:lumMod val="50000"/>
                </a:schemeClr>
              </a:solidFill>
              <a:effectLst>
                <a:reflection blurRad="12700" stA="50000" endPos="50000" dist="5000" dir="5400000" sy="-100000" rotWithShape="0"/>
              </a:effectLst>
            </a:endParaRPr>
          </a:p>
        </p:txBody>
      </p:sp>
      <p:sp>
        <p:nvSpPr>
          <p:cNvPr id="2" name="1 Marcador de número de diapositiva"/>
          <p:cNvSpPr>
            <a:spLocks noGrp="1"/>
          </p:cNvSpPr>
          <p:nvPr>
            <p:ph type="sldNum" sz="quarter" idx="12"/>
          </p:nvPr>
        </p:nvSpPr>
        <p:spPr/>
        <p:txBody>
          <a:bodyPr/>
          <a:lstStyle/>
          <a:p>
            <a:fld id="{132FADFE-3B8F-471C-ABF0-DBC7717ECBBC}" type="slidenum">
              <a:rPr lang="es-ES" smtClean="0"/>
              <a:pPr/>
              <a:t>1</a:t>
            </a:fld>
            <a:endParaRPr lang="es-ES" dirty="0"/>
          </a:p>
        </p:txBody>
      </p:sp>
      <p:pic>
        <p:nvPicPr>
          <p:cNvPr id="1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3223" y="6055984"/>
            <a:ext cx="1190625" cy="7048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4" name="13 CuadroTexto"/>
          <p:cNvSpPr txBox="1"/>
          <p:nvPr/>
        </p:nvSpPr>
        <p:spPr>
          <a:xfrm>
            <a:off x="3362165" y="5517232"/>
            <a:ext cx="5674331" cy="1200329"/>
          </a:xfrm>
          <a:prstGeom prst="rect">
            <a:avLst/>
          </a:prstGeom>
          <a:noFill/>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fontAlgn="auto">
              <a:spcBef>
                <a:spcPts val="0"/>
              </a:spcBef>
              <a:spcAft>
                <a:spcPts val="0"/>
              </a:spcAft>
              <a:defRPr/>
            </a:pPr>
            <a:r>
              <a:rPr lang="es-ES" b="1" i="1" cap="all" dirty="0" smtClean="0">
                <a:ln w="0"/>
                <a:solidFill>
                  <a:schemeClr val="tx2">
                    <a:lumMod val="75000"/>
                  </a:schemeClr>
                </a:solidFill>
                <a:effectLst>
                  <a:reflection blurRad="12700" stA="50000" endPos="50000" dist="5000" dir="5400000" sy="-100000" rotWithShape="0"/>
                </a:effectLst>
                <a:hlinkClick r:id="rId6" action="ppaction://hlinksldjump"/>
              </a:rPr>
              <a:t>SOLICITAR </a:t>
            </a:r>
            <a:r>
              <a:rPr lang="es-ES" b="1" i="1" cap="all" dirty="0" smtClean="0">
                <a:ln w="0"/>
                <a:solidFill>
                  <a:srgbClr val="FF0000"/>
                </a:solidFill>
                <a:effectLst>
                  <a:reflection blurRad="12700" stA="50000" endPos="50000" dist="5000" dir="5400000" sy="-100000" rotWithShape="0"/>
                </a:effectLst>
                <a:hlinkClick r:id="rId6" action="ppaction://hlinksldjump"/>
              </a:rPr>
              <a:t>APERTURA/modificación</a:t>
            </a:r>
            <a:r>
              <a:rPr lang="es-ES" b="1" i="1" cap="all" dirty="0" smtClean="0">
                <a:ln w="0"/>
                <a:solidFill>
                  <a:schemeClr val="tx2">
                    <a:lumMod val="75000"/>
                  </a:schemeClr>
                </a:solidFill>
                <a:effectLst>
                  <a:reflection blurRad="12700" stA="50000" endPos="50000" dist="5000" dir="5400000" sy="-100000" rotWithShape="0"/>
                </a:effectLst>
                <a:hlinkClick r:id="rId6" action="ppaction://hlinksldjump"/>
              </a:rPr>
              <a:t> DE PORTADORES</a:t>
            </a:r>
            <a:endParaRPr lang="es-ES" b="1" i="1" cap="all" dirty="0" smtClean="0">
              <a:ln w="0"/>
              <a:solidFill>
                <a:schemeClr val="tx2">
                  <a:lumMod val="75000"/>
                </a:schemeClr>
              </a:solidFill>
              <a:effectLst>
                <a:reflection blurRad="12700" stA="50000" endPos="50000" dist="5000" dir="5400000" sy="-100000" rotWithShape="0"/>
              </a:effectLst>
            </a:endParaRPr>
          </a:p>
          <a:p>
            <a:pPr algn="ctr" fontAlgn="auto">
              <a:spcBef>
                <a:spcPts val="0"/>
              </a:spcBef>
              <a:spcAft>
                <a:spcPts val="0"/>
              </a:spcAft>
              <a:defRPr/>
            </a:pPr>
            <a:endParaRPr lang="es-ES" b="1" i="1" cap="all" dirty="0" smtClean="0">
              <a:ln w="0"/>
              <a:solidFill>
                <a:schemeClr val="tx2">
                  <a:lumMod val="75000"/>
                </a:schemeClr>
              </a:solidFill>
              <a:effectLst>
                <a:reflection blurRad="12700" stA="50000" endPos="50000" dist="5000" dir="5400000" sy="-100000" rotWithShape="0"/>
              </a:effectLst>
            </a:endParaRPr>
          </a:p>
          <a:p>
            <a:pPr algn="ctr" fontAlgn="auto">
              <a:spcBef>
                <a:spcPts val="0"/>
              </a:spcBef>
              <a:spcAft>
                <a:spcPts val="0"/>
              </a:spcAft>
              <a:defRPr/>
            </a:pPr>
            <a:r>
              <a:rPr lang="es-ES" b="1" i="1" cap="all" dirty="0" smtClean="0">
                <a:ln w="0"/>
                <a:solidFill>
                  <a:schemeClr val="tx2">
                    <a:lumMod val="75000"/>
                  </a:schemeClr>
                </a:solidFill>
                <a:effectLst>
                  <a:reflection blurRad="12700" stA="50000" endPos="50000" dist="5000" dir="5400000" sy="-100000" rotWithShape="0"/>
                </a:effectLst>
                <a:hlinkClick r:id="rId7" action="ppaction://hlinksldjump"/>
              </a:rPr>
              <a:t>SOLICITAR </a:t>
            </a:r>
            <a:r>
              <a:rPr lang="es-ES" b="1" i="1" cap="all" dirty="0" smtClean="0">
                <a:ln w="0"/>
                <a:solidFill>
                  <a:schemeClr val="accent3">
                    <a:lumMod val="50000"/>
                  </a:schemeClr>
                </a:solidFill>
                <a:effectLst>
                  <a:reflection blurRad="12700" stA="50000" endPos="50000" dist="5000" dir="5400000" sy="-100000" rotWithShape="0"/>
                </a:effectLst>
                <a:hlinkClick r:id="rId7" action="ppaction://hlinksldjump"/>
              </a:rPr>
              <a:t>FACTURACIÓN</a:t>
            </a:r>
            <a:endParaRPr lang="en-US" b="1" i="1" cap="all" dirty="0">
              <a:ln w="0"/>
              <a:solidFill>
                <a:schemeClr val="tx2">
                  <a:lumMod val="75000"/>
                </a:schemeClr>
              </a:solidFill>
              <a:effectLst>
                <a:reflection blurRad="12700" stA="50000" endPos="50000" dist="5000" dir="5400000" sy="-100000" rotWithShape="0"/>
              </a:effectLst>
            </a:endParaRPr>
          </a:p>
          <a:p>
            <a:pPr algn="ctr" fontAlgn="auto">
              <a:spcBef>
                <a:spcPts val="0"/>
              </a:spcBef>
              <a:spcAft>
                <a:spcPts val="0"/>
              </a:spcAft>
              <a:defRPr/>
            </a:pPr>
            <a:endParaRPr lang="en-US" b="1" i="1" cap="all" dirty="0" smtClean="0">
              <a:ln w="0"/>
              <a:solidFill>
                <a:schemeClr val="tx2">
                  <a:lumMod val="75000"/>
                </a:schemeClr>
              </a:solidFill>
              <a:effectLst>
                <a:reflection blurRad="12700" stA="50000" endPos="50000" dist="5000" dir="5400000" sy="-100000" rotWithShape="0"/>
              </a:effectLst>
            </a:endParaRPr>
          </a:p>
        </p:txBody>
      </p:sp>
    </p:spTree>
  </p:cSld>
  <p:clrMapOvr>
    <a:masterClrMapping/>
  </p:clrMapOvr>
  <p:transition advClick="0"/>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2051" name="Picture 3"/>
          <p:cNvPicPr>
            <a:picLocks noChangeAspect="1" noChangeArrowheads="1"/>
          </p:cNvPicPr>
          <p:nvPr/>
        </p:nvPicPr>
        <p:blipFill>
          <a:blip r:embed="rId3" cstate="print"/>
          <a:srcRect b="15360"/>
          <a:stretch>
            <a:fillRect/>
          </a:stretch>
        </p:blipFill>
        <p:spPr bwMode="auto">
          <a:xfrm>
            <a:off x="3260866" y="1268760"/>
            <a:ext cx="5883134" cy="3888432"/>
          </a:xfrm>
          <a:prstGeom prst="rect">
            <a:avLst/>
          </a:prstGeom>
          <a:noFill/>
          <a:ln w="9525">
            <a:noFill/>
            <a:miter lim="800000"/>
            <a:headEnd/>
            <a:tailEnd/>
          </a:ln>
          <a:effectLst/>
        </p:spPr>
      </p:pic>
      <p:sp>
        <p:nvSpPr>
          <p:cNvPr id="9" name="8 Rectángulo"/>
          <p:cNvSpPr/>
          <p:nvPr/>
        </p:nvSpPr>
        <p:spPr>
          <a:xfrm>
            <a:off x="0" y="0"/>
            <a:ext cx="3275856" cy="688613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6" name="Picture 6"/>
          <p:cNvPicPr>
            <a:picLocks noChangeAspect="1" noChangeArrowheads="1"/>
          </p:cNvPicPr>
          <p:nvPr/>
        </p:nvPicPr>
        <p:blipFill>
          <a:blip r:embed="rId4" cstate="print"/>
          <a:srcRect/>
          <a:stretch>
            <a:fillRect/>
          </a:stretch>
        </p:blipFill>
        <p:spPr bwMode="auto">
          <a:xfrm>
            <a:off x="323528" y="476672"/>
            <a:ext cx="2448272" cy="661600"/>
          </a:xfrm>
          <a:prstGeom prst="rect">
            <a:avLst/>
          </a:prstGeom>
          <a:noFill/>
          <a:ln w="9525">
            <a:noFill/>
            <a:miter lim="800000"/>
            <a:headEnd/>
            <a:tailEnd/>
          </a:ln>
          <a:effectLst/>
        </p:spPr>
      </p:pic>
      <p:sp>
        <p:nvSpPr>
          <p:cNvPr id="8" name="7 CuadroTexto"/>
          <p:cNvSpPr txBox="1"/>
          <p:nvPr/>
        </p:nvSpPr>
        <p:spPr>
          <a:xfrm>
            <a:off x="240398" y="1268760"/>
            <a:ext cx="2808312" cy="400110"/>
          </a:xfrm>
          <a:prstGeom prst="rect">
            <a:avLst/>
          </a:prstGeom>
          <a:noFill/>
        </p:spPr>
        <p:txBody>
          <a:bodyPr wrap="square" rtlCol="0">
            <a:spAutoFit/>
          </a:bodyPr>
          <a:lstStyle/>
          <a:p>
            <a:r>
              <a:rPr lang="es-ES" sz="2000" i="1" dirty="0" smtClean="0">
                <a:solidFill>
                  <a:schemeClr val="bg1"/>
                </a:solidFill>
              </a:rPr>
              <a:t>Meeting </a:t>
            </a:r>
            <a:r>
              <a:rPr lang="en-US" sz="2000" i="1" dirty="0" smtClean="0">
                <a:solidFill>
                  <a:schemeClr val="bg1"/>
                </a:solidFill>
              </a:rPr>
              <a:t>your</a:t>
            </a:r>
            <a:r>
              <a:rPr lang="es-ES" sz="2000" i="1" dirty="0" smtClean="0">
                <a:solidFill>
                  <a:schemeClr val="bg1"/>
                </a:solidFill>
              </a:rPr>
              <a:t> </a:t>
            </a:r>
            <a:r>
              <a:rPr lang="en-US" sz="2000" i="1" dirty="0" smtClean="0">
                <a:solidFill>
                  <a:schemeClr val="bg1"/>
                </a:solidFill>
              </a:rPr>
              <a:t>challenges</a:t>
            </a:r>
            <a:endParaRPr lang="en-US" sz="2000" i="1" dirty="0">
              <a:solidFill>
                <a:schemeClr val="bg1"/>
              </a:solidFill>
            </a:endParaRPr>
          </a:p>
        </p:txBody>
      </p:sp>
      <p:sp>
        <p:nvSpPr>
          <p:cNvPr id="12" name="11 CuadroTexto"/>
          <p:cNvSpPr txBox="1"/>
          <p:nvPr/>
        </p:nvSpPr>
        <p:spPr>
          <a:xfrm>
            <a:off x="3203848" y="17329"/>
            <a:ext cx="5674331" cy="1323439"/>
          </a:xfrm>
          <a:prstGeom prst="rect">
            <a:avLst/>
          </a:prstGeom>
          <a:noFill/>
        </p:spPr>
        <p:txBody>
          <a:bodyPr wrap="square">
            <a:spAutoFit/>
          </a:bodyPr>
          <a:lstStyle/>
          <a:p>
            <a:pPr algn="r" fontAlgn="auto">
              <a:spcBef>
                <a:spcPts val="0"/>
              </a:spcBef>
              <a:spcAft>
                <a:spcPts val="0"/>
              </a:spcAft>
              <a:defRPr/>
            </a:pPr>
            <a:r>
              <a:rPr lang="es-ES" sz="4000" b="1" dirty="0" smtClean="0">
                <a:solidFill>
                  <a:schemeClr val="tx2">
                    <a:lumMod val="75000"/>
                  </a:schemeClr>
                </a:solidFill>
              </a:rPr>
              <a:t>BATZ </a:t>
            </a:r>
          </a:p>
          <a:p>
            <a:pPr algn="r" fontAlgn="auto">
              <a:spcBef>
                <a:spcPts val="0"/>
              </a:spcBef>
              <a:spcAft>
                <a:spcPts val="0"/>
              </a:spcAft>
              <a:defRPr/>
            </a:pPr>
            <a:r>
              <a:rPr lang="es-ES" sz="4000" b="1" dirty="0" smtClean="0">
                <a:solidFill>
                  <a:schemeClr val="tx2">
                    <a:lumMod val="75000"/>
                  </a:schemeClr>
                </a:solidFill>
              </a:rPr>
              <a:t>AUTOMOTIVE SYSTEMS</a:t>
            </a:r>
            <a:endParaRPr lang="es-ES" sz="4000" b="1" dirty="0" smtClean="0">
              <a:solidFill>
                <a:schemeClr val="tx2">
                  <a:lumMod val="75000"/>
                </a:schemeClr>
              </a:solidFill>
              <a:latin typeface="+mn-lt"/>
              <a:cs typeface="+mn-cs"/>
            </a:endParaRPr>
          </a:p>
        </p:txBody>
      </p:sp>
      <p:sp>
        <p:nvSpPr>
          <p:cNvPr id="7" name="6 CuadroTexto"/>
          <p:cNvSpPr txBox="1"/>
          <p:nvPr/>
        </p:nvSpPr>
        <p:spPr>
          <a:xfrm>
            <a:off x="539552" y="6405632"/>
            <a:ext cx="2664296" cy="400110"/>
          </a:xfrm>
          <a:prstGeom prst="rect">
            <a:avLst/>
          </a:prstGeom>
          <a:noFill/>
        </p:spPr>
        <p:txBody>
          <a:bodyPr wrap="square" rtlCol="0">
            <a:spAutoFit/>
          </a:bodyPr>
          <a:lstStyle/>
          <a:p>
            <a:r>
              <a:rPr lang="es-ES" sz="2000" b="1" dirty="0" smtClean="0">
                <a:solidFill>
                  <a:schemeClr val="bg1"/>
                </a:solidFill>
              </a:rPr>
              <a:t>Agosto 2022</a:t>
            </a:r>
            <a:endParaRPr lang="es-ES" sz="2000" b="1" dirty="0">
              <a:solidFill>
                <a:schemeClr val="bg1"/>
              </a:solidFill>
            </a:endParaRPr>
          </a:p>
        </p:txBody>
      </p:sp>
      <p:sp>
        <p:nvSpPr>
          <p:cNvPr id="10" name="9 CuadroTexto"/>
          <p:cNvSpPr txBox="1"/>
          <p:nvPr/>
        </p:nvSpPr>
        <p:spPr>
          <a:xfrm>
            <a:off x="3362165" y="5517232"/>
            <a:ext cx="5674331" cy="1292662"/>
          </a:xfrm>
          <a:prstGeom prst="rect">
            <a:avLst/>
          </a:prstGeom>
          <a:noFill/>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fontAlgn="auto">
              <a:spcBef>
                <a:spcPts val="0"/>
              </a:spcBef>
              <a:spcAft>
                <a:spcPts val="0"/>
              </a:spcAft>
              <a:defRPr/>
            </a:pPr>
            <a:r>
              <a:rPr lang="es-ES" sz="2600" b="1" i="1" cap="all" dirty="0" smtClean="0">
                <a:ln w="0"/>
                <a:solidFill>
                  <a:schemeClr val="tx2">
                    <a:lumMod val="75000"/>
                  </a:schemeClr>
                </a:solidFill>
                <a:effectLst>
                  <a:reflection blurRad="12700" stA="50000" endPos="50000" dist="5000" dir="5400000" sy="-100000" rotWithShape="0"/>
                </a:effectLst>
              </a:rPr>
              <a:t>SOLICITAR</a:t>
            </a:r>
          </a:p>
          <a:p>
            <a:pPr algn="ctr" fontAlgn="auto">
              <a:spcBef>
                <a:spcPts val="0"/>
              </a:spcBef>
              <a:spcAft>
                <a:spcPts val="0"/>
              </a:spcAft>
              <a:defRPr/>
            </a:pPr>
            <a:r>
              <a:rPr lang="es-ES" sz="2600" b="1" i="1" cap="all" dirty="0" smtClean="0">
                <a:ln w="0"/>
                <a:solidFill>
                  <a:srgbClr val="FF0000"/>
                </a:solidFill>
                <a:effectLst>
                  <a:reflection blurRad="12700" stA="50000" endPos="50000" dist="5000" dir="5400000" sy="-100000" rotWithShape="0"/>
                </a:effectLst>
              </a:rPr>
              <a:t>APERTURA/</a:t>
            </a:r>
            <a:r>
              <a:rPr lang="es-ES" sz="2600" b="1" i="1" cap="all" dirty="0" err="1" smtClean="0">
                <a:ln w="0"/>
                <a:solidFill>
                  <a:srgbClr val="FF0000"/>
                </a:solidFill>
                <a:effectLst>
                  <a:reflection blurRad="12700" stA="50000" endPos="50000" dist="5000" dir="5400000" sy="-100000" rotWithShape="0"/>
                </a:effectLst>
              </a:rPr>
              <a:t>modidicaciÓn</a:t>
            </a:r>
            <a:r>
              <a:rPr lang="es-ES" sz="2600" b="1" i="1" cap="all" dirty="0" smtClean="0">
                <a:ln w="0"/>
                <a:solidFill>
                  <a:schemeClr val="tx2">
                    <a:lumMod val="75000"/>
                  </a:schemeClr>
                </a:solidFill>
                <a:effectLst>
                  <a:reflection blurRad="12700" stA="50000" endPos="50000" dist="5000" dir="5400000" sy="-100000" rotWithShape="0"/>
                </a:effectLst>
              </a:rPr>
              <a:t> DE PORTADORES</a:t>
            </a:r>
            <a:endParaRPr lang="en-US" sz="2600" b="1" i="1" cap="all" dirty="0" smtClean="0">
              <a:ln w="0"/>
              <a:solidFill>
                <a:schemeClr val="tx2">
                  <a:lumMod val="75000"/>
                </a:schemeClr>
              </a:solidFill>
              <a:effectLst>
                <a:reflection blurRad="12700" stA="50000" endPos="50000" dist="5000" dir="5400000" sy="-100000" rotWithShape="0"/>
              </a:effectLst>
            </a:endParaRPr>
          </a:p>
        </p:txBody>
      </p:sp>
      <p:sp>
        <p:nvSpPr>
          <p:cNvPr id="2" name="1 Marcador de número de diapositiva"/>
          <p:cNvSpPr>
            <a:spLocks noGrp="1"/>
          </p:cNvSpPr>
          <p:nvPr>
            <p:ph type="sldNum" sz="quarter" idx="12"/>
          </p:nvPr>
        </p:nvSpPr>
        <p:spPr/>
        <p:txBody>
          <a:bodyPr/>
          <a:lstStyle/>
          <a:p>
            <a:fld id="{132FADFE-3B8F-471C-ABF0-DBC7717ECBBC}" type="slidenum">
              <a:rPr lang="es-ES" smtClean="0"/>
              <a:pPr/>
              <a:t>2</a:t>
            </a:fld>
            <a:endParaRPr lang="es-ES" dirty="0"/>
          </a:p>
        </p:txBody>
      </p:sp>
    </p:spTree>
    <p:extLst>
      <p:ext uri="{BB962C8B-B14F-4D97-AF65-F5344CB8AC3E}">
        <p14:creationId xmlns:p14="http://schemas.microsoft.com/office/powerpoint/2010/main" val="308768481"/>
      </p:ext>
    </p:extLst>
  </p:cSld>
  <p:clrMapOvr>
    <a:masterClrMapping/>
  </p:clrMapOvr>
  <p:transition advClick="0"/>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57200" y="1484784"/>
            <a:ext cx="8229600" cy="5373216"/>
          </a:xfrm>
        </p:spPr>
        <p:txBody>
          <a:bodyPr>
            <a:normAutofit fontScale="85000" lnSpcReduction="20000"/>
          </a:bodyPr>
          <a:lstStyle/>
          <a:p>
            <a:r>
              <a:rPr lang="es-ES" sz="1800" b="1" dirty="0">
                <a:solidFill>
                  <a:srgbClr val="254061"/>
                </a:solidFill>
                <a:hlinkClick r:id="rId3" action="ppaction://hlinksldjump"/>
              </a:rPr>
              <a:t>OBJETIVO, ALCANCE Y </a:t>
            </a:r>
            <a:r>
              <a:rPr lang="es-ES" sz="1800" b="1" dirty="0" smtClean="0">
                <a:solidFill>
                  <a:srgbClr val="254061"/>
                </a:solidFill>
                <a:hlinkClick r:id="rId3" action="ppaction://hlinksldjump"/>
              </a:rPr>
              <a:t>ACCESO</a:t>
            </a:r>
            <a:endParaRPr lang="es-ES" sz="1800" b="1" dirty="0" smtClean="0">
              <a:solidFill>
                <a:srgbClr val="254061"/>
              </a:solidFill>
            </a:endParaRPr>
          </a:p>
          <a:p>
            <a:r>
              <a:rPr lang="es-ES" sz="1800" b="1" dirty="0">
                <a:solidFill>
                  <a:srgbClr val="254061"/>
                </a:solidFill>
                <a:hlinkClick r:id="rId4" action="ppaction://hlinksldjump"/>
              </a:rPr>
              <a:t>CREAR NUEVO PROYECTO EN LA APLICACIÓN </a:t>
            </a:r>
            <a:r>
              <a:rPr lang="es-ES" sz="1800" b="1" dirty="0" smtClean="0">
                <a:solidFill>
                  <a:srgbClr val="254061"/>
                </a:solidFill>
              </a:rPr>
              <a:t>I,II</a:t>
            </a:r>
          </a:p>
          <a:p>
            <a:r>
              <a:rPr lang="es-ES" sz="1800" b="1" dirty="0">
                <a:solidFill>
                  <a:srgbClr val="254061"/>
                </a:solidFill>
              </a:rPr>
              <a:t>EDITAR </a:t>
            </a:r>
            <a:r>
              <a:rPr lang="es-ES" sz="1800" b="1" dirty="0" smtClean="0">
                <a:solidFill>
                  <a:srgbClr val="254061"/>
                </a:solidFill>
              </a:rPr>
              <a:t>SOLICITUD</a:t>
            </a:r>
          </a:p>
          <a:p>
            <a:pPr lvl="1"/>
            <a:r>
              <a:rPr lang="es-ES" sz="1400" b="1" dirty="0" smtClean="0">
                <a:solidFill>
                  <a:srgbClr val="254061"/>
                </a:solidFill>
                <a:hlinkClick r:id="rId5" action="ppaction://hlinksldjump"/>
              </a:rPr>
              <a:t>ESTRUCTURA </a:t>
            </a:r>
            <a:r>
              <a:rPr lang="es-ES" sz="1400" b="1" dirty="0">
                <a:solidFill>
                  <a:srgbClr val="254061"/>
                </a:solidFill>
                <a:hlinkClick r:id="rId5" action="ppaction://hlinksldjump"/>
              </a:rPr>
              <a:t>DE </a:t>
            </a:r>
            <a:r>
              <a:rPr lang="es-ES" sz="1400" b="1" dirty="0" smtClean="0">
                <a:solidFill>
                  <a:srgbClr val="254061"/>
                </a:solidFill>
                <a:hlinkClick r:id="rId5" action="ppaction://hlinksldjump"/>
              </a:rPr>
              <a:t>TABLA</a:t>
            </a:r>
            <a:r>
              <a:rPr lang="es-ES" sz="1400" b="1" dirty="0" smtClean="0">
                <a:solidFill>
                  <a:srgbClr val="254061"/>
                </a:solidFill>
              </a:rPr>
              <a:t> I, II</a:t>
            </a:r>
          </a:p>
          <a:p>
            <a:pPr lvl="1"/>
            <a:r>
              <a:rPr lang="en-US" sz="1400" b="1" dirty="0" smtClean="0">
                <a:solidFill>
                  <a:srgbClr val="254061"/>
                </a:solidFill>
                <a:hlinkClick r:id="rId6" action="ppaction://hlinksldjump"/>
              </a:rPr>
              <a:t>CREAR NUEVOS PASOS</a:t>
            </a:r>
            <a:endParaRPr lang="es-ES" sz="1400" b="1" dirty="0" smtClean="0">
              <a:solidFill>
                <a:srgbClr val="254061"/>
              </a:solidFill>
            </a:endParaRPr>
          </a:p>
          <a:p>
            <a:pPr lvl="2"/>
            <a:r>
              <a:rPr lang="es-ES" sz="1400" b="1" dirty="0" smtClean="0">
                <a:solidFill>
                  <a:srgbClr val="254061"/>
                </a:solidFill>
                <a:sym typeface="Wingdings" panose="05000000000000000000" pitchFamily="2" charset="2"/>
              </a:rPr>
              <a:t>1</a:t>
            </a:r>
            <a:r>
              <a:rPr lang="es-ES" sz="1400" b="1" dirty="0">
                <a:solidFill>
                  <a:srgbClr val="254061"/>
                </a:solidFill>
                <a:sym typeface="Wingdings" panose="05000000000000000000" pitchFamily="2" charset="2"/>
              </a:rPr>
              <a:t>. </a:t>
            </a:r>
            <a:r>
              <a:rPr lang="es-ES" sz="1400" b="1" dirty="0" smtClean="0">
                <a:solidFill>
                  <a:srgbClr val="254061"/>
                </a:solidFill>
                <a:sym typeface="Wingdings" panose="05000000000000000000" pitchFamily="2" charset="2"/>
              </a:rPr>
              <a:t>PASO DE </a:t>
            </a:r>
            <a:r>
              <a:rPr lang="es-ES" sz="1400" b="1" dirty="0" smtClean="0">
                <a:solidFill>
                  <a:srgbClr val="254061"/>
                </a:solidFill>
              </a:rPr>
              <a:t>TIPO </a:t>
            </a:r>
            <a:r>
              <a:rPr lang="es-ES" sz="1400" b="1" dirty="0">
                <a:solidFill>
                  <a:srgbClr val="254061"/>
                </a:solidFill>
              </a:rPr>
              <a:t>A1: </a:t>
            </a:r>
            <a:r>
              <a:rPr lang="es-ES" sz="1400" b="1" dirty="0" smtClean="0">
                <a:solidFill>
                  <a:srgbClr val="254061"/>
                </a:solidFill>
              </a:rPr>
              <a:t>BONOS I,II</a:t>
            </a:r>
            <a:endParaRPr lang="en-US" sz="1400" b="1" dirty="0">
              <a:solidFill>
                <a:srgbClr val="254061"/>
              </a:solidFill>
            </a:endParaRPr>
          </a:p>
          <a:p>
            <a:pPr lvl="2"/>
            <a:r>
              <a:rPr lang="es-ES" sz="1400" b="1" dirty="0">
                <a:solidFill>
                  <a:srgbClr val="254061"/>
                </a:solidFill>
                <a:sym typeface="Wingdings" panose="05000000000000000000" pitchFamily="2" charset="2"/>
              </a:rPr>
              <a:t>2. </a:t>
            </a:r>
            <a:r>
              <a:rPr lang="es-ES" sz="1400" b="1" dirty="0" smtClean="0">
                <a:solidFill>
                  <a:srgbClr val="254061"/>
                </a:solidFill>
                <a:sym typeface="Wingdings" panose="05000000000000000000" pitchFamily="2" charset="2"/>
              </a:rPr>
              <a:t>PASO DE </a:t>
            </a:r>
            <a:r>
              <a:rPr lang="es-ES" sz="1400" b="1" dirty="0" smtClean="0">
                <a:solidFill>
                  <a:srgbClr val="254061"/>
                </a:solidFill>
              </a:rPr>
              <a:t>TIPO </a:t>
            </a:r>
            <a:r>
              <a:rPr lang="es-ES" sz="1400" b="1" dirty="0">
                <a:solidFill>
                  <a:srgbClr val="254061"/>
                </a:solidFill>
              </a:rPr>
              <a:t>A2: OFERTA TÉCNICA-BUDGED </a:t>
            </a:r>
            <a:r>
              <a:rPr lang="es-ES" sz="1400" b="1" dirty="0" smtClean="0">
                <a:solidFill>
                  <a:srgbClr val="254061"/>
                </a:solidFill>
              </a:rPr>
              <a:t> I, II</a:t>
            </a:r>
            <a:endParaRPr lang="es-ES" sz="1400" b="1" dirty="0">
              <a:solidFill>
                <a:srgbClr val="254061"/>
              </a:solidFill>
            </a:endParaRPr>
          </a:p>
          <a:p>
            <a:pPr lvl="2"/>
            <a:r>
              <a:rPr lang="es-ES" sz="1400" b="1" dirty="0" smtClean="0">
                <a:solidFill>
                  <a:srgbClr val="254061"/>
                </a:solidFill>
              </a:rPr>
              <a:t>3. PASO DE TIPO B: </a:t>
            </a:r>
            <a:r>
              <a:rPr lang="en-US" sz="1400" b="1" dirty="0" smtClean="0">
                <a:solidFill>
                  <a:srgbClr val="254061"/>
                </a:solidFill>
              </a:rPr>
              <a:t>MANUAL I, II, III, IV</a:t>
            </a:r>
            <a:endParaRPr lang="es-ES" sz="1400" b="1" dirty="0" smtClean="0">
              <a:solidFill>
                <a:srgbClr val="254061"/>
              </a:solidFill>
            </a:endParaRPr>
          </a:p>
          <a:p>
            <a:pPr lvl="1"/>
            <a:r>
              <a:rPr lang="es-ES" sz="1400" b="1" dirty="0" smtClean="0">
                <a:solidFill>
                  <a:srgbClr val="254061"/>
                </a:solidFill>
                <a:hlinkClick r:id="rId7" action="ppaction://hlinksldjump"/>
              </a:rPr>
              <a:t>ABREVIATURA </a:t>
            </a:r>
            <a:r>
              <a:rPr lang="es-ES" sz="1400" b="1" dirty="0">
                <a:solidFill>
                  <a:srgbClr val="254061"/>
                </a:solidFill>
                <a:hlinkClick r:id="rId7" action="ppaction://hlinksldjump"/>
              </a:rPr>
              <a:t>PARA NOMBRE DE </a:t>
            </a:r>
            <a:r>
              <a:rPr lang="es-ES" sz="1400" b="1" dirty="0" smtClean="0">
                <a:solidFill>
                  <a:srgbClr val="254061"/>
                </a:solidFill>
                <a:hlinkClick r:id="rId7" action="ppaction://hlinksldjump"/>
              </a:rPr>
              <a:t>PROYECTO</a:t>
            </a:r>
            <a:endParaRPr lang="es-ES" sz="1400" b="1" dirty="0" smtClean="0">
              <a:solidFill>
                <a:srgbClr val="254061"/>
              </a:solidFill>
            </a:endParaRPr>
          </a:p>
          <a:p>
            <a:r>
              <a:rPr lang="es-ES" sz="1800" b="1" dirty="0">
                <a:solidFill>
                  <a:srgbClr val="254061"/>
                </a:solidFill>
              </a:rPr>
              <a:t>ENVÍO A </a:t>
            </a:r>
            <a:r>
              <a:rPr lang="es-ES" sz="1800" b="1" dirty="0" smtClean="0">
                <a:solidFill>
                  <a:srgbClr val="254061"/>
                </a:solidFill>
              </a:rPr>
              <a:t>VALIDACIÓN (ENVÍO DE PASOS)</a:t>
            </a:r>
          </a:p>
          <a:p>
            <a:pPr lvl="1"/>
            <a:r>
              <a:rPr lang="es-ES" sz="1400" b="1" dirty="0">
                <a:solidFill>
                  <a:srgbClr val="254061"/>
                </a:solidFill>
                <a:hlinkClick r:id="rId8" action="ppaction://hlinksldjump"/>
              </a:rPr>
              <a:t>SELECCIÓN DE LOS </a:t>
            </a:r>
            <a:r>
              <a:rPr lang="es-ES" sz="1400" b="1" dirty="0" smtClean="0">
                <a:solidFill>
                  <a:srgbClr val="254061"/>
                </a:solidFill>
                <a:hlinkClick r:id="rId8" action="ppaction://hlinksldjump"/>
              </a:rPr>
              <a:t>PASOS</a:t>
            </a:r>
            <a:endParaRPr lang="es-ES" sz="1400" b="1" dirty="0" smtClean="0">
              <a:solidFill>
                <a:srgbClr val="254061"/>
              </a:solidFill>
            </a:endParaRPr>
          </a:p>
          <a:p>
            <a:pPr lvl="1"/>
            <a:r>
              <a:rPr lang="es-ES" sz="1400" b="1" dirty="0">
                <a:solidFill>
                  <a:srgbClr val="254061"/>
                </a:solidFill>
                <a:hlinkClick r:id="rId9" action="ppaction://hlinksldjump"/>
              </a:rPr>
              <a:t>PÁGINA STEPS VALIDATION </a:t>
            </a:r>
            <a:r>
              <a:rPr lang="es-ES" sz="1400" b="1" dirty="0" smtClean="0">
                <a:solidFill>
                  <a:srgbClr val="254061"/>
                </a:solidFill>
                <a:hlinkClick r:id="rId9" action="ppaction://hlinksldjump"/>
              </a:rPr>
              <a:t>SENDING </a:t>
            </a:r>
            <a:r>
              <a:rPr lang="es-ES" sz="1400" b="1" dirty="0" smtClean="0">
                <a:solidFill>
                  <a:srgbClr val="254061"/>
                </a:solidFill>
              </a:rPr>
              <a:t>I, II, III.</a:t>
            </a:r>
          </a:p>
          <a:p>
            <a:pPr lvl="1"/>
            <a:r>
              <a:rPr lang="es-ES" sz="1400" b="1" dirty="0">
                <a:solidFill>
                  <a:srgbClr val="254061"/>
                </a:solidFill>
                <a:hlinkClick r:id="rId10" action="ppaction://hlinksldjump"/>
              </a:rPr>
              <a:t>FLUJO</a:t>
            </a:r>
            <a:r>
              <a:rPr lang="es-ES" sz="1400" b="1" dirty="0">
                <a:solidFill>
                  <a:srgbClr val="254061"/>
                </a:solidFill>
              </a:rPr>
              <a:t> </a:t>
            </a:r>
            <a:endParaRPr lang="es-ES" sz="1400" b="1" dirty="0" smtClean="0">
              <a:solidFill>
                <a:srgbClr val="254061"/>
              </a:solidFill>
            </a:endParaRPr>
          </a:p>
          <a:p>
            <a:pPr lvl="1"/>
            <a:r>
              <a:rPr lang="en-US" sz="1400" b="1" dirty="0" smtClean="0">
                <a:solidFill>
                  <a:srgbClr val="254061"/>
                </a:solidFill>
              </a:rPr>
              <a:t>MENSAJES DE ERROR/INFORMATIVOS AL ENVIAR A VALIDAR</a:t>
            </a:r>
          </a:p>
          <a:p>
            <a:pPr lvl="2"/>
            <a:r>
              <a:rPr lang="en-US" sz="1000" b="1" dirty="0" smtClean="0">
                <a:solidFill>
                  <a:srgbClr val="254061"/>
                </a:solidFill>
                <a:hlinkClick r:id="rId11" action="ppaction://hlinksldjump"/>
              </a:rPr>
              <a:t>DEBE INFORMAR DEL PROYECTO AFECTADO (EN ECO’S)</a:t>
            </a:r>
            <a:endParaRPr lang="en-US" sz="1000" b="1" dirty="0" smtClean="0">
              <a:solidFill>
                <a:srgbClr val="254061"/>
              </a:solidFill>
            </a:endParaRPr>
          </a:p>
          <a:p>
            <a:pPr lvl="2"/>
            <a:r>
              <a:rPr lang="en-US" sz="1000" b="1" dirty="0" smtClean="0">
                <a:solidFill>
                  <a:srgbClr val="254061"/>
                </a:solidFill>
                <a:hlinkClick r:id="rId12" action="ppaction://hlinksldjump"/>
              </a:rPr>
              <a:t>EL PROYECTO NO CONTIENE ABREVIATURA</a:t>
            </a:r>
            <a:endParaRPr lang="en-US" sz="1000" b="1" dirty="0" smtClean="0">
              <a:solidFill>
                <a:srgbClr val="254061"/>
              </a:solidFill>
            </a:endParaRPr>
          </a:p>
          <a:p>
            <a:pPr lvl="2"/>
            <a:r>
              <a:rPr lang="en-US" sz="1000" b="1" dirty="0" smtClean="0">
                <a:solidFill>
                  <a:srgbClr val="254061"/>
                </a:solidFill>
                <a:hlinkClick r:id="rId13" action="ppaction://hlinksldjump"/>
              </a:rPr>
              <a:t>BUDGET APPROVED DIFIERE DEL SUMATORIO DE LOS EXPENSES</a:t>
            </a:r>
            <a:endParaRPr lang="es-ES" sz="1000" b="1" dirty="0" smtClean="0">
              <a:solidFill>
                <a:srgbClr val="254061"/>
              </a:solidFill>
            </a:endParaRPr>
          </a:p>
          <a:p>
            <a:r>
              <a:rPr lang="es-ES" sz="1800" b="1" dirty="0" smtClean="0">
                <a:solidFill>
                  <a:srgbClr val="254061"/>
                </a:solidFill>
              </a:rPr>
              <a:t>ENVÍO A VALIDACION SÓLO DE LA GENERAL INFO</a:t>
            </a:r>
          </a:p>
          <a:p>
            <a:pPr lvl="1"/>
            <a:r>
              <a:rPr lang="es-ES" sz="1400" b="1" dirty="0" smtClean="0">
                <a:solidFill>
                  <a:srgbClr val="254061"/>
                </a:solidFill>
                <a:hlinkClick r:id="rId14" action="ppaction://hlinksldjump"/>
              </a:rPr>
              <a:t>ACTUALIZACIÓN DE LA GENERAL </a:t>
            </a:r>
            <a:r>
              <a:rPr lang="es-ES" sz="1400" b="1" dirty="0">
                <a:solidFill>
                  <a:srgbClr val="254061"/>
                </a:solidFill>
                <a:hlinkClick r:id="rId14" action="ppaction://hlinksldjump"/>
              </a:rPr>
              <a:t>INFO I</a:t>
            </a:r>
            <a:r>
              <a:rPr lang="es-ES" sz="1400" b="1" dirty="0" smtClean="0">
                <a:solidFill>
                  <a:srgbClr val="254061"/>
                </a:solidFill>
                <a:hlinkClick r:id="rId14" action="ppaction://hlinksldjump"/>
              </a:rPr>
              <a:t>, II</a:t>
            </a:r>
            <a:endParaRPr lang="es-ES" sz="1400" b="1" dirty="0">
              <a:solidFill>
                <a:srgbClr val="254061"/>
              </a:solidFill>
            </a:endParaRPr>
          </a:p>
          <a:p>
            <a:pPr lvl="1"/>
            <a:r>
              <a:rPr lang="es-ES" sz="1400" b="1" dirty="0" smtClean="0">
                <a:solidFill>
                  <a:srgbClr val="254061"/>
                </a:solidFill>
                <a:hlinkClick r:id="rId15" action="ppaction://hlinksldjump"/>
              </a:rPr>
              <a:t>FLUJO </a:t>
            </a:r>
            <a:endParaRPr lang="en-US" sz="1400" b="1" dirty="0">
              <a:solidFill>
                <a:srgbClr val="254061"/>
              </a:solidFill>
            </a:endParaRPr>
          </a:p>
          <a:p>
            <a:pPr indent="-285750"/>
            <a:r>
              <a:rPr lang="es-ES" sz="1800" b="1" dirty="0">
                <a:solidFill>
                  <a:srgbClr val="254061"/>
                </a:solidFill>
                <a:hlinkClick r:id="rId16" action="ppaction://hlinksldjump"/>
              </a:rPr>
              <a:t>ESTADOS </a:t>
            </a:r>
            <a:r>
              <a:rPr lang="es-ES" sz="1800" b="1" dirty="0" smtClean="0">
                <a:solidFill>
                  <a:srgbClr val="254061"/>
                </a:solidFill>
                <a:hlinkClick r:id="rId16" action="ppaction://hlinksldjump"/>
              </a:rPr>
              <a:t>DEL PASO</a:t>
            </a:r>
            <a:endParaRPr lang="es-ES" sz="1800" b="1" dirty="0" smtClean="0">
              <a:solidFill>
                <a:srgbClr val="254061"/>
              </a:solidFill>
            </a:endParaRPr>
          </a:p>
          <a:p>
            <a:pPr indent="-285750"/>
            <a:r>
              <a:rPr lang="es-ES" sz="1800" b="1" dirty="0">
                <a:solidFill>
                  <a:srgbClr val="254061"/>
                </a:solidFill>
                <a:hlinkClick r:id="rId17" action="ppaction://hlinksldjump"/>
              </a:rPr>
              <a:t>DATO </a:t>
            </a:r>
            <a:r>
              <a:rPr lang="es-ES" sz="1800" b="1" dirty="0" smtClean="0">
                <a:solidFill>
                  <a:srgbClr val="254061"/>
                </a:solidFill>
                <a:hlinkClick r:id="rId17" action="ppaction://hlinksldjump"/>
              </a:rPr>
              <a:t>REAL</a:t>
            </a:r>
            <a:endParaRPr lang="es-ES" sz="1800" b="1" dirty="0">
              <a:solidFill>
                <a:srgbClr val="254061"/>
              </a:solidFill>
            </a:endParaRPr>
          </a:p>
          <a:p>
            <a:pPr indent="-285750"/>
            <a:r>
              <a:rPr lang="es-ES" sz="1800" b="1" dirty="0" smtClean="0">
                <a:solidFill>
                  <a:srgbClr val="254061"/>
                </a:solidFill>
                <a:hlinkClick r:id="rId18" action="ppaction://hlinksldjump"/>
              </a:rPr>
              <a:t>MODIFICACION </a:t>
            </a:r>
            <a:r>
              <a:rPr lang="es-ES" sz="1800" b="1" dirty="0">
                <a:solidFill>
                  <a:srgbClr val="254061"/>
                </a:solidFill>
                <a:hlinkClick r:id="rId18" action="ppaction://hlinksldjump"/>
              </a:rPr>
              <a:t>DE PASO </a:t>
            </a:r>
            <a:r>
              <a:rPr lang="es-ES" sz="1800" b="1" dirty="0" smtClean="0">
                <a:solidFill>
                  <a:srgbClr val="254061"/>
                </a:solidFill>
                <a:hlinkClick r:id="rId18" action="ppaction://hlinksldjump"/>
              </a:rPr>
              <a:t>RECHAZADO</a:t>
            </a:r>
            <a:endParaRPr lang="es-ES" sz="1800" b="1" dirty="0" smtClean="0">
              <a:solidFill>
                <a:srgbClr val="254061"/>
              </a:solidFill>
            </a:endParaRPr>
          </a:p>
          <a:p>
            <a:pPr indent="-285750"/>
            <a:r>
              <a:rPr lang="es-ES" sz="1800" b="1" dirty="0">
                <a:solidFill>
                  <a:srgbClr val="254061"/>
                </a:solidFill>
                <a:hlinkClick r:id="rId19" action="ppaction://hlinksldjump"/>
              </a:rPr>
              <a:t>MODIFICACION DE PASO </a:t>
            </a:r>
            <a:r>
              <a:rPr lang="es-ES" sz="1800" b="1" dirty="0" smtClean="0">
                <a:solidFill>
                  <a:srgbClr val="254061"/>
                </a:solidFill>
                <a:hlinkClick r:id="rId19" action="ppaction://hlinksldjump"/>
              </a:rPr>
              <a:t>APROBADO</a:t>
            </a:r>
            <a:endParaRPr lang="es-ES" sz="1800" b="1" dirty="0" smtClean="0">
              <a:solidFill>
                <a:srgbClr val="254061"/>
              </a:solidFill>
            </a:endParaRPr>
          </a:p>
          <a:p>
            <a:pPr indent="-285750"/>
            <a:r>
              <a:rPr lang="es-ES" sz="1800" b="1" dirty="0" smtClean="0">
                <a:solidFill>
                  <a:srgbClr val="254061"/>
                </a:solidFill>
                <a:hlinkClick r:id="rId20" action="ppaction://hlinksldjump"/>
              </a:rPr>
              <a:t>SINCRONIZACIÓN INMEDIATA DE LA INFO DE PTKSIS</a:t>
            </a:r>
            <a:endParaRPr lang="en-US" sz="1800" b="1" dirty="0">
              <a:solidFill>
                <a:srgbClr val="254061"/>
              </a:solidFill>
            </a:endParaRPr>
          </a:p>
          <a:p>
            <a:pPr marL="457200" lvl="1" indent="0">
              <a:buNone/>
            </a:pPr>
            <a:endParaRPr lang="en-US" sz="1400" b="1" dirty="0">
              <a:solidFill>
                <a:srgbClr val="254061"/>
              </a:solidFill>
            </a:endParaRPr>
          </a:p>
          <a:p>
            <a:pPr lvl="1"/>
            <a:endParaRPr lang="en-US" sz="1400" b="1" dirty="0">
              <a:solidFill>
                <a:srgbClr val="254061"/>
              </a:solidFill>
            </a:endParaRPr>
          </a:p>
          <a:p>
            <a:pPr lvl="1"/>
            <a:endParaRPr lang="en-US" sz="1400" b="1" dirty="0">
              <a:solidFill>
                <a:srgbClr val="254061"/>
              </a:solidFill>
            </a:endParaRPr>
          </a:p>
          <a:p>
            <a:endParaRPr lang="en-US" sz="1800" b="1" dirty="0">
              <a:solidFill>
                <a:srgbClr val="254061"/>
              </a:solidFill>
            </a:endParaRPr>
          </a:p>
          <a:p>
            <a:endParaRPr lang="en-US" sz="1800" b="1" dirty="0">
              <a:solidFill>
                <a:srgbClr val="254061"/>
              </a:solidFill>
            </a:endParaRPr>
          </a:p>
          <a:p>
            <a:pPr marL="0" indent="0">
              <a:buNone/>
            </a:pPr>
            <a:endParaRPr lang="en-US" sz="1800" b="1" dirty="0">
              <a:solidFill>
                <a:srgbClr val="254061"/>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a:t>
            </a:fld>
            <a:endParaRPr lang="es-ES" dirty="0"/>
          </a:p>
        </p:txBody>
      </p:sp>
      <p:sp>
        <p:nvSpPr>
          <p:cNvPr id="5" name="4 CuadroTexto"/>
          <p:cNvSpPr txBox="1"/>
          <p:nvPr/>
        </p:nvSpPr>
        <p:spPr>
          <a:xfrm>
            <a:off x="251521" y="1043444"/>
            <a:ext cx="7920879" cy="369332"/>
          </a:xfrm>
          <a:prstGeom prst="rect">
            <a:avLst/>
          </a:prstGeom>
          <a:noFill/>
        </p:spPr>
        <p:txBody>
          <a:bodyPr wrap="square" rtlCol="0">
            <a:spAutoFit/>
          </a:bodyPr>
          <a:lstStyle/>
          <a:p>
            <a:r>
              <a:rPr lang="es-ES" b="1" dirty="0" smtClean="0">
                <a:solidFill>
                  <a:srgbClr val="254061"/>
                </a:solidFill>
              </a:rPr>
              <a:t>INDICE</a:t>
            </a:r>
            <a:endParaRPr lang="en-US" b="1" dirty="0">
              <a:solidFill>
                <a:srgbClr val="254061"/>
              </a:solidFill>
            </a:endParaRPr>
          </a:p>
        </p:txBody>
      </p:sp>
    </p:spTree>
    <p:extLst>
      <p:ext uri="{BB962C8B-B14F-4D97-AF65-F5344CB8AC3E}">
        <p14:creationId xmlns:p14="http://schemas.microsoft.com/office/powerpoint/2010/main" val="14552892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2"/>
          </p:nvPr>
        </p:nvSpPr>
        <p:spPr/>
        <p:txBody>
          <a:bodyPr/>
          <a:lstStyle/>
          <a:p>
            <a:fld id="{132FADFE-3B8F-471C-ABF0-DBC7717ECBBC}" type="slidenum">
              <a:rPr lang="es-ES" smtClean="0"/>
              <a:pPr/>
              <a:t>4</a:t>
            </a:fld>
            <a:endParaRPr lang="es-ES" dirty="0"/>
          </a:p>
        </p:txBody>
      </p:sp>
      <p:sp>
        <p:nvSpPr>
          <p:cNvPr id="5" name="4 CuadroTexto"/>
          <p:cNvSpPr txBox="1"/>
          <p:nvPr/>
        </p:nvSpPr>
        <p:spPr>
          <a:xfrm>
            <a:off x="251521" y="1043444"/>
            <a:ext cx="8136903" cy="369332"/>
          </a:xfrm>
          <a:prstGeom prst="rect">
            <a:avLst/>
          </a:prstGeom>
          <a:noFill/>
        </p:spPr>
        <p:txBody>
          <a:bodyPr wrap="square" rtlCol="0">
            <a:spAutoFit/>
          </a:bodyPr>
          <a:lstStyle/>
          <a:p>
            <a:r>
              <a:rPr lang="es-ES" b="1" dirty="0" smtClean="0">
                <a:solidFill>
                  <a:srgbClr val="254061"/>
                </a:solidFill>
              </a:rPr>
              <a:t>OBJETIVO, ALCANCE Y ACCESO</a:t>
            </a:r>
            <a:endParaRPr lang="en-US" b="1" dirty="0">
              <a:solidFill>
                <a:srgbClr val="254061"/>
              </a:solidFill>
            </a:endParaRPr>
          </a:p>
        </p:txBody>
      </p:sp>
      <p:sp>
        <p:nvSpPr>
          <p:cNvPr id="7" name="6 Rectángulo"/>
          <p:cNvSpPr/>
          <p:nvPr/>
        </p:nvSpPr>
        <p:spPr>
          <a:xfrm>
            <a:off x="251521" y="1822172"/>
            <a:ext cx="8496944" cy="3785652"/>
          </a:xfrm>
          <a:prstGeom prst="rect">
            <a:avLst/>
          </a:prstGeom>
        </p:spPr>
        <p:txBody>
          <a:bodyPr wrap="square">
            <a:spAutoFit/>
          </a:bodyPr>
          <a:lstStyle/>
          <a:p>
            <a:pPr algn="just"/>
            <a:r>
              <a:rPr lang="es-ES" sz="1600" b="1" dirty="0" smtClean="0">
                <a:latin typeface="Arial" panose="020B0604020202020204" pitchFamily="34" charset="0"/>
                <a:cs typeface="Arial" panose="020B0604020202020204" pitchFamily="34" charset="0"/>
              </a:rPr>
              <a:t>OBJETIVO: </a:t>
            </a:r>
            <a:r>
              <a:rPr lang="es-ES" sz="1600" dirty="0" smtClean="0">
                <a:latin typeface="Arial" panose="020B0604020202020204" pitchFamily="34" charset="0"/>
                <a:cs typeface="Arial" panose="020B0604020202020204" pitchFamily="34" charset="0"/>
              </a:rPr>
              <a:t>Mejorar el proceso de apertura de portadores de coste de los proyectos nuevos o modificaciones. Mejorar el seguimiento económico del proyecto, reducir el tiempo para la obtención de indicadores. </a:t>
            </a:r>
            <a:endParaRPr lang="es-ES" sz="1600" dirty="0">
              <a:latin typeface="Arial" panose="020B0604020202020204" pitchFamily="34" charset="0"/>
              <a:cs typeface="Arial" panose="020B0604020202020204" pitchFamily="34" charset="0"/>
            </a:endParaRPr>
          </a:p>
          <a:p>
            <a:pPr algn="just"/>
            <a:endParaRPr lang="es-ES" sz="1600" b="1" dirty="0" smtClean="0">
              <a:latin typeface="Arial" panose="020B0604020202020204" pitchFamily="34" charset="0"/>
              <a:cs typeface="Arial" panose="020B0604020202020204" pitchFamily="34" charset="0"/>
            </a:endParaRPr>
          </a:p>
          <a:p>
            <a:pPr algn="just"/>
            <a:r>
              <a:rPr lang="es-ES" sz="1600" b="1" dirty="0" smtClean="0">
                <a:latin typeface="Arial" panose="020B0604020202020204" pitchFamily="34" charset="0"/>
                <a:cs typeface="Arial" panose="020B0604020202020204" pitchFamily="34" charset="0"/>
              </a:rPr>
              <a:t>ALCANCE: </a:t>
            </a:r>
            <a:r>
              <a:rPr lang="es-ES" sz="1600" dirty="0">
                <a:latin typeface="Arial" panose="020B0604020202020204" pitchFamily="34" charset="0"/>
                <a:cs typeface="Arial" panose="020B0604020202020204" pitchFamily="34" charset="0"/>
              </a:rPr>
              <a:t>Todos los portadores de costes de los proyectos de Industrialización </a:t>
            </a:r>
            <a:r>
              <a:rPr lang="es-ES" sz="1600" dirty="0" smtClean="0">
                <a:latin typeface="Arial" panose="020B0604020202020204" pitchFamily="34" charset="0"/>
                <a:cs typeface="Arial" panose="020B0604020202020204" pitchFamily="34" charset="0"/>
              </a:rPr>
              <a:t>de </a:t>
            </a:r>
            <a:r>
              <a:rPr lang="es-ES" sz="1600" dirty="0" err="1" smtClean="0">
                <a:latin typeface="Arial" panose="020B0604020202020204" pitchFamily="34" charset="0"/>
                <a:cs typeface="Arial" panose="020B0604020202020204" pitchFamily="34" charset="0"/>
              </a:rPr>
              <a:t>Advance</a:t>
            </a:r>
            <a:r>
              <a:rPr lang="es-ES" sz="1600" dirty="0" smtClean="0">
                <a:latin typeface="Arial" panose="020B0604020202020204" pitchFamily="34" charset="0"/>
                <a:cs typeface="Arial" panose="020B0604020202020204" pitchFamily="34" charset="0"/>
              </a:rPr>
              <a:t>, de </a:t>
            </a:r>
            <a:r>
              <a:rPr lang="es-ES" sz="1600" dirty="0" err="1" smtClean="0">
                <a:latin typeface="Arial" panose="020B0604020202020204" pitchFamily="34" charset="0"/>
                <a:cs typeface="Arial" panose="020B0604020202020204" pitchFamily="34" charset="0"/>
              </a:rPr>
              <a:t>Predesarrollo</a:t>
            </a:r>
            <a:r>
              <a:rPr lang="es-ES" sz="1600" dirty="0" smtClean="0">
                <a:latin typeface="Arial" panose="020B0604020202020204" pitchFamily="34" charset="0"/>
                <a:cs typeface="Arial" panose="020B0604020202020204" pitchFamily="34" charset="0"/>
              </a:rPr>
              <a:t> y ECO ‘s (modificaciones) se </a:t>
            </a:r>
            <a:r>
              <a:rPr lang="es-ES" sz="1600" dirty="0">
                <a:latin typeface="Arial" panose="020B0604020202020204" pitchFamily="34" charset="0"/>
                <a:cs typeface="Arial" panose="020B0604020202020204" pitchFamily="34" charset="0"/>
              </a:rPr>
              <a:t>solicitarán a través de esta aplicación</a:t>
            </a:r>
            <a:endParaRPr lang="es-ES" sz="1600" b="1" dirty="0" smtClean="0">
              <a:latin typeface="Arial" panose="020B0604020202020204" pitchFamily="34" charset="0"/>
              <a:cs typeface="Arial" panose="020B0604020202020204" pitchFamily="34" charset="0"/>
            </a:endParaRPr>
          </a:p>
          <a:p>
            <a:pPr algn="just"/>
            <a:endParaRPr lang="es-ES" sz="1600" dirty="0" smtClean="0">
              <a:latin typeface="Arial" panose="020B0604020202020204" pitchFamily="34" charset="0"/>
              <a:cs typeface="Arial" panose="020B0604020202020204" pitchFamily="34" charset="0"/>
            </a:endParaRPr>
          </a:p>
          <a:p>
            <a:pPr algn="just"/>
            <a:endParaRPr lang="es-ES" sz="1600" b="1" dirty="0" smtClean="0">
              <a:latin typeface="Arial" panose="020B0604020202020204" pitchFamily="34" charset="0"/>
              <a:cs typeface="Arial" panose="020B0604020202020204" pitchFamily="34" charset="0"/>
            </a:endParaRPr>
          </a:p>
          <a:p>
            <a:pPr algn="just"/>
            <a:endParaRPr lang="es-ES" sz="1600" b="1" dirty="0">
              <a:latin typeface="Arial" panose="020B0604020202020204" pitchFamily="34" charset="0"/>
              <a:cs typeface="Arial" panose="020B0604020202020204" pitchFamily="34" charset="0"/>
            </a:endParaRPr>
          </a:p>
          <a:p>
            <a:pPr algn="just"/>
            <a:endParaRPr lang="es-ES" sz="1600" b="1" dirty="0" smtClean="0">
              <a:latin typeface="Arial" panose="020B0604020202020204" pitchFamily="34" charset="0"/>
              <a:cs typeface="Arial" panose="020B0604020202020204" pitchFamily="34" charset="0"/>
            </a:endParaRPr>
          </a:p>
          <a:p>
            <a:pPr algn="just"/>
            <a:endParaRPr lang="es-ES" sz="1600" b="1" dirty="0">
              <a:latin typeface="Arial" panose="020B0604020202020204" pitchFamily="34" charset="0"/>
              <a:cs typeface="Arial" panose="020B0604020202020204" pitchFamily="34" charset="0"/>
            </a:endParaRPr>
          </a:p>
          <a:p>
            <a:pPr algn="just"/>
            <a:r>
              <a:rPr lang="es-ES" sz="1600" b="1" dirty="0" smtClean="0">
                <a:latin typeface="Arial" panose="020B0604020202020204" pitchFamily="34" charset="0"/>
                <a:cs typeface="Arial" panose="020B0604020202020204" pitchFamily="34" charset="0"/>
              </a:rPr>
              <a:t>ACCESO: </a:t>
            </a:r>
            <a:r>
              <a:rPr lang="es-ES" sz="1600" dirty="0">
                <a:latin typeface="Arial" panose="020B0604020202020204" pitchFamily="34" charset="0"/>
                <a:cs typeface="Arial" panose="020B0604020202020204" pitchFamily="34" charset="0"/>
              </a:rPr>
              <a:t>Icono de la intranet.</a:t>
            </a:r>
          </a:p>
          <a:p>
            <a:pPr algn="just"/>
            <a:endParaRPr lang="es-ES" sz="1600" dirty="0" smtClean="0">
              <a:latin typeface="Arial" panose="020B0604020202020204" pitchFamily="34" charset="0"/>
              <a:cs typeface="Arial" panose="020B0604020202020204" pitchFamily="34" charset="0"/>
            </a:endParaRPr>
          </a:p>
          <a:p>
            <a:pPr lvl="0" algn="just"/>
            <a:endParaRPr lang="en-US" sz="1600" dirty="0">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0500" y="4646240"/>
            <a:ext cx="1190625" cy="7048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064" y="4524350"/>
            <a:ext cx="3012183" cy="121880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 name="2 Rectángulo"/>
          <p:cNvSpPr/>
          <p:nvPr/>
        </p:nvSpPr>
        <p:spPr>
          <a:xfrm>
            <a:off x="5256076" y="4646240"/>
            <a:ext cx="936104" cy="360040"/>
          </a:xfrm>
          <a:prstGeom prst="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8" name="7 Llamada rectangular"/>
          <p:cNvSpPr/>
          <p:nvPr/>
        </p:nvSpPr>
        <p:spPr>
          <a:xfrm>
            <a:off x="2987824" y="5743152"/>
            <a:ext cx="2268252" cy="504056"/>
          </a:xfrm>
          <a:prstGeom prst="wedgeRectCallout">
            <a:avLst>
              <a:gd name="adj1" fmla="val 54459"/>
              <a:gd name="adj2" fmla="val -193798"/>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Muestra todos los proyectos del usuario </a:t>
            </a:r>
            <a:r>
              <a:rPr lang="es-ES" sz="1000" dirty="0" err="1" smtClean="0">
                <a:solidFill>
                  <a:schemeClr val="tx1"/>
                </a:solidFill>
                <a:latin typeface="Arial" panose="020B0604020202020204" pitchFamily="34" charset="0"/>
                <a:cs typeface="Arial" panose="020B0604020202020204" pitchFamily="34" charset="0"/>
              </a:rPr>
              <a:t>logueado</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owner-co-onwer</a:t>
            </a:r>
            <a:r>
              <a:rPr lang="es-ES" sz="1000" dirty="0" smtClean="0">
                <a:solidFill>
                  <a:schemeClr val="tx1"/>
                </a:solidFill>
                <a:latin typeface="Arial" panose="020B0604020202020204" pitchFamily="34" charset="0"/>
                <a:cs typeface="Arial" panose="020B0604020202020204" pitchFamily="34" charset="0"/>
              </a:rPr>
              <a:t> del proyecto en PTKSIS)</a:t>
            </a:r>
            <a:endParaRPr lang="es-ES" sz="1000" dirty="0">
              <a:solidFill>
                <a:schemeClr val="tx1"/>
              </a:solidFill>
              <a:latin typeface="Arial" panose="020B0604020202020204" pitchFamily="34" charset="0"/>
              <a:cs typeface="Arial" panose="020B0604020202020204" pitchFamily="34" charset="0"/>
            </a:endParaRPr>
          </a:p>
        </p:txBody>
      </p:sp>
      <p:sp>
        <p:nvSpPr>
          <p:cNvPr id="6" name="5 Flecha derecha"/>
          <p:cNvSpPr/>
          <p:nvPr/>
        </p:nvSpPr>
        <p:spPr>
          <a:xfrm>
            <a:off x="4697760" y="4826260"/>
            <a:ext cx="378296" cy="172405"/>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8250637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2"/>
          </p:nvPr>
        </p:nvSpPr>
        <p:spPr/>
        <p:txBody>
          <a:bodyPr/>
          <a:lstStyle/>
          <a:p>
            <a:fld id="{132FADFE-3B8F-471C-ABF0-DBC7717ECBBC}" type="slidenum">
              <a:rPr lang="es-ES" smtClean="0"/>
              <a:pPr/>
              <a:t>5</a:t>
            </a:fld>
            <a:endParaRPr lang="es-ES"/>
          </a:p>
        </p:txBody>
      </p:sp>
      <p:sp>
        <p:nvSpPr>
          <p:cNvPr id="5" name="4 CuadroTexto"/>
          <p:cNvSpPr txBox="1"/>
          <p:nvPr/>
        </p:nvSpPr>
        <p:spPr>
          <a:xfrm>
            <a:off x="296642" y="1043444"/>
            <a:ext cx="8222459" cy="369332"/>
          </a:xfrm>
          <a:prstGeom prst="rect">
            <a:avLst/>
          </a:prstGeom>
          <a:noFill/>
        </p:spPr>
        <p:txBody>
          <a:bodyPr wrap="square" rtlCol="0">
            <a:spAutoFit/>
          </a:bodyPr>
          <a:lstStyle/>
          <a:p>
            <a:r>
              <a:rPr lang="es-ES" b="1" dirty="0" smtClean="0">
                <a:solidFill>
                  <a:srgbClr val="254061"/>
                </a:solidFill>
              </a:rPr>
              <a:t>CREAR NUEVO PROYECTO EN LA APLICACIÓN - I</a:t>
            </a:r>
            <a:endParaRPr lang="en-US" b="1" dirty="0">
              <a:solidFill>
                <a:srgbClr val="254061"/>
              </a:solidFill>
            </a:endParaRPr>
          </a:p>
        </p:txBody>
      </p:sp>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3704150"/>
            <a:ext cx="1190625" cy="70485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6495" y="3704150"/>
            <a:ext cx="2577226" cy="1160141"/>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6" name="5 Rectángulo"/>
          <p:cNvSpPr/>
          <p:nvPr/>
        </p:nvSpPr>
        <p:spPr>
          <a:xfrm>
            <a:off x="140012" y="1570647"/>
            <a:ext cx="8114900" cy="1569660"/>
          </a:xfrm>
          <a:prstGeom prst="rect">
            <a:avLst/>
          </a:prstGeom>
        </p:spPr>
        <p:txBody>
          <a:bodyPr wrap="square">
            <a:spAutoFit/>
          </a:bodyPr>
          <a:lstStyle/>
          <a:p>
            <a:pPr marL="285750" indent="-285750">
              <a:buFont typeface="Arial" panose="020B0604020202020204" pitchFamily="34" charset="0"/>
              <a:buChar char="•"/>
            </a:pPr>
            <a:r>
              <a:rPr lang="es-ES" sz="1600" dirty="0" smtClean="0">
                <a:latin typeface="Arial" panose="020B0604020202020204" pitchFamily="34" charset="0"/>
                <a:cs typeface="Arial" panose="020B0604020202020204" pitchFamily="34" charset="0"/>
              </a:rPr>
              <a:t>Requisitos para todos los proyectos: </a:t>
            </a:r>
            <a:endParaRPr lang="es-ES" sz="1600" dirty="0">
              <a:latin typeface="Arial" panose="020B0604020202020204" pitchFamily="34" charset="0"/>
              <a:cs typeface="Arial" panose="020B0604020202020204" pitchFamily="34" charset="0"/>
            </a:endParaRPr>
          </a:p>
          <a:p>
            <a:pPr marL="742950" lvl="1" indent="-285750">
              <a:buFont typeface="Wingdings" panose="05000000000000000000" pitchFamily="2" charset="2"/>
              <a:buChar char="§"/>
            </a:pPr>
            <a:r>
              <a:rPr lang="es-ES" sz="1600" dirty="0">
                <a:latin typeface="Arial" panose="020B0604020202020204" pitchFamily="34" charset="0"/>
                <a:cs typeface="Arial" panose="020B0604020202020204" pitchFamily="34" charset="0"/>
              </a:rPr>
              <a:t>Ser </a:t>
            </a:r>
            <a:r>
              <a:rPr lang="es-ES" sz="1600" dirty="0" err="1">
                <a:latin typeface="Arial" panose="020B0604020202020204" pitchFamily="34" charset="0"/>
                <a:cs typeface="Arial" panose="020B0604020202020204" pitchFamily="34" charset="0"/>
              </a:rPr>
              <a:t>Owner</a:t>
            </a:r>
            <a:r>
              <a:rPr lang="es-ES" sz="1600" dirty="0">
                <a:latin typeface="Arial" panose="020B0604020202020204" pitchFamily="34" charset="0"/>
                <a:cs typeface="Arial" panose="020B0604020202020204" pitchFamily="34" charset="0"/>
              </a:rPr>
              <a:t> o Co-</a:t>
            </a:r>
            <a:r>
              <a:rPr lang="es-ES" sz="1600" dirty="0" err="1">
                <a:latin typeface="Arial" panose="020B0604020202020204" pitchFamily="34" charset="0"/>
                <a:cs typeface="Arial" panose="020B0604020202020204" pitchFamily="34" charset="0"/>
              </a:rPr>
              <a:t>Owner</a:t>
            </a:r>
            <a:r>
              <a:rPr lang="es-ES" sz="1600" dirty="0">
                <a:latin typeface="Arial" panose="020B0604020202020204" pitchFamily="34" charset="0"/>
                <a:cs typeface="Arial" panose="020B0604020202020204" pitchFamily="34" charset="0"/>
              </a:rPr>
              <a:t> del proyecto en PTKSIS</a:t>
            </a:r>
          </a:p>
          <a:p>
            <a:pPr marL="742950" lvl="1" indent="-285750">
              <a:buFont typeface="Wingdings" panose="05000000000000000000" pitchFamily="2" charset="2"/>
              <a:buChar char="§"/>
            </a:pPr>
            <a:r>
              <a:rPr lang="es-ES" sz="1600" dirty="0">
                <a:latin typeface="Arial" panose="020B0604020202020204" pitchFamily="34" charset="0"/>
                <a:cs typeface="Arial" panose="020B0604020202020204" pitchFamily="34" charset="0"/>
              </a:rPr>
              <a:t>Debe existir una planificación en la aplicación de bonos </a:t>
            </a:r>
            <a:r>
              <a:rPr lang="es-ES" sz="1600" dirty="0" smtClean="0">
                <a:latin typeface="Arial" panose="020B0604020202020204" pitchFamily="34" charset="0"/>
                <a:cs typeface="Arial" panose="020B0604020202020204" pitchFamily="34" charset="0"/>
              </a:rPr>
              <a:t>finalizada</a:t>
            </a:r>
          </a:p>
          <a:p>
            <a:pPr marL="285750" indent="-285750">
              <a:buFont typeface="Arial" panose="020B0604020202020204" pitchFamily="34" charset="0"/>
              <a:buChar char="•"/>
            </a:pPr>
            <a:r>
              <a:rPr lang="en-US" sz="1600" dirty="0" smtClean="0">
                <a:latin typeface="Arial" panose="020B0604020202020204" pitchFamily="34" charset="0"/>
                <a:cs typeface="Arial" panose="020B0604020202020204" pitchFamily="34" charset="0"/>
              </a:rPr>
              <a:t>Para </a:t>
            </a:r>
            <a:r>
              <a:rPr lang="en-US" sz="1600" dirty="0" err="1" smtClean="0">
                <a:latin typeface="Arial" panose="020B0604020202020204" pitchFamily="34" charset="0"/>
                <a:cs typeface="Arial" panose="020B0604020202020204" pitchFamily="34" charset="0"/>
              </a:rPr>
              <a:t>proyectos</a:t>
            </a:r>
            <a:r>
              <a:rPr lang="en-US" sz="1600" dirty="0" smtClean="0">
                <a:latin typeface="Arial" panose="020B0604020202020204" pitchFamily="34" charset="0"/>
                <a:cs typeface="Arial" panose="020B0604020202020204" pitchFamily="34" charset="0"/>
              </a:rPr>
              <a:t> de </a:t>
            </a:r>
            <a:r>
              <a:rPr lang="en-US" sz="1600" dirty="0" err="1" smtClean="0">
                <a:latin typeface="Arial" panose="020B0604020202020204" pitchFamily="34" charset="0"/>
                <a:cs typeface="Arial" panose="020B0604020202020204" pitchFamily="34" charset="0"/>
              </a:rPr>
              <a:t>industrialización</a:t>
            </a:r>
            <a:r>
              <a:rPr lang="en-US" sz="1600" dirty="0" smtClean="0">
                <a:latin typeface="Arial" panose="020B0604020202020204" pitchFamily="34" charset="0"/>
                <a:cs typeface="Arial" panose="020B0604020202020204" pitchFamily="34" charset="0"/>
              </a:rPr>
              <a:t> </a:t>
            </a:r>
            <a:r>
              <a:rPr lang="en-US" sz="1600" dirty="0" err="1" smtClean="0">
                <a:latin typeface="Arial" panose="020B0604020202020204" pitchFamily="34" charset="0"/>
                <a:cs typeface="Arial" panose="020B0604020202020204" pitchFamily="34" charset="0"/>
              </a:rPr>
              <a:t>es</a:t>
            </a:r>
            <a:r>
              <a:rPr lang="en-US" sz="1600" dirty="0" smtClean="0">
                <a:latin typeface="Arial" panose="020B0604020202020204" pitchFamily="34" charset="0"/>
                <a:cs typeface="Arial" panose="020B0604020202020204" pitchFamily="34" charset="0"/>
              </a:rPr>
              <a:t> </a:t>
            </a:r>
            <a:r>
              <a:rPr lang="en-US" sz="1600" dirty="0" err="1" smtClean="0">
                <a:latin typeface="Arial" panose="020B0604020202020204" pitchFamily="34" charset="0"/>
                <a:cs typeface="Arial" panose="020B0604020202020204" pitchFamily="34" charset="0"/>
              </a:rPr>
              <a:t>además</a:t>
            </a:r>
            <a:r>
              <a:rPr lang="en-US" sz="1600" dirty="0" smtClean="0">
                <a:latin typeface="Arial" panose="020B0604020202020204" pitchFamily="34" charset="0"/>
                <a:cs typeface="Arial" panose="020B0604020202020204" pitchFamily="34" charset="0"/>
              </a:rPr>
              <a:t> </a:t>
            </a:r>
            <a:r>
              <a:rPr lang="en-US" sz="1600" dirty="0" err="1" smtClean="0">
                <a:latin typeface="Arial" panose="020B0604020202020204" pitchFamily="34" charset="0"/>
                <a:cs typeface="Arial" panose="020B0604020202020204" pitchFamily="34" charset="0"/>
              </a:rPr>
              <a:t>necesario</a:t>
            </a:r>
            <a:r>
              <a:rPr lang="en-US" sz="1600" dirty="0" smtClean="0">
                <a:latin typeface="Arial" panose="020B0604020202020204" pitchFamily="34" charset="0"/>
                <a:cs typeface="Arial" panose="020B0604020202020204" pitchFamily="34" charset="0"/>
              </a:rPr>
              <a:t> que:</a:t>
            </a:r>
          </a:p>
          <a:p>
            <a:pPr marL="742950" lvl="1" indent="-285750">
              <a:buFont typeface="Wingdings" panose="05000000000000000000" pitchFamily="2" charset="2"/>
              <a:buChar char="§"/>
            </a:pPr>
            <a:r>
              <a:rPr lang="en-US" sz="1600" dirty="0" err="1" smtClean="0">
                <a:latin typeface="Arial" panose="020B0604020202020204" pitchFamily="34" charset="0"/>
                <a:cs typeface="Arial" panose="020B0604020202020204" pitchFamily="34" charset="0"/>
              </a:rPr>
              <a:t>Esté</a:t>
            </a:r>
            <a:r>
              <a:rPr lang="en-US" sz="1600" dirty="0" smtClean="0">
                <a:latin typeface="Arial" panose="020B0604020202020204" pitchFamily="34" charset="0"/>
                <a:cs typeface="Arial" panose="020B0604020202020204" pitchFamily="34" charset="0"/>
              </a:rPr>
              <a:t> </a:t>
            </a:r>
            <a:r>
              <a:rPr lang="en-US" sz="1600" dirty="0" err="1" smtClean="0">
                <a:latin typeface="Arial" panose="020B0604020202020204" pitchFamily="34" charset="0"/>
                <a:cs typeface="Arial" panose="020B0604020202020204" pitchFamily="34" charset="0"/>
              </a:rPr>
              <a:t>registrada</a:t>
            </a:r>
            <a:r>
              <a:rPr lang="en-US" sz="1600" dirty="0" smtClean="0">
                <a:latin typeface="Arial" panose="020B0604020202020204" pitchFamily="34" charset="0"/>
                <a:cs typeface="Arial" panose="020B0604020202020204" pitchFamily="34" charset="0"/>
              </a:rPr>
              <a:t> la </a:t>
            </a:r>
            <a:r>
              <a:rPr lang="en-US" sz="1600" dirty="0" err="1" smtClean="0">
                <a:latin typeface="Arial" panose="020B0604020202020204" pitchFamily="34" charset="0"/>
                <a:cs typeface="Arial" panose="020B0604020202020204" pitchFamily="34" charset="0"/>
              </a:rPr>
              <a:t>versión</a:t>
            </a:r>
            <a:r>
              <a:rPr lang="en-US" sz="1600" dirty="0" smtClean="0">
                <a:latin typeface="Arial" panose="020B0604020202020204" pitchFamily="34" charset="0"/>
                <a:cs typeface="Arial" panose="020B0604020202020204" pitchFamily="34" charset="0"/>
              </a:rPr>
              <a:t> de </a:t>
            </a:r>
            <a:r>
              <a:rPr lang="en-US" sz="1600" dirty="0" err="1" smtClean="0">
                <a:latin typeface="Arial" panose="020B0604020202020204" pitchFamily="34" charset="0"/>
                <a:cs typeface="Arial" panose="020B0604020202020204" pitchFamily="34" charset="0"/>
              </a:rPr>
              <a:t>nominación</a:t>
            </a:r>
            <a:r>
              <a:rPr lang="en-US" sz="1600" dirty="0" smtClean="0">
                <a:latin typeface="Arial" panose="020B0604020202020204" pitchFamily="34" charset="0"/>
                <a:cs typeface="Arial" panose="020B0604020202020204" pitchFamily="34" charset="0"/>
              </a:rPr>
              <a:t> </a:t>
            </a:r>
            <a:r>
              <a:rPr lang="en-US" sz="1600" dirty="0" err="1" smtClean="0">
                <a:latin typeface="Arial" panose="020B0604020202020204" pitchFamily="34" charset="0"/>
                <a:cs typeface="Arial" panose="020B0604020202020204" pitchFamily="34" charset="0"/>
              </a:rPr>
              <a:t>en</a:t>
            </a:r>
            <a:r>
              <a:rPr lang="en-US" sz="1600" dirty="0" smtClean="0">
                <a:latin typeface="Arial" panose="020B0604020202020204" pitchFamily="34" charset="0"/>
                <a:cs typeface="Arial" panose="020B0604020202020204" pitchFamily="34" charset="0"/>
              </a:rPr>
              <a:t> la </a:t>
            </a:r>
            <a:r>
              <a:rPr lang="en-US" sz="1600" dirty="0" err="1" smtClean="0">
                <a:latin typeface="Arial" panose="020B0604020202020204" pitchFamily="34" charset="0"/>
                <a:cs typeface="Arial" panose="020B0604020202020204" pitchFamily="34" charset="0"/>
              </a:rPr>
              <a:t>aplicación</a:t>
            </a:r>
            <a:r>
              <a:rPr lang="en-US" sz="1600" dirty="0" smtClean="0">
                <a:latin typeface="Arial" panose="020B0604020202020204" pitchFamily="34" charset="0"/>
                <a:cs typeface="Arial" panose="020B0604020202020204" pitchFamily="34" charset="0"/>
              </a:rPr>
              <a:t> </a:t>
            </a:r>
            <a:r>
              <a:rPr lang="en-US" sz="1600" dirty="0" err="1" smtClean="0">
                <a:latin typeface="Arial" panose="020B0604020202020204" pitchFamily="34" charset="0"/>
                <a:cs typeface="Arial" panose="020B0604020202020204" pitchFamily="34" charset="0"/>
              </a:rPr>
              <a:t>oferta</a:t>
            </a:r>
            <a:r>
              <a:rPr lang="en-US" sz="1600" dirty="0" smtClean="0">
                <a:latin typeface="Arial" panose="020B0604020202020204" pitchFamily="34" charset="0"/>
                <a:cs typeface="Arial" panose="020B0604020202020204" pitchFamily="34" charset="0"/>
              </a:rPr>
              <a:t> </a:t>
            </a:r>
            <a:r>
              <a:rPr lang="en-US" sz="1600" dirty="0" err="1" smtClean="0">
                <a:latin typeface="Arial" panose="020B0604020202020204" pitchFamily="34" charset="0"/>
                <a:cs typeface="Arial" panose="020B0604020202020204" pitchFamily="34" charset="0"/>
              </a:rPr>
              <a:t>técnica</a:t>
            </a:r>
            <a:r>
              <a:rPr lang="en-US" sz="1600" dirty="0" smtClean="0">
                <a:latin typeface="Arial" panose="020B0604020202020204" pitchFamily="34" charset="0"/>
                <a:cs typeface="Arial" panose="020B0604020202020204" pitchFamily="34" charset="0"/>
              </a:rPr>
              <a:t> o Budget</a:t>
            </a:r>
            <a:endParaRPr lang="es-ES" sz="1600" dirty="0">
              <a:latin typeface="Arial" panose="020B0604020202020204" pitchFamily="34" charset="0"/>
              <a:cs typeface="Arial" panose="020B0604020202020204" pitchFamily="34" charset="0"/>
            </a:endParaRPr>
          </a:p>
        </p:txBody>
      </p:sp>
      <p:sp>
        <p:nvSpPr>
          <p:cNvPr id="8" name="7 Rectángulo redondeado"/>
          <p:cNvSpPr/>
          <p:nvPr/>
        </p:nvSpPr>
        <p:spPr>
          <a:xfrm>
            <a:off x="577587" y="4570779"/>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1</a:t>
            </a:r>
            <a:endParaRPr lang="es-ES" sz="1400" dirty="0">
              <a:solidFill>
                <a:schemeClr val="tx1"/>
              </a:solidFill>
              <a:latin typeface="Arial" panose="020B0604020202020204" pitchFamily="34" charset="0"/>
              <a:cs typeface="Arial" panose="020B0604020202020204" pitchFamily="34" charset="0"/>
            </a:endParaRPr>
          </a:p>
        </p:txBody>
      </p:sp>
      <p:sp>
        <p:nvSpPr>
          <p:cNvPr id="22" name="21 Rectángulo redondeado"/>
          <p:cNvSpPr/>
          <p:nvPr/>
        </p:nvSpPr>
        <p:spPr>
          <a:xfrm>
            <a:off x="3065088" y="4933332"/>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2</a:t>
            </a:r>
            <a:endParaRPr lang="es-ES" sz="1400" dirty="0">
              <a:solidFill>
                <a:schemeClr val="tx1"/>
              </a:solidFill>
              <a:latin typeface="Arial" panose="020B0604020202020204" pitchFamily="34" charset="0"/>
              <a:cs typeface="Arial" panose="020B0604020202020204" pitchFamily="34" charset="0"/>
            </a:endParaRPr>
          </a:p>
        </p:txBody>
      </p:sp>
      <p:sp>
        <p:nvSpPr>
          <p:cNvPr id="30" name="29 Rectángulo redondeado"/>
          <p:cNvSpPr/>
          <p:nvPr/>
        </p:nvSpPr>
        <p:spPr>
          <a:xfrm>
            <a:off x="6924065" y="6323819"/>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3</a:t>
            </a:r>
            <a:endParaRPr lang="es-ES" sz="1400" dirty="0">
              <a:solidFill>
                <a:schemeClr val="tx1"/>
              </a:solidFill>
            </a:endParaRPr>
          </a:p>
        </p:txBody>
      </p:sp>
      <p:sp>
        <p:nvSpPr>
          <p:cNvPr id="9" name="8 Rectángulo redondeado"/>
          <p:cNvSpPr/>
          <p:nvPr/>
        </p:nvSpPr>
        <p:spPr>
          <a:xfrm>
            <a:off x="1969297" y="4404988"/>
            <a:ext cx="1795045" cy="400267"/>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grpSp>
        <p:nvGrpSpPr>
          <p:cNvPr id="3" name="Grupo 2"/>
          <p:cNvGrpSpPr/>
          <p:nvPr/>
        </p:nvGrpSpPr>
        <p:grpSpPr>
          <a:xfrm>
            <a:off x="4986642" y="3581119"/>
            <a:ext cx="3304162" cy="2490855"/>
            <a:chOff x="4838625" y="3047975"/>
            <a:chExt cx="3680476" cy="2901305"/>
          </a:xfrm>
        </p:grpSpPr>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38625" y="3047975"/>
              <a:ext cx="3680476" cy="290130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 name="Imagen 1"/>
            <p:cNvPicPr>
              <a:picLocks noChangeAspect="1"/>
            </p:cNvPicPr>
            <p:nvPr/>
          </p:nvPicPr>
          <p:blipFill>
            <a:blip r:embed="rId5"/>
            <a:stretch>
              <a:fillRect/>
            </a:stretch>
          </p:blipFill>
          <p:spPr>
            <a:xfrm>
              <a:off x="4838625" y="3428484"/>
              <a:ext cx="3680476" cy="412361"/>
            </a:xfrm>
            <a:prstGeom prst="rect">
              <a:avLst/>
            </a:prstGeom>
          </p:spPr>
        </p:pic>
      </p:grpSp>
      <p:sp>
        <p:nvSpPr>
          <p:cNvPr id="24" name="23 Llamada rectangular"/>
          <p:cNvSpPr/>
          <p:nvPr/>
        </p:nvSpPr>
        <p:spPr>
          <a:xfrm>
            <a:off x="7331002" y="4261821"/>
            <a:ext cx="1561538" cy="504056"/>
          </a:xfrm>
          <a:prstGeom prst="wedgeRectCallout">
            <a:avLst>
              <a:gd name="adj1" fmla="val -62046"/>
              <a:gd name="adj2" fmla="val -483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Selección de tipo de proyecto</a:t>
            </a:r>
            <a:endParaRPr lang="es-ES" sz="1000" dirty="0">
              <a:solidFill>
                <a:schemeClr val="tx1"/>
              </a:solidFill>
              <a:latin typeface="Arial" panose="020B0604020202020204" pitchFamily="34" charset="0"/>
              <a:cs typeface="Arial" panose="020B0604020202020204" pitchFamily="34" charset="0"/>
            </a:endParaRPr>
          </a:p>
        </p:txBody>
      </p:sp>
      <p:sp>
        <p:nvSpPr>
          <p:cNvPr id="25" name="24 Llamada rectangular"/>
          <p:cNvSpPr/>
          <p:nvPr/>
        </p:nvSpPr>
        <p:spPr>
          <a:xfrm>
            <a:off x="7349827" y="4820820"/>
            <a:ext cx="1561538" cy="504056"/>
          </a:xfrm>
          <a:prstGeom prst="wedgeRectCallout">
            <a:avLst>
              <a:gd name="adj1" fmla="val -62046"/>
              <a:gd name="adj2" fmla="val -483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Arial" panose="020B0604020202020204" pitchFamily="34" charset="0"/>
                <a:cs typeface="Arial" panose="020B0604020202020204" pitchFamily="34" charset="0"/>
              </a:rPr>
              <a:t>Seleccionar producto + proyecto</a:t>
            </a:r>
          </a:p>
        </p:txBody>
      </p:sp>
      <p:sp>
        <p:nvSpPr>
          <p:cNvPr id="31" name="30 Rectángulo redondeado"/>
          <p:cNvSpPr/>
          <p:nvPr/>
        </p:nvSpPr>
        <p:spPr>
          <a:xfrm>
            <a:off x="5857672" y="5312579"/>
            <a:ext cx="2511938" cy="400267"/>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122467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upo 5"/>
          <p:cNvGrpSpPr/>
          <p:nvPr/>
        </p:nvGrpSpPr>
        <p:grpSpPr>
          <a:xfrm>
            <a:off x="1115616" y="1628800"/>
            <a:ext cx="7368505" cy="2950382"/>
            <a:chOff x="1115616" y="1988840"/>
            <a:chExt cx="7368505" cy="2950382"/>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1988840"/>
              <a:ext cx="7368505" cy="295038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5" name="Imagen 4"/>
            <p:cNvPicPr>
              <a:picLocks noChangeAspect="1"/>
            </p:cNvPicPr>
            <p:nvPr/>
          </p:nvPicPr>
          <p:blipFill>
            <a:blip r:embed="rId3"/>
            <a:stretch>
              <a:fillRect/>
            </a:stretch>
          </p:blipFill>
          <p:spPr>
            <a:xfrm>
              <a:off x="6876256" y="4309200"/>
              <a:ext cx="1285592" cy="432000"/>
            </a:xfrm>
            <a:prstGeom prst="rect">
              <a:avLst/>
            </a:prstGeom>
          </p:spPr>
        </p:pic>
      </p:grpSp>
      <p:sp>
        <p:nvSpPr>
          <p:cNvPr id="2" name="1 Marcador de número de diapositiva"/>
          <p:cNvSpPr>
            <a:spLocks noGrp="1"/>
          </p:cNvSpPr>
          <p:nvPr>
            <p:ph type="sldNum" sz="quarter" idx="12"/>
          </p:nvPr>
        </p:nvSpPr>
        <p:spPr/>
        <p:txBody>
          <a:bodyPr/>
          <a:lstStyle/>
          <a:p>
            <a:fld id="{6C159591-2568-4DE8-9BFD-2ABD54E1DEC4}" type="slidenum">
              <a:rPr lang="es-ES" smtClean="0"/>
              <a:pPr/>
              <a:t>6</a:t>
            </a:fld>
            <a:endParaRPr lang="es-ES" dirty="0"/>
          </a:p>
        </p:txBody>
      </p:sp>
      <p:sp>
        <p:nvSpPr>
          <p:cNvPr id="10" name="9 CuadroTexto"/>
          <p:cNvSpPr txBox="1"/>
          <p:nvPr/>
        </p:nvSpPr>
        <p:spPr>
          <a:xfrm>
            <a:off x="296643" y="1043444"/>
            <a:ext cx="8307805" cy="369332"/>
          </a:xfrm>
          <a:prstGeom prst="rect">
            <a:avLst/>
          </a:prstGeom>
          <a:noFill/>
        </p:spPr>
        <p:txBody>
          <a:bodyPr wrap="square" rtlCol="0">
            <a:spAutoFit/>
          </a:bodyPr>
          <a:lstStyle/>
          <a:p>
            <a:r>
              <a:rPr lang="es-ES" b="1" dirty="0">
                <a:solidFill>
                  <a:srgbClr val="254061"/>
                </a:solidFill>
              </a:rPr>
              <a:t>CREAR NUEVO PROYECTO EN LA </a:t>
            </a:r>
            <a:r>
              <a:rPr lang="es-ES" b="1" dirty="0" smtClean="0">
                <a:solidFill>
                  <a:srgbClr val="254061"/>
                </a:solidFill>
              </a:rPr>
              <a:t>APLICACIÓN - II</a:t>
            </a:r>
            <a:endParaRPr lang="en-US" b="1" dirty="0">
              <a:solidFill>
                <a:srgbClr val="254061"/>
              </a:solidFill>
            </a:endParaRPr>
          </a:p>
        </p:txBody>
      </p:sp>
      <p:sp>
        <p:nvSpPr>
          <p:cNvPr id="12" name="11 Llamada rectangular"/>
          <p:cNvSpPr/>
          <p:nvPr/>
        </p:nvSpPr>
        <p:spPr>
          <a:xfrm>
            <a:off x="3293595" y="4392709"/>
            <a:ext cx="1269279" cy="157223"/>
          </a:xfrm>
          <a:prstGeom prst="wedgeRectCallout">
            <a:avLst>
              <a:gd name="adj1" fmla="val 96778"/>
              <a:gd name="adj2" fmla="val -99886"/>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Proyecto creado</a:t>
            </a:r>
            <a:endParaRPr lang="es-ES" sz="1000" dirty="0">
              <a:solidFill>
                <a:schemeClr val="tx1"/>
              </a:solidFill>
              <a:latin typeface="Arial" panose="020B0604020202020204" pitchFamily="34" charset="0"/>
              <a:cs typeface="Arial" panose="020B0604020202020204" pitchFamily="34" charset="0"/>
            </a:endParaRPr>
          </a:p>
        </p:txBody>
      </p:sp>
      <p:sp>
        <p:nvSpPr>
          <p:cNvPr id="13" name="12 Rectángulo redondeado"/>
          <p:cNvSpPr/>
          <p:nvPr/>
        </p:nvSpPr>
        <p:spPr>
          <a:xfrm>
            <a:off x="6571964" y="4524625"/>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4</a:t>
            </a:r>
            <a:endParaRPr lang="es-ES" sz="1400" dirty="0">
              <a:solidFill>
                <a:schemeClr val="tx1"/>
              </a:solidFill>
            </a:endParaRPr>
          </a:p>
        </p:txBody>
      </p:sp>
      <p:sp>
        <p:nvSpPr>
          <p:cNvPr id="9" name="8 Rectángulo redondeado"/>
          <p:cNvSpPr/>
          <p:nvPr/>
        </p:nvSpPr>
        <p:spPr>
          <a:xfrm>
            <a:off x="6812024" y="4165160"/>
            <a:ext cx="216024" cy="28803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5" name="14 Rectángulo"/>
          <p:cNvSpPr/>
          <p:nvPr/>
        </p:nvSpPr>
        <p:spPr>
          <a:xfrm>
            <a:off x="324499" y="4849007"/>
            <a:ext cx="5904656" cy="1532321"/>
          </a:xfrm>
          <a:prstGeom prst="rect">
            <a:avLst/>
          </a:prstGeom>
          <a:no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285750" indent="-285750">
              <a:buFont typeface="Arial" panose="020B0604020202020204" pitchFamily="34" charset="0"/>
              <a:buChar char="•"/>
            </a:pPr>
            <a:r>
              <a:rPr lang="es-ES" sz="1200" dirty="0" smtClean="0">
                <a:solidFill>
                  <a:schemeClr val="tx1"/>
                </a:solidFill>
                <a:latin typeface="Arial" panose="020B0604020202020204" pitchFamily="34" charset="0"/>
                <a:cs typeface="Arial" panose="020B0604020202020204" pitchFamily="34" charset="0"/>
              </a:rPr>
              <a:t>Editar solicitud. Para </a:t>
            </a:r>
            <a:r>
              <a:rPr lang="es-ES" sz="1200" dirty="0">
                <a:solidFill>
                  <a:schemeClr val="tx1"/>
                </a:solidFill>
                <a:latin typeface="Arial" panose="020B0604020202020204" pitchFamily="34" charset="0"/>
                <a:cs typeface="Arial" panose="020B0604020202020204" pitchFamily="34" charset="0"/>
              </a:rPr>
              <a:t>c</a:t>
            </a:r>
            <a:r>
              <a:rPr lang="es-ES" sz="1200" dirty="0" smtClean="0">
                <a:solidFill>
                  <a:schemeClr val="tx1"/>
                </a:solidFill>
                <a:latin typeface="Arial" panose="020B0604020202020204" pitchFamily="34" charset="0"/>
                <a:cs typeface="Arial" panose="020B0604020202020204" pitchFamily="34" charset="0"/>
              </a:rPr>
              <a:t>rear los pasos del proyecto requeridos en el proyecto.</a:t>
            </a:r>
          </a:p>
          <a:p>
            <a:pPr marL="285750" indent="-285750">
              <a:buFont typeface="Arial" panose="020B0604020202020204" pitchFamily="34" charset="0"/>
              <a:buChar char="•"/>
            </a:pPr>
            <a:endParaRPr lang="es-ES" sz="1200" dirty="0" smtClean="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200" dirty="0" smtClean="0">
                <a:solidFill>
                  <a:schemeClr val="tx1"/>
                </a:solidFill>
                <a:latin typeface="Arial" panose="020B0604020202020204" pitchFamily="34" charset="0"/>
                <a:cs typeface="Arial" panose="020B0604020202020204" pitchFamily="34" charset="0"/>
              </a:rPr>
              <a:t>Borrar proyecto: Solo se podrá borrar si no tiene pasos aprobados.</a:t>
            </a:r>
          </a:p>
          <a:p>
            <a:pPr marL="285750" indent="-285750">
              <a:buFont typeface="Arial" panose="020B0604020202020204" pitchFamily="34" charset="0"/>
              <a:buChar char="•"/>
            </a:pPr>
            <a:endParaRPr lang="es-ES" sz="1200" dirty="0" smtClean="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200" dirty="0" smtClean="0">
                <a:solidFill>
                  <a:schemeClr val="tx1"/>
                </a:solidFill>
                <a:latin typeface="Arial" panose="020B0604020202020204" pitchFamily="34" charset="0"/>
                <a:cs typeface="Arial" panose="020B0604020202020204" pitchFamily="34" charset="0"/>
              </a:rPr>
              <a:t>Para </a:t>
            </a:r>
            <a:r>
              <a:rPr lang="en-US" sz="1200" dirty="0" err="1" smtClean="0">
                <a:solidFill>
                  <a:schemeClr val="tx1"/>
                </a:solidFill>
                <a:latin typeface="Arial" panose="020B0604020202020204" pitchFamily="34" charset="0"/>
                <a:cs typeface="Arial" panose="020B0604020202020204" pitchFamily="34" charset="0"/>
              </a:rPr>
              <a:t>añadir</a:t>
            </a:r>
            <a:r>
              <a:rPr lang="en-US" sz="1200" dirty="0" smtClean="0">
                <a:solidFill>
                  <a:schemeClr val="tx1"/>
                </a:solidFill>
                <a:latin typeface="Arial" panose="020B0604020202020204" pitchFamily="34" charset="0"/>
                <a:cs typeface="Arial" panose="020B0604020202020204" pitchFamily="34" charset="0"/>
              </a:rPr>
              <a:t> </a:t>
            </a:r>
            <a:r>
              <a:rPr lang="en-US" sz="1200" dirty="0" err="1" smtClean="0">
                <a:solidFill>
                  <a:schemeClr val="tx1"/>
                </a:solidFill>
                <a:latin typeface="Arial" panose="020B0604020202020204" pitchFamily="34" charset="0"/>
                <a:cs typeface="Arial" panose="020B0604020202020204" pitchFamily="34" charset="0"/>
              </a:rPr>
              <a:t>una</a:t>
            </a:r>
            <a:r>
              <a:rPr lang="en-US" sz="1200" dirty="0" smtClean="0">
                <a:solidFill>
                  <a:schemeClr val="tx1"/>
                </a:solidFill>
                <a:latin typeface="Arial" panose="020B0604020202020204" pitchFamily="34" charset="0"/>
                <a:cs typeface="Arial" panose="020B0604020202020204" pitchFamily="34" charset="0"/>
              </a:rPr>
              <a:t> planta </a:t>
            </a:r>
            <a:r>
              <a:rPr lang="en-US" sz="1200" dirty="0" err="1" smtClean="0">
                <a:solidFill>
                  <a:schemeClr val="tx1"/>
                </a:solidFill>
                <a:latin typeface="Arial" panose="020B0604020202020204" pitchFamily="34" charset="0"/>
                <a:cs typeface="Arial" panose="020B0604020202020204" pitchFamily="34" charset="0"/>
              </a:rPr>
              <a:t>distinta</a:t>
            </a:r>
            <a:r>
              <a:rPr lang="en-US" sz="1200" dirty="0" smtClean="0">
                <a:solidFill>
                  <a:schemeClr val="tx1"/>
                </a:solidFill>
                <a:latin typeface="Arial" panose="020B0604020202020204" pitchFamily="34" charset="0"/>
                <a:cs typeface="Arial" panose="020B0604020202020204" pitchFamily="34" charset="0"/>
              </a:rPr>
              <a:t> a la </a:t>
            </a:r>
            <a:r>
              <a:rPr lang="en-US" sz="1200" dirty="0" err="1" smtClean="0">
                <a:solidFill>
                  <a:schemeClr val="tx1"/>
                </a:solidFill>
                <a:latin typeface="Arial" panose="020B0604020202020204" pitchFamily="34" charset="0"/>
                <a:cs typeface="Arial" panose="020B0604020202020204" pitchFamily="34" charset="0"/>
              </a:rPr>
              <a:t>productiva</a:t>
            </a:r>
            <a:r>
              <a:rPr lang="en-US" sz="1200" dirty="0" smtClean="0">
                <a:solidFill>
                  <a:schemeClr val="tx1"/>
                </a:solidFill>
                <a:latin typeface="Arial" panose="020B0604020202020204" pitchFamily="34" charset="0"/>
                <a:cs typeface="Arial" panose="020B0604020202020204" pitchFamily="34" charset="0"/>
              </a:rPr>
              <a:t>.</a:t>
            </a:r>
          </a:p>
          <a:p>
            <a:pPr marL="285750" indent="-285750">
              <a:buFont typeface="Arial" panose="020B0604020202020204" pitchFamily="34" charset="0"/>
              <a:buChar char="•"/>
            </a:pPr>
            <a:endParaRPr lang="es-ES" sz="1200" dirty="0" smtClean="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200" dirty="0" smtClean="0">
                <a:solidFill>
                  <a:schemeClr val="tx1"/>
                </a:solidFill>
                <a:latin typeface="Arial" panose="020B0604020202020204" pitchFamily="34" charset="0"/>
                <a:cs typeface="Arial" panose="020B0604020202020204" pitchFamily="34" charset="0"/>
              </a:rPr>
              <a:t>Actual Status and History: Histórico de validaciones.</a:t>
            </a:r>
          </a:p>
          <a:p>
            <a:pPr marL="285750" indent="-285750">
              <a:buFont typeface="Arial" panose="020B0604020202020204" pitchFamily="34" charset="0"/>
              <a:buChar char="•"/>
            </a:pPr>
            <a:endParaRPr lang="es-ES" sz="1200" dirty="0" smtClean="0">
              <a:solidFill>
                <a:schemeClr val="tx1"/>
              </a:solidFill>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s-ES" sz="1200" dirty="0" err="1" smtClean="0">
                <a:solidFill>
                  <a:schemeClr val="tx1"/>
                </a:solidFill>
                <a:latin typeface="Arial" panose="020B0604020202020204" pitchFamily="34" charset="0"/>
                <a:cs typeface="Arial" panose="020B0604020202020204" pitchFamily="34" charset="0"/>
              </a:rPr>
              <a:t>Totals</a:t>
            </a:r>
            <a:r>
              <a:rPr lang="es-ES" sz="1200" dirty="0" smtClean="0">
                <a:solidFill>
                  <a:schemeClr val="tx1"/>
                </a:solidFill>
                <a:latin typeface="Arial" panose="020B0604020202020204" pitchFamily="34" charset="0"/>
                <a:cs typeface="Arial" panose="020B0604020202020204" pitchFamily="34" charset="0"/>
              </a:rPr>
              <a:t>: Todos los gastos del proyecto aprobados.</a:t>
            </a:r>
          </a:p>
        </p:txBody>
      </p:sp>
      <p:grpSp>
        <p:nvGrpSpPr>
          <p:cNvPr id="8" name="Grupo 7"/>
          <p:cNvGrpSpPr/>
          <p:nvPr/>
        </p:nvGrpSpPr>
        <p:grpSpPr>
          <a:xfrm>
            <a:off x="202432" y="4725144"/>
            <a:ext cx="360040" cy="1728192"/>
            <a:chOff x="202432" y="4725144"/>
            <a:chExt cx="360040" cy="1728192"/>
          </a:xfrm>
        </p:grpSpPr>
        <p:pic>
          <p:nvPicPr>
            <p:cNvPr id="22"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2172" y="5157192"/>
              <a:ext cx="340560" cy="2919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541" y="5781117"/>
              <a:ext cx="317822" cy="3178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2432" y="6161228"/>
              <a:ext cx="360040" cy="2921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5"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11002" y="4725144"/>
              <a:ext cx="3429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Imagen 6"/>
            <p:cNvPicPr>
              <a:picLocks noChangeAspect="1"/>
            </p:cNvPicPr>
            <p:nvPr/>
          </p:nvPicPr>
          <p:blipFill>
            <a:blip r:embed="rId8"/>
            <a:stretch>
              <a:fillRect/>
            </a:stretch>
          </p:blipFill>
          <p:spPr>
            <a:xfrm>
              <a:off x="211002" y="5482493"/>
              <a:ext cx="342900" cy="352425"/>
            </a:xfrm>
            <a:prstGeom prst="rect">
              <a:avLst/>
            </a:prstGeom>
          </p:spPr>
        </p:pic>
      </p:grpSp>
    </p:spTree>
    <p:extLst>
      <p:ext uri="{BB962C8B-B14F-4D97-AF65-F5344CB8AC3E}">
        <p14:creationId xmlns:p14="http://schemas.microsoft.com/office/powerpoint/2010/main" val="13227611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7</a:t>
            </a:fld>
            <a:endParaRPr lang="es-ES" dirty="0"/>
          </a:p>
        </p:txBody>
      </p:sp>
      <p:sp>
        <p:nvSpPr>
          <p:cNvPr id="15" name="14 CuadroTexto"/>
          <p:cNvSpPr txBox="1"/>
          <p:nvPr/>
        </p:nvSpPr>
        <p:spPr>
          <a:xfrm>
            <a:off x="267321" y="980728"/>
            <a:ext cx="8265120" cy="369332"/>
          </a:xfrm>
          <a:prstGeom prst="rect">
            <a:avLst/>
          </a:prstGeom>
          <a:noFill/>
        </p:spPr>
        <p:txBody>
          <a:bodyPr wrap="square" rtlCol="0">
            <a:spAutoFit/>
          </a:bodyPr>
          <a:lstStyle/>
          <a:p>
            <a:r>
              <a:rPr lang="es-ES" b="1" dirty="0" smtClean="0">
                <a:solidFill>
                  <a:srgbClr val="254061"/>
                </a:solidFill>
              </a:rPr>
              <a:t>EDITAR SOLICITUD - ESTRUCTURA DE TABLA</a:t>
            </a:r>
            <a:r>
              <a:rPr lang="es-ES" b="1" dirty="0">
                <a:solidFill>
                  <a:srgbClr val="254061"/>
                </a:solidFill>
              </a:rPr>
              <a:t> </a:t>
            </a:r>
            <a:r>
              <a:rPr lang="es-ES" b="1" dirty="0" smtClean="0">
                <a:solidFill>
                  <a:srgbClr val="254061"/>
                </a:solidFill>
              </a:rPr>
              <a:t>- I</a:t>
            </a:r>
            <a:endParaRPr lang="en-US" b="1" dirty="0">
              <a:solidFill>
                <a:srgbClr val="254061"/>
              </a:solidFill>
            </a:endParaRPr>
          </a:p>
        </p:txBody>
      </p:sp>
      <p:pic>
        <p:nvPicPr>
          <p:cNvPr id="3075"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6884" y="1651798"/>
            <a:ext cx="4736728" cy="114602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894438"/>
            <a:ext cx="2432722" cy="372343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1" name="10 Rectángulo"/>
          <p:cNvSpPr/>
          <p:nvPr/>
        </p:nvSpPr>
        <p:spPr>
          <a:xfrm>
            <a:off x="3219107" y="3356992"/>
            <a:ext cx="4896544" cy="924208"/>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ESTRUCTURA EJE Y</a:t>
            </a:r>
          </a:p>
          <a:p>
            <a:r>
              <a:rPr lang="es-ES" sz="1000" b="1" dirty="0" smtClean="0">
                <a:solidFill>
                  <a:schemeClr val="tx1"/>
                </a:solidFill>
                <a:latin typeface="Arial" panose="020B0604020202020204" pitchFamily="34" charset="0"/>
                <a:cs typeface="Arial" panose="020B0604020202020204" pitchFamily="34" charset="0"/>
              </a:rPr>
              <a:t>1. Planta: </a:t>
            </a:r>
            <a:r>
              <a:rPr lang="es-ES" sz="1000" dirty="0">
                <a:solidFill>
                  <a:schemeClr val="tx1"/>
                </a:solidFill>
                <a:latin typeface="Arial" panose="020B0604020202020204" pitchFamily="34" charset="0"/>
                <a:cs typeface="Arial" panose="020B0604020202020204" pitchFamily="34" charset="0"/>
              </a:rPr>
              <a:t>Planta que incurre en el gasto/ingreso. </a:t>
            </a:r>
          </a:p>
          <a:p>
            <a:pPr>
              <a:tabLst>
                <a:tab pos="534988" algn="l"/>
              </a:tabLst>
            </a:pPr>
            <a:r>
              <a:rPr lang="es-ES" sz="1000" dirty="0">
                <a:solidFill>
                  <a:schemeClr val="tx1"/>
                </a:solidFill>
                <a:latin typeface="Arial" panose="020B0604020202020204" pitchFamily="34" charset="0"/>
                <a:cs typeface="Arial" panose="020B0604020202020204" pitchFamily="34" charset="0"/>
              </a:rPr>
              <a:t>	</a:t>
            </a:r>
            <a:r>
              <a:rPr lang="es-ES" sz="1000" b="1" dirty="0">
                <a:solidFill>
                  <a:schemeClr val="tx1"/>
                </a:solidFill>
                <a:latin typeface="Arial" panose="020B0604020202020204" pitchFamily="34" charset="0"/>
                <a:cs typeface="Arial" panose="020B0604020202020204" pitchFamily="34" charset="0"/>
              </a:rPr>
              <a:t>1.1 </a:t>
            </a:r>
            <a:r>
              <a:rPr lang="es-ES" sz="1000" b="1" dirty="0" smtClean="0">
                <a:solidFill>
                  <a:schemeClr val="tx1"/>
                </a:solidFill>
                <a:latin typeface="Arial" panose="020B0604020202020204" pitchFamily="34" charset="0"/>
                <a:cs typeface="Arial" panose="020B0604020202020204" pitchFamily="34" charset="0"/>
              </a:rPr>
              <a:t>Estado: </a:t>
            </a:r>
            <a:r>
              <a:rPr lang="es-ES" sz="1000" dirty="0">
                <a:solidFill>
                  <a:schemeClr val="tx1"/>
                </a:solidFill>
                <a:latin typeface="Arial" panose="020B0604020202020204" pitchFamily="34" charset="0"/>
                <a:cs typeface="Arial" panose="020B0604020202020204" pitchFamily="34" charset="0"/>
              </a:rPr>
              <a:t>Estado en el que se incurre en el gasto/ingreso</a:t>
            </a:r>
          </a:p>
          <a:p>
            <a:pPr defTabSz="431800"/>
            <a:r>
              <a:rPr lang="es-ES" sz="1000" dirty="0">
                <a:solidFill>
                  <a:schemeClr val="tx1"/>
                </a:solidFill>
                <a:latin typeface="Arial" panose="020B0604020202020204" pitchFamily="34" charset="0"/>
                <a:cs typeface="Arial" panose="020B0604020202020204" pitchFamily="34" charset="0"/>
              </a:rPr>
              <a:t>	</a:t>
            </a:r>
            <a:r>
              <a:rPr lang="es-ES" sz="1000" dirty="0" smtClean="0">
                <a:solidFill>
                  <a:schemeClr val="tx1"/>
                </a:solidFill>
                <a:latin typeface="Arial" panose="020B0604020202020204" pitchFamily="34" charset="0"/>
                <a:cs typeface="Arial" panose="020B0604020202020204" pitchFamily="34" charset="0"/>
              </a:rPr>
              <a:t>	</a:t>
            </a:r>
            <a:r>
              <a:rPr lang="es-ES" sz="1000" b="1" dirty="0" smtClean="0">
                <a:solidFill>
                  <a:schemeClr val="tx1"/>
                </a:solidFill>
                <a:latin typeface="Arial" panose="020B0604020202020204" pitchFamily="34" charset="0"/>
                <a:cs typeface="Arial" panose="020B0604020202020204" pitchFamily="34" charset="0"/>
              </a:rPr>
              <a:t>1.1.1 Grupo de coste: </a:t>
            </a:r>
            <a:r>
              <a:rPr lang="es-ES" sz="1000" dirty="0">
                <a:solidFill>
                  <a:schemeClr val="tx1"/>
                </a:solidFill>
                <a:latin typeface="Arial" panose="020B0604020202020204" pitchFamily="34" charset="0"/>
                <a:cs typeface="Arial" panose="020B0604020202020204" pitchFamily="34" charset="0"/>
              </a:rPr>
              <a:t>Agrupación de </a:t>
            </a:r>
            <a:r>
              <a:rPr lang="es-ES" sz="1000" dirty="0" smtClean="0">
                <a:solidFill>
                  <a:schemeClr val="tx1"/>
                </a:solidFill>
                <a:latin typeface="Arial" panose="020B0604020202020204" pitchFamily="34" charset="0"/>
                <a:cs typeface="Arial" panose="020B0604020202020204" pitchFamily="34" charset="0"/>
              </a:rPr>
              <a:t>pasos. </a:t>
            </a:r>
            <a:endParaRPr lang="es-ES" sz="1000" dirty="0">
              <a:solidFill>
                <a:schemeClr val="tx1"/>
              </a:solidFill>
              <a:latin typeface="Arial" panose="020B0604020202020204" pitchFamily="34" charset="0"/>
              <a:cs typeface="Arial" panose="020B0604020202020204" pitchFamily="34" charset="0"/>
            </a:endParaRPr>
          </a:p>
          <a:p>
            <a:pPr defTabSz="233363"/>
            <a:r>
              <a:rPr lang="es-ES" sz="1000" dirty="0">
                <a:solidFill>
                  <a:schemeClr val="tx1"/>
                </a:solidFill>
                <a:latin typeface="Arial" panose="020B0604020202020204" pitchFamily="34" charset="0"/>
                <a:cs typeface="Arial" panose="020B0604020202020204" pitchFamily="34" charset="0"/>
              </a:rPr>
              <a:t>		</a:t>
            </a:r>
            <a:r>
              <a:rPr lang="es-ES" sz="1000" dirty="0" smtClean="0">
                <a:solidFill>
                  <a:schemeClr val="tx1"/>
                </a:solidFill>
                <a:latin typeface="Arial" panose="020B0604020202020204" pitchFamily="34" charset="0"/>
                <a:cs typeface="Arial" panose="020B0604020202020204" pitchFamily="34" charset="0"/>
              </a:rPr>
              <a:t>				</a:t>
            </a:r>
            <a:r>
              <a:rPr lang="es-ES" sz="1000" b="1" dirty="0" smtClean="0">
                <a:solidFill>
                  <a:schemeClr val="tx1"/>
                </a:solidFill>
                <a:latin typeface="Arial" panose="020B0604020202020204" pitchFamily="34" charset="0"/>
                <a:cs typeface="Arial" panose="020B0604020202020204" pitchFamily="34" charset="0"/>
              </a:rPr>
              <a:t>1.1.1.1 Paso</a:t>
            </a:r>
            <a:r>
              <a:rPr lang="es-ES" sz="1000" dirty="0" smtClean="0">
                <a:solidFill>
                  <a:schemeClr val="tx1"/>
                </a:solidFill>
                <a:latin typeface="Arial" panose="020B0604020202020204" pitchFamily="34" charset="0"/>
                <a:cs typeface="Arial" panose="020B0604020202020204" pitchFamily="34" charset="0"/>
              </a:rPr>
              <a:t>: </a:t>
            </a:r>
            <a:r>
              <a:rPr lang="es-ES" sz="1000" dirty="0">
                <a:solidFill>
                  <a:schemeClr val="tx1"/>
                </a:solidFill>
                <a:latin typeface="Arial" panose="020B0604020202020204" pitchFamily="34" charset="0"/>
                <a:cs typeface="Arial" panose="020B0604020202020204" pitchFamily="34" charset="0"/>
              </a:rPr>
              <a:t>Portador de coste que se </a:t>
            </a:r>
            <a:r>
              <a:rPr lang="es-ES" sz="1000" dirty="0" smtClean="0">
                <a:solidFill>
                  <a:schemeClr val="tx1"/>
                </a:solidFill>
                <a:latin typeface="Arial" panose="020B0604020202020204" pitchFamily="34" charset="0"/>
                <a:cs typeface="Arial" panose="020B0604020202020204" pitchFamily="34" charset="0"/>
              </a:rPr>
              <a:t>abrirá en </a:t>
            </a:r>
            <a:r>
              <a:rPr lang="es-ES" sz="1000" dirty="0" err="1">
                <a:solidFill>
                  <a:schemeClr val="tx1"/>
                </a:solidFill>
                <a:latin typeface="Arial" panose="020B0604020202020204" pitchFamily="34" charset="0"/>
                <a:cs typeface="Arial" panose="020B0604020202020204" pitchFamily="34" charset="0"/>
              </a:rPr>
              <a:t>XPert</a:t>
            </a:r>
            <a:r>
              <a:rPr lang="es-ES" sz="1000" dirty="0">
                <a:solidFill>
                  <a:schemeClr val="tx1"/>
                </a:solidFill>
                <a:latin typeface="Arial" panose="020B0604020202020204" pitchFamily="34" charset="0"/>
                <a:cs typeface="Arial" panose="020B0604020202020204" pitchFamily="34" charset="0"/>
              </a:rPr>
              <a:t> </a:t>
            </a:r>
          </a:p>
        </p:txBody>
      </p:sp>
      <p:sp>
        <p:nvSpPr>
          <p:cNvPr id="16" name="15 Rectángulo"/>
          <p:cNvSpPr/>
          <p:nvPr/>
        </p:nvSpPr>
        <p:spPr>
          <a:xfrm>
            <a:off x="3563888" y="4586877"/>
            <a:ext cx="5400600" cy="461665"/>
          </a:xfrm>
          <a:prstGeom prst="rect">
            <a:avLst/>
          </a:prstGeom>
        </p:spPr>
        <p:txBody>
          <a:bodyPr wrap="square">
            <a:spAutoFit/>
          </a:bodyPr>
          <a:lstStyle/>
          <a:p>
            <a:r>
              <a:rPr lang="es-ES" sz="1200" dirty="0" smtClean="0">
                <a:latin typeface="Arial" panose="020B0604020202020204" pitchFamily="34" charset="0"/>
                <a:cs typeface="Arial" panose="020B0604020202020204" pitchFamily="34" charset="0"/>
              </a:rPr>
              <a:t>**Los Grupo de Coste se crean en la Plantilla de proyectos (acceso exclusivo a administradores de la aplicación. </a:t>
            </a:r>
            <a:endParaRPr lang="es-ES" sz="1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844789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8</a:t>
            </a:fld>
            <a:endParaRPr lang="es-ES" dirty="0"/>
          </a:p>
        </p:txBody>
      </p:sp>
      <p:sp>
        <p:nvSpPr>
          <p:cNvPr id="9" name="8 CuadroTexto"/>
          <p:cNvSpPr txBox="1"/>
          <p:nvPr/>
        </p:nvSpPr>
        <p:spPr>
          <a:xfrm>
            <a:off x="267321" y="980728"/>
            <a:ext cx="8193112" cy="369332"/>
          </a:xfrm>
          <a:prstGeom prst="rect">
            <a:avLst/>
          </a:prstGeom>
          <a:noFill/>
        </p:spPr>
        <p:txBody>
          <a:bodyPr wrap="square" rtlCol="0">
            <a:spAutoFit/>
          </a:bodyPr>
          <a:lstStyle/>
          <a:p>
            <a:r>
              <a:rPr lang="es-ES" b="1" dirty="0">
                <a:solidFill>
                  <a:srgbClr val="254061"/>
                </a:solidFill>
              </a:rPr>
              <a:t>EDITAR SOLICITUD - ESTRUCTURA DE TABLA - </a:t>
            </a:r>
            <a:r>
              <a:rPr lang="es-ES" b="1" dirty="0" smtClean="0">
                <a:solidFill>
                  <a:srgbClr val="254061"/>
                </a:solidFill>
              </a:rPr>
              <a:t>II</a:t>
            </a:r>
            <a:endParaRPr lang="en-US" b="1" dirty="0">
              <a:solidFill>
                <a:srgbClr val="254061"/>
              </a:solidFill>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782" y="1448780"/>
            <a:ext cx="8429658" cy="2664296"/>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7" name="6 Rectángulo"/>
          <p:cNvSpPr/>
          <p:nvPr/>
        </p:nvSpPr>
        <p:spPr>
          <a:xfrm>
            <a:off x="0" y="3284984"/>
            <a:ext cx="9144000" cy="1199102"/>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indent="-171450">
              <a:buFont typeface="Arial" panose="020B0604020202020204" pitchFamily="34" charset="0"/>
              <a:buChar char="•"/>
            </a:pPr>
            <a:r>
              <a:rPr lang="es-ES" sz="1000" b="1" dirty="0" err="1">
                <a:solidFill>
                  <a:schemeClr val="tx1"/>
                </a:solidFill>
                <a:latin typeface="Arial" panose="020B0604020202020204" pitchFamily="34" charset="0"/>
                <a:cs typeface="Arial" panose="020B0604020202020204" pitchFamily="34" charset="0"/>
                <a:sym typeface="Wingdings" panose="05000000000000000000" pitchFamily="2" charset="2"/>
              </a:rPr>
              <a:t>Offer</a:t>
            </a:r>
            <a:r>
              <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rPr>
              <a:t> Budget: </a:t>
            </a:r>
            <a:r>
              <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rPr>
              <a:t>Presupuesto de la oferta de nominación.</a:t>
            </a:r>
          </a:p>
          <a:p>
            <a:pPr marL="171450" indent="-171450">
              <a:buFont typeface="Arial" panose="020B0604020202020204" pitchFamily="34" charset="0"/>
              <a:buChar char="•"/>
            </a:pPr>
            <a:r>
              <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rPr>
              <a:t>Expenses: </a:t>
            </a:r>
            <a:r>
              <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rPr>
              <a:t>Cantidad que se espera gastar en el trimestre señalado</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La columna “Budget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Approved</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es un sumatorio de sus valores y es la cantidad que se solicita para ese paso.</a:t>
            </a:r>
          </a:p>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Incomes</a:t>
            </a:r>
            <a:r>
              <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rPr>
              <a:t>Cantidad que se espera ingresar en el trimestre señalado</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rPr>
              <a:t>La columna </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Paid</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by</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customer</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rPr>
              <a:t>es un sumatorio de sus valores</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rPr>
              <a:t>Target: </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Automático en función del tipo de paso/gasto.</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sp>
        <p:nvSpPr>
          <p:cNvPr id="8" name="7 Rectángulo"/>
          <p:cNvSpPr/>
          <p:nvPr/>
        </p:nvSpPr>
        <p:spPr>
          <a:xfrm>
            <a:off x="2987824" y="5013176"/>
            <a:ext cx="3744416" cy="752394"/>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indent="-171450">
              <a:buFont typeface="Arial" panose="020B0604020202020204" pitchFamily="34" charset="0"/>
              <a:buChar char="•"/>
            </a:pP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Margen (de las ventas)</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pic>
        <p:nvPicPr>
          <p:cNvPr id="1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4415408"/>
            <a:ext cx="1323071" cy="244259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53317490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9</a:t>
            </a:fld>
            <a:endParaRPr lang="es-ES" dirty="0"/>
          </a:p>
        </p:txBody>
      </p:sp>
      <p:sp>
        <p:nvSpPr>
          <p:cNvPr id="9" name="8 CuadroTexto"/>
          <p:cNvSpPr txBox="1"/>
          <p:nvPr/>
        </p:nvSpPr>
        <p:spPr>
          <a:xfrm>
            <a:off x="267321" y="980728"/>
            <a:ext cx="7761064" cy="369332"/>
          </a:xfrm>
          <a:prstGeom prst="rect">
            <a:avLst/>
          </a:prstGeom>
          <a:noFill/>
        </p:spPr>
        <p:txBody>
          <a:bodyPr wrap="square" rtlCol="0">
            <a:spAutoFit/>
          </a:bodyPr>
          <a:lstStyle/>
          <a:p>
            <a:r>
              <a:rPr lang="es-ES" b="1" dirty="0">
                <a:solidFill>
                  <a:srgbClr val="254061"/>
                </a:solidFill>
              </a:rPr>
              <a:t>CREAR NUEVOS </a:t>
            </a:r>
            <a:r>
              <a:rPr lang="es-ES" b="1" dirty="0" smtClean="0">
                <a:solidFill>
                  <a:srgbClr val="254061"/>
                </a:solidFill>
              </a:rPr>
              <a:t>PASOS</a:t>
            </a:r>
            <a:r>
              <a:rPr lang="es-ES" b="1" dirty="0" smtClean="0">
                <a:solidFill>
                  <a:srgbClr val="254061"/>
                </a:solidFill>
                <a:sym typeface="Wingdings" panose="05000000000000000000" pitchFamily="2" charset="2"/>
              </a:rPr>
              <a:t>1. </a:t>
            </a:r>
            <a:r>
              <a:rPr lang="es-ES" b="1" dirty="0" smtClean="0">
                <a:solidFill>
                  <a:srgbClr val="254061"/>
                </a:solidFill>
              </a:rPr>
              <a:t>TIPO A1: BONOS I</a:t>
            </a:r>
            <a:endParaRPr lang="en-US" b="1" dirty="0">
              <a:solidFill>
                <a:srgbClr val="254061"/>
              </a:solidFill>
            </a:endParaRPr>
          </a:p>
        </p:txBody>
      </p:sp>
      <p:sp>
        <p:nvSpPr>
          <p:cNvPr id="12" name="11 Rectángulo"/>
          <p:cNvSpPr/>
          <p:nvPr/>
        </p:nvSpPr>
        <p:spPr>
          <a:xfrm>
            <a:off x="27808" y="1448256"/>
            <a:ext cx="9116191" cy="4379635"/>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smtClean="0">
                <a:solidFill>
                  <a:schemeClr val="tx1"/>
                </a:solidFill>
                <a:latin typeface="Arial" panose="020B0604020202020204" pitchFamily="34" charset="0"/>
                <a:cs typeface="Arial" panose="020B0604020202020204" pitchFamily="34" charset="0"/>
              </a:rPr>
              <a:t>El tipo del paso se reconoce por su color</a:t>
            </a:r>
          </a:p>
          <a:p>
            <a:endParaRPr lang="es-ES" sz="1000" dirty="0" smtClean="0">
              <a:solidFill>
                <a:srgbClr val="0000FF"/>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200" b="1" dirty="0" smtClean="0">
                <a:solidFill>
                  <a:schemeClr val="tx1"/>
                </a:solidFill>
                <a:latin typeface="Arial" panose="020B0604020202020204" pitchFamily="34" charset="0"/>
                <a:cs typeface="Arial" panose="020B0604020202020204" pitchFamily="34" charset="0"/>
              </a:rPr>
              <a:t>A</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r>
              <a:rPr lang="es-ES" sz="1000" b="1" dirty="0" smtClean="0">
                <a:solidFill>
                  <a:schemeClr val="tx1"/>
                </a:solidFill>
                <a:latin typeface="Arial" panose="020B0604020202020204" pitchFamily="34" charset="0"/>
                <a:cs typeface="Arial" panose="020B0604020202020204" pitchFamily="34" charset="0"/>
              </a:rPr>
              <a:t> NEGRO</a:t>
            </a:r>
            <a:r>
              <a:rPr lang="es-ES" sz="1000" dirty="0" smtClean="0">
                <a:solidFill>
                  <a:schemeClr val="tx1"/>
                </a:solidFill>
                <a:latin typeface="Arial" panose="020B0604020202020204" pitchFamily="34" charset="0"/>
                <a:cs typeface="Arial" panose="020B0604020202020204" pitchFamily="34" charset="0"/>
              </a:rPr>
              <a:t>: El paso se ha creado AUTOMÁTICAMENTE, el origen está EN OTRA APLICACIÓN.</a:t>
            </a:r>
          </a:p>
          <a:p>
            <a:pPr marL="685800" lvl="1" indent="-228600">
              <a:buFont typeface="+mj-lt"/>
              <a:buAutoNum type="arabicPeriod"/>
            </a:pPr>
            <a:r>
              <a:rPr lang="es-ES" sz="1200" b="1" dirty="0" smtClean="0">
                <a:solidFill>
                  <a:schemeClr val="tx1"/>
                </a:solidFill>
                <a:latin typeface="Arial" panose="020B0604020202020204" pitchFamily="34" charset="0"/>
                <a:cs typeface="Arial" panose="020B0604020202020204" pitchFamily="34" charset="0"/>
              </a:rPr>
              <a:t>TIPO A1</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r>
              <a:rPr lang="es-ES" sz="1000" dirty="0" smtClean="0">
                <a:solidFill>
                  <a:schemeClr val="tx1"/>
                </a:solidFill>
                <a:latin typeface="Arial" panose="020B0604020202020204" pitchFamily="34" charset="0"/>
                <a:cs typeface="Arial" panose="020B0604020202020204" pitchFamily="34" charset="0"/>
              </a:rPr>
              <a:t> Paso de </a:t>
            </a:r>
            <a:r>
              <a:rPr lang="es-ES" sz="1000" b="1" dirty="0" smtClean="0">
                <a:solidFill>
                  <a:schemeClr val="tx1"/>
                </a:solidFill>
                <a:latin typeface="Arial" panose="020B0604020202020204" pitchFamily="34" charset="0"/>
                <a:cs typeface="Arial" panose="020B0604020202020204" pitchFamily="34" charset="0"/>
              </a:rPr>
              <a:t>TIPO BONOS</a:t>
            </a:r>
            <a:r>
              <a:rPr lang="es-ES" sz="1000" dirty="0" smtClean="0">
                <a:solidFill>
                  <a:schemeClr val="tx1"/>
                </a:solidFill>
                <a:latin typeface="Arial" panose="020B0604020202020204" pitchFamily="34" charset="0"/>
                <a:cs typeface="Arial" panose="020B0604020202020204" pitchFamily="34" charset="0"/>
              </a:rPr>
              <a:t>. Su denominación contiene el texto</a:t>
            </a:r>
            <a:r>
              <a:rPr lang="es-ES" sz="1400" dirty="0" smtClean="0">
                <a:solidFill>
                  <a:schemeClr val="tx1"/>
                </a:solidFill>
                <a:latin typeface="Arial" panose="020B0604020202020204" pitchFamily="34" charset="0"/>
                <a:cs typeface="Arial" panose="020B0604020202020204" pitchFamily="34" charset="0"/>
              </a:rPr>
              <a:t> HR </a:t>
            </a:r>
            <a:r>
              <a:rPr lang="es-ES" sz="1000" dirty="0" smtClean="0">
                <a:solidFill>
                  <a:schemeClr val="tx1"/>
                </a:solidFill>
                <a:latin typeface="Arial" panose="020B0604020202020204" pitchFamily="34" charset="0"/>
                <a:cs typeface="Arial" panose="020B0604020202020204" pitchFamily="34" charset="0"/>
              </a:rPr>
              <a:t>(Human </a:t>
            </a:r>
            <a:r>
              <a:rPr lang="es-ES" sz="1000" dirty="0" err="1" smtClean="0">
                <a:solidFill>
                  <a:schemeClr val="tx1"/>
                </a:solidFill>
                <a:latin typeface="Arial" panose="020B0604020202020204" pitchFamily="34" charset="0"/>
                <a:cs typeface="Arial" panose="020B0604020202020204" pitchFamily="34" charset="0"/>
              </a:rPr>
              <a:t>resources</a:t>
            </a:r>
            <a:r>
              <a:rPr lang="es-ES" sz="1000" dirty="0" smtClean="0">
                <a:solidFill>
                  <a:schemeClr val="tx1"/>
                </a:solidFill>
                <a:latin typeface="Arial" panose="020B0604020202020204" pitchFamily="34" charset="0"/>
                <a:cs typeface="Arial" panose="020B0604020202020204" pitchFamily="34" charset="0"/>
              </a:rPr>
              <a:t>) o </a:t>
            </a:r>
            <a:r>
              <a:rPr lang="es-ES" sz="1400" dirty="0" smtClean="0">
                <a:solidFill>
                  <a:schemeClr val="tx1"/>
                </a:solidFill>
                <a:latin typeface="Arial" panose="020B0604020202020204" pitchFamily="34" charset="0"/>
                <a:cs typeface="Arial" panose="020B0604020202020204" pitchFamily="34" charset="0"/>
              </a:rPr>
              <a:t>HR-MR</a:t>
            </a:r>
            <a:r>
              <a:rPr lang="es-ES" sz="1000" dirty="0" smtClean="0">
                <a:solidFill>
                  <a:schemeClr val="tx1"/>
                </a:solidFill>
                <a:latin typeface="Arial" panose="020B0604020202020204" pitchFamily="34" charset="0"/>
                <a:cs typeface="Arial" panose="020B0604020202020204" pitchFamily="34" charset="0"/>
              </a:rPr>
              <a:t> (Human and Machine </a:t>
            </a:r>
            <a:r>
              <a:rPr lang="es-ES" sz="1000" dirty="0" err="1" smtClean="0">
                <a:solidFill>
                  <a:schemeClr val="tx1"/>
                </a:solidFill>
                <a:latin typeface="Arial" panose="020B0604020202020204" pitchFamily="34" charset="0"/>
                <a:cs typeface="Arial" panose="020B0604020202020204" pitchFamily="34" charset="0"/>
              </a:rPr>
              <a:t>resources</a:t>
            </a:r>
            <a:r>
              <a:rPr lang="es-ES" sz="1000" dirty="0" smtClean="0">
                <a:solidFill>
                  <a:schemeClr val="tx1"/>
                </a:solidFill>
                <a:latin typeface="Arial" panose="020B0604020202020204" pitchFamily="34" charset="0"/>
                <a:cs typeface="Arial" panose="020B0604020202020204" pitchFamily="34" charset="0"/>
              </a:rPr>
              <a:t>). </a:t>
            </a:r>
          </a:p>
          <a:p>
            <a:pPr lvl="1"/>
            <a:r>
              <a:rPr lang="es-ES" sz="1000" dirty="0" smtClean="0">
                <a:solidFill>
                  <a:schemeClr val="tx1"/>
                </a:solidFill>
                <a:latin typeface="Arial" panose="020B0604020202020204" pitchFamily="34" charset="0"/>
                <a:cs typeface="Arial" panose="020B0604020202020204" pitchFamily="34" charset="0"/>
              </a:rPr>
              <a:t>Para estos pasos, </a:t>
            </a:r>
            <a:r>
              <a:rPr lang="es-ES" sz="1000" b="1" i="1" dirty="0" err="1" smtClean="0">
                <a:solidFill>
                  <a:schemeClr val="tx1"/>
                </a:solidFill>
                <a:latin typeface="Arial" panose="020B0604020202020204" pitchFamily="34" charset="0"/>
                <a:cs typeface="Arial" panose="020B0604020202020204" pitchFamily="34" charset="0"/>
              </a:rPr>
              <a:t>Offer</a:t>
            </a:r>
            <a:r>
              <a:rPr lang="es-ES" sz="1000" b="1" i="1" dirty="0" smtClean="0">
                <a:solidFill>
                  <a:schemeClr val="tx1"/>
                </a:solidFill>
                <a:latin typeface="Arial" panose="020B0604020202020204" pitchFamily="34" charset="0"/>
                <a:cs typeface="Arial" panose="020B0604020202020204" pitchFamily="34" charset="0"/>
              </a:rPr>
              <a:t> Budget </a:t>
            </a:r>
            <a:r>
              <a:rPr lang="es-ES" sz="1000" dirty="0" smtClean="0">
                <a:solidFill>
                  <a:schemeClr val="tx1"/>
                </a:solidFill>
                <a:latin typeface="Arial" panose="020B0604020202020204" pitchFamily="34" charset="0"/>
                <a:cs typeface="Arial" panose="020B0604020202020204" pitchFamily="34" charset="0"/>
              </a:rPr>
              <a:t>y </a:t>
            </a:r>
            <a:r>
              <a:rPr lang="es-ES" sz="1000" b="1" i="1" dirty="0" smtClean="0">
                <a:solidFill>
                  <a:schemeClr val="tx1"/>
                </a:solidFill>
                <a:latin typeface="Arial" panose="020B0604020202020204" pitchFamily="34" charset="0"/>
                <a:cs typeface="Arial" panose="020B0604020202020204" pitchFamily="34" charset="0"/>
              </a:rPr>
              <a:t>Expenses</a:t>
            </a:r>
            <a:r>
              <a:rPr lang="es-ES" sz="1000" dirty="0" smtClean="0">
                <a:solidFill>
                  <a:schemeClr val="tx1"/>
                </a:solidFill>
                <a:latin typeface="Arial" panose="020B0604020202020204" pitchFamily="34" charset="0"/>
                <a:cs typeface="Arial" panose="020B0604020202020204" pitchFamily="34" charset="0"/>
              </a:rPr>
              <a:t> deben actualizarse desde la </a:t>
            </a:r>
            <a:r>
              <a:rPr lang="es-ES" sz="1000" b="1" i="1" dirty="0" smtClean="0">
                <a:solidFill>
                  <a:schemeClr val="tx1"/>
                </a:solidFill>
                <a:latin typeface="Arial" panose="020B0604020202020204" pitchFamily="34" charset="0"/>
                <a:cs typeface="Arial" panose="020B0604020202020204" pitchFamily="34" charset="0"/>
              </a:rPr>
              <a:t>APLICACIÓN DE BONOS.</a:t>
            </a:r>
            <a:r>
              <a:rPr lang="es-ES" sz="1000" dirty="0" smtClean="0">
                <a:solidFill>
                  <a:schemeClr val="tx1"/>
                </a:solidFill>
                <a:latin typeface="Arial" panose="020B0604020202020204" pitchFamily="34" charset="0"/>
                <a:cs typeface="Arial" panose="020B0604020202020204" pitchFamily="34" charset="0"/>
              </a:rPr>
              <a:t> </a:t>
            </a:r>
            <a:r>
              <a:rPr lang="es-ES" sz="1000" b="1" i="1" dirty="0" err="1" smtClean="0">
                <a:solidFill>
                  <a:srgbClr val="FF0000"/>
                </a:solidFill>
                <a:latin typeface="Arial" panose="020B0604020202020204" pitchFamily="34" charset="0"/>
                <a:cs typeface="Arial" panose="020B0604020202020204" pitchFamily="34" charset="0"/>
              </a:rPr>
              <a:t>Incomes</a:t>
            </a:r>
            <a:r>
              <a:rPr lang="es-ES" sz="1000" dirty="0" smtClean="0">
                <a:solidFill>
                  <a:srgbClr val="FF0000"/>
                </a:solidFill>
                <a:latin typeface="Arial" panose="020B0604020202020204" pitchFamily="34" charset="0"/>
                <a:cs typeface="Arial" panose="020B0604020202020204" pitchFamily="34" charset="0"/>
              </a:rPr>
              <a:t>, </a:t>
            </a:r>
            <a:r>
              <a:rPr lang="es-ES" sz="1000" dirty="0" smtClean="0">
                <a:solidFill>
                  <a:schemeClr val="tx1"/>
                </a:solidFill>
                <a:latin typeface="Arial" panose="020B0604020202020204" pitchFamily="34" charset="0"/>
                <a:cs typeface="Arial" panose="020B0604020202020204" pitchFamily="34" charset="0"/>
              </a:rPr>
              <a:t>en cambio se actualiza desde aquí en caso de q el </a:t>
            </a:r>
            <a:r>
              <a:rPr lang="es-ES" sz="1000" b="1" i="1" dirty="0" smtClean="0">
                <a:solidFill>
                  <a:schemeClr val="tx1"/>
                </a:solidFill>
                <a:latin typeface="Arial" panose="020B0604020202020204" pitchFamily="34" charset="0"/>
                <a:cs typeface="Arial" panose="020B0604020202020204" pitchFamily="34" charset="0"/>
              </a:rPr>
              <a:t>cliente pague en CASH </a:t>
            </a:r>
            <a:r>
              <a:rPr lang="es-ES" sz="1000" dirty="0" smtClean="0">
                <a:solidFill>
                  <a:schemeClr val="tx1"/>
                </a:solidFill>
                <a:latin typeface="Arial" panose="020B0604020202020204" pitchFamily="34" charset="0"/>
                <a:cs typeface="Arial" panose="020B0604020202020204" pitchFamily="34" charset="0"/>
              </a:rPr>
              <a:t>por estos conceptos. </a:t>
            </a: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marL="0"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p:txBody>
      </p:sp>
      <p:pic>
        <p:nvPicPr>
          <p:cNvPr id="2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332" y="2655123"/>
            <a:ext cx="8765142" cy="3172768"/>
          </a:xfrm>
          <a:prstGeom prst="rect">
            <a:avLst/>
          </a:prstGeom>
          <a:noFill/>
          <a:ln w="9525">
            <a:solidFill>
              <a:schemeClr val="tx1"/>
            </a:solidFill>
          </a:ln>
          <a:extLst>
            <a:ext uri="{909E8E84-426E-40DD-AFC4-6F175D3DCCD1}">
              <a14:hiddenFill xmlns:a14="http://schemas.microsoft.com/office/drawing/2010/main">
                <a:solidFill>
                  <a:schemeClr val="accent1"/>
                </a:solidFill>
              </a14:hiddenFill>
            </a:ext>
          </a:extLst>
        </p:spPr>
      </p:pic>
      <p:sp>
        <p:nvSpPr>
          <p:cNvPr id="4" name="Rectángulo 3"/>
          <p:cNvSpPr/>
          <p:nvPr/>
        </p:nvSpPr>
        <p:spPr>
          <a:xfrm>
            <a:off x="4499992" y="2924944"/>
            <a:ext cx="2453208" cy="432048"/>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3" name="Rectángulo 12"/>
          <p:cNvSpPr/>
          <p:nvPr/>
        </p:nvSpPr>
        <p:spPr>
          <a:xfrm>
            <a:off x="3131841" y="2924943"/>
            <a:ext cx="576064" cy="378251"/>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14" name="Rectángulo 13"/>
          <p:cNvSpPr/>
          <p:nvPr/>
        </p:nvSpPr>
        <p:spPr>
          <a:xfrm>
            <a:off x="6953200" y="2924943"/>
            <a:ext cx="2015274" cy="42373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6" name="Elipse 5"/>
          <p:cNvSpPr/>
          <p:nvPr/>
        </p:nvSpPr>
        <p:spPr>
          <a:xfrm>
            <a:off x="3203848" y="4077072"/>
            <a:ext cx="3018318" cy="648072"/>
          </a:xfrm>
          <a:prstGeom prst="ellipse">
            <a:avLst/>
          </a:prstGeom>
          <a:solidFill>
            <a:schemeClr val="bg1">
              <a:lumMod val="6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NO EDITABLE. ORIGEN APLICACIÓN BONOS</a:t>
            </a: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8" name="Conector angular 7"/>
          <p:cNvCxnSpPr>
            <a:stCxn id="6" idx="2"/>
            <a:endCxn id="13" idx="2"/>
          </p:cNvCxnSpPr>
          <p:nvPr/>
        </p:nvCxnSpPr>
        <p:spPr>
          <a:xfrm rot="10800000" flipH="1">
            <a:off x="3203847" y="3303194"/>
            <a:ext cx="216025" cy="1097914"/>
          </a:xfrm>
          <a:prstGeom prst="bentConnector4">
            <a:avLst>
              <a:gd name="adj1" fmla="val -105821"/>
              <a:gd name="adj2" fmla="val 6475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Conector angular 15"/>
          <p:cNvCxnSpPr>
            <a:stCxn id="6" idx="6"/>
          </p:cNvCxnSpPr>
          <p:nvPr/>
        </p:nvCxnSpPr>
        <p:spPr>
          <a:xfrm flipH="1" flipV="1">
            <a:off x="5724128" y="3356992"/>
            <a:ext cx="498038" cy="1044116"/>
          </a:xfrm>
          <a:prstGeom prst="bentConnector4">
            <a:avLst>
              <a:gd name="adj1" fmla="val -45900"/>
              <a:gd name="adj2" fmla="val 6551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Elipse 20"/>
          <p:cNvSpPr/>
          <p:nvPr/>
        </p:nvSpPr>
        <p:spPr>
          <a:xfrm>
            <a:off x="6037919" y="4364000"/>
            <a:ext cx="3018318" cy="648072"/>
          </a:xfrm>
          <a:prstGeom prst="ellipse">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EDITABLE </a:t>
            </a:r>
          </a:p>
        </p:txBody>
      </p:sp>
      <p:cxnSp>
        <p:nvCxnSpPr>
          <p:cNvPr id="18" name="Conector angular 17"/>
          <p:cNvCxnSpPr/>
          <p:nvPr/>
        </p:nvCxnSpPr>
        <p:spPr>
          <a:xfrm rot="16200000" flipV="1">
            <a:off x="7454313" y="3755029"/>
            <a:ext cx="1044116" cy="248042"/>
          </a:xfrm>
          <a:prstGeom prst="bentConnector3">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13 Llamada rectangular"/>
          <p:cNvSpPr/>
          <p:nvPr/>
        </p:nvSpPr>
        <p:spPr>
          <a:xfrm>
            <a:off x="1310463" y="5938387"/>
            <a:ext cx="6645913" cy="868103"/>
          </a:xfrm>
          <a:prstGeom prst="wedgeRectCallout">
            <a:avLst>
              <a:gd name="adj1" fmla="val -41515"/>
              <a:gd name="adj2" fmla="val -118865"/>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1"/>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Algunos grupos de coste están divididos en dos (</a:t>
            </a:r>
            <a:r>
              <a:rPr lang="es-ES" sz="1000" dirty="0" err="1">
                <a:solidFill>
                  <a:prstClr val="black"/>
                </a:solidFill>
                <a:latin typeface="Arial" panose="020B0604020202020204" pitchFamily="34" charset="0"/>
                <a:cs typeface="Arial" panose="020B0604020202020204" pitchFamily="34" charset="0"/>
                <a:sym typeface="Wingdings" panose="05000000000000000000" pitchFamily="2" charset="2"/>
              </a:rPr>
              <a:t>Batz</a:t>
            </a:r>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/Cliente), son bonos relativos a la puesta a punto y diseño de utillajes. El presupuesto de estas actividades se realiza de forma global y no dividida por utillaje, es por eso que tiene que ser el usuario el que e en función de los costes de los utillajes de </a:t>
            </a:r>
            <a:r>
              <a:rPr lang="es-ES" sz="1000" dirty="0" err="1">
                <a:solidFill>
                  <a:prstClr val="black"/>
                </a:solidFill>
                <a:latin typeface="Arial" panose="020B0604020202020204" pitchFamily="34" charset="0"/>
                <a:cs typeface="Arial" panose="020B0604020202020204" pitchFamily="34" charset="0"/>
                <a:sym typeface="Wingdings" panose="05000000000000000000" pitchFamily="2" charset="2"/>
              </a:rPr>
              <a:t>batz</a:t>
            </a:r>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 vs los utillajes de cliente aplique un porcentaje y divida los presupuestado en esta actividad entre los dos grupos de coste. </a:t>
            </a:r>
            <a:endParaRPr lang="es-ES" sz="1000" dirty="0">
              <a:solidFill>
                <a:prstClr val="black"/>
              </a:solidFill>
              <a:latin typeface="Arial" panose="020B0604020202020204" pitchFamily="34" charset="0"/>
              <a:cs typeface="Arial" panose="020B0604020202020204" pitchFamily="34" charset="0"/>
            </a:endParaRPr>
          </a:p>
        </p:txBody>
      </p:sp>
      <p:sp>
        <p:nvSpPr>
          <p:cNvPr id="3" name="Elipse 2"/>
          <p:cNvSpPr/>
          <p:nvPr/>
        </p:nvSpPr>
        <p:spPr>
          <a:xfrm>
            <a:off x="650263" y="4005064"/>
            <a:ext cx="864096"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7" name="Elipse 16"/>
          <p:cNvSpPr/>
          <p:nvPr/>
        </p:nvSpPr>
        <p:spPr>
          <a:xfrm>
            <a:off x="535812" y="4683236"/>
            <a:ext cx="1092999"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19" name="Elipse 18"/>
          <p:cNvSpPr/>
          <p:nvPr/>
        </p:nvSpPr>
        <p:spPr>
          <a:xfrm>
            <a:off x="535812" y="5111323"/>
            <a:ext cx="1092999"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20" name="Elipse 19"/>
          <p:cNvSpPr/>
          <p:nvPr/>
        </p:nvSpPr>
        <p:spPr>
          <a:xfrm>
            <a:off x="535812" y="5579636"/>
            <a:ext cx="1092999" cy="216024"/>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098850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10</a:t>
            </a:fld>
            <a:endParaRPr lang="es-ES" dirty="0"/>
          </a:p>
        </p:txBody>
      </p:sp>
      <p:sp>
        <p:nvSpPr>
          <p:cNvPr id="3" name="8 CuadroTexto"/>
          <p:cNvSpPr txBox="1"/>
          <p:nvPr/>
        </p:nvSpPr>
        <p:spPr>
          <a:xfrm>
            <a:off x="267321" y="980728"/>
            <a:ext cx="7761064" cy="369332"/>
          </a:xfrm>
          <a:prstGeom prst="rect">
            <a:avLst/>
          </a:prstGeom>
          <a:noFill/>
        </p:spPr>
        <p:txBody>
          <a:bodyPr wrap="square" rtlCol="0">
            <a:spAutoFit/>
          </a:bodyPr>
          <a:lstStyle/>
          <a:p>
            <a:r>
              <a:rPr lang="es-ES" b="1" dirty="0">
                <a:solidFill>
                  <a:srgbClr val="254061"/>
                </a:solidFill>
              </a:rPr>
              <a:t>CREAR NUEVOS </a:t>
            </a:r>
            <a:r>
              <a:rPr lang="es-ES" b="1" dirty="0" smtClean="0">
                <a:solidFill>
                  <a:srgbClr val="254061"/>
                </a:solidFill>
              </a:rPr>
              <a:t>PASOS</a:t>
            </a:r>
            <a:r>
              <a:rPr lang="es-ES" b="1" dirty="0" smtClean="0">
                <a:solidFill>
                  <a:srgbClr val="254061"/>
                </a:solidFill>
                <a:sym typeface="Wingdings" panose="05000000000000000000" pitchFamily="2" charset="2"/>
              </a:rPr>
              <a:t>1. </a:t>
            </a:r>
            <a:r>
              <a:rPr lang="es-ES" b="1" dirty="0" smtClean="0">
                <a:solidFill>
                  <a:srgbClr val="254061"/>
                </a:solidFill>
              </a:rPr>
              <a:t>TIPO A1: BONOS II</a:t>
            </a:r>
            <a:endParaRPr lang="en-US" b="1" dirty="0">
              <a:solidFill>
                <a:srgbClr val="254061"/>
              </a:solidFill>
            </a:endParaRPr>
          </a:p>
        </p:txBody>
      </p:sp>
      <p:pic>
        <p:nvPicPr>
          <p:cNvPr id="4" name="Imagen 3"/>
          <p:cNvPicPr>
            <a:picLocks noChangeAspect="1"/>
          </p:cNvPicPr>
          <p:nvPr/>
        </p:nvPicPr>
        <p:blipFill>
          <a:blip r:embed="rId3"/>
          <a:stretch>
            <a:fillRect/>
          </a:stretch>
        </p:blipFill>
        <p:spPr>
          <a:xfrm>
            <a:off x="35496" y="3792757"/>
            <a:ext cx="5320491" cy="3092627"/>
          </a:xfrm>
          <a:prstGeom prst="rect">
            <a:avLst/>
          </a:prstGeom>
          <a:ln>
            <a:noFill/>
          </a:ln>
          <a:effectLst>
            <a:outerShdw blurRad="190500" algn="tl" rotWithShape="0">
              <a:srgbClr val="000000">
                <a:alpha val="70000"/>
              </a:srgbClr>
            </a:outerShdw>
          </a:effectLst>
        </p:spPr>
      </p:pic>
      <p:pic>
        <p:nvPicPr>
          <p:cNvPr id="5" name="Imagen 4"/>
          <p:cNvPicPr>
            <a:picLocks noChangeAspect="1"/>
          </p:cNvPicPr>
          <p:nvPr/>
        </p:nvPicPr>
        <p:blipFill>
          <a:blip r:embed="rId4"/>
          <a:stretch>
            <a:fillRect/>
          </a:stretch>
        </p:blipFill>
        <p:spPr>
          <a:xfrm>
            <a:off x="-40927" y="1626468"/>
            <a:ext cx="5626435" cy="2018556"/>
          </a:xfrm>
          <a:prstGeom prst="rect">
            <a:avLst/>
          </a:prstGeom>
          <a:ln>
            <a:noFill/>
          </a:ln>
          <a:effectLst>
            <a:outerShdw blurRad="190500" algn="tl" rotWithShape="0">
              <a:srgbClr val="000000">
                <a:alpha val="70000"/>
              </a:srgbClr>
            </a:outerShdw>
          </a:effectLst>
        </p:spPr>
      </p:pic>
      <p:sp>
        <p:nvSpPr>
          <p:cNvPr id="6" name="Rectángulo 5"/>
          <p:cNvSpPr/>
          <p:nvPr/>
        </p:nvSpPr>
        <p:spPr>
          <a:xfrm>
            <a:off x="2944684" y="3249207"/>
            <a:ext cx="1411292" cy="208688"/>
          </a:xfrm>
          <a:prstGeom prst="rect">
            <a:avLst/>
          </a:prstGeom>
          <a:noFill/>
          <a:ln w="222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8" name="Elipse 7"/>
          <p:cNvSpPr/>
          <p:nvPr/>
        </p:nvSpPr>
        <p:spPr>
          <a:xfrm>
            <a:off x="46025" y="4743834"/>
            <a:ext cx="996625" cy="329557"/>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9" name="Elipse 8"/>
          <p:cNvSpPr/>
          <p:nvPr/>
        </p:nvSpPr>
        <p:spPr>
          <a:xfrm>
            <a:off x="152718" y="2827152"/>
            <a:ext cx="1008487" cy="361503"/>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3" name="10 Rectángulo"/>
          <p:cNvSpPr/>
          <p:nvPr/>
        </p:nvSpPr>
        <p:spPr>
          <a:xfrm>
            <a:off x="6534836" y="1456387"/>
            <a:ext cx="1584176" cy="1356608"/>
          </a:xfrm>
          <a:prstGeom prst="rect">
            <a:avLst/>
          </a:prstGeom>
          <a:solidFill>
            <a:schemeClr val="accent6">
              <a:lumMod val="60000"/>
              <a:lumOff val="40000"/>
            </a:schemeClr>
          </a:solidFill>
          <a:ln w="127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smtClean="0">
                <a:solidFill>
                  <a:schemeClr val="tx1"/>
                </a:solidFill>
                <a:latin typeface="Arial" panose="020B0604020202020204" pitchFamily="34" charset="0"/>
                <a:cs typeface="Arial" panose="020B0604020202020204" pitchFamily="34" charset="0"/>
              </a:rPr>
              <a:t>Budget Approved y Expenses, </a:t>
            </a:r>
            <a:r>
              <a:rPr lang="en-US" sz="1000" dirty="0" err="1" smtClean="0">
                <a:solidFill>
                  <a:schemeClr val="tx1"/>
                </a:solidFill>
                <a:latin typeface="Arial" panose="020B0604020202020204" pitchFamily="34" charset="0"/>
                <a:cs typeface="Arial" panose="020B0604020202020204" pitchFamily="34" charset="0"/>
              </a:rPr>
              <a:t>visualizan</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por</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grupo</a:t>
            </a:r>
            <a:r>
              <a:rPr lang="en-US" sz="1000" dirty="0" smtClean="0">
                <a:solidFill>
                  <a:schemeClr val="tx1"/>
                </a:solidFill>
                <a:latin typeface="Arial" panose="020B0604020202020204" pitchFamily="34" charset="0"/>
                <a:cs typeface="Arial" panose="020B0604020202020204" pitchFamily="34" charset="0"/>
              </a:rPr>
              <a:t> de </a:t>
            </a:r>
            <a:r>
              <a:rPr lang="en-US" sz="1000" dirty="0" err="1" smtClean="0">
                <a:solidFill>
                  <a:schemeClr val="tx1"/>
                </a:solidFill>
                <a:latin typeface="Arial" panose="020B0604020202020204" pitchFamily="34" charset="0"/>
                <a:cs typeface="Arial" panose="020B0604020202020204" pitchFamily="34" charset="0"/>
              </a:rPr>
              <a:t>coste</a:t>
            </a:r>
            <a:r>
              <a:rPr lang="en-US" sz="1000" dirty="0" smtClean="0">
                <a:solidFill>
                  <a:schemeClr val="tx1"/>
                </a:solidFill>
                <a:latin typeface="Arial" panose="020B0604020202020204" pitchFamily="34" charset="0"/>
                <a:cs typeface="Arial" panose="020B0604020202020204" pitchFamily="34" charset="0"/>
              </a:rPr>
              <a:t> lo </a:t>
            </a:r>
            <a:r>
              <a:rPr lang="en-US" sz="1000" dirty="0" err="1" smtClean="0">
                <a:solidFill>
                  <a:schemeClr val="tx1"/>
                </a:solidFill>
                <a:latin typeface="Arial" panose="020B0604020202020204" pitchFamily="34" charset="0"/>
                <a:cs typeface="Arial" panose="020B0604020202020204" pitchFamily="34" charset="0"/>
              </a:rPr>
              <a:t>establecido</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en</a:t>
            </a:r>
            <a:r>
              <a:rPr lang="en-US" sz="1000" dirty="0" smtClean="0">
                <a:solidFill>
                  <a:schemeClr val="tx1"/>
                </a:solidFill>
                <a:latin typeface="Arial" panose="020B0604020202020204" pitchFamily="34" charset="0"/>
                <a:cs typeface="Arial" panose="020B0604020202020204" pitchFamily="34" charset="0"/>
              </a:rPr>
              <a:t> la ÚLTIMA PLANIFICACIÓN de BONOS, </a:t>
            </a:r>
            <a:r>
              <a:rPr lang="en-US" sz="1000" dirty="0" err="1" smtClean="0">
                <a:solidFill>
                  <a:schemeClr val="tx1"/>
                </a:solidFill>
                <a:latin typeface="Arial" panose="020B0604020202020204" pitchFamily="34" charset="0"/>
                <a:cs typeface="Arial" panose="020B0604020202020204" pitchFamily="34" charset="0"/>
              </a:rPr>
              <a:t>agrupado</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por</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trimestre</a:t>
            </a:r>
            <a:r>
              <a:rPr lang="en-US" sz="1000" dirty="0" smtClean="0">
                <a:solidFill>
                  <a:schemeClr val="tx1"/>
                </a:solidFill>
                <a:latin typeface="Arial" panose="020B0604020202020204" pitchFamily="34" charset="0"/>
                <a:cs typeface="Arial" panose="020B0604020202020204" pitchFamily="34" charset="0"/>
              </a:rPr>
              <a:t>.</a:t>
            </a:r>
          </a:p>
        </p:txBody>
      </p:sp>
      <p:sp>
        <p:nvSpPr>
          <p:cNvPr id="16" name="Elipse 15"/>
          <p:cNvSpPr/>
          <p:nvPr/>
        </p:nvSpPr>
        <p:spPr>
          <a:xfrm>
            <a:off x="73946" y="4005063"/>
            <a:ext cx="753638" cy="255193"/>
          </a:xfrm>
          <a:prstGeom prst="ellipse">
            <a:avLst/>
          </a:prstGeom>
          <a:noFill/>
          <a:ln w="12700">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7" name="10 Rectángulo"/>
          <p:cNvSpPr/>
          <p:nvPr/>
        </p:nvSpPr>
        <p:spPr>
          <a:xfrm>
            <a:off x="5063419" y="5376449"/>
            <a:ext cx="4123627" cy="1411852"/>
          </a:xfrm>
          <a:prstGeom prst="rect">
            <a:avLst/>
          </a:prstGeom>
          <a:solidFill>
            <a:schemeClr val="bg1"/>
          </a:solidFill>
          <a:ln w="15875">
            <a:solidFill>
              <a:srgbClr val="0000FF"/>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err="1">
                <a:solidFill>
                  <a:schemeClr val="tx1"/>
                </a:solidFill>
                <a:latin typeface="Arial" panose="020B0604020202020204" pitchFamily="34" charset="0"/>
                <a:cs typeface="Arial" panose="020B0604020202020204" pitchFamily="34" charset="0"/>
              </a:rPr>
              <a:t>D</a:t>
            </a:r>
            <a:r>
              <a:rPr lang="en-US" sz="1000" dirty="0" err="1" smtClean="0">
                <a:solidFill>
                  <a:schemeClr val="tx1"/>
                </a:solidFill>
                <a:latin typeface="Arial" panose="020B0604020202020204" pitchFamily="34" charset="0"/>
                <a:cs typeface="Arial" panose="020B0604020202020204" pitchFamily="34" charset="0"/>
              </a:rPr>
              <a:t>entro</a:t>
            </a:r>
            <a:r>
              <a:rPr lang="en-US" sz="1000" dirty="0" smtClean="0">
                <a:solidFill>
                  <a:schemeClr val="tx1"/>
                </a:solidFill>
                <a:latin typeface="Arial" panose="020B0604020202020204" pitchFamily="34" charset="0"/>
                <a:cs typeface="Arial" panose="020B0604020202020204" pitchFamily="34" charset="0"/>
              </a:rPr>
              <a:t> del </a:t>
            </a:r>
            <a:r>
              <a:rPr lang="en-US" sz="1000" dirty="0" err="1" smtClean="0">
                <a:solidFill>
                  <a:schemeClr val="tx1"/>
                </a:solidFill>
                <a:latin typeface="Arial" panose="020B0604020202020204" pitchFamily="34" charset="0"/>
                <a:cs typeface="Arial" panose="020B0604020202020204" pitchFamily="34" charset="0"/>
              </a:rPr>
              <a:t>grupo</a:t>
            </a:r>
            <a:r>
              <a:rPr lang="en-US" sz="1000" dirty="0" smtClean="0">
                <a:solidFill>
                  <a:schemeClr val="tx1"/>
                </a:solidFill>
                <a:latin typeface="Arial" panose="020B0604020202020204" pitchFamily="34" charset="0"/>
                <a:cs typeface="Arial" panose="020B0604020202020204" pitchFamily="34" charset="0"/>
              </a:rPr>
              <a:t> de </a:t>
            </a:r>
            <a:r>
              <a:rPr lang="en-US" sz="1000" dirty="0" err="1" smtClean="0">
                <a:solidFill>
                  <a:schemeClr val="tx1"/>
                </a:solidFill>
                <a:latin typeface="Arial" panose="020B0604020202020204" pitchFamily="34" charset="0"/>
                <a:cs typeface="Arial" panose="020B0604020202020204" pitchFamily="34" charset="0"/>
              </a:rPr>
              <a:t>coste</a:t>
            </a:r>
            <a:r>
              <a:rPr lang="en-US" sz="1000" dirty="0" smtClean="0">
                <a:solidFill>
                  <a:schemeClr val="tx1"/>
                </a:solidFill>
                <a:latin typeface="Arial" panose="020B0604020202020204" pitchFamily="34" charset="0"/>
                <a:cs typeface="Arial" panose="020B0604020202020204" pitchFamily="34" charset="0"/>
              </a:rPr>
              <a:t> OTHERS hay un </a:t>
            </a:r>
            <a:r>
              <a:rPr lang="en-US" sz="1000" dirty="0" err="1" smtClean="0">
                <a:solidFill>
                  <a:schemeClr val="tx1"/>
                </a:solidFill>
                <a:latin typeface="Arial" panose="020B0604020202020204" pitchFamily="34" charset="0"/>
                <a:cs typeface="Arial" panose="020B0604020202020204" pitchFamily="34" charset="0"/>
              </a:rPr>
              <a:t>paso</a:t>
            </a:r>
            <a:r>
              <a:rPr lang="en-US" sz="1000" dirty="0" smtClean="0">
                <a:solidFill>
                  <a:schemeClr val="tx1"/>
                </a:solidFill>
                <a:latin typeface="Arial" panose="020B0604020202020204" pitchFamily="34" charset="0"/>
                <a:cs typeface="Arial" panose="020B0604020202020204" pitchFamily="34" charset="0"/>
              </a:rPr>
              <a:t> para el que </a:t>
            </a:r>
            <a:r>
              <a:rPr lang="en-US" sz="1000" b="1" dirty="0" smtClean="0">
                <a:solidFill>
                  <a:schemeClr val="tx1"/>
                </a:solidFill>
                <a:latin typeface="Arial" panose="020B0604020202020204" pitchFamily="34" charset="0"/>
                <a:cs typeface="Arial" panose="020B0604020202020204" pitchFamily="34" charset="0"/>
              </a:rPr>
              <a:t>NO</a:t>
            </a:r>
            <a:r>
              <a:rPr lang="en-US" sz="1000" dirty="0" smtClean="0">
                <a:solidFill>
                  <a:schemeClr val="tx1"/>
                </a:solidFill>
                <a:latin typeface="Arial" panose="020B0604020202020204" pitchFamily="34" charset="0"/>
                <a:cs typeface="Arial" panose="020B0604020202020204" pitchFamily="34" charset="0"/>
              </a:rPr>
              <a:t> se </a:t>
            </a:r>
            <a:r>
              <a:rPr lang="en-US" sz="1000" dirty="0" err="1" smtClean="0">
                <a:solidFill>
                  <a:schemeClr val="tx1"/>
                </a:solidFill>
                <a:latin typeface="Arial" panose="020B0604020202020204" pitchFamily="34" charset="0"/>
                <a:cs typeface="Arial" panose="020B0604020202020204" pitchFamily="34" charset="0"/>
              </a:rPr>
              <a:t>solicita</a:t>
            </a:r>
            <a:r>
              <a:rPr lang="en-US" sz="1000" dirty="0" smtClean="0">
                <a:solidFill>
                  <a:schemeClr val="tx1"/>
                </a:solidFill>
                <a:latin typeface="Arial" panose="020B0604020202020204" pitchFamily="34" charset="0"/>
                <a:cs typeface="Arial" panose="020B0604020202020204" pitchFamily="34" charset="0"/>
              </a:rPr>
              <a:t> budget, “HR-MR WITHOUT GROUP”. El </a:t>
            </a:r>
            <a:r>
              <a:rPr lang="en-US" sz="1000" dirty="0" err="1" smtClean="0">
                <a:solidFill>
                  <a:schemeClr val="tx1"/>
                </a:solidFill>
                <a:latin typeface="Arial" panose="020B0604020202020204" pitchFamily="34" charset="0"/>
                <a:cs typeface="Arial" panose="020B0604020202020204" pitchFamily="34" charset="0"/>
              </a:rPr>
              <a:t>paso</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necesario</a:t>
            </a:r>
            <a:r>
              <a:rPr lang="en-US" sz="1000" dirty="0" smtClean="0">
                <a:solidFill>
                  <a:schemeClr val="tx1"/>
                </a:solidFill>
                <a:latin typeface="Arial" panose="020B0604020202020204" pitchFamily="34" charset="0"/>
                <a:cs typeface="Arial" panose="020B0604020202020204" pitchFamily="34" charset="0"/>
              </a:rPr>
              <a:t> para </a:t>
            </a:r>
            <a:r>
              <a:rPr lang="en-US" sz="1000" dirty="0" err="1" smtClean="0">
                <a:solidFill>
                  <a:schemeClr val="tx1"/>
                </a:solidFill>
                <a:latin typeface="Arial" panose="020B0604020202020204" pitchFamily="34" charset="0"/>
                <a:cs typeface="Arial" panose="020B0604020202020204" pitchFamily="34" charset="0"/>
              </a:rPr>
              <a:t>poder</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hacer</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seguimiento</a:t>
            </a:r>
            <a:r>
              <a:rPr lang="en-US" sz="1000" dirty="0" smtClean="0">
                <a:solidFill>
                  <a:schemeClr val="tx1"/>
                </a:solidFill>
                <a:latin typeface="Arial" panose="020B0604020202020204" pitchFamily="34" charset="0"/>
                <a:cs typeface="Arial" panose="020B0604020202020204" pitchFamily="34" charset="0"/>
              </a:rPr>
              <a:t> del </a:t>
            </a:r>
            <a:r>
              <a:rPr lang="en-US" sz="1000" dirty="0" err="1" smtClean="0">
                <a:solidFill>
                  <a:schemeClr val="tx1"/>
                </a:solidFill>
                <a:latin typeface="Arial" panose="020B0604020202020204" pitchFamily="34" charset="0"/>
                <a:cs typeface="Arial" panose="020B0604020202020204" pitchFamily="34" charset="0"/>
              </a:rPr>
              <a:t>coste</a:t>
            </a:r>
            <a:r>
              <a:rPr lang="en-US" sz="1000" dirty="0" smtClean="0">
                <a:solidFill>
                  <a:schemeClr val="tx1"/>
                </a:solidFill>
                <a:latin typeface="Arial" panose="020B0604020202020204" pitchFamily="34" charset="0"/>
                <a:cs typeface="Arial" panose="020B0604020202020204" pitchFamily="34" charset="0"/>
              </a:rPr>
              <a:t> real a </a:t>
            </a:r>
            <a:r>
              <a:rPr lang="en-US" sz="1000" dirty="0" err="1" smtClean="0">
                <a:solidFill>
                  <a:schemeClr val="tx1"/>
                </a:solidFill>
                <a:latin typeface="Arial" panose="020B0604020202020204" pitchFamily="34" charset="0"/>
                <a:cs typeface="Arial" panose="020B0604020202020204" pitchFamily="34" charset="0"/>
              </a:rPr>
              <a:t>través</a:t>
            </a:r>
            <a:r>
              <a:rPr lang="en-US" sz="1000" dirty="0" smtClean="0">
                <a:solidFill>
                  <a:schemeClr val="tx1"/>
                </a:solidFill>
                <a:latin typeface="Arial" panose="020B0604020202020204" pitchFamily="34" charset="0"/>
                <a:cs typeface="Arial" panose="020B0604020202020204" pitchFamily="34" charset="0"/>
              </a:rPr>
              <a:t> del </a:t>
            </a:r>
            <a:r>
              <a:rPr lang="en-US" sz="1000" dirty="0" err="1" smtClean="0">
                <a:solidFill>
                  <a:schemeClr val="tx1"/>
                </a:solidFill>
                <a:latin typeface="Arial" panose="020B0604020202020204" pitchFamily="34" charset="0"/>
                <a:cs typeface="Arial" panose="020B0604020202020204" pitchFamily="34" charset="0"/>
              </a:rPr>
              <a:t>informe</a:t>
            </a:r>
            <a:r>
              <a:rPr lang="en-US" sz="1000" dirty="0" smtClean="0">
                <a:solidFill>
                  <a:schemeClr val="tx1"/>
                </a:solidFill>
                <a:latin typeface="Arial" panose="020B0604020202020204" pitchFamily="34" charset="0"/>
                <a:cs typeface="Arial" panose="020B0604020202020204" pitchFamily="34" charset="0"/>
              </a:rPr>
              <a:t> CC report, </a:t>
            </a:r>
            <a:r>
              <a:rPr lang="en-US" sz="1000" dirty="0" err="1" smtClean="0">
                <a:solidFill>
                  <a:schemeClr val="tx1"/>
                </a:solidFill>
                <a:latin typeface="Arial" panose="020B0604020202020204" pitchFamily="34" charset="0"/>
                <a:cs typeface="Arial" panose="020B0604020202020204" pitchFamily="34" charset="0"/>
              </a:rPr>
              <a:t>ya</a:t>
            </a:r>
            <a:r>
              <a:rPr lang="en-US" sz="1000" dirty="0" smtClean="0">
                <a:solidFill>
                  <a:schemeClr val="tx1"/>
                </a:solidFill>
                <a:latin typeface="Arial" panose="020B0604020202020204" pitchFamily="34" charset="0"/>
                <a:cs typeface="Arial" panose="020B0604020202020204" pitchFamily="34" charset="0"/>
              </a:rPr>
              <a:t> que hay </a:t>
            </a:r>
            <a:r>
              <a:rPr lang="en-US" sz="1000" dirty="0" err="1" smtClean="0">
                <a:solidFill>
                  <a:schemeClr val="tx1"/>
                </a:solidFill>
                <a:latin typeface="Arial" panose="020B0604020202020204" pitchFamily="34" charset="0"/>
                <a:cs typeface="Arial" panose="020B0604020202020204" pitchFamily="34" charset="0"/>
              </a:rPr>
              <a:t>combinaciones</a:t>
            </a:r>
            <a:r>
              <a:rPr lang="en-US" sz="1000" dirty="0" smtClean="0">
                <a:solidFill>
                  <a:schemeClr val="tx1"/>
                </a:solidFill>
                <a:latin typeface="Arial" panose="020B0604020202020204" pitchFamily="34" charset="0"/>
                <a:cs typeface="Arial" panose="020B0604020202020204" pitchFamily="34" charset="0"/>
              </a:rPr>
              <a:t> de </a:t>
            </a:r>
            <a:r>
              <a:rPr lang="en-US" sz="1000" dirty="0" err="1" smtClean="0">
                <a:solidFill>
                  <a:schemeClr val="tx1"/>
                </a:solidFill>
                <a:latin typeface="Arial" panose="020B0604020202020204" pitchFamily="34" charset="0"/>
                <a:cs typeface="Arial" panose="020B0604020202020204" pitchFamily="34" charset="0"/>
              </a:rPr>
              <a:t>Actividad</a:t>
            </a:r>
            <a:r>
              <a:rPr lang="en-US" sz="1000" dirty="0" smtClean="0">
                <a:solidFill>
                  <a:schemeClr val="tx1"/>
                </a:solidFill>
                <a:latin typeface="Arial" panose="020B0604020202020204" pitchFamily="34" charset="0"/>
                <a:cs typeface="Arial" panose="020B0604020202020204" pitchFamily="34" charset="0"/>
              </a:rPr>
              <a:t>/</a:t>
            </a:r>
            <a:r>
              <a:rPr lang="en-US" sz="1000" dirty="0" err="1" smtClean="0">
                <a:solidFill>
                  <a:schemeClr val="tx1"/>
                </a:solidFill>
                <a:latin typeface="Arial" panose="020B0604020202020204" pitchFamily="34" charset="0"/>
                <a:cs typeface="Arial" panose="020B0604020202020204" pitchFamily="34" charset="0"/>
              </a:rPr>
              <a:t>Rol</a:t>
            </a:r>
            <a:r>
              <a:rPr lang="en-US" sz="1000" dirty="0" smtClean="0">
                <a:solidFill>
                  <a:schemeClr val="tx1"/>
                </a:solidFill>
                <a:latin typeface="Arial" panose="020B0604020202020204" pitchFamily="34" charset="0"/>
                <a:cs typeface="Arial" panose="020B0604020202020204" pitchFamily="34" charset="0"/>
              </a:rPr>
              <a:t> que no </a:t>
            </a:r>
            <a:r>
              <a:rPr lang="en-US" sz="1000" dirty="0" err="1" smtClean="0">
                <a:solidFill>
                  <a:schemeClr val="tx1"/>
                </a:solidFill>
                <a:latin typeface="Arial" panose="020B0604020202020204" pitchFamily="34" charset="0"/>
                <a:cs typeface="Arial" panose="020B0604020202020204" pitchFamily="34" charset="0"/>
              </a:rPr>
              <a:t>existen</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en</a:t>
            </a:r>
            <a:r>
              <a:rPr lang="en-US" sz="1000" dirty="0" smtClean="0">
                <a:solidFill>
                  <a:schemeClr val="tx1"/>
                </a:solidFill>
                <a:latin typeface="Arial" panose="020B0604020202020204" pitchFamily="34" charset="0"/>
                <a:cs typeface="Arial" panose="020B0604020202020204" pitchFamily="34" charset="0"/>
              </a:rPr>
              <a:t> la </a:t>
            </a:r>
            <a:r>
              <a:rPr lang="en-US" sz="1000" dirty="0" err="1" smtClean="0">
                <a:solidFill>
                  <a:schemeClr val="tx1"/>
                </a:solidFill>
                <a:latin typeface="Arial" panose="020B0604020202020204" pitchFamily="34" charset="0"/>
                <a:cs typeface="Arial" panose="020B0604020202020204" pitchFamily="34" charset="0"/>
              </a:rPr>
              <a:t>planificación</a:t>
            </a:r>
            <a:r>
              <a:rPr lang="en-US" sz="1000" dirty="0" smtClean="0">
                <a:solidFill>
                  <a:schemeClr val="tx1"/>
                </a:solidFill>
                <a:latin typeface="Arial" panose="020B0604020202020204" pitchFamily="34" charset="0"/>
                <a:cs typeface="Arial" panose="020B0604020202020204" pitchFamily="34" charset="0"/>
              </a:rPr>
              <a:t> y </a:t>
            </a:r>
            <a:r>
              <a:rPr lang="en-US" sz="1000" dirty="0" err="1" smtClean="0">
                <a:solidFill>
                  <a:schemeClr val="tx1"/>
                </a:solidFill>
                <a:latin typeface="Arial" panose="020B0604020202020204" pitchFamily="34" charset="0"/>
                <a:cs typeface="Arial" panose="020B0604020202020204" pitchFamily="34" charset="0"/>
              </a:rPr>
              <a:t>cuando</a:t>
            </a:r>
            <a:r>
              <a:rPr lang="en-US" sz="1000" dirty="0" smtClean="0">
                <a:solidFill>
                  <a:schemeClr val="tx1"/>
                </a:solidFill>
                <a:latin typeface="Arial" panose="020B0604020202020204" pitchFamily="34" charset="0"/>
                <a:cs typeface="Arial" panose="020B0604020202020204" pitchFamily="34" charset="0"/>
              </a:rPr>
              <a:t> el </a:t>
            </a:r>
            <a:r>
              <a:rPr lang="en-US" sz="1000" dirty="0" err="1" smtClean="0">
                <a:solidFill>
                  <a:schemeClr val="tx1"/>
                </a:solidFill>
                <a:latin typeface="Arial" panose="020B0604020202020204" pitchFamily="34" charset="0"/>
                <a:cs typeface="Arial" panose="020B0604020202020204" pitchFamily="34" charset="0"/>
              </a:rPr>
              <a:t>equipo</a:t>
            </a:r>
            <a:r>
              <a:rPr lang="en-US" sz="1000" dirty="0" smtClean="0">
                <a:solidFill>
                  <a:schemeClr val="tx1"/>
                </a:solidFill>
                <a:latin typeface="Arial" panose="020B0604020202020204" pitchFamily="34" charset="0"/>
                <a:cs typeface="Arial" panose="020B0604020202020204" pitchFamily="34" charset="0"/>
              </a:rPr>
              <a:t> mete </a:t>
            </a:r>
            <a:r>
              <a:rPr lang="en-US" sz="1000" dirty="0" err="1" smtClean="0">
                <a:solidFill>
                  <a:schemeClr val="tx1"/>
                </a:solidFill>
                <a:latin typeface="Arial" panose="020B0604020202020204" pitchFamily="34" charset="0"/>
                <a:cs typeface="Arial" panose="020B0604020202020204" pitchFamily="34" charset="0"/>
              </a:rPr>
              <a:t>bonos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quedan</a:t>
            </a:r>
            <a:r>
              <a:rPr lang="en-US" sz="1000" dirty="0" smtClean="0">
                <a:solidFill>
                  <a:schemeClr val="tx1"/>
                </a:solidFill>
                <a:latin typeface="Arial" panose="020B0604020202020204" pitchFamily="34" charset="0"/>
                <a:cs typeface="Arial" panose="020B0604020202020204" pitchFamily="34" charset="0"/>
              </a:rPr>
              <a:t> “sin </a:t>
            </a:r>
            <a:r>
              <a:rPr lang="en-US" sz="1000" dirty="0" err="1" smtClean="0">
                <a:solidFill>
                  <a:schemeClr val="tx1"/>
                </a:solidFill>
                <a:latin typeface="Arial" panose="020B0604020202020204" pitchFamily="34" charset="0"/>
                <a:cs typeface="Arial" panose="020B0604020202020204" pitchFamily="34" charset="0"/>
              </a:rPr>
              <a:t>grupo</a:t>
            </a:r>
            <a:r>
              <a:rPr lang="en-US" sz="1000" dirty="0" smtClean="0">
                <a:solidFill>
                  <a:schemeClr val="tx1"/>
                </a:solidFill>
                <a:latin typeface="Arial" panose="020B0604020202020204" pitchFamily="34" charset="0"/>
                <a:cs typeface="Arial" panose="020B0604020202020204" pitchFamily="34" charset="0"/>
              </a:rPr>
              <a:t>”.</a:t>
            </a:r>
          </a:p>
          <a:p>
            <a:endParaRPr lang="en-US" sz="1000" dirty="0">
              <a:solidFill>
                <a:schemeClr val="tx1"/>
              </a:solidFill>
              <a:latin typeface="Arial" panose="020B0604020202020204" pitchFamily="34" charset="0"/>
              <a:cs typeface="Arial" panose="020B0604020202020204" pitchFamily="34" charset="0"/>
            </a:endParaRPr>
          </a:p>
          <a:p>
            <a:r>
              <a:rPr lang="en-US" sz="1000" dirty="0" smtClean="0">
                <a:solidFill>
                  <a:schemeClr val="tx1"/>
                </a:solidFill>
                <a:latin typeface="Arial" panose="020B0604020202020204" pitchFamily="34" charset="0"/>
                <a:cs typeface="Arial" panose="020B0604020202020204" pitchFamily="34" charset="0"/>
              </a:rPr>
              <a:t>El JP </a:t>
            </a:r>
            <a:r>
              <a:rPr lang="en-US" sz="1000" dirty="0" err="1" smtClean="0">
                <a:solidFill>
                  <a:schemeClr val="tx1"/>
                </a:solidFill>
                <a:latin typeface="Arial" panose="020B0604020202020204" pitchFamily="34" charset="0"/>
                <a:cs typeface="Arial" panose="020B0604020202020204" pitchFamily="34" charset="0"/>
              </a:rPr>
              <a:t>debería</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actualizar</a:t>
            </a:r>
            <a:r>
              <a:rPr lang="en-US" sz="1000" dirty="0" smtClean="0">
                <a:solidFill>
                  <a:schemeClr val="tx1"/>
                </a:solidFill>
                <a:latin typeface="Arial" panose="020B0604020202020204" pitchFamily="34" charset="0"/>
                <a:cs typeface="Arial" panose="020B0604020202020204" pitchFamily="34" charset="0"/>
              </a:rPr>
              <a:t> la </a:t>
            </a:r>
            <a:r>
              <a:rPr lang="en-US" sz="1000" dirty="0" err="1" smtClean="0">
                <a:solidFill>
                  <a:schemeClr val="tx1"/>
                </a:solidFill>
                <a:latin typeface="Arial" panose="020B0604020202020204" pitchFamily="34" charset="0"/>
                <a:cs typeface="Arial" panose="020B0604020202020204" pitchFamily="34" charset="0"/>
              </a:rPr>
              <a:t>planificación</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ordenando</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estas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líneas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dentro</a:t>
            </a:r>
            <a:r>
              <a:rPr lang="en-US" sz="1000" dirty="0" smtClean="0">
                <a:solidFill>
                  <a:schemeClr val="tx1"/>
                </a:solidFill>
                <a:latin typeface="Arial" panose="020B0604020202020204" pitchFamily="34" charset="0"/>
                <a:cs typeface="Arial" panose="020B0604020202020204" pitchFamily="34" charset="0"/>
              </a:rPr>
              <a:t> de </a:t>
            </a:r>
            <a:r>
              <a:rPr lang="en-US" sz="1000" dirty="0" err="1" smtClean="0">
                <a:solidFill>
                  <a:schemeClr val="tx1"/>
                </a:solidFill>
                <a:latin typeface="Arial" panose="020B0604020202020204" pitchFamily="34" charset="0"/>
                <a:cs typeface="Arial" panose="020B0604020202020204" pitchFamily="34" charset="0"/>
              </a:rPr>
              <a:t>los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grupos</a:t>
            </a:r>
            <a:r>
              <a:rPr lang="en-US" sz="1000" dirty="0" smtClean="0">
                <a:solidFill>
                  <a:schemeClr val="tx1"/>
                </a:solidFill>
                <a:latin typeface="Arial" panose="020B0604020202020204" pitchFamily="34" charset="0"/>
                <a:cs typeface="Arial" panose="020B0604020202020204" pitchFamily="34" charset="0"/>
              </a:rPr>
              <a:t> de </a:t>
            </a:r>
            <a:r>
              <a:rPr lang="en-US" sz="1000" dirty="0" err="1" smtClean="0">
                <a:solidFill>
                  <a:schemeClr val="tx1"/>
                </a:solidFill>
                <a:latin typeface="Arial" panose="020B0604020202020204" pitchFamily="34" charset="0"/>
                <a:cs typeface="Arial" panose="020B0604020202020204" pitchFamily="34" charset="0"/>
              </a:rPr>
              <a:t>coste</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existentes</a:t>
            </a:r>
            <a:r>
              <a:rPr lang="en-US" sz="1000" dirty="0" smtClean="0">
                <a:solidFill>
                  <a:schemeClr val="tx1"/>
                </a:solidFill>
                <a:latin typeface="Arial" panose="020B0604020202020204" pitchFamily="34" charset="0"/>
                <a:cs typeface="Arial" panose="020B0604020202020204" pitchFamily="34" charset="0"/>
              </a:rPr>
              <a:t>.</a:t>
            </a:r>
          </a:p>
          <a:p>
            <a:endParaRPr lang="en-US" sz="1000" dirty="0">
              <a:solidFill>
                <a:schemeClr val="tx1"/>
              </a:solidFill>
              <a:latin typeface="Arial" panose="020B0604020202020204" pitchFamily="34" charset="0"/>
              <a:cs typeface="Arial" panose="020B0604020202020204" pitchFamily="34" charset="0"/>
            </a:endParaRPr>
          </a:p>
          <a:p>
            <a:endParaRPr lang="en-US" sz="1000" dirty="0" smtClean="0">
              <a:solidFill>
                <a:schemeClr val="tx1"/>
              </a:solidFill>
              <a:latin typeface="Arial" panose="020B0604020202020204" pitchFamily="34" charset="0"/>
              <a:cs typeface="Arial" panose="020B0604020202020204" pitchFamily="34" charset="0"/>
            </a:endParaRPr>
          </a:p>
          <a:p>
            <a:endParaRPr lang="en-US" sz="1000" dirty="0">
              <a:solidFill>
                <a:schemeClr val="tx1"/>
              </a:solidFill>
              <a:latin typeface="Arial" panose="020B0604020202020204" pitchFamily="34" charset="0"/>
              <a:cs typeface="Arial" panose="020B0604020202020204" pitchFamily="34" charset="0"/>
            </a:endParaRPr>
          </a:p>
        </p:txBody>
      </p:sp>
      <p:sp>
        <p:nvSpPr>
          <p:cNvPr id="24" name="Rectángulo redondeado 23"/>
          <p:cNvSpPr/>
          <p:nvPr/>
        </p:nvSpPr>
        <p:spPr>
          <a:xfrm>
            <a:off x="107504" y="5376449"/>
            <a:ext cx="1368152" cy="432048"/>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APP BONOS</a:t>
            </a:r>
            <a:endParaRPr lang="es-ES" sz="1400" dirty="0" smtClean="0">
              <a:solidFill>
                <a:schemeClr val="tx1"/>
              </a:solidFill>
              <a:latin typeface="Arial" panose="020B0604020202020204" pitchFamily="34" charset="0"/>
              <a:cs typeface="Arial" panose="020B0604020202020204" pitchFamily="34" charset="0"/>
            </a:endParaRPr>
          </a:p>
        </p:txBody>
      </p:sp>
      <p:sp>
        <p:nvSpPr>
          <p:cNvPr id="25" name="Rectángulo redondeado 24"/>
          <p:cNvSpPr/>
          <p:nvPr/>
        </p:nvSpPr>
        <p:spPr>
          <a:xfrm>
            <a:off x="38117" y="1747031"/>
            <a:ext cx="1237691" cy="309796"/>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APP CC</a:t>
            </a:r>
            <a:endParaRPr lang="es-ES" sz="1400" dirty="0" smtClean="0">
              <a:solidFill>
                <a:schemeClr val="tx1"/>
              </a:solidFill>
              <a:latin typeface="Arial" panose="020B0604020202020204" pitchFamily="34" charset="0"/>
              <a:cs typeface="Arial" panose="020B0604020202020204" pitchFamily="34" charset="0"/>
            </a:endParaRPr>
          </a:p>
        </p:txBody>
      </p:sp>
      <p:pic>
        <p:nvPicPr>
          <p:cNvPr id="45" name="Imagen 44"/>
          <p:cNvPicPr>
            <a:picLocks noChangeAspect="1"/>
          </p:cNvPicPr>
          <p:nvPr/>
        </p:nvPicPr>
        <p:blipFill>
          <a:blip r:embed="rId5"/>
          <a:stretch>
            <a:fillRect/>
          </a:stretch>
        </p:blipFill>
        <p:spPr>
          <a:xfrm>
            <a:off x="6304693" y="3794903"/>
            <a:ext cx="1496482" cy="727036"/>
          </a:xfrm>
          <a:prstGeom prst="rect">
            <a:avLst/>
          </a:prstGeom>
          <a:ln w="25400">
            <a:noFill/>
          </a:ln>
          <a:effectLst>
            <a:outerShdw blurRad="50800" dist="50800" dir="5400000" algn="ctr" rotWithShape="0">
              <a:schemeClr val="tx1"/>
            </a:outerShdw>
          </a:effectLst>
        </p:spPr>
      </p:pic>
      <p:cxnSp>
        <p:nvCxnSpPr>
          <p:cNvPr id="50" name="Conector angular 49"/>
          <p:cNvCxnSpPr>
            <a:stCxn id="9" idx="6"/>
            <a:endCxn id="8" idx="6"/>
          </p:cNvCxnSpPr>
          <p:nvPr/>
        </p:nvCxnSpPr>
        <p:spPr>
          <a:xfrm flipH="1">
            <a:off x="1042650" y="3007904"/>
            <a:ext cx="118555" cy="1900709"/>
          </a:xfrm>
          <a:prstGeom prst="bentConnector3">
            <a:avLst>
              <a:gd name="adj1" fmla="val -19282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 name="Rectángulo 9"/>
          <p:cNvSpPr/>
          <p:nvPr/>
        </p:nvSpPr>
        <p:spPr>
          <a:xfrm>
            <a:off x="6409349" y="2952474"/>
            <a:ext cx="1925960" cy="707886"/>
          </a:xfrm>
          <a:prstGeom prst="rect">
            <a:avLst/>
          </a:prstGeom>
          <a:solidFill>
            <a:schemeClr val="accent3">
              <a:lumMod val="60000"/>
              <a:lumOff val="40000"/>
            </a:schemeClr>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a:solidFill>
                  <a:schemeClr val="tx1"/>
                </a:solidFill>
                <a:latin typeface="Arial" panose="020B0604020202020204" pitchFamily="34" charset="0"/>
                <a:cs typeface="Arial" panose="020B0604020202020204" pitchFamily="34" charset="0"/>
              </a:rPr>
              <a:t>El </a:t>
            </a:r>
            <a:r>
              <a:rPr lang="en-US" sz="1000" dirty="0" err="1">
                <a:solidFill>
                  <a:schemeClr val="tx1"/>
                </a:solidFill>
                <a:latin typeface="Arial" panose="020B0604020202020204" pitchFamily="34" charset="0"/>
                <a:cs typeface="Arial" panose="020B0604020202020204" pitchFamily="34" charset="0"/>
              </a:rPr>
              <a:t>solicitante</a:t>
            </a:r>
            <a:r>
              <a:rPr lang="en-US" sz="1000" dirty="0">
                <a:solidFill>
                  <a:schemeClr val="tx1"/>
                </a:solidFill>
                <a:latin typeface="Arial" panose="020B0604020202020204" pitchFamily="34" charset="0"/>
                <a:cs typeface="Arial" panose="020B0604020202020204" pitchFamily="34" charset="0"/>
              </a:rPr>
              <a:t> </a:t>
            </a:r>
            <a:r>
              <a:rPr lang="en-US" sz="1000" dirty="0" err="1">
                <a:solidFill>
                  <a:schemeClr val="tx1"/>
                </a:solidFill>
                <a:latin typeface="Arial" panose="020B0604020202020204" pitchFamily="34" charset="0"/>
                <a:cs typeface="Arial" panose="020B0604020202020204" pitchFamily="34" charset="0"/>
              </a:rPr>
              <a:t>debe</a:t>
            </a:r>
            <a:r>
              <a:rPr lang="en-US" sz="1000" dirty="0">
                <a:solidFill>
                  <a:schemeClr val="tx1"/>
                </a:solidFill>
                <a:latin typeface="Arial" panose="020B0604020202020204" pitchFamily="34" charset="0"/>
                <a:cs typeface="Arial" panose="020B0604020202020204" pitchFamily="34" charset="0"/>
              </a:rPr>
              <a:t> </a:t>
            </a:r>
            <a:r>
              <a:rPr lang="en-US" sz="1000" dirty="0" err="1">
                <a:solidFill>
                  <a:schemeClr val="tx1"/>
                </a:solidFill>
                <a:latin typeface="Arial" panose="020B0604020202020204" pitchFamily="34" charset="0"/>
                <a:cs typeface="Arial" panose="020B0604020202020204" pitchFamily="34" charset="0"/>
              </a:rPr>
              <a:t>rellenar</a:t>
            </a:r>
            <a:r>
              <a:rPr lang="en-US" sz="1000" dirty="0">
                <a:solidFill>
                  <a:schemeClr val="tx1"/>
                </a:solidFill>
                <a:latin typeface="Arial" panose="020B0604020202020204" pitchFamily="34" charset="0"/>
                <a:cs typeface="Arial" panose="020B0604020202020204" pitchFamily="34" charset="0"/>
              </a:rPr>
              <a:t> Incomes </a:t>
            </a:r>
            <a:r>
              <a:rPr lang="en-US" sz="1000" dirty="0" err="1">
                <a:solidFill>
                  <a:schemeClr val="tx1"/>
                </a:solidFill>
                <a:latin typeface="Arial" panose="020B0604020202020204" pitchFamily="34" charset="0"/>
                <a:cs typeface="Arial" panose="020B0604020202020204" pitchFamily="34" charset="0"/>
              </a:rPr>
              <a:t>en</a:t>
            </a:r>
            <a:r>
              <a:rPr lang="en-US" sz="1000" dirty="0">
                <a:solidFill>
                  <a:schemeClr val="tx1"/>
                </a:solidFill>
                <a:latin typeface="Arial" panose="020B0604020202020204" pitchFamily="34" charset="0"/>
                <a:cs typeface="Arial" panose="020B0604020202020204" pitchFamily="34" charset="0"/>
              </a:rPr>
              <a:t> el </a:t>
            </a:r>
            <a:r>
              <a:rPr lang="en-US" sz="1000" dirty="0" err="1">
                <a:solidFill>
                  <a:schemeClr val="tx1"/>
                </a:solidFill>
                <a:latin typeface="Arial" panose="020B0604020202020204" pitchFamily="34" charset="0"/>
                <a:cs typeface="Arial" panose="020B0604020202020204" pitchFamily="34" charset="0"/>
              </a:rPr>
              <a:t>caso</a:t>
            </a:r>
            <a:r>
              <a:rPr lang="en-US" sz="1000" dirty="0">
                <a:solidFill>
                  <a:schemeClr val="tx1"/>
                </a:solidFill>
                <a:latin typeface="Arial" panose="020B0604020202020204" pitchFamily="34" charset="0"/>
                <a:cs typeface="Arial" panose="020B0604020202020204" pitchFamily="34" charset="0"/>
              </a:rPr>
              <a:t> de que el </a:t>
            </a:r>
            <a:r>
              <a:rPr lang="en-US" sz="1000" dirty="0" err="1">
                <a:solidFill>
                  <a:schemeClr val="tx1"/>
                </a:solidFill>
                <a:latin typeface="Arial" panose="020B0604020202020204" pitchFamily="34" charset="0"/>
                <a:cs typeface="Arial" panose="020B0604020202020204" pitchFamily="34" charset="0"/>
              </a:rPr>
              <a:t>cliente</a:t>
            </a:r>
            <a:r>
              <a:rPr lang="en-US" sz="1000" dirty="0">
                <a:solidFill>
                  <a:schemeClr val="tx1"/>
                </a:solidFill>
                <a:latin typeface="Arial" panose="020B0604020202020204" pitchFamily="34" charset="0"/>
                <a:cs typeface="Arial" panose="020B0604020202020204" pitchFamily="34" charset="0"/>
              </a:rPr>
              <a:t> </a:t>
            </a:r>
            <a:r>
              <a:rPr lang="en-US" sz="1000" dirty="0" err="1">
                <a:solidFill>
                  <a:schemeClr val="tx1"/>
                </a:solidFill>
                <a:latin typeface="Arial" panose="020B0604020202020204" pitchFamily="34" charset="0"/>
                <a:cs typeface="Arial" panose="020B0604020202020204" pitchFamily="34" charset="0"/>
              </a:rPr>
              <a:t>pague</a:t>
            </a:r>
            <a:r>
              <a:rPr lang="en-US" sz="1000" dirty="0">
                <a:solidFill>
                  <a:schemeClr val="tx1"/>
                </a:solidFill>
                <a:latin typeface="Arial" panose="020B0604020202020204" pitchFamily="34" charset="0"/>
                <a:cs typeface="Arial" panose="020B0604020202020204" pitchFamily="34" charset="0"/>
              </a:rPr>
              <a:t> </a:t>
            </a:r>
            <a:r>
              <a:rPr lang="en-US" sz="1000" dirty="0" err="1">
                <a:solidFill>
                  <a:schemeClr val="tx1"/>
                </a:solidFill>
                <a:latin typeface="Arial" panose="020B0604020202020204" pitchFamily="34" charset="0"/>
                <a:cs typeface="Arial" panose="020B0604020202020204" pitchFamily="34" charset="0"/>
              </a:rPr>
              <a:t>en</a:t>
            </a:r>
            <a:r>
              <a:rPr lang="en-US" sz="1000" dirty="0">
                <a:solidFill>
                  <a:schemeClr val="tx1"/>
                </a:solidFill>
                <a:latin typeface="Arial" panose="020B0604020202020204" pitchFamily="34" charset="0"/>
                <a:cs typeface="Arial" panose="020B0604020202020204" pitchFamily="34" charset="0"/>
              </a:rPr>
              <a:t> Cash </a:t>
            </a:r>
            <a:r>
              <a:rPr lang="en-US" sz="1000" dirty="0" err="1">
                <a:solidFill>
                  <a:schemeClr val="tx1"/>
                </a:solidFill>
                <a:latin typeface="Arial" panose="020B0604020202020204" pitchFamily="34" charset="0"/>
                <a:cs typeface="Arial" panose="020B0604020202020204" pitchFamily="34" charset="0"/>
              </a:rPr>
              <a:t>por</a:t>
            </a:r>
            <a:r>
              <a:rPr lang="en-US" sz="1000" dirty="0">
                <a:solidFill>
                  <a:schemeClr val="tx1"/>
                </a:solidFill>
                <a:latin typeface="Arial" panose="020B0604020202020204" pitchFamily="34" charset="0"/>
                <a:cs typeface="Arial" panose="020B0604020202020204" pitchFamily="34" charset="0"/>
              </a:rPr>
              <a:t> </a:t>
            </a:r>
            <a:r>
              <a:rPr lang="en-US" sz="1000" dirty="0" err="1">
                <a:solidFill>
                  <a:schemeClr val="tx1"/>
                </a:solidFill>
                <a:latin typeface="Arial" panose="020B0604020202020204" pitchFamily="34" charset="0"/>
                <a:cs typeface="Arial" panose="020B0604020202020204" pitchFamily="34" charset="0"/>
              </a:rPr>
              <a:t>estos</a:t>
            </a:r>
            <a:r>
              <a:rPr lang="en-US" sz="1000" dirty="0">
                <a:solidFill>
                  <a:schemeClr val="tx1"/>
                </a:solidFill>
                <a:latin typeface="Arial" panose="020B0604020202020204" pitchFamily="34" charset="0"/>
                <a:cs typeface="Arial" panose="020B0604020202020204" pitchFamily="34" charset="0"/>
              </a:rPr>
              <a:t> </a:t>
            </a:r>
            <a:r>
              <a:rPr lang="en-US" sz="1000" dirty="0" err="1">
                <a:solidFill>
                  <a:schemeClr val="tx1"/>
                </a:solidFill>
                <a:latin typeface="Arial" panose="020B0604020202020204" pitchFamily="34" charset="0"/>
                <a:cs typeface="Arial" panose="020B0604020202020204" pitchFamily="34" charset="0"/>
              </a:rPr>
              <a:t>conceptos</a:t>
            </a:r>
            <a:endParaRPr lang="en-US" sz="1000" dirty="0">
              <a:solidFill>
                <a:schemeClr val="tx1"/>
              </a:solidFill>
              <a:latin typeface="Arial" panose="020B0604020202020204" pitchFamily="34" charset="0"/>
              <a:cs typeface="Arial" panose="020B0604020202020204" pitchFamily="34" charset="0"/>
            </a:endParaRPr>
          </a:p>
        </p:txBody>
      </p:sp>
      <p:sp>
        <p:nvSpPr>
          <p:cNvPr id="11" name="Rectángulo 10"/>
          <p:cNvSpPr/>
          <p:nvPr/>
        </p:nvSpPr>
        <p:spPr>
          <a:xfrm>
            <a:off x="1415867" y="1316372"/>
            <a:ext cx="3261123" cy="400110"/>
          </a:xfrm>
          <a:prstGeom prst="rect">
            <a:avLst/>
          </a:prstGeom>
          <a:solidFill>
            <a:schemeClr val="accent1">
              <a:lumMod val="40000"/>
              <a:lumOff val="60000"/>
            </a:schemeClr>
          </a:solidFill>
          <a:ln w="28575">
            <a:solidFill>
              <a:srgbClr val="0070C0"/>
            </a:solidFill>
          </a:ln>
        </p:spPr>
        <p:txBody>
          <a:bodyPr wrap="square">
            <a:spAutoFit/>
          </a:bodyPr>
          <a:lstStyle/>
          <a:p>
            <a:pPr lvl="0"/>
            <a:r>
              <a:rPr lang="en-US" sz="1000" dirty="0">
                <a:solidFill>
                  <a:prstClr val="black"/>
                </a:solidFill>
                <a:latin typeface="Arial" panose="020B0604020202020204" pitchFamily="34" charset="0"/>
                <a:cs typeface="Arial" panose="020B0604020202020204" pitchFamily="34" charset="0"/>
              </a:rPr>
              <a:t>La </a:t>
            </a:r>
            <a:r>
              <a:rPr lang="en-US" sz="1000" dirty="0" err="1">
                <a:solidFill>
                  <a:prstClr val="black"/>
                </a:solidFill>
                <a:latin typeface="Arial" panose="020B0604020202020204" pitchFamily="34" charset="0"/>
                <a:cs typeface="Arial" panose="020B0604020202020204" pitchFamily="34" charset="0"/>
              </a:rPr>
              <a:t>columna</a:t>
            </a:r>
            <a:r>
              <a:rPr lang="en-US" sz="1000" dirty="0">
                <a:solidFill>
                  <a:prstClr val="black"/>
                </a:solidFill>
                <a:latin typeface="Arial" panose="020B0604020202020204" pitchFamily="34" charset="0"/>
                <a:cs typeface="Arial" panose="020B0604020202020204" pitchFamily="34" charset="0"/>
              </a:rPr>
              <a:t> Offer Budget </a:t>
            </a:r>
            <a:r>
              <a:rPr lang="en-US" sz="1000" dirty="0" err="1">
                <a:solidFill>
                  <a:prstClr val="black"/>
                </a:solidFill>
                <a:latin typeface="Arial" panose="020B0604020202020204" pitchFamily="34" charset="0"/>
                <a:cs typeface="Arial" panose="020B0604020202020204" pitchFamily="34" charset="0"/>
              </a:rPr>
              <a:t>muestra</a:t>
            </a:r>
            <a:r>
              <a:rPr lang="en-US" sz="1000" dirty="0">
                <a:solidFill>
                  <a:prstClr val="black"/>
                </a:solidFill>
                <a:latin typeface="Arial" panose="020B0604020202020204" pitchFamily="34" charset="0"/>
                <a:cs typeface="Arial" panose="020B0604020202020204" pitchFamily="34" charset="0"/>
              </a:rPr>
              <a:t> lo </a:t>
            </a:r>
            <a:r>
              <a:rPr lang="en-US" sz="1000" dirty="0" err="1">
                <a:solidFill>
                  <a:prstClr val="black"/>
                </a:solidFill>
                <a:latin typeface="Arial" panose="020B0604020202020204" pitchFamily="34" charset="0"/>
                <a:cs typeface="Arial" panose="020B0604020202020204" pitchFamily="34" charset="0"/>
              </a:rPr>
              <a:t>establecido</a:t>
            </a:r>
            <a:r>
              <a:rPr lang="en-US" sz="1000" dirty="0">
                <a:solidFill>
                  <a:prstClr val="black"/>
                </a:solidFill>
                <a:latin typeface="Arial" panose="020B0604020202020204" pitchFamily="34" charset="0"/>
                <a:cs typeface="Arial" panose="020B0604020202020204" pitchFamily="34" charset="0"/>
              </a:rPr>
              <a:t> </a:t>
            </a:r>
            <a:r>
              <a:rPr lang="en-US" sz="1000" dirty="0" err="1">
                <a:solidFill>
                  <a:prstClr val="black"/>
                </a:solidFill>
                <a:latin typeface="Arial" panose="020B0604020202020204" pitchFamily="34" charset="0"/>
                <a:cs typeface="Arial" panose="020B0604020202020204" pitchFamily="34" charset="0"/>
              </a:rPr>
              <a:t>en</a:t>
            </a:r>
            <a:r>
              <a:rPr lang="en-US" sz="1000" dirty="0">
                <a:solidFill>
                  <a:prstClr val="black"/>
                </a:solidFill>
                <a:latin typeface="Arial" panose="020B0604020202020204" pitchFamily="34" charset="0"/>
                <a:cs typeface="Arial" panose="020B0604020202020204" pitchFamily="34" charset="0"/>
              </a:rPr>
              <a:t> el PRESUPUESTO de BONOS</a:t>
            </a:r>
          </a:p>
        </p:txBody>
      </p:sp>
      <p:sp>
        <p:nvSpPr>
          <p:cNvPr id="12" name="Rectángulo redondeado 11"/>
          <p:cNvSpPr/>
          <p:nvPr/>
        </p:nvSpPr>
        <p:spPr>
          <a:xfrm>
            <a:off x="1835113" y="3188655"/>
            <a:ext cx="432048" cy="320373"/>
          </a:xfrm>
          <a:prstGeom prst="round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15" name="Conector recto de flecha 14"/>
          <p:cNvCxnSpPr/>
          <p:nvPr/>
        </p:nvCxnSpPr>
        <p:spPr>
          <a:xfrm flipV="1">
            <a:off x="1979712" y="1714960"/>
            <a:ext cx="10780" cy="147369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21" name="Conector angular 20"/>
          <p:cNvCxnSpPr>
            <a:stCxn id="6" idx="0"/>
            <a:endCxn id="13" idx="1"/>
          </p:cNvCxnSpPr>
          <p:nvPr/>
        </p:nvCxnSpPr>
        <p:spPr>
          <a:xfrm rot="5400000" flipH="1" flipV="1">
            <a:off x="4535325" y="1249696"/>
            <a:ext cx="1114516" cy="2884506"/>
          </a:xfrm>
          <a:prstGeom prst="bentConnector2">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2" name="Rectángulo redondeado 21"/>
          <p:cNvSpPr/>
          <p:nvPr/>
        </p:nvSpPr>
        <p:spPr>
          <a:xfrm>
            <a:off x="5054752" y="3249207"/>
            <a:ext cx="453352" cy="259821"/>
          </a:xfrm>
          <a:prstGeom prst="round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26" name="Conector recto de flecha 25"/>
          <p:cNvCxnSpPr>
            <a:stCxn id="22" idx="3"/>
            <a:endCxn id="10" idx="1"/>
          </p:cNvCxnSpPr>
          <p:nvPr/>
        </p:nvCxnSpPr>
        <p:spPr>
          <a:xfrm flipV="1">
            <a:off x="5508104" y="3306417"/>
            <a:ext cx="901245" cy="72701"/>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9" name="Rectángulo 28"/>
          <p:cNvSpPr/>
          <p:nvPr/>
        </p:nvSpPr>
        <p:spPr>
          <a:xfrm>
            <a:off x="2961076" y="4776960"/>
            <a:ext cx="2405440" cy="208688"/>
          </a:xfrm>
          <a:prstGeom prst="rect">
            <a:avLst/>
          </a:prstGeom>
          <a:noFill/>
          <a:ln w="222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28" name="Conector recto de flecha 27"/>
          <p:cNvCxnSpPr/>
          <p:nvPr/>
        </p:nvCxnSpPr>
        <p:spPr>
          <a:xfrm flipV="1">
            <a:off x="3851920" y="3457895"/>
            <a:ext cx="0" cy="1319065"/>
          </a:xfrm>
          <a:prstGeom prst="straightConnector1">
            <a:avLst/>
          </a:prstGeom>
          <a:ln w="28575">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3" name="Conector angular 32"/>
          <p:cNvCxnSpPr>
            <a:stCxn id="16" idx="6"/>
            <a:endCxn id="45" idx="1"/>
          </p:cNvCxnSpPr>
          <p:nvPr/>
        </p:nvCxnSpPr>
        <p:spPr>
          <a:xfrm>
            <a:off x="827584" y="4132660"/>
            <a:ext cx="5477109" cy="25761"/>
          </a:xfrm>
          <a:prstGeom prst="bentConnector3">
            <a:avLst/>
          </a:prstGeom>
          <a:ln w="1270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35" name="Conector recto de flecha 34"/>
          <p:cNvCxnSpPr>
            <a:stCxn id="45" idx="2"/>
            <a:endCxn id="17" idx="0"/>
          </p:cNvCxnSpPr>
          <p:nvPr/>
        </p:nvCxnSpPr>
        <p:spPr>
          <a:xfrm>
            <a:off x="7052934" y="4521939"/>
            <a:ext cx="72299" cy="854510"/>
          </a:xfrm>
          <a:prstGeom prst="straightConnector1">
            <a:avLst/>
          </a:prstGeom>
          <a:ln w="12700">
            <a:solidFill>
              <a:srgbClr val="0000FF"/>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77068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11</a:t>
            </a:fld>
            <a:endParaRPr lang="es-ES" dirty="0"/>
          </a:p>
        </p:txBody>
      </p:sp>
      <p:sp>
        <p:nvSpPr>
          <p:cNvPr id="7" name="6 CuadroTexto"/>
          <p:cNvSpPr txBox="1"/>
          <p:nvPr/>
        </p:nvSpPr>
        <p:spPr>
          <a:xfrm>
            <a:off x="267321" y="980728"/>
            <a:ext cx="7112992" cy="369332"/>
          </a:xfrm>
          <a:prstGeom prst="rect">
            <a:avLst/>
          </a:prstGeom>
          <a:noFill/>
        </p:spPr>
        <p:txBody>
          <a:bodyPr wrap="square" rtlCol="0">
            <a:spAutoFit/>
          </a:bodyPr>
          <a:lstStyle/>
          <a:p>
            <a:r>
              <a:rPr lang="es-ES" b="1" dirty="0">
                <a:solidFill>
                  <a:srgbClr val="254061"/>
                </a:solidFill>
              </a:rPr>
              <a:t>CREAR NUEVOS </a:t>
            </a:r>
            <a:r>
              <a:rPr lang="es-ES" b="1" dirty="0" smtClean="0">
                <a:solidFill>
                  <a:srgbClr val="254061"/>
                </a:solidFill>
              </a:rPr>
              <a:t>PASOS</a:t>
            </a:r>
            <a:r>
              <a:rPr lang="es-ES" b="1" dirty="0" smtClean="0">
                <a:solidFill>
                  <a:srgbClr val="254061"/>
                </a:solidFill>
                <a:sym typeface="Wingdings" panose="05000000000000000000" pitchFamily="2" charset="2"/>
              </a:rPr>
              <a:t>2. </a:t>
            </a:r>
            <a:r>
              <a:rPr lang="es-ES" b="1" dirty="0" smtClean="0">
                <a:solidFill>
                  <a:srgbClr val="254061"/>
                </a:solidFill>
              </a:rPr>
              <a:t>TIPO A2: OFERTA TÉCNICA-BUDGED I</a:t>
            </a:r>
            <a:endParaRPr lang="en-US" b="1" dirty="0">
              <a:solidFill>
                <a:srgbClr val="254061"/>
              </a:solidFill>
            </a:endParaRPr>
          </a:p>
        </p:txBody>
      </p:sp>
      <p:sp>
        <p:nvSpPr>
          <p:cNvPr id="8" name="7 Rectángulo"/>
          <p:cNvSpPr/>
          <p:nvPr/>
        </p:nvSpPr>
        <p:spPr>
          <a:xfrm>
            <a:off x="179512" y="1556792"/>
            <a:ext cx="8964488" cy="5256584"/>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a:solidFill>
                  <a:schemeClr val="tx1"/>
                </a:solidFill>
                <a:latin typeface="Arial" panose="020B0604020202020204" pitchFamily="34" charset="0"/>
                <a:cs typeface="Arial" panose="020B0604020202020204" pitchFamily="34" charset="0"/>
              </a:rPr>
              <a:t>El tipo del paso se reconoce por su </a:t>
            </a:r>
            <a:r>
              <a:rPr lang="es-ES" sz="1000" dirty="0" smtClean="0">
                <a:solidFill>
                  <a:schemeClr val="tx1"/>
                </a:solidFill>
                <a:latin typeface="Arial" panose="020B0604020202020204" pitchFamily="34" charset="0"/>
                <a:cs typeface="Arial" panose="020B0604020202020204" pitchFamily="34" charset="0"/>
              </a:rPr>
              <a:t>color</a:t>
            </a:r>
            <a:endParaRPr lang="es-ES" sz="1000" dirty="0" smtClean="0">
              <a:solidFill>
                <a:srgbClr val="0000FF"/>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s-ES" sz="1200" b="1" dirty="0" smtClean="0">
                <a:solidFill>
                  <a:schemeClr val="tx1"/>
                </a:solidFill>
                <a:latin typeface="Arial" panose="020B0604020202020204" pitchFamily="34" charset="0"/>
                <a:cs typeface="Arial" panose="020B0604020202020204" pitchFamily="34" charset="0"/>
              </a:rPr>
              <a:t>A</a:t>
            </a:r>
            <a:r>
              <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rPr>
              <a:t></a:t>
            </a:r>
            <a:r>
              <a:rPr lang="es-ES" sz="1000" b="1" dirty="0">
                <a:solidFill>
                  <a:schemeClr val="tx1"/>
                </a:solidFill>
                <a:latin typeface="Arial" panose="020B0604020202020204" pitchFamily="34" charset="0"/>
                <a:cs typeface="Arial" panose="020B0604020202020204" pitchFamily="34" charset="0"/>
              </a:rPr>
              <a:t> NEGRO</a:t>
            </a:r>
            <a:r>
              <a:rPr lang="es-ES" sz="1000" dirty="0">
                <a:solidFill>
                  <a:schemeClr val="tx1"/>
                </a:solidFill>
                <a:latin typeface="Arial" panose="020B0604020202020204" pitchFamily="34" charset="0"/>
                <a:cs typeface="Arial" panose="020B0604020202020204" pitchFamily="34" charset="0"/>
              </a:rPr>
              <a:t>: El paso se ha creado AUTOMÁTICAMENTE, el origen está EN OTRA APLICACIÓN.</a:t>
            </a:r>
          </a:p>
          <a:p>
            <a:endParaRPr lang="es-ES" sz="1000" dirty="0" smtClean="0">
              <a:solidFill>
                <a:schemeClr val="tx1"/>
              </a:solidFill>
              <a:latin typeface="Arial" panose="020B0604020202020204" pitchFamily="34" charset="0"/>
              <a:cs typeface="Arial" panose="020B0604020202020204" pitchFamily="34" charset="0"/>
            </a:endParaRPr>
          </a:p>
          <a:p>
            <a:pPr marL="685800" lvl="1" indent="-228600">
              <a:buFont typeface="+mj-lt"/>
              <a:buAutoNum type="arabicPeriod" startAt="2"/>
            </a:pPr>
            <a:r>
              <a:rPr lang="es-ES" sz="1200" b="1" dirty="0" smtClean="0">
                <a:solidFill>
                  <a:schemeClr val="tx1"/>
                </a:solidFill>
                <a:latin typeface="Arial" panose="020B0604020202020204" pitchFamily="34" charset="0"/>
                <a:cs typeface="Arial" panose="020B0604020202020204" pitchFamily="34" charset="0"/>
              </a:rPr>
              <a:t>TIPO A2</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smtClean="0">
                <a:solidFill>
                  <a:schemeClr val="tx1"/>
                </a:solidFill>
                <a:latin typeface="Arial" panose="020B0604020202020204" pitchFamily="34" charset="0"/>
                <a:cs typeface="Arial" panose="020B0604020202020204" pitchFamily="34" charset="0"/>
              </a:rPr>
              <a:t>Los </a:t>
            </a:r>
            <a:r>
              <a:rPr lang="es-ES" sz="1000" dirty="0">
                <a:solidFill>
                  <a:schemeClr val="tx1"/>
                </a:solidFill>
                <a:latin typeface="Arial" panose="020B0604020202020204" pitchFamily="34" charset="0"/>
                <a:cs typeface="Arial" panose="020B0604020202020204" pitchFamily="34" charset="0"/>
              </a:rPr>
              <a:t>gastos serán facturas. </a:t>
            </a:r>
            <a:endParaRPr lang="es-ES" sz="1000" dirty="0" smtClean="0">
              <a:solidFill>
                <a:schemeClr val="tx1"/>
              </a:solidFill>
              <a:latin typeface="Arial" panose="020B0604020202020204" pitchFamily="34" charset="0"/>
              <a:cs typeface="Arial" panose="020B0604020202020204" pitchFamily="34" charset="0"/>
            </a:endParaRPr>
          </a:p>
          <a:p>
            <a:pPr marL="1200150" lvl="2" indent="-285750">
              <a:buFont typeface="+mj-lt"/>
              <a:buAutoNum type="alphaLcParenR"/>
            </a:pPr>
            <a:r>
              <a:rPr lang="es-ES" sz="1000" dirty="0" smtClean="0">
                <a:solidFill>
                  <a:schemeClr val="tx1"/>
                </a:solidFill>
                <a:latin typeface="Arial" panose="020B0604020202020204" pitchFamily="34" charset="0"/>
                <a:cs typeface="Arial" panose="020B0604020202020204" pitchFamily="34" charset="0"/>
              </a:rPr>
              <a:t>El origen de los valores de las columnas </a:t>
            </a:r>
            <a:r>
              <a:rPr lang="es-ES" sz="1000" b="1" dirty="0" smtClean="0">
                <a:solidFill>
                  <a:schemeClr val="tx1"/>
                </a:solidFill>
                <a:latin typeface="Arial" panose="020B0604020202020204" pitchFamily="34" charset="0"/>
                <a:cs typeface="Arial" panose="020B0604020202020204" pitchFamily="34" charset="0"/>
              </a:rPr>
              <a:t>Budget </a:t>
            </a:r>
            <a:r>
              <a:rPr lang="es-ES" sz="1000" b="1" dirty="0" err="1">
                <a:solidFill>
                  <a:schemeClr val="tx1"/>
                </a:solidFill>
                <a:latin typeface="Arial" panose="020B0604020202020204" pitchFamily="34" charset="0"/>
                <a:cs typeface="Arial" panose="020B0604020202020204" pitchFamily="34" charset="0"/>
              </a:rPr>
              <a:t>approved</a:t>
            </a:r>
            <a:r>
              <a:rPr lang="es-ES" sz="1000" b="1" dirty="0">
                <a:solidFill>
                  <a:schemeClr val="tx1"/>
                </a:solidFill>
                <a:latin typeface="Arial" panose="020B0604020202020204" pitchFamily="34" charset="0"/>
                <a:cs typeface="Arial" panose="020B0604020202020204" pitchFamily="34" charset="0"/>
              </a:rPr>
              <a:t> </a:t>
            </a:r>
            <a:r>
              <a:rPr lang="es-ES" sz="1000" dirty="0">
                <a:solidFill>
                  <a:schemeClr val="tx1"/>
                </a:solidFill>
                <a:latin typeface="Arial" panose="020B0604020202020204" pitchFamily="34" charset="0"/>
                <a:cs typeface="Arial" panose="020B0604020202020204" pitchFamily="34" charset="0"/>
              </a:rPr>
              <a:t>y </a:t>
            </a:r>
            <a:r>
              <a:rPr lang="es-ES" sz="1000" b="1" dirty="0" err="1" smtClean="0">
                <a:solidFill>
                  <a:schemeClr val="tx1"/>
                </a:solidFill>
                <a:latin typeface="Arial" panose="020B0604020202020204" pitchFamily="34" charset="0"/>
                <a:cs typeface="Arial" panose="020B0604020202020204" pitchFamily="34" charset="0"/>
              </a:rPr>
              <a:t>Paid</a:t>
            </a:r>
            <a:r>
              <a:rPr lang="es-ES" sz="1000" b="1" dirty="0" smtClean="0">
                <a:solidFill>
                  <a:schemeClr val="tx1"/>
                </a:solidFill>
                <a:latin typeface="Arial" panose="020B0604020202020204" pitchFamily="34" charset="0"/>
                <a:cs typeface="Arial" panose="020B0604020202020204" pitchFamily="34" charset="0"/>
              </a:rPr>
              <a:t> </a:t>
            </a:r>
            <a:r>
              <a:rPr lang="es-ES" sz="1000" b="1" dirty="0" err="1" smtClean="0">
                <a:solidFill>
                  <a:schemeClr val="tx1"/>
                </a:solidFill>
                <a:latin typeface="Arial" panose="020B0604020202020204" pitchFamily="34" charset="0"/>
                <a:cs typeface="Arial" panose="020B0604020202020204" pitchFamily="34" charset="0"/>
              </a:rPr>
              <a:t>by</a:t>
            </a:r>
            <a:r>
              <a:rPr lang="es-ES" sz="1000" b="1" dirty="0" smtClean="0">
                <a:solidFill>
                  <a:schemeClr val="tx1"/>
                </a:solidFill>
                <a:latin typeface="Arial" panose="020B0604020202020204" pitchFamily="34" charset="0"/>
                <a:cs typeface="Arial" panose="020B0604020202020204" pitchFamily="34" charset="0"/>
              </a:rPr>
              <a:t> </a:t>
            </a:r>
            <a:r>
              <a:rPr lang="es-ES" sz="1000" b="1" dirty="0" err="1" smtClean="0">
                <a:solidFill>
                  <a:schemeClr val="tx1"/>
                </a:solidFill>
                <a:latin typeface="Arial" panose="020B0604020202020204" pitchFamily="34" charset="0"/>
                <a:cs typeface="Arial" panose="020B0604020202020204" pitchFamily="34" charset="0"/>
              </a:rPr>
              <a:t>customer</a:t>
            </a:r>
            <a:r>
              <a:rPr lang="es-ES" sz="1000" b="1" dirty="0" smtClean="0">
                <a:solidFill>
                  <a:schemeClr val="tx1"/>
                </a:solidFill>
                <a:latin typeface="Arial" panose="020B0604020202020204" pitchFamily="34" charset="0"/>
                <a:cs typeface="Arial" panose="020B0604020202020204" pitchFamily="34" charset="0"/>
              </a:rPr>
              <a:t> </a:t>
            </a:r>
            <a:r>
              <a:rPr lang="es-ES" sz="1000" dirty="0" smtClean="0">
                <a:solidFill>
                  <a:schemeClr val="tx1"/>
                </a:solidFill>
                <a:latin typeface="Arial" panose="020B0604020202020204" pitchFamily="34" charset="0"/>
                <a:cs typeface="Arial" panose="020B0604020202020204" pitchFamily="34" charset="0"/>
              </a:rPr>
              <a:t>es la APLICACIÓN OFERTA TÉCNICA-BUDGET. </a:t>
            </a:r>
          </a:p>
          <a:p>
            <a:pPr marL="1200150" lvl="2" indent="-285750">
              <a:buFont typeface="+mj-lt"/>
              <a:buAutoNum type="alphaLcParenR"/>
            </a:pPr>
            <a:r>
              <a:rPr lang="es-ES" sz="1000" dirty="0" smtClean="0">
                <a:solidFill>
                  <a:schemeClr val="tx1"/>
                </a:solidFill>
                <a:latin typeface="Arial" panose="020B0604020202020204" pitchFamily="34" charset="0"/>
                <a:cs typeface="Arial" panose="020B0604020202020204" pitchFamily="34" charset="0"/>
              </a:rPr>
              <a:t>El solicitante debe rellenar en la app </a:t>
            </a:r>
            <a:r>
              <a:rPr lang="es-ES" sz="1000" dirty="0" err="1" smtClean="0">
                <a:solidFill>
                  <a:schemeClr val="tx1"/>
                </a:solidFill>
                <a:latin typeface="Arial" panose="020B0604020202020204" pitchFamily="34" charset="0"/>
                <a:cs typeface="Arial" panose="020B0604020202020204" pitchFamily="34" charset="0"/>
              </a:rPr>
              <a:t>Cost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Carriers</a:t>
            </a:r>
            <a:r>
              <a:rPr lang="es-ES" sz="1000" dirty="0" smtClean="0">
                <a:solidFill>
                  <a:schemeClr val="tx1"/>
                </a:solidFill>
                <a:latin typeface="Arial" panose="020B0604020202020204" pitchFamily="34" charset="0"/>
                <a:cs typeface="Arial" panose="020B0604020202020204" pitchFamily="34" charset="0"/>
              </a:rPr>
              <a:t> </a:t>
            </a:r>
            <a:r>
              <a:rPr lang="es-ES" sz="1000" b="1" dirty="0" smtClean="0">
                <a:solidFill>
                  <a:schemeClr val="tx1"/>
                </a:solidFill>
                <a:latin typeface="Arial" panose="020B0604020202020204" pitchFamily="34" charset="0"/>
                <a:cs typeface="Arial" panose="020B0604020202020204" pitchFamily="34" charset="0"/>
              </a:rPr>
              <a:t>Expenses/</a:t>
            </a:r>
            <a:r>
              <a:rPr lang="es-ES" sz="1000" b="1" dirty="0" err="1" smtClean="0">
                <a:solidFill>
                  <a:schemeClr val="tx1"/>
                </a:solidFill>
                <a:latin typeface="Arial" panose="020B0604020202020204" pitchFamily="34" charset="0"/>
                <a:cs typeface="Arial" panose="020B0604020202020204" pitchFamily="34" charset="0"/>
              </a:rPr>
              <a:t>Incomes</a:t>
            </a:r>
            <a:r>
              <a:rPr lang="es-ES" sz="1000" dirty="0" smtClean="0">
                <a:solidFill>
                  <a:schemeClr val="tx1"/>
                </a:solidFill>
                <a:latin typeface="Arial" panose="020B0604020202020204" pitchFamily="34" charset="0"/>
                <a:cs typeface="Arial" panose="020B0604020202020204" pitchFamily="34" charset="0"/>
              </a:rPr>
              <a:t> calendarizando los ingresos y gastos establecidos en la oferta técnica/</a:t>
            </a:r>
            <a:r>
              <a:rPr lang="es-ES" sz="1000" dirty="0" err="1" smtClean="0">
                <a:solidFill>
                  <a:schemeClr val="tx1"/>
                </a:solidFill>
                <a:latin typeface="Arial" panose="020B0604020202020204" pitchFamily="34" charset="0"/>
                <a:cs typeface="Arial" panose="020B0604020202020204" pitchFamily="34" charset="0"/>
              </a:rPr>
              <a:t>budget</a:t>
            </a:r>
            <a:r>
              <a:rPr lang="es-ES" sz="1000" dirty="0" smtClean="0">
                <a:solidFill>
                  <a:schemeClr val="tx1"/>
                </a:solidFill>
                <a:latin typeface="Arial" panose="020B0604020202020204" pitchFamily="34" charset="0"/>
                <a:cs typeface="Arial" panose="020B0604020202020204" pitchFamily="34" charset="0"/>
              </a:rPr>
              <a:t>. </a:t>
            </a:r>
          </a:p>
          <a:p>
            <a:pPr marL="1200150" lvl="2" indent="-285750">
              <a:buFont typeface="+mj-lt"/>
              <a:buAutoNum type="alphaLcParenR"/>
            </a:pPr>
            <a:r>
              <a:rPr lang="es-ES" sz="1000" dirty="0" smtClean="0">
                <a:solidFill>
                  <a:schemeClr val="tx1"/>
                </a:solidFill>
                <a:latin typeface="Arial" panose="020B0604020202020204" pitchFamily="34" charset="0"/>
                <a:cs typeface="Arial" panose="020B0604020202020204" pitchFamily="34" charset="0"/>
              </a:rPr>
              <a:t>Para que el paso pueda mandarse a validar debe cumplirse que:</a:t>
            </a:r>
            <a:endParaRPr lang="es-ES" sz="1000" dirty="0">
              <a:solidFill>
                <a:schemeClr val="tx1"/>
              </a:solidFill>
              <a:latin typeface="Arial" panose="020B0604020202020204" pitchFamily="34" charset="0"/>
              <a:cs typeface="Arial" panose="020B0604020202020204" pitchFamily="34" charset="0"/>
            </a:endParaRPr>
          </a:p>
          <a:p>
            <a:pPr marL="1543050" lvl="3" indent="-171450">
              <a:buFont typeface="Arial" panose="020B0604020202020204" pitchFamily="34" charset="0"/>
              <a:buChar char="•"/>
            </a:pPr>
            <a:r>
              <a:rPr lang="es-ES" sz="1000" dirty="0" smtClean="0">
                <a:solidFill>
                  <a:schemeClr val="tx1"/>
                </a:solidFill>
                <a:latin typeface="Arial" panose="020B0604020202020204" pitchFamily="34" charset="0"/>
                <a:cs typeface="Arial" panose="020B0604020202020204" pitchFamily="34" charset="0"/>
              </a:rPr>
              <a:t>∑Expenses = Budget </a:t>
            </a:r>
            <a:r>
              <a:rPr lang="es-ES" sz="1000" dirty="0" err="1">
                <a:solidFill>
                  <a:schemeClr val="tx1"/>
                </a:solidFill>
                <a:latin typeface="Arial" panose="020B0604020202020204" pitchFamily="34" charset="0"/>
                <a:cs typeface="Arial" panose="020B0604020202020204" pitchFamily="34" charset="0"/>
              </a:rPr>
              <a:t>a</a:t>
            </a:r>
            <a:r>
              <a:rPr lang="es-ES" sz="1000" dirty="0" err="1" smtClean="0">
                <a:solidFill>
                  <a:schemeClr val="tx1"/>
                </a:solidFill>
                <a:latin typeface="Arial" panose="020B0604020202020204" pitchFamily="34" charset="0"/>
                <a:cs typeface="Arial" panose="020B0604020202020204" pitchFamily="34" charset="0"/>
              </a:rPr>
              <a:t>pproved</a:t>
            </a:r>
            <a:endParaRPr lang="es-ES" sz="1000" dirty="0" smtClean="0">
              <a:solidFill>
                <a:schemeClr val="tx1"/>
              </a:solidFill>
              <a:latin typeface="Arial" panose="020B0604020202020204" pitchFamily="34" charset="0"/>
              <a:cs typeface="Arial" panose="020B0604020202020204" pitchFamily="34" charset="0"/>
            </a:endParaRPr>
          </a:p>
          <a:p>
            <a:pPr marL="1543050" lvl="3" indent="-171450">
              <a:buFont typeface="Arial" panose="020B0604020202020204" pitchFamily="34" charset="0"/>
              <a:buChar char="•"/>
            </a:pPr>
            <a:r>
              <a:rPr lang="es-ES" sz="1000" dirty="0" smtClean="0">
                <a:solidFill>
                  <a:schemeClr val="tx1"/>
                </a:solidFill>
                <a:latin typeface="Arial" panose="020B0604020202020204" pitchFamily="34" charset="0"/>
                <a:cs typeface="Arial" panose="020B0604020202020204" pitchFamily="34" charset="0"/>
              </a:rPr>
              <a:t>∑</a:t>
            </a:r>
            <a:r>
              <a:rPr lang="es-ES" sz="1000" dirty="0" err="1" smtClean="0">
                <a:solidFill>
                  <a:schemeClr val="tx1"/>
                </a:solidFill>
                <a:latin typeface="Arial" panose="020B0604020202020204" pitchFamily="34" charset="0"/>
                <a:cs typeface="Arial" panose="020B0604020202020204" pitchFamily="34" charset="0"/>
              </a:rPr>
              <a:t>Incomes</a:t>
            </a:r>
            <a:r>
              <a:rPr lang="es-ES" sz="1000" dirty="0" smtClean="0">
                <a:solidFill>
                  <a:schemeClr val="tx1"/>
                </a:solidFill>
                <a:latin typeface="Arial" panose="020B0604020202020204" pitchFamily="34" charset="0"/>
                <a:cs typeface="Arial" panose="020B0604020202020204" pitchFamily="34" charset="0"/>
              </a:rPr>
              <a:t> = </a:t>
            </a:r>
            <a:r>
              <a:rPr lang="es-ES" sz="1000" dirty="0" err="1" smtClean="0">
                <a:solidFill>
                  <a:schemeClr val="tx1"/>
                </a:solidFill>
                <a:latin typeface="Arial" panose="020B0604020202020204" pitchFamily="34" charset="0"/>
                <a:cs typeface="Arial" panose="020B0604020202020204" pitchFamily="34" charset="0"/>
              </a:rPr>
              <a:t>Paid</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by</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customer</a:t>
            </a:r>
            <a:endParaRPr lang="es-ES" sz="1000" dirty="0" smtClean="0">
              <a:solidFill>
                <a:schemeClr val="tx1"/>
              </a:solidFill>
              <a:latin typeface="Arial" panose="020B0604020202020204" pitchFamily="34" charset="0"/>
              <a:cs typeface="Arial" panose="020B0604020202020204" pitchFamily="34" charset="0"/>
            </a:endParaRPr>
          </a:p>
          <a:p>
            <a:pPr lvl="2"/>
            <a:endParaRPr lang="en-US" sz="1000" dirty="0">
              <a:solidFill>
                <a:schemeClr val="tx1"/>
              </a:solidFill>
              <a:latin typeface="Arial" panose="020B0604020202020204" pitchFamily="34" charset="0"/>
              <a:cs typeface="Arial" panose="020B0604020202020204" pitchFamily="34" charset="0"/>
            </a:endParaRPr>
          </a:p>
          <a:p>
            <a:pPr marL="1085850" lvl="2"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2"/>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p:txBody>
      </p:sp>
      <p:grpSp>
        <p:nvGrpSpPr>
          <p:cNvPr id="13" name="Grupo 12"/>
          <p:cNvGrpSpPr/>
          <p:nvPr/>
        </p:nvGrpSpPr>
        <p:grpSpPr>
          <a:xfrm>
            <a:off x="610639" y="3429000"/>
            <a:ext cx="7056784" cy="1656751"/>
            <a:chOff x="455204" y="2998668"/>
            <a:chExt cx="7573180" cy="1709566"/>
          </a:xfrm>
        </p:grpSpPr>
        <p:pic>
          <p:nvPicPr>
            <p:cNvPr id="6" name="Imagen 5"/>
            <p:cNvPicPr>
              <a:picLocks noChangeAspect="1"/>
            </p:cNvPicPr>
            <p:nvPr/>
          </p:nvPicPr>
          <p:blipFill>
            <a:blip r:embed="rId2"/>
            <a:stretch>
              <a:fillRect/>
            </a:stretch>
          </p:blipFill>
          <p:spPr>
            <a:xfrm>
              <a:off x="468359" y="3770504"/>
              <a:ext cx="7560000" cy="937730"/>
            </a:xfrm>
            <a:prstGeom prst="rect">
              <a:avLst/>
            </a:prstGeom>
          </p:spPr>
        </p:pic>
        <p:pic>
          <p:nvPicPr>
            <p:cNvPr id="12" name="Imagen 11"/>
            <p:cNvPicPr>
              <a:picLocks noChangeAspect="1"/>
            </p:cNvPicPr>
            <p:nvPr/>
          </p:nvPicPr>
          <p:blipFill>
            <a:blip r:embed="rId3"/>
            <a:stretch>
              <a:fillRect/>
            </a:stretch>
          </p:blipFill>
          <p:spPr>
            <a:xfrm>
              <a:off x="455204" y="2998668"/>
              <a:ext cx="7573180" cy="782695"/>
            </a:xfrm>
            <a:prstGeom prst="rect">
              <a:avLst/>
            </a:prstGeom>
          </p:spPr>
        </p:pic>
      </p:grpSp>
      <p:sp>
        <p:nvSpPr>
          <p:cNvPr id="16" name="Elipse 15"/>
          <p:cNvSpPr/>
          <p:nvPr/>
        </p:nvSpPr>
        <p:spPr>
          <a:xfrm>
            <a:off x="5175657" y="5995629"/>
            <a:ext cx="2655296" cy="543283"/>
          </a:xfrm>
          <a:prstGeom prst="ellipse">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EDITABLE </a:t>
            </a:r>
          </a:p>
        </p:txBody>
      </p:sp>
      <p:sp>
        <p:nvSpPr>
          <p:cNvPr id="17" name="Elipse 16"/>
          <p:cNvSpPr/>
          <p:nvPr/>
        </p:nvSpPr>
        <p:spPr>
          <a:xfrm>
            <a:off x="988406" y="5841269"/>
            <a:ext cx="3378358" cy="648072"/>
          </a:xfrm>
          <a:prstGeom prst="ellipse">
            <a:avLst/>
          </a:prstGeom>
          <a:solidFill>
            <a:schemeClr val="accent4">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NO EDITABLE. ORIGEN APLICACIÓN OFERTA TÉCNICA- BUDGET</a:t>
            </a:r>
            <a:endParaRPr lang="es-ES" sz="1400" dirty="0" smtClean="0">
              <a:solidFill>
                <a:schemeClr val="tx1"/>
              </a:solidFill>
              <a:latin typeface="Arial" panose="020B0604020202020204" pitchFamily="34" charset="0"/>
              <a:cs typeface="Arial" panose="020B0604020202020204" pitchFamily="34" charset="0"/>
            </a:endParaRPr>
          </a:p>
        </p:txBody>
      </p:sp>
      <p:sp>
        <p:nvSpPr>
          <p:cNvPr id="18" name="Rectángulo 17"/>
          <p:cNvSpPr/>
          <p:nvPr/>
        </p:nvSpPr>
        <p:spPr>
          <a:xfrm>
            <a:off x="2555776" y="3717032"/>
            <a:ext cx="1656184" cy="436898"/>
          </a:xfrm>
          <a:prstGeom prst="rect">
            <a:avLst/>
          </a:prstGeom>
          <a:noFill/>
          <a:ln w="190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19" name="Conector angular 18"/>
          <p:cNvCxnSpPr>
            <a:stCxn id="17" idx="0"/>
            <a:endCxn id="18" idx="2"/>
          </p:cNvCxnSpPr>
          <p:nvPr/>
        </p:nvCxnSpPr>
        <p:spPr>
          <a:xfrm rot="5400000" flipH="1" flipV="1">
            <a:off x="2187057" y="4644459"/>
            <a:ext cx="1687339" cy="706283"/>
          </a:xfrm>
          <a:prstGeom prst="bentConnector3">
            <a:avLst>
              <a:gd name="adj1" fmla="val 50000"/>
            </a:avLst>
          </a:prstGeom>
          <a:ln>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Rectángulo 20"/>
          <p:cNvSpPr/>
          <p:nvPr/>
        </p:nvSpPr>
        <p:spPr>
          <a:xfrm>
            <a:off x="4283968" y="3717032"/>
            <a:ext cx="3383432" cy="413837"/>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22" name="Conector angular 21"/>
          <p:cNvCxnSpPr/>
          <p:nvPr/>
        </p:nvCxnSpPr>
        <p:spPr>
          <a:xfrm rot="16200000" flipV="1">
            <a:off x="5342526" y="4784955"/>
            <a:ext cx="1810545" cy="610804"/>
          </a:xfrm>
          <a:prstGeom prst="bentConnector3">
            <a:avLst>
              <a:gd name="adj1" fmla="val 50000"/>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837979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Grupo 33"/>
          <p:cNvGrpSpPr/>
          <p:nvPr/>
        </p:nvGrpSpPr>
        <p:grpSpPr>
          <a:xfrm>
            <a:off x="107530" y="1896310"/>
            <a:ext cx="8712942" cy="2468794"/>
            <a:chOff x="107530" y="1939650"/>
            <a:chExt cx="8712942" cy="2468794"/>
          </a:xfrm>
        </p:grpSpPr>
        <p:grpSp>
          <p:nvGrpSpPr>
            <p:cNvPr id="21" name="Grupo 20"/>
            <p:cNvGrpSpPr/>
            <p:nvPr/>
          </p:nvGrpSpPr>
          <p:grpSpPr>
            <a:xfrm>
              <a:off x="107530" y="1939650"/>
              <a:ext cx="8667220" cy="2468794"/>
              <a:chOff x="287454" y="1602521"/>
              <a:chExt cx="8689432" cy="2468794"/>
            </a:xfrm>
          </p:grpSpPr>
          <p:grpSp>
            <p:nvGrpSpPr>
              <p:cNvPr id="14" name="Grupo 13"/>
              <p:cNvGrpSpPr/>
              <p:nvPr/>
            </p:nvGrpSpPr>
            <p:grpSpPr>
              <a:xfrm>
                <a:off x="385867" y="2319470"/>
                <a:ext cx="8591019" cy="1751845"/>
                <a:chOff x="323528" y="1829691"/>
                <a:chExt cx="8591019" cy="1751845"/>
              </a:xfrm>
            </p:grpSpPr>
            <p:pic>
              <p:nvPicPr>
                <p:cNvPr id="12" name="Imagen 11"/>
                <p:cNvPicPr>
                  <a:picLocks noChangeAspect="1"/>
                </p:cNvPicPr>
                <p:nvPr/>
              </p:nvPicPr>
              <p:blipFill>
                <a:blip r:embed="rId2"/>
                <a:stretch>
                  <a:fillRect/>
                </a:stretch>
              </p:blipFill>
              <p:spPr>
                <a:xfrm>
                  <a:off x="323528" y="2269697"/>
                  <a:ext cx="8591018" cy="1311839"/>
                </a:xfrm>
                <a:prstGeom prst="rect">
                  <a:avLst/>
                </a:prstGeom>
              </p:spPr>
            </p:pic>
            <p:pic>
              <p:nvPicPr>
                <p:cNvPr id="13" name="Imagen 12"/>
                <p:cNvPicPr>
                  <a:picLocks noChangeAspect="1"/>
                </p:cNvPicPr>
                <p:nvPr/>
              </p:nvPicPr>
              <p:blipFill>
                <a:blip r:embed="rId3"/>
                <a:stretch>
                  <a:fillRect/>
                </a:stretch>
              </p:blipFill>
              <p:spPr>
                <a:xfrm>
                  <a:off x="323529" y="1829691"/>
                  <a:ext cx="8591018" cy="458924"/>
                </a:xfrm>
                <a:prstGeom prst="rect">
                  <a:avLst/>
                </a:prstGeom>
              </p:spPr>
            </p:pic>
          </p:grpSp>
          <p:pic>
            <p:nvPicPr>
              <p:cNvPr id="20" name="Imagen 19"/>
              <p:cNvPicPr>
                <a:picLocks noChangeAspect="1"/>
              </p:cNvPicPr>
              <p:nvPr/>
            </p:nvPicPr>
            <p:blipFill>
              <a:blip r:embed="rId4"/>
              <a:stretch>
                <a:fillRect/>
              </a:stretch>
            </p:blipFill>
            <p:spPr>
              <a:xfrm>
                <a:off x="287454" y="1602521"/>
                <a:ext cx="5611145" cy="785307"/>
              </a:xfrm>
              <a:prstGeom prst="rect">
                <a:avLst/>
              </a:prstGeom>
            </p:spPr>
          </p:pic>
        </p:grpSp>
        <p:sp>
          <p:nvSpPr>
            <p:cNvPr id="32" name="Rectángulo 31"/>
            <p:cNvSpPr/>
            <p:nvPr/>
          </p:nvSpPr>
          <p:spPr>
            <a:xfrm>
              <a:off x="107530" y="1939650"/>
              <a:ext cx="8712942" cy="2468794"/>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grpSp>
      <p:sp>
        <p:nvSpPr>
          <p:cNvPr id="2" name="Marcador de número de diapositiva 1"/>
          <p:cNvSpPr>
            <a:spLocks noGrp="1"/>
          </p:cNvSpPr>
          <p:nvPr>
            <p:ph type="sldNum" sz="quarter" idx="12"/>
          </p:nvPr>
        </p:nvSpPr>
        <p:spPr/>
        <p:txBody>
          <a:bodyPr/>
          <a:lstStyle/>
          <a:p>
            <a:fld id="{6C159591-2568-4DE8-9BFD-2ABD54E1DEC4}" type="slidenum">
              <a:rPr lang="es-ES" smtClean="0"/>
              <a:pPr/>
              <a:t>12</a:t>
            </a:fld>
            <a:endParaRPr lang="es-ES" dirty="0"/>
          </a:p>
        </p:txBody>
      </p:sp>
      <p:sp>
        <p:nvSpPr>
          <p:cNvPr id="5" name="6 CuadroTexto"/>
          <p:cNvSpPr txBox="1"/>
          <p:nvPr/>
        </p:nvSpPr>
        <p:spPr>
          <a:xfrm>
            <a:off x="267321" y="980728"/>
            <a:ext cx="7112992" cy="369332"/>
          </a:xfrm>
          <a:prstGeom prst="rect">
            <a:avLst/>
          </a:prstGeom>
          <a:noFill/>
        </p:spPr>
        <p:txBody>
          <a:bodyPr wrap="square" rtlCol="0">
            <a:spAutoFit/>
          </a:bodyPr>
          <a:lstStyle/>
          <a:p>
            <a:r>
              <a:rPr lang="es-ES" b="1" dirty="0" smtClean="0">
                <a:solidFill>
                  <a:srgbClr val="254061"/>
                </a:solidFill>
              </a:rPr>
              <a:t>CREAR NUEVOS PASOS</a:t>
            </a:r>
            <a:r>
              <a:rPr lang="es-ES" b="1" dirty="0" smtClean="0">
                <a:solidFill>
                  <a:srgbClr val="254061"/>
                </a:solidFill>
                <a:sym typeface="Wingdings" panose="05000000000000000000" pitchFamily="2" charset="2"/>
              </a:rPr>
              <a:t>2. </a:t>
            </a:r>
            <a:r>
              <a:rPr lang="es-ES" b="1" dirty="0" smtClean="0">
                <a:solidFill>
                  <a:srgbClr val="254061"/>
                </a:solidFill>
              </a:rPr>
              <a:t>TIPO A2: OFERTA TÉCNICA-BUDGED II</a:t>
            </a:r>
            <a:endParaRPr lang="en-US" b="1" dirty="0">
              <a:solidFill>
                <a:srgbClr val="254061"/>
              </a:solidFill>
            </a:endParaRPr>
          </a:p>
        </p:txBody>
      </p:sp>
      <p:sp>
        <p:nvSpPr>
          <p:cNvPr id="22" name="Rectángulo 21"/>
          <p:cNvSpPr/>
          <p:nvPr/>
        </p:nvSpPr>
        <p:spPr>
          <a:xfrm>
            <a:off x="3634471" y="3072183"/>
            <a:ext cx="1513593" cy="293330"/>
          </a:xfrm>
          <a:prstGeom prst="rect">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3" name="Rectángulo 22"/>
          <p:cNvSpPr/>
          <p:nvPr/>
        </p:nvSpPr>
        <p:spPr>
          <a:xfrm>
            <a:off x="5148064" y="3073400"/>
            <a:ext cx="1368152" cy="264128"/>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4" name="Rectángulo 23"/>
          <p:cNvSpPr/>
          <p:nvPr/>
        </p:nvSpPr>
        <p:spPr>
          <a:xfrm>
            <a:off x="6556467" y="3072183"/>
            <a:ext cx="1399909" cy="306783"/>
          </a:xfrm>
          <a:prstGeom prst="rect">
            <a:avLst/>
          </a:prstGeom>
          <a:no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9" name="10 Rectángulo"/>
          <p:cNvSpPr/>
          <p:nvPr/>
        </p:nvSpPr>
        <p:spPr>
          <a:xfrm>
            <a:off x="3823817" y="1523866"/>
            <a:ext cx="5034550" cy="733374"/>
          </a:xfrm>
          <a:prstGeom prst="rec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smtClean="0">
                <a:solidFill>
                  <a:schemeClr val="tx1"/>
                </a:solidFill>
                <a:latin typeface="Arial" panose="020B0604020202020204" pitchFamily="34" charset="0"/>
                <a:cs typeface="Arial" panose="020B0604020202020204" pitchFamily="34" charset="0"/>
              </a:rPr>
              <a:t>Al </a:t>
            </a:r>
            <a:r>
              <a:rPr lang="en-US" sz="1000" dirty="0" err="1" smtClean="0">
                <a:solidFill>
                  <a:schemeClr val="tx1"/>
                </a:solidFill>
                <a:latin typeface="Arial" panose="020B0604020202020204" pitchFamily="34" charset="0"/>
                <a:cs typeface="Arial" panose="020B0604020202020204" pitchFamily="34" charset="0"/>
              </a:rPr>
              <a:t>actualizar</a:t>
            </a:r>
            <a:r>
              <a:rPr lang="en-US" sz="1000" dirty="0" smtClean="0">
                <a:solidFill>
                  <a:schemeClr val="tx1"/>
                </a:solidFill>
                <a:latin typeface="Arial" panose="020B0604020202020204" pitchFamily="34" charset="0"/>
                <a:cs typeface="Arial" panose="020B0604020202020204" pitchFamily="34" charset="0"/>
              </a:rPr>
              <a:t> el Budget, </a:t>
            </a:r>
            <a:r>
              <a:rPr lang="en-US" sz="1000" dirty="0" err="1" smtClean="0">
                <a:solidFill>
                  <a:schemeClr val="tx1"/>
                </a:solidFill>
                <a:latin typeface="Arial" panose="020B0604020202020204" pitchFamily="34" charset="0"/>
                <a:cs typeface="Arial" panose="020B0604020202020204" pitchFamily="34" charset="0"/>
              </a:rPr>
              <a:t>en</a:t>
            </a:r>
            <a:r>
              <a:rPr lang="en-US" sz="1000" dirty="0" smtClean="0">
                <a:solidFill>
                  <a:schemeClr val="tx1"/>
                </a:solidFill>
                <a:latin typeface="Arial" panose="020B0604020202020204" pitchFamily="34" charset="0"/>
                <a:cs typeface="Arial" panose="020B0604020202020204" pitchFamily="34" charset="0"/>
              </a:rPr>
              <a:t> CC </a:t>
            </a:r>
            <a:r>
              <a:rPr lang="en-US" sz="1000" dirty="0" err="1" smtClean="0">
                <a:solidFill>
                  <a:schemeClr val="tx1"/>
                </a:solidFill>
                <a:latin typeface="Arial" panose="020B0604020202020204" pitchFamily="34" charset="0"/>
                <a:cs typeface="Arial" panose="020B0604020202020204" pitchFamily="34" charset="0"/>
              </a:rPr>
              <a:t>apareceran</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automáticamente</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todos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los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medios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como</a:t>
            </a:r>
            <a:r>
              <a:rPr lang="en-US" sz="1000" dirty="0" smtClean="0">
                <a:solidFill>
                  <a:schemeClr val="tx1"/>
                </a:solidFill>
                <a:latin typeface="Arial" panose="020B0604020202020204" pitchFamily="34" charset="0"/>
                <a:cs typeface="Arial" panose="020B0604020202020204" pitchFamily="34" charset="0"/>
              </a:rPr>
              <a:t> la </a:t>
            </a:r>
            <a:r>
              <a:rPr lang="en-US" sz="1000" dirty="0" err="1" smtClean="0">
                <a:solidFill>
                  <a:schemeClr val="tx1"/>
                </a:solidFill>
                <a:latin typeface="Arial" panose="020B0604020202020204" pitchFamily="34" charset="0"/>
                <a:cs typeface="Arial" panose="020B0604020202020204" pitchFamily="34" charset="0"/>
              </a:rPr>
              <a:t>linea</a:t>
            </a:r>
            <a:r>
              <a:rPr lang="en-US" sz="1000" dirty="0" smtClean="0">
                <a:solidFill>
                  <a:schemeClr val="tx1"/>
                </a:solidFill>
                <a:latin typeface="Arial" panose="020B0604020202020204" pitchFamily="34" charset="0"/>
                <a:cs typeface="Arial" panose="020B0604020202020204" pitchFamily="34" charset="0"/>
              </a:rPr>
              <a:t> de </a:t>
            </a:r>
            <a:r>
              <a:rPr lang="en-US" sz="1000" dirty="0" err="1" smtClean="0">
                <a:solidFill>
                  <a:schemeClr val="tx1"/>
                </a:solidFill>
                <a:latin typeface="Arial" panose="020B0604020202020204" pitchFamily="34" charset="0"/>
                <a:cs typeface="Arial" panose="020B0604020202020204" pitchFamily="34" charset="0"/>
              </a:rPr>
              <a:t>montaje</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los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utillajes</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etc</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requeridos</a:t>
            </a:r>
            <a:r>
              <a:rPr lang="en-US" sz="1000" dirty="0" smtClean="0">
                <a:solidFill>
                  <a:schemeClr val="tx1"/>
                </a:solidFill>
                <a:latin typeface="Arial" panose="020B0604020202020204" pitchFamily="34" charset="0"/>
                <a:cs typeface="Arial" panose="020B0604020202020204" pitchFamily="34" charset="0"/>
              </a:rPr>
              <a:t>.</a:t>
            </a:r>
          </a:p>
          <a:p>
            <a:r>
              <a:rPr lang="en-US" sz="1000" dirty="0" smtClean="0">
                <a:solidFill>
                  <a:schemeClr val="tx1"/>
                </a:solidFill>
                <a:latin typeface="Arial" panose="020B0604020202020204" pitchFamily="34" charset="0"/>
                <a:cs typeface="Arial" panose="020B0604020202020204" pitchFamily="34" charset="0"/>
              </a:rPr>
              <a:t>El </a:t>
            </a:r>
            <a:r>
              <a:rPr lang="en-US" sz="1000" dirty="0" err="1" smtClean="0">
                <a:solidFill>
                  <a:schemeClr val="tx1"/>
                </a:solidFill>
                <a:latin typeface="Arial" panose="020B0604020202020204" pitchFamily="34" charset="0"/>
                <a:cs typeface="Arial" panose="020B0604020202020204" pitchFamily="34" charset="0"/>
              </a:rPr>
              <a:t>Nombre</a:t>
            </a:r>
            <a:r>
              <a:rPr lang="en-US" sz="1000" dirty="0" smtClean="0">
                <a:solidFill>
                  <a:schemeClr val="tx1"/>
                </a:solidFill>
                <a:latin typeface="Arial" panose="020B0604020202020204" pitchFamily="34" charset="0"/>
                <a:cs typeface="Arial" panose="020B0604020202020204" pitchFamily="34" charset="0"/>
              </a:rPr>
              <a:t> del </a:t>
            </a:r>
            <a:r>
              <a:rPr lang="en-US" sz="1000" dirty="0" err="1" smtClean="0">
                <a:solidFill>
                  <a:schemeClr val="tx1"/>
                </a:solidFill>
                <a:latin typeface="Arial" panose="020B0604020202020204" pitchFamily="34" charset="0"/>
                <a:cs typeface="Arial" panose="020B0604020202020204" pitchFamily="34" charset="0"/>
              </a:rPr>
              <a:t>paso</a:t>
            </a:r>
            <a:r>
              <a:rPr lang="en-US" sz="1000" dirty="0" smtClean="0">
                <a:solidFill>
                  <a:schemeClr val="tx1"/>
                </a:solidFill>
                <a:latin typeface="Arial" panose="020B0604020202020204" pitchFamily="34" charset="0"/>
                <a:cs typeface="Arial" panose="020B0604020202020204" pitchFamily="34" charset="0"/>
              </a:rPr>
              <a:t>, Offer Budget, Paid by customer y Budget approved </a:t>
            </a:r>
            <a:r>
              <a:rPr lang="en-US" sz="1000" dirty="0" err="1" smtClean="0">
                <a:solidFill>
                  <a:schemeClr val="tx1"/>
                </a:solidFill>
                <a:latin typeface="Arial" panose="020B0604020202020204" pitchFamily="34" charset="0"/>
                <a:cs typeface="Arial" panose="020B0604020202020204" pitchFamily="34" charset="0"/>
              </a:rPr>
              <a:t>debe</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establecerse</a:t>
            </a:r>
            <a:r>
              <a:rPr lang="en-US" sz="1000" dirty="0" smtClean="0">
                <a:solidFill>
                  <a:schemeClr val="tx1"/>
                </a:solidFill>
                <a:latin typeface="Arial" panose="020B0604020202020204" pitchFamily="34" charset="0"/>
                <a:cs typeface="Arial" panose="020B0604020202020204" pitchFamily="34" charset="0"/>
              </a:rPr>
              <a:t>/</a:t>
            </a:r>
            <a:r>
              <a:rPr lang="en-US" sz="1000" dirty="0" err="1" smtClean="0">
                <a:solidFill>
                  <a:schemeClr val="tx1"/>
                </a:solidFill>
                <a:latin typeface="Arial" panose="020B0604020202020204" pitchFamily="34" charset="0"/>
                <a:cs typeface="Arial" panose="020B0604020202020204" pitchFamily="34" charset="0"/>
              </a:rPr>
              <a:t>modificarse</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desde</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esa</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aplicación</a:t>
            </a:r>
            <a:r>
              <a:rPr lang="en-US" sz="1000" dirty="0" smtClean="0">
                <a:solidFill>
                  <a:schemeClr val="tx1"/>
                </a:solidFill>
                <a:latin typeface="Arial" panose="020B0604020202020204" pitchFamily="34" charset="0"/>
                <a:cs typeface="Arial" panose="020B0604020202020204" pitchFamily="34" charset="0"/>
              </a:rPr>
              <a:t>.</a:t>
            </a:r>
          </a:p>
        </p:txBody>
      </p:sp>
      <p:sp>
        <p:nvSpPr>
          <p:cNvPr id="30" name="Rectángulo redondeado 29"/>
          <p:cNvSpPr/>
          <p:nvPr/>
        </p:nvSpPr>
        <p:spPr>
          <a:xfrm>
            <a:off x="1186199" y="1915866"/>
            <a:ext cx="2448272" cy="432048"/>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APP BUDGET</a:t>
            </a:r>
            <a:endParaRPr lang="es-ES" sz="1400" dirty="0" smtClean="0">
              <a:solidFill>
                <a:schemeClr val="tx1"/>
              </a:solidFill>
              <a:latin typeface="Arial" panose="020B0604020202020204" pitchFamily="34" charset="0"/>
              <a:cs typeface="Arial" panose="020B0604020202020204" pitchFamily="34" charset="0"/>
            </a:endParaRPr>
          </a:p>
        </p:txBody>
      </p:sp>
      <p:grpSp>
        <p:nvGrpSpPr>
          <p:cNvPr id="49" name="Grupo 48"/>
          <p:cNvGrpSpPr/>
          <p:nvPr/>
        </p:nvGrpSpPr>
        <p:grpSpPr>
          <a:xfrm>
            <a:off x="2505067" y="4408444"/>
            <a:ext cx="6531429" cy="2347637"/>
            <a:chOff x="99146" y="4408444"/>
            <a:chExt cx="6531429" cy="2347637"/>
          </a:xfrm>
        </p:grpSpPr>
        <p:grpSp>
          <p:nvGrpSpPr>
            <p:cNvPr id="38" name="Grupo 37"/>
            <p:cNvGrpSpPr/>
            <p:nvPr/>
          </p:nvGrpSpPr>
          <p:grpSpPr>
            <a:xfrm>
              <a:off x="99146" y="4408444"/>
              <a:ext cx="6531429" cy="2347637"/>
              <a:chOff x="95781" y="4358119"/>
              <a:chExt cx="7068507" cy="2484067"/>
            </a:xfrm>
          </p:grpSpPr>
          <p:grpSp>
            <p:nvGrpSpPr>
              <p:cNvPr id="39" name="Grupo 38"/>
              <p:cNvGrpSpPr/>
              <p:nvPr/>
            </p:nvGrpSpPr>
            <p:grpSpPr>
              <a:xfrm>
                <a:off x="95781" y="4374589"/>
                <a:ext cx="6732211" cy="2467597"/>
                <a:chOff x="648102" y="4005064"/>
                <a:chExt cx="6732211" cy="2467597"/>
              </a:xfrm>
            </p:grpSpPr>
            <p:pic>
              <p:nvPicPr>
                <p:cNvPr id="41" name="Imagen 40"/>
                <p:cNvPicPr>
                  <a:picLocks noChangeAspect="1"/>
                </p:cNvPicPr>
                <p:nvPr/>
              </p:nvPicPr>
              <p:blipFill>
                <a:blip r:embed="rId5"/>
                <a:stretch>
                  <a:fillRect/>
                </a:stretch>
              </p:blipFill>
              <p:spPr>
                <a:xfrm>
                  <a:off x="744722" y="5980198"/>
                  <a:ext cx="6617411" cy="492463"/>
                </a:xfrm>
                <a:prstGeom prst="rect">
                  <a:avLst/>
                </a:prstGeom>
                <a:ln w="9525">
                  <a:noFill/>
                </a:ln>
              </p:spPr>
            </p:pic>
            <p:grpSp>
              <p:nvGrpSpPr>
                <p:cNvPr id="42" name="Grupo 41"/>
                <p:cNvGrpSpPr/>
                <p:nvPr/>
              </p:nvGrpSpPr>
              <p:grpSpPr>
                <a:xfrm>
                  <a:off x="648102" y="4005064"/>
                  <a:ext cx="6732211" cy="2054271"/>
                  <a:chOff x="1259632" y="3262268"/>
                  <a:chExt cx="6732211" cy="2054271"/>
                </a:xfrm>
              </p:grpSpPr>
              <p:pic>
                <p:nvPicPr>
                  <p:cNvPr id="43" name="Imagen 42"/>
                  <p:cNvPicPr>
                    <a:picLocks noChangeAspect="1"/>
                  </p:cNvPicPr>
                  <p:nvPr/>
                </p:nvPicPr>
                <p:blipFill>
                  <a:blip r:embed="rId6"/>
                  <a:stretch>
                    <a:fillRect/>
                  </a:stretch>
                </p:blipFill>
                <p:spPr>
                  <a:xfrm>
                    <a:off x="1368000" y="3694585"/>
                    <a:ext cx="6623843" cy="1621954"/>
                  </a:xfrm>
                  <a:prstGeom prst="rect">
                    <a:avLst/>
                  </a:prstGeom>
                  <a:ln w="9525">
                    <a:noFill/>
                  </a:ln>
                </p:spPr>
              </p:pic>
              <p:pic>
                <p:nvPicPr>
                  <p:cNvPr id="44" name="Imagen 43"/>
                  <p:cNvPicPr>
                    <a:picLocks noChangeAspect="1"/>
                  </p:cNvPicPr>
                  <p:nvPr/>
                </p:nvPicPr>
                <p:blipFill>
                  <a:blip r:embed="rId7"/>
                  <a:stretch>
                    <a:fillRect/>
                  </a:stretch>
                </p:blipFill>
                <p:spPr>
                  <a:xfrm>
                    <a:off x="1259632" y="3262268"/>
                    <a:ext cx="6695851" cy="436930"/>
                  </a:xfrm>
                  <a:prstGeom prst="rect">
                    <a:avLst/>
                  </a:prstGeom>
                  <a:ln w="9525">
                    <a:solidFill>
                      <a:schemeClr val="tx1"/>
                    </a:solidFill>
                  </a:ln>
                </p:spPr>
              </p:pic>
            </p:grpSp>
          </p:grpSp>
          <p:sp>
            <p:nvSpPr>
              <p:cNvPr id="40" name="Rectángulo 39"/>
              <p:cNvSpPr/>
              <p:nvPr/>
            </p:nvSpPr>
            <p:spPr>
              <a:xfrm>
                <a:off x="107530" y="4358119"/>
                <a:ext cx="7056758" cy="2484067"/>
              </a:xfrm>
              <a:prstGeom prst="rect">
                <a:avLst/>
              </a:prstGeom>
              <a:noFill/>
              <a:ln w="952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grpSp>
        <p:sp>
          <p:nvSpPr>
            <p:cNvPr id="45" name="Rectángulo 44"/>
            <p:cNvSpPr/>
            <p:nvPr/>
          </p:nvSpPr>
          <p:spPr>
            <a:xfrm>
              <a:off x="4542343" y="5133753"/>
              <a:ext cx="1788344" cy="302745"/>
            </a:xfrm>
            <a:prstGeom prst="rect">
              <a:avLst/>
            </a:prstGeom>
            <a:noFill/>
            <a:ln w="952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46" name="Rectángulo 45"/>
            <p:cNvSpPr/>
            <p:nvPr/>
          </p:nvSpPr>
          <p:spPr>
            <a:xfrm>
              <a:off x="4542342" y="5557891"/>
              <a:ext cx="1822127" cy="302745"/>
            </a:xfrm>
            <a:prstGeom prst="rect">
              <a:avLst/>
            </a:prstGeom>
            <a:noFill/>
            <a:ln w="952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47" name="Rectángulo 46"/>
            <p:cNvSpPr/>
            <p:nvPr/>
          </p:nvSpPr>
          <p:spPr>
            <a:xfrm>
              <a:off x="4542342" y="6328056"/>
              <a:ext cx="1822128" cy="302745"/>
            </a:xfrm>
            <a:prstGeom prst="rect">
              <a:avLst/>
            </a:prstGeom>
            <a:noFill/>
            <a:ln w="952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grpSp>
      <p:sp>
        <p:nvSpPr>
          <p:cNvPr id="48" name="Rectángulo redondeado 47"/>
          <p:cNvSpPr/>
          <p:nvPr/>
        </p:nvSpPr>
        <p:spPr>
          <a:xfrm>
            <a:off x="241888" y="4547702"/>
            <a:ext cx="2117966" cy="338135"/>
          </a:xfrm>
          <a:prstGeom prst="roundRect">
            <a:avLst/>
          </a:prstGeom>
          <a:solidFill>
            <a:schemeClr val="accent3">
              <a:lumMod val="40000"/>
              <a:lumOff val="60000"/>
            </a:schemeClr>
          </a:solid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APP CC</a:t>
            </a: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84319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a:xfrm>
            <a:off x="6553200" y="5083563"/>
            <a:ext cx="2133600" cy="365125"/>
          </a:xfrm>
        </p:spPr>
        <p:txBody>
          <a:bodyPr/>
          <a:lstStyle/>
          <a:p>
            <a:fld id="{6C159591-2568-4DE8-9BFD-2ABD54E1DEC4}" type="slidenum">
              <a:rPr lang="es-ES" smtClean="0"/>
              <a:pPr/>
              <a:t>13</a:t>
            </a:fld>
            <a:endParaRPr lang="es-ES" dirty="0"/>
          </a:p>
        </p:txBody>
      </p:sp>
      <p:sp>
        <p:nvSpPr>
          <p:cNvPr id="7" name="6 CuadroTexto"/>
          <p:cNvSpPr txBox="1"/>
          <p:nvPr/>
        </p:nvSpPr>
        <p:spPr>
          <a:xfrm>
            <a:off x="267321" y="980728"/>
            <a:ext cx="7112992" cy="369332"/>
          </a:xfrm>
          <a:prstGeom prst="rect">
            <a:avLst/>
          </a:prstGeom>
          <a:noFill/>
        </p:spPr>
        <p:txBody>
          <a:bodyPr wrap="square" rtlCol="0">
            <a:spAutoFit/>
          </a:bodyPr>
          <a:lstStyle/>
          <a:p>
            <a:r>
              <a:rPr lang="es-ES" b="1" dirty="0">
                <a:solidFill>
                  <a:srgbClr val="254061"/>
                </a:solidFill>
              </a:rPr>
              <a:t>CREAR NUEVOS </a:t>
            </a:r>
            <a:r>
              <a:rPr lang="es-ES" b="1" dirty="0" smtClean="0">
                <a:solidFill>
                  <a:srgbClr val="254061"/>
                </a:solidFill>
              </a:rPr>
              <a:t>PASOS</a:t>
            </a:r>
            <a:r>
              <a:rPr lang="es-ES" b="1" dirty="0" smtClean="0">
                <a:solidFill>
                  <a:srgbClr val="254061"/>
                </a:solidFill>
                <a:sym typeface="Wingdings" panose="05000000000000000000" pitchFamily="2" charset="2"/>
              </a:rPr>
              <a:t>3. </a:t>
            </a:r>
            <a:r>
              <a:rPr lang="es-ES" b="1" dirty="0" smtClean="0">
                <a:solidFill>
                  <a:srgbClr val="254061"/>
                </a:solidFill>
              </a:rPr>
              <a:t>TIPO </a:t>
            </a:r>
            <a:r>
              <a:rPr lang="es-ES" b="1" dirty="0">
                <a:solidFill>
                  <a:srgbClr val="254061"/>
                </a:solidFill>
              </a:rPr>
              <a:t>B</a:t>
            </a:r>
            <a:r>
              <a:rPr lang="es-ES" b="1" dirty="0" smtClean="0">
                <a:solidFill>
                  <a:srgbClr val="254061"/>
                </a:solidFill>
              </a:rPr>
              <a:t>: MANUAL I</a:t>
            </a:r>
            <a:endParaRPr lang="en-US" b="1" dirty="0">
              <a:solidFill>
                <a:srgbClr val="254061"/>
              </a:solidFill>
            </a:endParaRPr>
          </a:p>
        </p:txBody>
      </p:sp>
      <p:sp>
        <p:nvSpPr>
          <p:cNvPr id="8" name="7 Rectángulo"/>
          <p:cNvSpPr/>
          <p:nvPr/>
        </p:nvSpPr>
        <p:spPr>
          <a:xfrm>
            <a:off x="179512" y="1556792"/>
            <a:ext cx="8964488" cy="5256584"/>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7800" lvl="1" indent="-177800">
              <a:buFont typeface="Arial" panose="020B0604020202020204" pitchFamily="34" charset="0"/>
              <a:buChar char="•"/>
            </a:pPr>
            <a:r>
              <a:rPr lang="es-ES" sz="1200" b="1" dirty="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B</a:t>
            </a:r>
            <a:r>
              <a:rPr lang="es-ES" sz="1000" dirty="0" smtClean="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a:t>
            </a:r>
            <a:r>
              <a:rPr lang="es-ES" sz="1000" b="1" dirty="0" smtClean="0">
                <a:solidFill>
                  <a:schemeClr val="tx2">
                    <a:lumMod val="60000"/>
                    <a:lumOff val="40000"/>
                  </a:schemeClr>
                </a:solidFill>
                <a:latin typeface="Arial" panose="020B0604020202020204" pitchFamily="34" charset="0"/>
                <a:cs typeface="Arial" panose="020B0604020202020204" pitchFamily="34" charset="0"/>
              </a:rPr>
              <a:t> AZUL</a:t>
            </a:r>
            <a:r>
              <a:rPr lang="es-ES" sz="1000" dirty="0" smtClean="0">
                <a:solidFill>
                  <a:schemeClr val="tx2">
                    <a:lumMod val="60000"/>
                    <a:lumOff val="40000"/>
                  </a:schemeClr>
                </a:solidFill>
                <a:latin typeface="Arial" panose="020B0604020202020204" pitchFamily="34" charset="0"/>
                <a:cs typeface="Arial" panose="020B0604020202020204" pitchFamily="34" charset="0"/>
              </a:rPr>
              <a:t>: </a:t>
            </a:r>
            <a:r>
              <a:rPr lang="es-ES" sz="1000" dirty="0">
                <a:solidFill>
                  <a:schemeClr val="tx2">
                    <a:lumMod val="60000"/>
                    <a:lumOff val="40000"/>
                  </a:schemeClr>
                </a:solidFill>
                <a:latin typeface="Arial" panose="020B0604020202020204" pitchFamily="34" charset="0"/>
                <a:cs typeface="Arial" panose="020B0604020202020204" pitchFamily="34" charset="0"/>
              </a:rPr>
              <a:t>El paso se ha creado de forma </a:t>
            </a:r>
            <a:r>
              <a:rPr lang="es-ES" sz="1000" dirty="0" smtClean="0">
                <a:solidFill>
                  <a:schemeClr val="tx2">
                    <a:lumMod val="60000"/>
                    <a:lumOff val="40000"/>
                  </a:schemeClr>
                </a:solidFill>
                <a:latin typeface="Arial" panose="020B0604020202020204" pitchFamily="34" charset="0"/>
                <a:cs typeface="Arial" panose="020B0604020202020204" pitchFamily="34" charset="0"/>
              </a:rPr>
              <a:t>MANUAL</a:t>
            </a:r>
            <a:endParaRPr lang="es-ES" sz="1000" b="1" dirty="0" smtClean="0">
              <a:solidFill>
                <a:schemeClr val="tx2">
                  <a:lumMod val="60000"/>
                  <a:lumOff val="40000"/>
                </a:schemeClr>
              </a:solidFill>
              <a:latin typeface="Arial" panose="020B0604020202020204" pitchFamily="34" charset="0"/>
              <a:cs typeface="Arial" panose="020B0604020202020204" pitchFamily="34" charset="0"/>
            </a:endParaRPr>
          </a:p>
          <a:p>
            <a:pPr marL="685800" lvl="1" indent="-228600">
              <a:buFont typeface="+mj-lt"/>
              <a:buAutoNum type="arabicPeriod" startAt="3"/>
            </a:pPr>
            <a:r>
              <a:rPr lang="es-ES" sz="1200" b="1" dirty="0">
                <a:solidFill>
                  <a:schemeClr val="tx2">
                    <a:lumMod val="60000"/>
                    <a:lumOff val="40000"/>
                  </a:schemeClr>
                </a:solidFill>
                <a:latin typeface="Arial" panose="020B0604020202020204" pitchFamily="34" charset="0"/>
                <a:cs typeface="Arial" panose="020B0604020202020204" pitchFamily="34" charset="0"/>
              </a:rPr>
              <a:t>TIPO </a:t>
            </a:r>
            <a:r>
              <a:rPr lang="es-ES" sz="1200" b="1" dirty="0" smtClean="0">
                <a:solidFill>
                  <a:schemeClr val="tx2">
                    <a:lumMod val="60000"/>
                    <a:lumOff val="40000"/>
                  </a:schemeClr>
                </a:solidFill>
                <a:latin typeface="Arial" panose="020B0604020202020204" pitchFamily="34" charset="0"/>
                <a:cs typeface="Arial" panose="020B0604020202020204" pitchFamily="34" charset="0"/>
              </a:rPr>
              <a:t>B</a:t>
            </a:r>
            <a:r>
              <a:rPr lang="es-ES" sz="1000" dirty="0" smtClean="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a:t>
            </a:r>
            <a:r>
              <a:rPr lang="es-ES" sz="1000" dirty="0">
                <a:solidFill>
                  <a:schemeClr val="tx2">
                    <a:lumMod val="60000"/>
                    <a:lumOff val="40000"/>
                  </a:schemeClr>
                </a:solidFill>
                <a:latin typeface="Arial" panose="020B0604020202020204" pitchFamily="34" charset="0"/>
                <a:cs typeface="Arial" panose="020B0604020202020204" pitchFamily="34" charset="0"/>
                <a:sym typeface="Wingdings" panose="05000000000000000000" pitchFamily="2" charset="2"/>
              </a:rPr>
              <a:t> </a:t>
            </a:r>
            <a:r>
              <a:rPr lang="es-ES" sz="1000" dirty="0" smtClean="0">
                <a:solidFill>
                  <a:schemeClr val="tx2">
                    <a:lumMod val="60000"/>
                    <a:lumOff val="40000"/>
                  </a:schemeClr>
                </a:solidFill>
                <a:latin typeface="Arial" panose="020B0604020202020204" pitchFamily="34" charset="0"/>
                <a:cs typeface="Arial" panose="020B0604020202020204" pitchFamily="34" charset="0"/>
              </a:rPr>
              <a:t>TODA LA INFORMACIÓN que </a:t>
            </a:r>
            <a:r>
              <a:rPr lang="es-ES" sz="1000" dirty="0">
                <a:solidFill>
                  <a:schemeClr val="tx2">
                    <a:lumMod val="60000"/>
                    <a:lumOff val="40000"/>
                  </a:schemeClr>
                </a:solidFill>
                <a:latin typeface="Arial" panose="020B0604020202020204" pitchFamily="34" charset="0"/>
                <a:cs typeface="Arial" panose="020B0604020202020204" pitchFamily="34" charset="0"/>
              </a:rPr>
              <a:t>se requiere en el eje x, la rellena el solicitante y se visualiza como una caja de texto editable</a:t>
            </a:r>
            <a:r>
              <a:rPr lang="es-ES" sz="1000" dirty="0" smtClean="0">
                <a:solidFill>
                  <a:schemeClr val="tx2">
                    <a:lumMod val="60000"/>
                    <a:lumOff val="40000"/>
                  </a:schemeClr>
                </a:solidFill>
                <a:latin typeface="Arial" panose="020B0604020202020204" pitchFamily="34" charset="0"/>
                <a:cs typeface="Arial" panose="020B0604020202020204" pitchFamily="34" charset="0"/>
              </a:rPr>
              <a:t>.</a:t>
            </a:r>
          </a:p>
          <a:p>
            <a:pPr lvl="1"/>
            <a:endParaRPr lang="es-ES" sz="1000" dirty="0" smtClean="0">
              <a:solidFill>
                <a:srgbClr val="0000FF"/>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a:p>
            <a:pPr lvl="1"/>
            <a:endParaRPr lang="es-ES" sz="1000" dirty="0" smtClean="0">
              <a:solidFill>
                <a:schemeClr val="tx1"/>
              </a:solidFill>
              <a:latin typeface="Arial" panose="020B0604020202020204" pitchFamily="34" charset="0"/>
              <a:cs typeface="Arial" panose="020B0604020202020204" pitchFamily="34" charset="0"/>
            </a:endParaRPr>
          </a:p>
        </p:txBody>
      </p:sp>
      <p:grpSp>
        <p:nvGrpSpPr>
          <p:cNvPr id="5" name="Grupo 4"/>
          <p:cNvGrpSpPr/>
          <p:nvPr/>
        </p:nvGrpSpPr>
        <p:grpSpPr>
          <a:xfrm>
            <a:off x="467544" y="2276872"/>
            <a:ext cx="8125092" cy="3308341"/>
            <a:chOff x="467544" y="2520024"/>
            <a:chExt cx="8125092" cy="3308341"/>
          </a:xfrm>
        </p:grpSpPr>
        <p:pic>
          <p:nvPicPr>
            <p:cNvPr id="3" name="Imagen 2"/>
            <p:cNvPicPr>
              <a:picLocks noChangeAspect="1"/>
            </p:cNvPicPr>
            <p:nvPr/>
          </p:nvPicPr>
          <p:blipFill>
            <a:blip r:embed="rId2"/>
            <a:stretch>
              <a:fillRect/>
            </a:stretch>
          </p:blipFill>
          <p:spPr>
            <a:xfrm>
              <a:off x="467544" y="3501008"/>
              <a:ext cx="8125092" cy="2327357"/>
            </a:xfrm>
            <a:prstGeom prst="rect">
              <a:avLst/>
            </a:prstGeom>
          </p:spPr>
        </p:pic>
        <p:pic>
          <p:nvPicPr>
            <p:cNvPr id="4" name="Imagen 3"/>
            <p:cNvPicPr>
              <a:picLocks noChangeAspect="1"/>
            </p:cNvPicPr>
            <p:nvPr/>
          </p:nvPicPr>
          <p:blipFill>
            <a:blip r:embed="rId3"/>
            <a:stretch>
              <a:fillRect/>
            </a:stretch>
          </p:blipFill>
          <p:spPr>
            <a:xfrm>
              <a:off x="490222" y="2520024"/>
              <a:ext cx="8102414" cy="1016462"/>
            </a:xfrm>
            <a:prstGeom prst="rect">
              <a:avLst/>
            </a:prstGeom>
          </p:spPr>
        </p:pic>
      </p:grpSp>
      <p:sp>
        <p:nvSpPr>
          <p:cNvPr id="15" name="Rectángulo 14"/>
          <p:cNvSpPr/>
          <p:nvPr/>
        </p:nvSpPr>
        <p:spPr>
          <a:xfrm>
            <a:off x="4572000" y="2653125"/>
            <a:ext cx="4020636" cy="6205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7" name="Rectángulo 16"/>
          <p:cNvSpPr/>
          <p:nvPr/>
        </p:nvSpPr>
        <p:spPr>
          <a:xfrm>
            <a:off x="2690747" y="2695182"/>
            <a:ext cx="513101" cy="55249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8" name="Elipse 17"/>
          <p:cNvSpPr/>
          <p:nvPr/>
        </p:nvSpPr>
        <p:spPr>
          <a:xfrm>
            <a:off x="3545142" y="4503270"/>
            <a:ext cx="2655296" cy="543283"/>
          </a:xfrm>
          <a:prstGeom prst="ellipse">
            <a:avLst/>
          </a:prstGeom>
          <a:solidFill>
            <a:srgbClr val="FF0000"/>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smtClean="0">
                <a:solidFill>
                  <a:schemeClr val="tx1"/>
                </a:solidFill>
                <a:latin typeface="Arial" panose="020B0604020202020204" pitchFamily="34" charset="0"/>
                <a:cs typeface="Arial" panose="020B0604020202020204" pitchFamily="34" charset="0"/>
              </a:rPr>
              <a:t>EDITABLE </a:t>
            </a:r>
          </a:p>
        </p:txBody>
      </p:sp>
      <p:cxnSp>
        <p:nvCxnSpPr>
          <p:cNvPr id="19" name="Conector angular 18"/>
          <p:cNvCxnSpPr>
            <a:stCxn id="18" idx="6"/>
            <a:endCxn id="15" idx="2"/>
          </p:cNvCxnSpPr>
          <p:nvPr/>
        </p:nvCxnSpPr>
        <p:spPr>
          <a:xfrm flipV="1">
            <a:off x="6200438" y="3273694"/>
            <a:ext cx="381880" cy="1501218"/>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Conector angular 19"/>
          <p:cNvCxnSpPr>
            <a:stCxn id="18" idx="2"/>
          </p:cNvCxnSpPr>
          <p:nvPr/>
        </p:nvCxnSpPr>
        <p:spPr>
          <a:xfrm rot="10800000">
            <a:off x="2909396" y="3247678"/>
            <a:ext cx="635746" cy="1527235"/>
          </a:xfrm>
          <a:prstGeom prst="bentConnector2">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Elipse 12"/>
          <p:cNvSpPr/>
          <p:nvPr/>
        </p:nvSpPr>
        <p:spPr>
          <a:xfrm>
            <a:off x="899077" y="3936020"/>
            <a:ext cx="1080635" cy="50109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14" name="Elipse 13"/>
          <p:cNvSpPr/>
          <p:nvPr/>
        </p:nvSpPr>
        <p:spPr>
          <a:xfrm>
            <a:off x="899077" y="5084121"/>
            <a:ext cx="1080635" cy="501092"/>
          </a:xfrm>
          <a:prstGeom prst="ellipse">
            <a:avLst/>
          </a:pr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386799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14</a:t>
            </a:fld>
            <a:endParaRPr lang="es-ES" dirty="0"/>
          </a:p>
        </p:txBody>
      </p:sp>
      <p:sp>
        <p:nvSpPr>
          <p:cNvPr id="4" name="3 CuadroTexto"/>
          <p:cNvSpPr txBox="1"/>
          <p:nvPr/>
        </p:nvSpPr>
        <p:spPr>
          <a:xfrm>
            <a:off x="267321" y="980728"/>
            <a:ext cx="6968976" cy="369332"/>
          </a:xfrm>
          <a:prstGeom prst="rect">
            <a:avLst/>
          </a:prstGeom>
          <a:noFill/>
        </p:spPr>
        <p:txBody>
          <a:bodyPr wrap="square" rtlCol="0">
            <a:spAutoFit/>
          </a:bodyPr>
          <a:lstStyle/>
          <a:p>
            <a:r>
              <a:rPr lang="es-ES" b="1" dirty="0">
                <a:solidFill>
                  <a:srgbClr val="254061"/>
                </a:solidFill>
              </a:rPr>
              <a:t>CREAR NUEVOS PASOS</a:t>
            </a:r>
            <a:r>
              <a:rPr lang="es-ES" b="1" dirty="0">
                <a:solidFill>
                  <a:srgbClr val="254061"/>
                </a:solidFill>
                <a:sym typeface="Wingdings" panose="05000000000000000000" pitchFamily="2" charset="2"/>
              </a:rPr>
              <a:t>3. </a:t>
            </a:r>
            <a:r>
              <a:rPr lang="es-ES" b="1" dirty="0">
                <a:solidFill>
                  <a:srgbClr val="254061"/>
                </a:solidFill>
              </a:rPr>
              <a:t>TIPO B: MANUAL </a:t>
            </a:r>
            <a:r>
              <a:rPr lang="es-ES" b="1" dirty="0" smtClean="0">
                <a:solidFill>
                  <a:srgbClr val="254061"/>
                </a:solidFill>
              </a:rPr>
              <a:t>II</a:t>
            </a:r>
            <a:endParaRPr lang="en-US" b="1" dirty="0">
              <a:solidFill>
                <a:srgbClr val="254061"/>
              </a:solidFill>
            </a:endParaRPr>
          </a:p>
        </p:txBody>
      </p:sp>
      <p:pic>
        <p:nvPicPr>
          <p:cNvPr id="1029"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077" y="2372010"/>
            <a:ext cx="2800350" cy="714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5690" y="2283941"/>
            <a:ext cx="3236590" cy="136108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1032"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12" y="3711077"/>
            <a:ext cx="2814904" cy="187027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2" name="11 Rectángulo redondeado"/>
          <p:cNvSpPr/>
          <p:nvPr/>
        </p:nvSpPr>
        <p:spPr>
          <a:xfrm>
            <a:off x="2735796" y="2366993"/>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a:t>
            </a:r>
            <a:endParaRPr lang="es-ES" sz="1400" dirty="0">
              <a:solidFill>
                <a:schemeClr val="tx1"/>
              </a:solidFill>
            </a:endParaRPr>
          </a:p>
        </p:txBody>
      </p:sp>
      <p:sp>
        <p:nvSpPr>
          <p:cNvPr id="13" name="12 Rectángulo redondeado"/>
          <p:cNvSpPr/>
          <p:nvPr/>
        </p:nvSpPr>
        <p:spPr>
          <a:xfrm>
            <a:off x="7164288" y="2827715"/>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2</a:t>
            </a:r>
            <a:endParaRPr lang="es-ES" sz="1400" dirty="0">
              <a:solidFill>
                <a:schemeClr val="tx1"/>
              </a:solidFill>
            </a:endParaRPr>
          </a:p>
        </p:txBody>
      </p:sp>
      <p:sp>
        <p:nvSpPr>
          <p:cNvPr id="14" name="13 Llamada rectangular"/>
          <p:cNvSpPr/>
          <p:nvPr/>
        </p:nvSpPr>
        <p:spPr>
          <a:xfrm>
            <a:off x="1325553" y="3185363"/>
            <a:ext cx="1941759" cy="295361"/>
          </a:xfrm>
          <a:prstGeom prst="wedgeRectCallout">
            <a:avLst>
              <a:gd name="adj1" fmla="val 12872"/>
              <a:gd name="adj2" fmla="val -22717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Añadir un nuevo paso al </a:t>
            </a:r>
            <a:r>
              <a:rPr lang="es-ES" sz="1000" dirty="0" err="1" smtClean="0">
                <a:solidFill>
                  <a:schemeClr val="tx1"/>
                </a:solidFill>
                <a:latin typeface="Arial" panose="020B0604020202020204" pitchFamily="34" charset="0"/>
                <a:cs typeface="Arial" panose="020B0604020202020204" pitchFamily="34" charset="0"/>
              </a:rPr>
              <a:t>cost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group</a:t>
            </a:r>
            <a:endParaRPr lang="es-ES" sz="1000" dirty="0">
              <a:solidFill>
                <a:schemeClr val="tx1"/>
              </a:solidFill>
              <a:latin typeface="Arial" panose="020B0604020202020204" pitchFamily="34" charset="0"/>
              <a:cs typeface="Arial" panose="020B0604020202020204" pitchFamily="34" charset="0"/>
            </a:endParaRPr>
          </a:p>
        </p:txBody>
      </p:sp>
      <p:sp>
        <p:nvSpPr>
          <p:cNvPr id="15" name="14 Rectángulo redondeado"/>
          <p:cNvSpPr/>
          <p:nvPr/>
        </p:nvSpPr>
        <p:spPr>
          <a:xfrm>
            <a:off x="2339752" y="2372010"/>
            <a:ext cx="288032" cy="263500"/>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6" name="15 Llamada rectangular"/>
          <p:cNvSpPr/>
          <p:nvPr/>
        </p:nvSpPr>
        <p:spPr>
          <a:xfrm>
            <a:off x="7073730" y="2283941"/>
            <a:ext cx="1561538" cy="504056"/>
          </a:xfrm>
          <a:prstGeom prst="wedgeRectCallout">
            <a:avLst>
              <a:gd name="adj1" fmla="val -57167"/>
              <a:gd name="adj2" fmla="val 4304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Generar más líneas</a:t>
            </a:r>
            <a:endParaRPr lang="es-ES" sz="1000" dirty="0">
              <a:solidFill>
                <a:schemeClr val="tx1"/>
              </a:solidFill>
              <a:latin typeface="Arial" panose="020B0604020202020204" pitchFamily="34" charset="0"/>
              <a:cs typeface="Arial" panose="020B0604020202020204" pitchFamily="34" charset="0"/>
            </a:endParaRPr>
          </a:p>
        </p:txBody>
      </p:sp>
      <p:sp>
        <p:nvSpPr>
          <p:cNvPr id="17" name="16 Rectángulo redondeado"/>
          <p:cNvSpPr/>
          <p:nvPr/>
        </p:nvSpPr>
        <p:spPr>
          <a:xfrm>
            <a:off x="6516216" y="2657740"/>
            <a:ext cx="412223" cy="263500"/>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1" name="20 Rectángulo redondeado"/>
          <p:cNvSpPr/>
          <p:nvPr/>
        </p:nvSpPr>
        <p:spPr>
          <a:xfrm>
            <a:off x="1377232" y="5823780"/>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3</a:t>
            </a:r>
            <a:endParaRPr lang="es-ES" sz="1400" dirty="0">
              <a:solidFill>
                <a:schemeClr val="tx1"/>
              </a:solidFill>
            </a:endParaRPr>
          </a:p>
        </p:txBody>
      </p:sp>
      <p:sp>
        <p:nvSpPr>
          <p:cNvPr id="22" name="21 Rectángulo redondeado"/>
          <p:cNvSpPr/>
          <p:nvPr/>
        </p:nvSpPr>
        <p:spPr>
          <a:xfrm>
            <a:off x="714440" y="4941168"/>
            <a:ext cx="1867343" cy="344161"/>
          </a:xfrm>
          <a:prstGeom prst="round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3" name="22 Llamada rectangular"/>
          <p:cNvSpPr/>
          <p:nvPr/>
        </p:nvSpPr>
        <p:spPr>
          <a:xfrm>
            <a:off x="1884481" y="5581351"/>
            <a:ext cx="1319368" cy="515962"/>
          </a:xfrm>
          <a:prstGeom prst="wedgeRectCallout">
            <a:avLst>
              <a:gd name="adj1" fmla="val -55236"/>
              <a:gd name="adj2" fmla="val -9750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Añade todos los pasos al </a:t>
            </a:r>
            <a:r>
              <a:rPr lang="es-ES" sz="1000" dirty="0" err="1" smtClean="0">
                <a:solidFill>
                  <a:schemeClr val="tx1"/>
                </a:solidFill>
                <a:latin typeface="Arial" panose="020B0604020202020204" pitchFamily="34" charset="0"/>
                <a:cs typeface="Arial" panose="020B0604020202020204" pitchFamily="34" charset="0"/>
              </a:rPr>
              <a:t>cost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group</a:t>
            </a:r>
            <a:endParaRPr lang="es-ES" sz="1000" dirty="0">
              <a:solidFill>
                <a:schemeClr val="tx1"/>
              </a:solidFill>
              <a:latin typeface="Arial" panose="020B0604020202020204" pitchFamily="34" charset="0"/>
              <a:cs typeface="Arial" panose="020B0604020202020204" pitchFamily="34" charset="0"/>
            </a:endParaRPr>
          </a:p>
        </p:txBody>
      </p:sp>
      <p:pic>
        <p:nvPicPr>
          <p:cNvPr id="1033"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5936" y="4797152"/>
            <a:ext cx="4058306" cy="1867993"/>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Flecha derecha"/>
          <p:cNvSpPr/>
          <p:nvPr/>
        </p:nvSpPr>
        <p:spPr>
          <a:xfrm>
            <a:off x="3338189" y="5731148"/>
            <a:ext cx="504056" cy="229398"/>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183561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9 Rectángulo redondeado"/>
          <p:cNvSpPr/>
          <p:nvPr/>
        </p:nvSpPr>
        <p:spPr>
          <a:xfrm>
            <a:off x="4713559" y="1916832"/>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4</a:t>
            </a:r>
            <a:endParaRPr lang="es-ES" sz="1400" dirty="0">
              <a:solidFill>
                <a:schemeClr val="tx1"/>
              </a:solidFill>
            </a:endParaRPr>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5522325"/>
            <a:ext cx="5638428" cy="642979"/>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Rectángulo"/>
          <p:cNvSpPr/>
          <p:nvPr/>
        </p:nvSpPr>
        <p:spPr>
          <a:xfrm>
            <a:off x="0" y="1556792"/>
            <a:ext cx="4536504" cy="861577"/>
          </a:xfrm>
          <a:prstGeom prst="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a:solidFill>
                  <a:schemeClr val="tx1"/>
                </a:solidFill>
                <a:latin typeface="Arial" panose="020B0604020202020204" pitchFamily="34" charset="0"/>
                <a:cs typeface="Arial" panose="020B0604020202020204" pitchFamily="34" charset="0"/>
              </a:rPr>
              <a:t>Rellenar los campos</a:t>
            </a:r>
          </a:p>
          <a:p>
            <a:pPr marL="228600" indent="-228600">
              <a:buFont typeface="+mj-lt"/>
              <a:buAutoNum type="arabicPeriod"/>
            </a:pPr>
            <a:r>
              <a:rPr lang="es-ES" sz="1000" b="1" dirty="0" err="1" smtClean="0">
                <a:solidFill>
                  <a:schemeClr val="tx1"/>
                </a:solidFill>
                <a:latin typeface="Arial" panose="020B0604020202020204" pitchFamily="34" charset="0"/>
                <a:cs typeface="Arial" panose="020B0604020202020204" pitchFamily="34" charset="0"/>
              </a:rPr>
              <a:t>Offer</a:t>
            </a:r>
            <a:r>
              <a:rPr lang="es-ES" sz="1000" b="1" dirty="0" smtClean="0">
                <a:solidFill>
                  <a:schemeClr val="tx1"/>
                </a:solidFill>
                <a:latin typeface="Arial" panose="020B0604020202020204" pitchFamily="34" charset="0"/>
                <a:cs typeface="Arial" panose="020B0604020202020204" pitchFamily="34" charset="0"/>
              </a:rPr>
              <a:t> Budget</a:t>
            </a:r>
            <a:r>
              <a:rPr lang="es-ES" sz="1000" dirty="0" smtClean="0">
                <a:solidFill>
                  <a:schemeClr val="tx1"/>
                </a:solidFill>
                <a:latin typeface="Arial" panose="020B0604020202020204" pitchFamily="34" charset="0"/>
                <a:cs typeface="Arial" panose="020B0604020202020204" pitchFamily="34" charset="0"/>
              </a:rPr>
              <a:t>: Con el presupuesto de la oferta de nominación</a:t>
            </a:r>
            <a:endParaRPr lang="es-ES" sz="1000" dirty="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s-ES" sz="1000" b="1" dirty="0" smtClean="0">
                <a:solidFill>
                  <a:schemeClr val="tx1"/>
                </a:solidFill>
                <a:latin typeface="Arial" panose="020B0604020202020204" pitchFamily="34" charset="0"/>
                <a:cs typeface="Arial" panose="020B0604020202020204" pitchFamily="34" charset="0"/>
              </a:rPr>
              <a:t>Expenses: </a:t>
            </a:r>
            <a:r>
              <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rPr>
              <a:t>Cantidad que se espera gastar en el trimestre </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señalado.</a:t>
            </a:r>
            <a:r>
              <a:rPr lang="es-ES" sz="1000" dirty="0" smtClean="0">
                <a:solidFill>
                  <a:schemeClr val="tx1"/>
                </a:solidFill>
                <a:latin typeface="Arial" panose="020B0604020202020204" pitchFamily="34" charset="0"/>
                <a:cs typeface="Arial" panose="020B0604020202020204" pitchFamily="34" charset="0"/>
              </a:rPr>
              <a:t> </a:t>
            </a:r>
            <a:endParaRPr lang="es-ES" sz="1000" dirty="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s-ES" sz="1000" b="1" dirty="0" err="1" smtClean="0">
                <a:solidFill>
                  <a:schemeClr val="tx1"/>
                </a:solidFill>
                <a:latin typeface="Arial" panose="020B0604020202020204" pitchFamily="34" charset="0"/>
                <a:cs typeface="Arial" panose="020B0604020202020204" pitchFamily="34" charset="0"/>
              </a:rPr>
              <a:t>Incomes</a:t>
            </a:r>
            <a:r>
              <a:rPr lang="es-ES" sz="1000" dirty="0" smtClean="0">
                <a:solidFill>
                  <a:schemeClr val="tx1"/>
                </a:solidFill>
                <a:latin typeface="Arial" panose="020B0604020202020204" pitchFamily="34" charset="0"/>
                <a:cs typeface="Arial" panose="020B0604020202020204" pitchFamily="34" charset="0"/>
              </a:rPr>
              <a:t>: Cantidad que se espera ingresar el trimestre señalado.</a:t>
            </a:r>
            <a:endParaRPr lang="es-ES" sz="1000" dirty="0">
              <a:solidFill>
                <a:schemeClr val="tx1"/>
              </a:solidFill>
              <a:latin typeface="Arial" panose="020B0604020202020204" pitchFamily="34" charset="0"/>
              <a:cs typeface="Arial" panose="020B0604020202020204" pitchFamily="34" charset="0"/>
            </a:endParaRPr>
          </a:p>
        </p:txBody>
      </p:sp>
      <p:grpSp>
        <p:nvGrpSpPr>
          <p:cNvPr id="2059" name="2058 Grupo"/>
          <p:cNvGrpSpPr/>
          <p:nvPr/>
        </p:nvGrpSpPr>
        <p:grpSpPr>
          <a:xfrm>
            <a:off x="179355" y="2509043"/>
            <a:ext cx="8768036" cy="1424013"/>
            <a:chOff x="179355" y="1932979"/>
            <a:chExt cx="8768036" cy="1424013"/>
          </a:xfrm>
        </p:grpSpPr>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55" y="2235499"/>
              <a:ext cx="8768036" cy="1121493"/>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048" name="2047 Rectángulo redondeado"/>
            <p:cNvSpPr/>
            <p:nvPr/>
          </p:nvSpPr>
          <p:spPr>
            <a:xfrm>
              <a:off x="5579043" y="1932979"/>
              <a:ext cx="1296144" cy="226086"/>
            </a:xfrm>
            <a:prstGeom prst="roundRect">
              <a:avLst/>
            </a:prstGeom>
            <a:solidFill>
              <a:schemeClr val="accent6">
                <a:lumMod val="60000"/>
                <a:lumOff val="4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smtClean="0">
                  <a:solidFill>
                    <a:schemeClr val="tx1"/>
                  </a:solidFill>
                  <a:latin typeface="Arial" panose="020B0604020202020204" pitchFamily="34" charset="0"/>
                  <a:cs typeface="Arial" panose="020B0604020202020204" pitchFamily="34" charset="0"/>
                </a:rPr>
                <a:t>Expenses</a:t>
              </a:r>
            </a:p>
          </p:txBody>
        </p:sp>
        <p:sp>
          <p:nvSpPr>
            <p:cNvPr id="39" name="38 Rectángulo redondeado"/>
            <p:cNvSpPr/>
            <p:nvPr/>
          </p:nvSpPr>
          <p:spPr>
            <a:xfrm>
              <a:off x="7524328" y="1933485"/>
              <a:ext cx="1296144" cy="226086"/>
            </a:xfrm>
            <a:prstGeom prst="roundRect">
              <a:avLst/>
            </a:prstGeom>
            <a:solidFill>
              <a:schemeClr val="accent3">
                <a:lumMod val="75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err="1" smtClean="0">
                  <a:solidFill>
                    <a:schemeClr val="tx1"/>
                  </a:solidFill>
                  <a:latin typeface="Arial" panose="020B0604020202020204" pitchFamily="34" charset="0"/>
                  <a:cs typeface="Arial" panose="020B0604020202020204" pitchFamily="34" charset="0"/>
                </a:rPr>
                <a:t>Incomes</a:t>
              </a:r>
              <a:endParaRPr lang="es-ES" sz="1000" i="1" dirty="0" smtClean="0">
                <a:solidFill>
                  <a:schemeClr val="tx1"/>
                </a:solidFill>
                <a:latin typeface="Arial" panose="020B0604020202020204" pitchFamily="34" charset="0"/>
                <a:cs typeface="Arial" panose="020B0604020202020204" pitchFamily="34" charset="0"/>
              </a:endParaRPr>
            </a:p>
          </p:txBody>
        </p:sp>
        <p:sp>
          <p:nvSpPr>
            <p:cNvPr id="40" name="39 Rectángulo redondeado"/>
            <p:cNvSpPr/>
            <p:nvPr/>
          </p:nvSpPr>
          <p:spPr>
            <a:xfrm>
              <a:off x="2578095" y="1932979"/>
              <a:ext cx="1083006" cy="226086"/>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err="1" smtClean="0">
                  <a:solidFill>
                    <a:schemeClr val="tx1"/>
                  </a:solidFill>
                  <a:latin typeface="Arial" panose="020B0604020202020204" pitchFamily="34" charset="0"/>
                  <a:cs typeface="Arial" panose="020B0604020202020204" pitchFamily="34" charset="0"/>
                </a:rPr>
                <a:t>Offer</a:t>
              </a:r>
              <a:r>
                <a:rPr lang="es-ES" sz="1000" i="1" dirty="0" smtClean="0">
                  <a:solidFill>
                    <a:schemeClr val="tx1"/>
                  </a:solidFill>
                  <a:latin typeface="Arial" panose="020B0604020202020204" pitchFamily="34" charset="0"/>
                  <a:cs typeface="Arial" panose="020B0604020202020204" pitchFamily="34" charset="0"/>
                </a:rPr>
                <a:t> Budget</a:t>
              </a:r>
            </a:p>
          </p:txBody>
        </p:sp>
      </p:grpSp>
      <p:sp>
        <p:nvSpPr>
          <p:cNvPr id="42" name="41 Rectángulo"/>
          <p:cNvSpPr/>
          <p:nvPr/>
        </p:nvSpPr>
        <p:spPr>
          <a:xfrm>
            <a:off x="4472548" y="4928733"/>
            <a:ext cx="3385618" cy="519350"/>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Las Columnas “</a:t>
            </a:r>
            <a:r>
              <a:rPr lang="es-ES" sz="1000"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expenses”e</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incomes</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están por defecto contraídas. Se hacen visibles cuando se pulsa sobre el año.</a:t>
            </a:r>
            <a:endParaRPr lang="es-ES" sz="1000" i="1"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sp>
        <p:nvSpPr>
          <p:cNvPr id="43" name="42 CuadroTexto"/>
          <p:cNvSpPr txBox="1"/>
          <p:nvPr/>
        </p:nvSpPr>
        <p:spPr>
          <a:xfrm>
            <a:off x="267321" y="980728"/>
            <a:ext cx="7112992" cy="369332"/>
          </a:xfrm>
          <a:prstGeom prst="rect">
            <a:avLst/>
          </a:prstGeom>
          <a:noFill/>
        </p:spPr>
        <p:txBody>
          <a:bodyPr wrap="square" rtlCol="0">
            <a:spAutoFit/>
          </a:bodyPr>
          <a:lstStyle/>
          <a:p>
            <a:r>
              <a:rPr lang="es-ES" b="1" dirty="0">
                <a:solidFill>
                  <a:srgbClr val="254061"/>
                </a:solidFill>
              </a:rPr>
              <a:t>CREAR NUEVOS PASOS</a:t>
            </a:r>
            <a:r>
              <a:rPr lang="es-ES" b="1" dirty="0">
                <a:solidFill>
                  <a:srgbClr val="254061"/>
                </a:solidFill>
                <a:sym typeface="Wingdings" panose="05000000000000000000" pitchFamily="2" charset="2"/>
              </a:rPr>
              <a:t>3. </a:t>
            </a:r>
            <a:r>
              <a:rPr lang="es-ES" b="1" dirty="0">
                <a:solidFill>
                  <a:srgbClr val="254061"/>
                </a:solidFill>
              </a:rPr>
              <a:t>TIPO B: MANUAL </a:t>
            </a:r>
            <a:r>
              <a:rPr lang="es-ES" b="1" dirty="0" smtClean="0">
                <a:solidFill>
                  <a:srgbClr val="254061"/>
                </a:solidFill>
              </a:rPr>
              <a:t>III</a:t>
            </a:r>
            <a:endParaRPr lang="en-US" b="1" dirty="0">
              <a:solidFill>
                <a:srgbClr val="254061"/>
              </a:solidFill>
            </a:endParaRPr>
          </a:p>
        </p:txBody>
      </p:sp>
      <p:sp>
        <p:nvSpPr>
          <p:cNvPr id="2057" name="2056 Flecha derecha"/>
          <p:cNvSpPr/>
          <p:nvPr/>
        </p:nvSpPr>
        <p:spPr>
          <a:xfrm rot="7222199">
            <a:off x="6530551" y="5349951"/>
            <a:ext cx="441744" cy="344746"/>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796411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16</a:t>
            </a:fld>
            <a:endParaRPr lang="es-ES" dirty="0"/>
          </a:p>
        </p:txBody>
      </p:sp>
      <p:sp>
        <p:nvSpPr>
          <p:cNvPr id="4" name="1 Marcador de número de diapositiva"/>
          <p:cNvSpPr txBox="1">
            <a:spLocks/>
          </p:cNvSpPr>
          <p:nvPr/>
        </p:nvSpPr>
        <p:spPr>
          <a:xfrm>
            <a:off x="6553200" y="6356350"/>
            <a:ext cx="21336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159591-2568-4DE8-9BFD-2ABD54E1DEC4}" type="slidenum">
              <a:rPr lang="es-ES" smtClean="0"/>
              <a:pPr/>
              <a:t>16</a:t>
            </a:fld>
            <a:endParaRPr lang="es-ES" dirty="0"/>
          </a:p>
        </p:txBody>
      </p:sp>
      <p:sp>
        <p:nvSpPr>
          <p:cNvPr id="5" name="4 Rectángulo redondeado"/>
          <p:cNvSpPr/>
          <p:nvPr/>
        </p:nvSpPr>
        <p:spPr>
          <a:xfrm>
            <a:off x="2699792" y="2241586"/>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5</a:t>
            </a:r>
            <a:endParaRPr lang="es-ES" sz="1400" dirty="0">
              <a:solidFill>
                <a:schemeClr val="tx1"/>
              </a:solidFill>
            </a:endParaRPr>
          </a:p>
        </p:txBody>
      </p:sp>
      <p:pic>
        <p:nvPicPr>
          <p:cNvPr id="7"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4591" y="4509120"/>
            <a:ext cx="7014386" cy="1045021"/>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8" name="7 Rectángulo redondeado"/>
          <p:cNvSpPr/>
          <p:nvPr/>
        </p:nvSpPr>
        <p:spPr>
          <a:xfrm>
            <a:off x="6732240" y="5585103"/>
            <a:ext cx="1300768" cy="22076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a:solidFill>
                  <a:schemeClr val="tx1"/>
                </a:solidFill>
                <a:latin typeface="Arial" panose="020B0604020202020204" pitchFamily="34" charset="0"/>
                <a:cs typeface="Arial" panose="020B0604020202020204" pitchFamily="34" charset="0"/>
              </a:rPr>
              <a:t>Budget </a:t>
            </a:r>
            <a:r>
              <a:rPr lang="es-ES" sz="1000" i="1" dirty="0" err="1">
                <a:solidFill>
                  <a:schemeClr val="tx1"/>
                </a:solidFill>
                <a:latin typeface="Arial" panose="020B0604020202020204" pitchFamily="34" charset="0"/>
                <a:cs typeface="Arial" panose="020B0604020202020204" pitchFamily="34" charset="0"/>
              </a:rPr>
              <a:t>Approved</a:t>
            </a:r>
            <a:endParaRPr lang="es-ES" sz="1000" i="1" dirty="0">
              <a:solidFill>
                <a:schemeClr val="tx1"/>
              </a:solidFill>
              <a:latin typeface="Arial" panose="020B0604020202020204" pitchFamily="34" charset="0"/>
              <a:cs typeface="Arial" panose="020B0604020202020204" pitchFamily="34" charset="0"/>
            </a:endParaRPr>
          </a:p>
        </p:txBody>
      </p:sp>
      <p:sp>
        <p:nvSpPr>
          <p:cNvPr id="9" name="8 Rectángulo redondeado"/>
          <p:cNvSpPr/>
          <p:nvPr/>
        </p:nvSpPr>
        <p:spPr>
          <a:xfrm>
            <a:off x="4970356" y="5616388"/>
            <a:ext cx="1202414" cy="189482"/>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err="1" smtClean="0">
                <a:solidFill>
                  <a:schemeClr val="tx1"/>
                </a:solidFill>
                <a:latin typeface="Arial" panose="020B0604020202020204" pitchFamily="34" charset="0"/>
                <a:cs typeface="Arial" panose="020B0604020202020204" pitchFamily="34" charset="0"/>
              </a:rPr>
              <a:t>Paid</a:t>
            </a:r>
            <a:r>
              <a:rPr lang="es-ES" sz="1000" i="1" dirty="0" smtClean="0">
                <a:solidFill>
                  <a:schemeClr val="tx1"/>
                </a:solidFill>
                <a:latin typeface="Arial" panose="020B0604020202020204" pitchFamily="34" charset="0"/>
                <a:cs typeface="Arial" panose="020B0604020202020204" pitchFamily="34" charset="0"/>
              </a:rPr>
              <a:t> </a:t>
            </a:r>
            <a:r>
              <a:rPr lang="es-ES" sz="1000" i="1" dirty="0" err="1" smtClean="0">
                <a:solidFill>
                  <a:schemeClr val="tx1"/>
                </a:solidFill>
                <a:latin typeface="Arial" panose="020B0604020202020204" pitchFamily="34" charset="0"/>
                <a:cs typeface="Arial" panose="020B0604020202020204" pitchFamily="34" charset="0"/>
              </a:rPr>
              <a:t>by</a:t>
            </a:r>
            <a:r>
              <a:rPr lang="es-ES" sz="1000" i="1" dirty="0" smtClean="0">
                <a:solidFill>
                  <a:schemeClr val="tx1"/>
                </a:solidFill>
                <a:latin typeface="Arial" panose="020B0604020202020204" pitchFamily="34" charset="0"/>
                <a:cs typeface="Arial" panose="020B0604020202020204" pitchFamily="34" charset="0"/>
              </a:rPr>
              <a:t> </a:t>
            </a:r>
            <a:r>
              <a:rPr lang="es-ES" sz="1000" i="1" dirty="0" err="1" smtClean="0">
                <a:solidFill>
                  <a:schemeClr val="tx1"/>
                </a:solidFill>
                <a:latin typeface="Arial" panose="020B0604020202020204" pitchFamily="34" charset="0"/>
                <a:cs typeface="Arial" panose="020B0604020202020204" pitchFamily="34" charset="0"/>
              </a:rPr>
              <a:t>customer</a:t>
            </a:r>
            <a:endParaRPr lang="es-ES" sz="1000" i="1" dirty="0">
              <a:solidFill>
                <a:schemeClr val="tx1"/>
              </a:solidFill>
              <a:latin typeface="Arial" panose="020B0604020202020204" pitchFamily="34" charset="0"/>
              <a:cs typeface="Arial" panose="020B0604020202020204" pitchFamily="34" charset="0"/>
            </a:endParaRPr>
          </a:p>
        </p:txBody>
      </p:sp>
      <p:sp>
        <p:nvSpPr>
          <p:cNvPr id="10" name="9 Rectángulo redondeado"/>
          <p:cNvSpPr/>
          <p:nvPr/>
        </p:nvSpPr>
        <p:spPr>
          <a:xfrm>
            <a:off x="5881739" y="4149080"/>
            <a:ext cx="641363" cy="229299"/>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000" i="1" dirty="0" smtClean="0">
                <a:solidFill>
                  <a:schemeClr val="tx1"/>
                </a:solidFill>
                <a:latin typeface="Arial" panose="020B0604020202020204" pitchFamily="34" charset="0"/>
                <a:cs typeface="Arial" panose="020B0604020202020204" pitchFamily="34" charset="0"/>
              </a:rPr>
              <a:t>Target</a:t>
            </a:r>
            <a:endParaRPr lang="es-ES" sz="1000" i="1" dirty="0">
              <a:solidFill>
                <a:schemeClr val="tx1"/>
              </a:solidFill>
              <a:latin typeface="Arial" panose="020B0604020202020204" pitchFamily="34" charset="0"/>
              <a:cs typeface="Arial" panose="020B0604020202020204" pitchFamily="34" charset="0"/>
            </a:endParaRPr>
          </a:p>
        </p:txBody>
      </p:sp>
      <p:sp>
        <p:nvSpPr>
          <p:cNvPr id="11" name="10 Rectángulo"/>
          <p:cNvSpPr/>
          <p:nvPr/>
        </p:nvSpPr>
        <p:spPr>
          <a:xfrm>
            <a:off x="3203849" y="2850345"/>
            <a:ext cx="5482952" cy="1082711"/>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Al Guardar, se rellenan automáticamente los campos: </a:t>
            </a:r>
          </a:p>
          <a:p>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Paid</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by</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customer</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suma los </a:t>
            </a:r>
            <a:r>
              <a:rPr lang="es-ES" sz="1000"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incomes</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de todos los años)</a:t>
            </a:r>
          </a:p>
          <a:p>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Budget </a:t>
            </a:r>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Approved</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suma los expenses de todos los años)</a:t>
            </a:r>
          </a:p>
          <a:p>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Target </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aplica una fórmula dependiendo del tipo de coste: horas, utillaje, inversión…</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pic>
        <p:nvPicPr>
          <p:cNvPr id="12"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1844823"/>
            <a:ext cx="2088232" cy="1340593"/>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3" name="12 Llamada rectangular"/>
          <p:cNvSpPr/>
          <p:nvPr/>
        </p:nvSpPr>
        <p:spPr>
          <a:xfrm>
            <a:off x="1127452" y="3284984"/>
            <a:ext cx="1368660" cy="504056"/>
          </a:xfrm>
          <a:prstGeom prst="wedgeRectCallout">
            <a:avLst>
              <a:gd name="adj1" fmla="val -64620"/>
              <a:gd name="adj2" fmla="val -123525"/>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Guardar los valores</a:t>
            </a:r>
            <a:endParaRPr lang="es-ES" sz="1000" dirty="0">
              <a:solidFill>
                <a:schemeClr val="tx1"/>
              </a:solidFill>
              <a:latin typeface="Arial" panose="020B0604020202020204" pitchFamily="34" charset="0"/>
              <a:cs typeface="Arial" panose="020B0604020202020204" pitchFamily="34" charset="0"/>
            </a:endParaRPr>
          </a:p>
        </p:txBody>
      </p:sp>
      <p:sp>
        <p:nvSpPr>
          <p:cNvPr id="14" name="13 CuadroTexto"/>
          <p:cNvSpPr txBox="1"/>
          <p:nvPr/>
        </p:nvSpPr>
        <p:spPr>
          <a:xfrm>
            <a:off x="267321" y="980728"/>
            <a:ext cx="7115304" cy="369332"/>
          </a:xfrm>
          <a:prstGeom prst="rect">
            <a:avLst/>
          </a:prstGeom>
          <a:noFill/>
        </p:spPr>
        <p:txBody>
          <a:bodyPr wrap="square" rtlCol="0">
            <a:spAutoFit/>
          </a:bodyPr>
          <a:lstStyle/>
          <a:p>
            <a:r>
              <a:rPr lang="es-ES" b="1" dirty="0">
                <a:solidFill>
                  <a:srgbClr val="254061"/>
                </a:solidFill>
              </a:rPr>
              <a:t>CREAR NUEVOS PASOS</a:t>
            </a:r>
            <a:r>
              <a:rPr lang="es-ES" b="1" dirty="0">
                <a:solidFill>
                  <a:srgbClr val="254061"/>
                </a:solidFill>
                <a:sym typeface="Wingdings" panose="05000000000000000000" pitchFamily="2" charset="2"/>
              </a:rPr>
              <a:t>3. </a:t>
            </a:r>
            <a:r>
              <a:rPr lang="es-ES" b="1" dirty="0">
                <a:solidFill>
                  <a:srgbClr val="254061"/>
                </a:solidFill>
              </a:rPr>
              <a:t>TIPO B: MANUAL </a:t>
            </a:r>
            <a:r>
              <a:rPr lang="es-ES" b="1" dirty="0" smtClean="0">
                <a:solidFill>
                  <a:srgbClr val="254061"/>
                </a:solidFill>
              </a:rPr>
              <a:t>IV</a:t>
            </a:r>
            <a:endParaRPr lang="en-US" b="1" dirty="0">
              <a:solidFill>
                <a:srgbClr val="254061"/>
              </a:solidFill>
            </a:endParaRPr>
          </a:p>
        </p:txBody>
      </p:sp>
    </p:spTree>
    <p:extLst>
      <p:ext uri="{BB962C8B-B14F-4D97-AF65-F5344CB8AC3E}">
        <p14:creationId xmlns:p14="http://schemas.microsoft.com/office/powerpoint/2010/main" val="254111355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17</a:t>
            </a:fld>
            <a:endParaRPr lang="es-E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411" y="2488570"/>
            <a:ext cx="5144666" cy="167165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CuadroTexto"/>
          <p:cNvSpPr txBox="1"/>
          <p:nvPr/>
        </p:nvSpPr>
        <p:spPr>
          <a:xfrm>
            <a:off x="267320" y="980728"/>
            <a:ext cx="7062135" cy="369332"/>
          </a:xfrm>
          <a:prstGeom prst="rect">
            <a:avLst/>
          </a:prstGeom>
          <a:noFill/>
        </p:spPr>
        <p:txBody>
          <a:bodyPr wrap="square" rtlCol="0">
            <a:spAutoFit/>
          </a:bodyPr>
          <a:lstStyle/>
          <a:p>
            <a:r>
              <a:rPr lang="es-ES" b="1" dirty="0">
                <a:solidFill>
                  <a:srgbClr val="254061"/>
                </a:solidFill>
              </a:rPr>
              <a:t>EDITAR  </a:t>
            </a:r>
            <a:r>
              <a:rPr lang="es-ES" b="1" dirty="0" smtClean="0">
                <a:solidFill>
                  <a:srgbClr val="254061"/>
                </a:solidFill>
              </a:rPr>
              <a:t>SOLICITUD - ABREVIATURA PARA NOMBRE DE PROYECTO</a:t>
            </a:r>
            <a:endParaRPr lang="en-US" b="1" dirty="0">
              <a:solidFill>
                <a:srgbClr val="254061"/>
              </a:solidFill>
            </a:endParaRPr>
          </a:p>
        </p:txBody>
      </p:sp>
      <p:sp>
        <p:nvSpPr>
          <p:cNvPr id="6" name="5 Rectángulo"/>
          <p:cNvSpPr/>
          <p:nvPr/>
        </p:nvSpPr>
        <p:spPr>
          <a:xfrm>
            <a:off x="179512" y="1505611"/>
            <a:ext cx="8424935" cy="650572"/>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La abreviatura del proyecto es el nombre que precederá a todos los pasos en XPERT. La limitación de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Xpert</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para dar nombre a un paso son 40 caracteres en los que se debe incluir el código y esta abreviatura del proyecto. </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sp>
        <p:nvSpPr>
          <p:cNvPr id="7" name="6 Rectángulo redondeado"/>
          <p:cNvSpPr/>
          <p:nvPr/>
        </p:nvSpPr>
        <p:spPr>
          <a:xfrm>
            <a:off x="5004048" y="2780928"/>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10</a:t>
            </a:r>
            <a:endParaRPr lang="es-ES" sz="1400" dirty="0">
              <a:solidFill>
                <a:schemeClr val="tx1"/>
              </a:solidFill>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4149080"/>
            <a:ext cx="4280942" cy="19946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8 Llamada rectangular"/>
          <p:cNvSpPr/>
          <p:nvPr/>
        </p:nvSpPr>
        <p:spPr>
          <a:xfrm>
            <a:off x="5767917" y="2405097"/>
            <a:ext cx="1561538" cy="504056"/>
          </a:xfrm>
          <a:prstGeom prst="wedgeRectCallout">
            <a:avLst>
              <a:gd name="adj1" fmla="val -57167"/>
              <a:gd name="adj2" fmla="val 43041"/>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Editar abreviatura de proyecto</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9162500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18</a:t>
            </a:fld>
            <a:endParaRPr lang="es-ES" dirty="0"/>
          </a:p>
        </p:txBody>
      </p:sp>
      <p:sp>
        <p:nvSpPr>
          <p:cNvPr id="4" name="3 CuadroTexto"/>
          <p:cNvSpPr txBox="1"/>
          <p:nvPr/>
        </p:nvSpPr>
        <p:spPr>
          <a:xfrm>
            <a:off x="267321" y="980728"/>
            <a:ext cx="7040984" cy="369332"/>
          </a:xfrm>
          <a:prstGeom prst="rect">
            <a:avLst/>
          </a:prstGeom>
          <a:noFill/>
        </p:spPr>
        <p:txBody>
          <a:bodyPr wrap="square" rtlCol="0">
            <a:spAutoFit/>
          </a:bodyPr>
          <a:lstStyle/>
          <a:p>
            <a:r>
              <a:rPr lang="es-ES" b="1" dirty="0" smtClean="0">
                <a:solidFill>
                  <a:srgbClr val="254061"/>
                </a:solidFill>
              </a:rPr>
              <a:t>ENVÍO A VALIDACIÓN (PASOS)- SELECCIÓN DE LOS PASOS</a:t>
            </a:r>
            <a:endParaRPr lang="en-US" b="1" dirty="0">
              <a:solidFill>
                <a:srgbClr val="254061"/>
              </a:solidFill>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1916832"/>
            <a:ext cx="7172604" cy="4235252"/>
          </a:xfrm>
          <a:prstGeom prst="rect">
            <a:avLst/>
          </a:prstGeom>
          <a:noFill/>
          <a:ln w="317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6" name="5 Rectángulo"/>
          <p:cNvSpPr/>
          <p:nvPr/>
        </p:nvSpPr>
        <p:spPr>
          <a:xfrm>
            <a:off x="1331640" y="3284984"/>
            <a:ext cx="288032" cy="2867100"/>
          </a:xfrm>
          <a:prstGeom prst="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8" name="7 Rectángulo redondeado"/>
          <p:cNvSpPr/>
          <p:nvPr/>
        </p:nvSpPr>
        <p:spPr>
          <a:xfrm>
            <a:off x="827738" y="3436609"/>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11</a:t>
            </a:r>
            <a:endParaRPr lang="es-ES" sz="1400" dirty="0">
              <a:solidFill>
                <a:schemeClr val="tx1"/>
              </a:solidFill>
            </a:endParaRPr>
          </a:p>
        </p:txBody>
      </p:sp>
      <p:sp>
        <p:nvSpPr>
          <p:cNvPr id="9" name="8 Llamada rectangular"/>
          <p:cNvSpPr/>
          <p:nvPr/>
        </p:nvSpPr>
        <p:spPr>
          <a:xfrm>
            <a:off x="2483768" y="2996951"/>
            <a:ext cx="1368152" cy="879317"/>
          </a:xfrm>
          <a:prstGeom prst="wedgeRectCallout">
            <a:avLst>
              <a:gd name="adj1" fmla="val -115985"/>
              <a:gd name="adj2" fmla="val 8972"/>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Seleccionar todos los pasos que se solicitan abrir/modificar en esta validación</a:t>
            </a:r>
            <a:endParaRPr lang="es-ES" sz="1000" dirty="0">
              <a:solidFill>
                <a:schemeClr val="tx1"/>
              </a:solidFill>
              <a:latin typeface="Arial" panose="020B0604020202020204" pitchFamily="34" charset="0"/>
              <a:cs typeface="Arial" panose="020B0604020202020204"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79477" y="2290217"/>
            <a:ext cx="752364" cy="26491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22771" y="1943861"/>
            <a:ext cx="2001788" cy="27873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9 Rectángulo"/>
          <p:cNvSpPr/>
          <p:nvPr/>
        </p:nvSpPr>
        <p:spPr>
          <a:xfrm>
            <a:off x="1314777" y="2296038"/>
            <a:ext cx="664935" cy="259095"/>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1" name="10 Rectángulo"/>
          <p:cNvSpPr/>
          <p:nvPr/>
        </p:nvSpPr>
        <p:spPr>
          <a:xfrm>
            <a:off x="1331641" y="4221088"/>
            <a:ext cx="216024" cy="193099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11 Rectángulo"/>
          <p:cNvSpPr/>
          <p:nvPr/>
        </p:nvSpPr>
        <p:spPr>
          <a:xfrm>
            <a:off x="1347686" y="3475939"/>
            <a:ext cx="216024" cy="15240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12 Rectángulo redondeado"/>
          <p:cNvSpPr/>
          <p:nvPr/>
        </p:nvSpPr>
        <p:spPr>
          <a:xfrm>
            <a:off x="1979360" y="2550990"/>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12</a:t>
            </a:r>
            <a:endParaRPr lang="es-ES" sz="1400" dirty="0">
              <a:solidFill>
                <a:schemeClr val="tx1"/>
              </a:solidFill>
            </a:endParaRPr>
          </a:p>
        </p:txBody>
      </p:sp>
      <p:sp>
        <p:nvSpPr>
          <p:cNvPr id="14" name="13 Llamada rectangular"/>
          <p:cNvSpPr/>
          <p:nvPr/>
        </p:nvSpPr>
        <p:spPr>
          <a:xfrm>
            <a:off x="3232046" y="2531435"/>
            <a:ext cx="1239747" cy="312642"/>
          </a:xfrm>
          <a:prstGeom prst="wedgeRectCallout">
            <a:avLst>
              <a:gd name="adj1" fmla="val -115985"/>
              <a:gd name="adj2" fmla="val 8972"/>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Send</a:t>
            </a:r>
            <a:r>
              <a:rPr lang="es-ES" sz="1000" dirty="0" smtClean="0">
                <a:solidFill>
                  <a:schemeClr val="tx1"/>
                </a:solidFill>
                <a:latin typeface="Arial" panose="020B0604020202020204" pitchFamily="34" charset="0"/>
                <a:cs typeface="Arial" panose="020B0604020202020204" pitchFamily="34" charset="0"/>
              </a:rPr>
              <a:t> to </a:t>
            </a:r>
            <a:r>
              <a:rPr lang="es-ES" sz="1000" dirty="0" err="1" smtClean="0">
                <a:solidFill>
                  <a:schemeClr val="tx1"/>
                </a:solidFill>
                <a:latin typeface="Arial" panose="020B0604020202020204" pitchFamily="34" charset="0"/>
                <a:cs typeface="Arial" panose="020B0604020202020204" pitchFamily="34" charset="0"/>
              </a:rPr>
              <a:t>validate</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456869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o 10"/>
          <p:cNvGrpSpPr/>
          <p:nvPr/>
        </p:nvGrpSpPr>
        <p:grpSpPr>
          <a:xfrm>
            <a:off x="467544" y="1556792"/>
            <a:ext cx="8209259" cy="3903422"/>
            <a:chOff x="467544" y="1556792"/>
            <a:chExt cx="8209259" cy="3903422"/>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1556792"/>
              <a:ext cx="8209259" cy="390342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4" name="Imagen 3"/>
            <p:cNvPicPr>
              <a:picLocks noChangeAspect="1"/>
            </p:cNvPicPr>
            <p:nvPr/>
          </p:nvPicPr>
          <p:blipFill>
            <a:blip r:embed="rId3"/>
            <a:stretch>
              <a:fillRect/>
            </a:stretch>
          </p:blipFill>
          <p:spPr>
            <a:xfrm>
              <a:off x="5508104" y="3096497"/>
              <a:ext cx="196364" cy="90000"/>
            </a:xfrm>
            <a:prstGeom prst="rect">
              <a:avLst/>
            </a:prstGeom>
          </p:spPr>
        </p:pic>
        <p:pic>
          <p:nvPicPr>
            <p:cNvPr id="8" name="Imagen 7"/>
            <p:cNvPicPr>
              <a:picLocks noChangeAspect="1"/>
            </p:cNvPicPr>
            <p:nvPr/>
          </p:nvPicPr>
          <p:blipFill>
            <a:blip r:embed="rId4"/>
            <a:stretch>
              <a:fillRect/>
            </a:stretch>
          </p:blipFill>
          <p:spPr>
            <a:xfrm>
              <a:off x="6285504" y="3563971"/>
              <a:ext cx="535392" cy="169428"/>
            </a:xfrm>
            <a:prstGeom prst="rect">
              <a:avLst/>
            </a:prstGeom>
          </p:spPr>
        </p:pic>
      </p:grpSp>
      <p:sp>
        <p:nvSpPr>
          <p:cNvPr id="3" name="2 Marcador de número de diapositiva"/>
          <p:cNvSpPr>
            <a:spLocks noGrp="1"/>
          </p:cNvSpPr>
          <p:nvPr>
            <p:ph type="sldNum" sz="quarter" idx="12"/>
          </p:nvPr>
        </p:nvSpPr>
        <p:spPr/>
        <p:txBody>
          <a:bodyPr/>
          <a:lstStyle/>
          <a:p>
            <a:fld id="{132FADFE-3B8F-471C-ABF0-DBC7717ECBBC}" type="slidenum">
              <a:rPr lang="es-ES" smtClean="0"/>
              <a:pPr/>
              <a:t>19</a:t>
            </a:fld>
            <a:endParaRPr lang="es-ES"/>
          </a:p>
        </p:txBody>
      </p:sp>
      <p:sp>
        <p:nvSpPr>
          <p:cNvPr id="5" name="4 CuadroTexto"/>
          <p:cNvSpPr txBox="1"/>
          <p:nvPr/>
        </p:nvSpPr>
        <p:spPr>
          <a:xfrm>
            <a:off x="267321" y="980728"/>
            <a:ext cx="7833072" cy="369332"/>
          </a:xfrm>
          <a:prstGeom prst="rect">
            <a:avLst/>
          </a:prstGeom>
          <a:noFill/>
        </p:spPr>
        <p:txBody>
          <a:bodyPr wrap="square" rtlCol="0">
            <a:spAutoFit/>
          </a:bodyPr>
          <a:lstStyle/>
          <a:p>
            <a:r>
              <a:rPr lang="es-ES" b="1" dirty="0" smtClean="0">
                <a:solidFill>
                  <a:srgbClr val="254061"/>
                </a:solidFill>
              </a:rPr>
              <a:t>ENVÍO A </a:t>
            </a:r>
            <a:r>
              <a:rPr lang="es-ES" b="1" dirty="0">
                <a:solidFill>
                  <a:srgbClr val="254061"/>
                </a:solidFill>
              </a:rPr>
              <a:t>VALIDACIÓN </a:t>
            </a:r>
            <a:r>
              <a:rPr lang="es-ES" b="1" dirty="0" smtClean="0">
                <a:solidFill>
                  <a:srgbClr val="254061"/>
                </a:solidFill>
              </a:rPr>
              <a:t>(PASOS) - PÁGINA STEPS VALIDATION SENDING - I</a:t>
            </a:r>
            <a:endParaRPr lang="en-US" b="1" dirty="0">
              <a:solidFill>
                <a:srgbClr val="254061"/>
              </a:solidFill>
            </a:endParaRPr>
          </a:p>
        </p:txBody>
      </p:sp>
      <p:sp>
        <p:nvSpPr>
          <p:cNvPr id="6" name="5 Rectángulo redondeado"/>
          <p:cNvSpPr/>
          <p:nvPr/>
        </p:nvSpPr>
        <p:spPr>
          <a:xfrm>
            <a:off x="2908908" y="1969052"/>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13</a:t>
            </a:r>
            <a:endParaRPr lang="es-ES" sz="1400" dirty="0">
              <a:solidFill>
                <a:schemeClr val="tx1"/>
              </a:solidFill>
            </a:endParaRPr>
          </a:p>
        </p:txBody>
      </p:sp>
      <p:sp>
        <p:nvSpPr>
          <p:cNvPr id="7" name="6 Llamada rectangular"/>
          <p:cNvSpPr/>
          <p:nvPr/>
        </p:nvSpPr>
        <p:spPr>
          <a:xfrm>
            <a:off x="3995936" y="1484784"/>
            <a:ext cx="3240360" cy="1008112"/>
          </a:xfrm>
          <a:prstGeom prst="wedgeRectCallout">
            <a:avLst>
              <a:gd name="adj1" fmla="val -73971"/>
              <a:gd name="adj2" fmla="val 16453"/>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Rellenar Campos</a:t>
            </a:r>
          </a:p>
          <a:p>
            <a:pPr marL="228600" indent="-228600">
              <a:buFont typeface="+mj-lt"/>
              <a:buAutoNum type="arabicPeriod"/>
            </a:pPr>
            <a:r>
              <a:rPr lang="es-ES" sz="1000" dirty="0" smtClean="0">
                <a:solidFill>
                  <a:schemeClr val="tx1"/>
                </a:solidFill>
                <a:latin typeface="Arial" panose="020B0604020202020204" pitchFamily="34" charset="0"/>
                <a:cs typeface="Arial" panose="020B0604020202020204" pitchFamily="34" charset="0"/>
              </a:rPr>
              <a:t>Budget </a:t>
            </a:r>
            <a:r>
              <a:rPr lang="es-ES" sz="1000" dirty="0" err="1" smtClean="0">
                <a:solidFill>
                  <a:schemeClr val="tx1"/>
                </a:solidFill>
                <a:latin typeface="Arial" panose="020B0604020202020204" pitchFamily="34" charset="0"/>
                <a:cs typeface="Arial" panose="020B0604020202020204" pitchFamily="34" charset="0"/>
              </a:rPr>
              <a:t>Denomination</a:t>
            </a:r>
            <a:endParaRPr lang="es-ES" sz="1000" dirty="0" smtClean="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s-ES" sz="1000" dirty="0" smtClean="0">
                <a:solidFill>
                  <a:schemeClr val="tx1"/>
                </a:solidFill>
                <a:latin typeface="Arial" panose="020B0604020202020204" pitchFamily="34" charset="0"/>
                <a:cs typeface="Arial" panose="020B0604020202020204" pitchFamily="34" charset="0"/>
              </a:rPr>
              <a:t>Budget </a:t>
            </a:r>
            <a:r>
              <a:rPr lang="es-ES" sz="1000" dirty="0" err="1" smtClean="0">
                <a:solidFill>
                  <a:schemeClr val="tx1"/>
                </a:solidFill>
                <a:latin typeface="Arial" panose="020B0604020202020204" pitchFamily="34" charset="0"/>
                <a:cs typeface="Arial" panose="020B0604020202020204" pitchFamily="34" charset="0"/>
              </a:rPr>
              <a:t>Description</a:t>
            </a:r>
            <a:endParaRPr lang="es-ES" sz="1000" dirty="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s-ES" sz="1000" dirty="0" smtClean="0">
                <a:solidFill>
                  <a:schemeClr val="tx1"/>
                </a:solidFill>
                <a:latin typeface="Arial" panose="020B0604020202020204" pitchFamily="34" charset="0"/>
                <a:cs typeface="Arial" panose="020B0604020202020204" pitchFamily="34" charset="0"/>
              </a:rPr>
              <a:t>General </a:t>
            </a:r>
            <a:r>
              <a:rPr lang="es-ES" sz="1000" dirty="0" err="1" smtClean="0">
                <a:solidFill>
                  <a:schemeClr val="tx1"/>
                </a:solidFill>
                <a:latin typeface="Arial" panose="020B0604020202020204" pitchFamily="34" charset="0"/>
                <a:cs typeface="Arial" panose="020B0604020202020204" pitchFamily="34" charset="0"/>
              </a:rPr>
              <a:t>Info</a:t>
            </a:r>
            <a:r>
              <a:rPr lang="es-ES" sz="1000" dirty="0" smtClean="0">
                <a:solidFill>
                  <a:schemeClr val="tx1"/>
                </a:solidFill>
                <a:latin typeface="Arial" panose="020B0604020202020204" pitchFamily="34" charset="0"/>
                <a:cs typeface="Arial" panose="020B0604020202020204" pitchFamily="34" charset="0"/>
              </a:rPr>
              <a:t> (sólo en proyectos de </a:t>
            </a:r>
            <a:r>
              <a:rPr lang="es-ES" sz="1000" dirty="0" err="1" smtClean="0">
                <a:solidFill>
                  <a:schemeClr val="tx1"/>
                </a:solidFill>
                <a:latin typeface="Arial" panose="020B0604020202020204" pitchFamily="34" charset="0"/>
                <a:cs typeface="Arial" panose="020B0604020202020204" pitchFamily="34" charset="0"/>
              </a:rPr>
              <a:t>industrializacion</a:t>
            </a:r>
            <a:r>
              <a:rPr lang="es-ES" sz="1000" dirty="0" smtClean="0">
                <a:solidFill>
                  <a:schemeClr val="tx1"/>
                </a:solidFill>
                <a:latin typeface="Arial" panose="020B0604020202020204" pitchFamily="34" charset="0"/>
                <a:cs typeface="Arial" panose="020B0604020202020204" pitchFamily="34" charset="0"/>
              </a:rPr>
              <a:t> y en los de modificación)</a:t>
            </a:r>
          </a:p>
        </p:txBody>
      </p:sp>
      <p:sp>
        <p:nvSpPr>
          <p:cNvPr id="9" name="8 Rectángulo"/>
          <p:cNvSpPr/>
          <p:nvPr/>
        </p:nvSpPr>
        <p:spPr>
          <a:xfrm>
            <a:off x="622057" y="5661248"/>
            <a:ext cx="7900232" cy="944600"/>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a:solidFill>
                  <a:schemeClr val="tx1"/>
                </a:solidFill>
                <a:latin typeface="Arial" panose="020B0604020202020204" pitchFamily="34" charset="0"/>
                <a:cs typeface="Arial" panose="020B0604020202020204" pitchFamily="34" charset="0"/>
              </a:rPr>
              <a:t>Budget </a:t>
            </a:r>
            <a:r>
              <a:rPr lang="es-ES" sz="1000" b="1" dirty="0" err="1">
                <a:solidFill>
                  <a:schemeClr val="tx1"/>
                </a:solidFill>
                <a:latin typeface="Arial" panose="020B0604020202020204" pitchFamily="34" charset="0"/>
                <a:cs typeface="Arial" panose="020B0604020202020204" pitchFamily="34" charset="0"/>
              </a:rPr>
              <a:t>Denomination</a:t>
            </a:r>
            <a:r>
              <a:rPr lang="es-ES" sz="1000" dirty="0">
                <a:solidFill>
                  <a:schemeClr val="tx1"/>
                </a:solidFill>
                <a:latin typeface="Arial" panose="020B0604020202020204" pitchFamily="34" charset="0"/>
                <a:cs typeface="Arial" panose="020B0604020202020204" pitchFamily="34" charset="0"/>
              </a:rPr>
              <a:t>: Etiqueta o nombre con el que se guardará esta solicitud (no se debe incluir el nombre del </a:t>
            </a:r>
            <a:r>
              <a:rPr lang="es-ES" sz="1000" dirty="0" smtClean="0">
                <a:solidFill>
                  <a:schemeClr val="tx1"/>
                </a:solidFill>
                <a:latin typeface="Arial" panose="020B0604020202020204" pitchFamily="34" charset="0"/>
                <a:cs typeface="Arial" panose="020B0604020202020204" pitchFamily="34" charset="0"/>
              </a:rPr>
              <a:t>proyecto)</a:t>
            </a:r>
          </a:p>
          <a:p>
            <a:r>
              <a:rPr lang="es-ES" sz="1000" b="1" dirty="0" smtClean="0">
                <a:solidFill>
                  <a:schemeClr val="tx1"/>
                </a:solidFill>
                <a:latin typeface="Arial" panose="020B0604020202020204" pitchFamily="34" charset="0"/>
                <a:cs typeface="Arial" panose="020B0604020202020204" pitchFamily="34" charset="0"/>
              </a:rPr>
              <a:t>Budget </a:t>
            </a:r>
            <a:r>
              <a:rPr lang="es-ES" sz="1000" b="1" dirty="0" err="1" smtClean="0">
                <a:solidFill>
                  <a:schemeClr val="tx1"/>
                </a:solidFill>
                <a:latin typeface="Arial" panose="020B0604020202020204" pitchFamily="34" charset="0"/>
                <a:cs typeface="Arial" panose="020B0604020202020204" pitchFamily="34" charset="0"/>
              </a:rPr>
              <a:t>Description</a:t>
            </a:r>
            <a:r>
              <a:rPr lang="es-ES" sz="1000" b="1" dirty="0" smtClean="0">
                <a:solidFill>
                  <a:schemeClr val="tx1"/>
                </a:solidFill>
                <a:latin typeface="Arial" panose="020B0604020202020204" pitchFamily="34" charset="0"/>
                <a:cs typeface="Arial" panose="020B0604020202020204" pitchFamily="34" charset="0"/>
              </a:rPr>
              <a:t>: </a:t>
            </a:r>
            <a:r>
              <a:rPr lang="es-ES" sz="1000" dirty="0" smtClean="0">
                <a:solidFill>
                  <a:schemeClr val="tx1"/>
                </a:solidFill>
                <a:latin typeface="Arial" panose="020B0604020202020204" pitchFamily="34" charset="0"/>
                <a:cs typeface="Arial" panose="020B0604020202020204" pitchFamily="34" charset="0"/>
              </a:rPr>
              <a:t>En los proyectos </a:t>
            </a:r>
            <a:r>
              <a:rPr lang="es-ES" sz="1000" dirty="0">
                <a:solidFill>
                  <a:schemeClr val="tx1"/>
                </a:solidFill>
                <a:latin typeface="Arial" panose="020B0604020202020204" pitchFamily="34" charset="0"/>
                <a:cs typeface="Arial" panose="020B0604020202020204" pitchFamily="34" charset="0"/>
              </a:rPr>
              <a:t>del tipo </a:t>
            </a:r>
            <a:r>
              <a:rPr lang="es-ES" sz="1000" dirty="0" smtClean="0">
                <a:solidFill>
                  <a:schemeClr val="tx1"/>
                </a:solidFill>
                <a:latin typeface="Arial" panose="020B0604020202020204" pitchFamily="34" charset="0"/>
                <a:cs typeface="Arial" panose="020B0604020202020204" pitchFamily="34" charset="0"/>
              </a:rPr>
              <a:t>industrialización se utiliza para </a:t>
            </a:r>
            <a:r>
              <a:rPr lang="es-ES" sz="1000" dirty="0">
                <a:solidFill>
                  <a:schemeClr val="tx1"/>
                </a:solidFill>
                <a:latin typeface="Arial" panose="020B0604020202020204" pitchFamily="34" charset="0"/>
                <a:cs typeface="Arial" panose="020B0604020202020204" pitchFamily="34" charset="0"/>
              </a:rPr>
              <a:t>e</a:t>
            </a:r>
            <a:r>
              <a:rPr lang="es-ES" sz="1000" dirty="0" smtClean="0">
                <a:solidFill>
                  <a:schemeClr val="tx1"/>
                </a:solidFill>
                <a:latin typeface="Arial" panose="020B0604020202020204" pitchFamily="34" charset="0"/>
                <a:cs typeface="Arial" panose="020B0604020202020204" pitchFamily="34" charset="0"/>
              </a:rPr>
              <a:t>xplicar las desviaciones de los conceptos económicos recogidos en el cuadro General </a:t>
            </a:r>
            <a:r>
              <a:rPr lang="es-ES" sz="1000" dirty="0" err="1" smtClean="0">
                <a:solidFill>
                  <a:schemeClr val="tx1"/>
                </a:solidFill>
                <a:latin typeface="Arial" panose="020B0604020202020204" pitchFamily="34" charset="0"/>
                <a:cs typeface="Arial" panose="020B0604020202020204" pitchFamily="34" charset="0"/>
              </a:rPr>
              <a:t>info</a:t>
            </a:r>
            <a:r>
              <a:rPr lang="es-ES" sz="1000" dirty="0" smtClean="0">
                <a:solidFill>
                  <a:schemeClr val="tx1"/>
                </a:solidFill>
                <a:latin typeface="Arial" panose="020B0604020202020204" pitchFamily="34" charset="0"/>
                <a:cs typeface="Arial" panose="020B0604020202020204" pitchFamily="34" charset="0"/>
              </a:rPr>
              <a:t> de la validación anterior (si es la primera </a:t>
            </a:r>
            <a:r>
              <a:rPr lang="es-ES" sz="1000" dirty="0" err="1" smtClean="0">
                <a:solidFill>
                  <a:schemeClr val="tx1"/>
                </a:solidFill>
                <a:latin typeface="Arial" panose="020B0604020202020204" pitchFamily="34" charset="0"/>
                <a:cs typeface="Arial" panose="020B0604020202020204" pitchFamily="34" charset="0"/>
              </a:rPr>
              <a:t>validación,sería</a:t>
            </a:r>
            <a:r>
              <a:rPr lang="es-ES" sz="1000" dirty="0" smtClean="0">
                <a:solidFill>
                  <a:schemeClr val="tx1"/>
                </a:solidFill>
                <a:latin typeface="Arial" panose="020B0604020202020204" pitchFamily="34" charset="0"/>
                <a:cs typeface="Arial" panose="020B0604020202020204" pitchFamily="34" charset="0"/>
              </a:rPr>
              <a:t> la </a:t>
            </a:r>
            <a:r>
              <a:rPr lang="es-ES" sz="1000" dirty="0" err="1" smtClean="0">
                <a:solidFill>
                  <a:schemeClr val="tx1"/>
                </a:solidFill>
                <a:latin typeface="Arial" panose="020B0604020202020204" pitchFamily="34" charset="0"/>
                <a:cs typeface="Arial" panose="020B0604020202020204" pitchFamily="34" charset="0"/>
              </a:rPr>
              <a:t>Awarding</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offer</a:t>
            </a:r>
            <a:r>
              <a:rPr lang="es-ES" sz="1000" dirty="0" smtClean="0">
                <a:solidFill>
                  <a:schemeClr val="tx1"/>
                </a:solidFill>
                <a:latin typeface="Arial" panose="020B0604020202020204" pitchFamily="34" charset="0"/>
                <a:cs typeface="Arial" panose="020B0604020202020204" pitchFamily="34" charset="0"/>
              </a:rPr>
              <a:t>) y la actual solicitud .</a:t>
            </a:r>
          </a:p>
          <a:p>
            <a:r>
              <a:rPr lang="es-ES" sz="1000" dirty="0" smtClean="0">
                <a:solidFill>
                  <a:schemeClr val="tx1"/>
                </a:solidFill>
                <a:latin typeface="Arial" panose="020B0604020202020204" pitchFamily="34" charset="0"/>
                <a:cs typeface="Arial" panose="020B0604020202020204" pitchFamily="34" charset="0"/>
              </a:rPr>
              <a:t>En los demás tipos de proyectos se describen los proyectos</a:t>
            </a: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sp>
        <p:nvSpPr>
          <p:cNvPr id="10" name="9 Rectángulo"/>
          <p:cNvSpPr/>
          <p:nvPr/>
        </p:nvSpPr>
        <p:spPr>
          <a:xfrm>
            <a:off x="0" y="3291529"/>
            <a:ext cx="1890119" cy="194112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Resumen del presupuesto: </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Cantidad que se solicita por grupo de coste y su margen.</a:t>
            </a:r>
          </a:p>
          <a:p>
            <a:endParaRPr lang="en-U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i="1"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pic>
        <p:nvPicPr>
          <p:cNvPr id="205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545" y="2891426"/>
            <a:ext cx="1584176" cy="1346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664" y="2922203"/>
            <a:ext cx="684910" cy="10385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53094" y="2877147"/>
            <a:ext cx="198627" cy="1678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13 Rectángulo"/>
          <p:cNvSpPr/>
          <p:nvPr/>
        </p:nvSpPr>
        <p:spPr>
          <a:xfrm>
            <a:off x="2432798" y="2641096"/>
            <a:ext cx="5400600" cy="397201"/>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Included</a:t>
            </a:r>
            <a:r>
              <a:rPr lang="es-ES" sz="1000" b="1"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in Management plan</a:t>
            </a:r>
            <a:r>
              <a:rPr lang="es-ES" sz="10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El campo se rellena automáticamente en función de si tiene o no una planificación con la etiqueta PG AÑO EN CURSO en la app de Bonos</a:t>
            </a:r>
            <a:endParaRPr lang="es-ES" sz="1000" i="1"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dirty="0">
              <a:solidFill>
                <a:schemeClr val="tx1"/>
              </a:solidFill>
              <a:latin typeface="Arial" panose="020B0604020202020204" pitchFamily="34" charset="0"/>
              <a:cs typeface="Arial" panose="020B0604020202020204" pitchFamily="34" charset="0"/>
            </a:endParaRPr>
          </a:p>
        </p:txBody>
      </p:sp>
      <p:sp>
        <p:nvSpPr>
          <p:cNvPr id="16" name="12 Llamada rectangular"/>
          <p:cNvSpPr/>
          <p:nvPr/>
        </p:nvSpPr>
        <p:spPr>
          <a:xfrm>
            <a:off x="6724472" y="4114670"/>
            <a:ext cx="1519936" cy="970514"/>
          </a:xfrm>
          <a:prstGeom prst="wedgeRectCallout">
            <a:avLst>
              <a:gd name="adj1" fmla="val -46572"/>
              <a:gd name="adj2" fmla="val -90549"/>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i="1" dirty="0">
                <a:solidFill>
                  <a:schemeClr val="tx1"/>
                </a:solidFill>
                <a:latin typeface="Arial" panose="020B0604020202020204" pitchFamily="34" charset="0"/>
                <a:cs typeface="Arial" panose="020B0604020202020204" pitchFamily="34" charset="0"/>
                <a:sym typeface="Wingdings" panose="05000000000000000000" pitchFamily="2" charset="2"/>
              </a:rPr>
              <a:t>Si pasamos el ratón por encima de la cantidad solicitada se informa de la cantidad validada previamente a esta validación </a:t>
            </a:r>
          </a:p>
        </p:txBody>
      </p:sp>
    </p:spTree>
    <p:extLst>
      <p:ext uri="{BB962C8B-B14F-4D97-AF65-F5344CB8AC3E}">
        <p14:creationId xmlns:p14="http://schemas.microsoft.com/office/powerpoint/2010/main" val="38826959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Imagen 9"/>
          <p:cNvPicPr>
            <a:picLocks noChangeAspect="1"/>
          </p:cNvPicPr>
          <p:nvPr/>
        </p:nvPicPr>
        <p:blipFill>
          <a:blip r:embed="rId2"/>
          <a:stretch>
            <a:fillRect/>
          </a:stretch>
        </p:blipFill>
        <p:spPr>
          <a:xfrm>
            <a:off x="3413793" y="3491744"/>
            <a:ext cx="4956758" cy="1570379"/>
          </a:xfrm>
          <a:prstGeom prst="rect">
            <a:avLst/>
          </a:prstGeom>
        </p:spPr>
      </p:pic>
      <p:pic>
        <p:nvPicPr>
          <p:cNvPr id="13" name="Imagen 12"/>
          <p:cNvPicPr>
            <a:picLocks noChangeAspect="1"/>
          </p:cNvPicPr>
          <p:nvPr/>
        </p:nvPicPr>
        <p:blipFill>
          <a:blip r:embed="rId3"/>
          <a:stretch>
            <a:fillRect/>
          </a:stretch>
        </p:blipFill>
        <p:spPr>
          <a:xfrm>
            <a:off x="1956169" y="5097964"/>
            <a:ext cx="5916719" cy="1824281"/>
          </a:xfrm>
          <a:prstGeom prst="rect">
            <a:avLst/>
          </a:prstGeom>
        </p:spPr>
      </p:pic>
      <p:sp>
        <p:nvSpPr>
          <p:cNvPr id="2" name="1 Marcador de número de diapositiva"/>
          <p:cNvSpPr>
            <a:spLocks noGrp="1"/>
          </p:cNvSpPr>
          <p:nvPr>
            <p:ph type="sldNum" sz="quarter" idx="12"/>
          </p:nvPr>
        </p:nvSpPr>
        <p:spPr/>
        <p:txBody>
          <a:bodyPr/>
          <a:lstStyle/>
          <a:p>
            <a:fld id="{6C159591-2568-4DE8-9BFD-2ABD54E1DEC4}" type="slidenum">
              <a:rPr lang="es-ES" smtClean="0"/>
              <a:pPr/>
              <a:t>20</a:t>
            </a:fld>
            <a:endParaRPr lang="es-ES" dirty="0"/>
          </a:p>
        </p:txBody>
      </p:sp>
      <p:sp>
        <p:nvSpPr>
          <p:cNvPr id="5" name="4 Rectángulo"/>
          <p:cNvSpPr/>
          <p:nvPr/>
        </p:nvSpPr>
        <p:spPr>
          <a:xfrm>
            <a:off x="1" y="1350060"/>
            <a:ext cx="9144000" cy="186291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GENERAL INFO: </a:t>
            </a:r>
            <a:r>
              <a:rPr lang="es-ES" sz="1000" dirty="0" smtClean="0">
                <a:solidFill>
                  <a:schemeClr val="tx1"/>
                </a:solidFill>
                <a:latin typeface="Arial" panose="020B0604020202020204" pitchFamily="34" charset="0"/>
                <a:cs typeface="Arial" panose="020B0604020202020204" pitchFamily="34" charset="0"/>
              </a:rPr>
              <a:t>Se debe rellenar el valor </a:t>
            </a:r>
            <a:r>
              <a:rPr lang="es-ES" sz="1000" dirty="0" err="1" smtClean="0">
                <a:solidFill>
                  <a:schemeClr val="tx1"/>
                </a:solidFill>
                <a:latin typeface="Arial" panose="020B0604020202020204" pitchFamily="34" charset="0"/>
                <a:cs typeface="Arial" panose="020B0604020202020204" pitchFamily="34" charset="0"/>
              </a:rPr>
              <a:t>Awarding</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offer</a:t>
            </a:r>
            <a:r>
              <a:rPr lang="es-ES" sz="1000" dirty="0" smtClean="0">
                <a:solidFill>
                  <a:schemeClr val="tx1"/>
                </a:solidFill>
                <a:latin typeface="Arial" panose="020B0604020202020204" pitchFamily="34" charset="0"/>
                <a:cs typeface="Arial" panose="020B0604020202020204" pitchFamily="34" charset="0"/>
              </a:rPr>
              <a:t> y </a:t>
            </a:r>
            <a:r>
              <a:rPr lang="es-ES" sz="1000" dirty="0" err="1" smtClean="0">
                <a:solidFill>
                  <a:schemeClr val="tx1"/>
                </a:solidFill>
                <a:latin typeface="Arial" panose="020B0604020202020204" pitchFamily="34" charset="0"/>
                <a:cs typeface="Arial" panose="020B0604020202020204" pitchFamily="34" charset="0"/>
              </a:rPr>
              <a:t>Current</a:t>
            </a:r>
            <a:r>
              <a:rPr lang="es-ES" sz="1000" dirty="0" smtClean="0">
                <a:solidFill>
                  <a:schemeClr val="tx1"/>
                </a:solidFill>
                <a:latin typeface="Arial" panose="020B0604020202020204" pitchFamily="34" charset="0"/>
                <a:cs typeface="Arial" panose="020B0604020202020204" pitchFamily="34" charset="0"/>
              </a:rPr>
              <a:t> de  los distintos campos. En los envíos siguientes sólo habrá que rellenar la columna </a:t>
            </a:r>
            <a:r>
              <a:rPr lang="es-ES" sz="1000" dirty="0" err="1" smtClean="0">
                <a:solidFill>
                  <a:schemeClr val="tx1"/>
                </a:solidFill>
                <a:latin typeface="Arial" panose="020B0604020202020204" pitchFamily="34" charset="0"/>
                <a:cs typeface="Arial" panose="020B0604020202020204" pitchFamily="34" charset="0"/>
              </a:rPr>
              <a:t>Current</a:t>
            </a:r>
            <a:r>
              <a:rPr lang="es-ES" sz="1000" dirty="0" smtClean="0">
                <a:solidFill>
                  <a:schemeClr val="tx1"/>
                </a:solidFill>
                <a:latin typeface="Arial" panose="020B0604020202020204" pitchFamily="34" charset="0"/>
                <a:cs typeface="Arial" panose="020B0604020202020204" pitchFamily="34" charset="0"/>
              </a:rPr>
              <a:t>, pero en el primer envío se rellenan las dos.</a:t>
            </a:r>
          </a:p>
          <a:p>
            <a:endParaRPr lang="es-ES" sz="1000" b="1" dirty="0" smtClean="0">
              <a:solidFill>
                <a:schemeClr val="tx1"/>
              </a:solidFill>
              <a:latin typeface="Arial" panose="020B0604020202020204" pitchFamily="34" charset="0"/>
              <a:cs typeface="Arial" panose="020B0604020202020204" pitchFamily="34" charset="0"/>
            </a:endParaRPr>
          </a:p>
          <a:p>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sp>
        <p:nvSpPr>
          <p:cNvPr id="6" name="5 CuadroTexto"/>
          <p:cNvSpPr txBox="1"/>
          <p:nvPr/>
        </p:nvSpPr>
        <p:spPr>
          <a:xfrm>
            <a:off x="267321" y="980728"/>
            <a:ext cx="7112992" cy="369332"/>
          </a:xfrm>
          <a:prstGeom prst="rect">
            <a:avLst/>
          </a:prstGeom>
          <a:noFill/>
        </p:spPr>
        <p:txBody>
          <a:bodyPr wrap="square" rtlCol="0">
            <a:spAutoFit/>
          </a:bodyPr>
          <a:lstStyle/>
          <a:p>
            <a:r>
              <a:rPr lang="es-ES" b="1" dirty="0" smtClean="0">
                <a:solidFill>
                  <a:srgbClr val="254061"/>
                </a:solidFill>
              </a:rPr>
              <a:t>ENVÍO A VALIDACIÓN (PASOS) - PÁGINA STEPS VALIDATION SENDING - II</a:t>
            </a:r>
            <a:endParaRPr lang="en-US" b="1" dirty="0">
              <a:solidFill>
                <a:srgbClr val="254061"/>
              </a:solidFill>
            </a:endParaRPr>
          </a:p>
        </p:txBody>
      </p:sp>
      <p:sp>
        <p:nvSpPr>
          <p:cNvPr id="8" name="7 Llamada rectangular"/>
          <p:cNvSpPr/>
          <p:nvPr/>
        </p:nvSpPr>
        <p:spPr>
          <a:xfrm>
            <a:off x="4572001" y="5552031"/>
            <a:ext cx="1872208" cy="684076"/>
          </a:xfrm>
          <a:prstGeom prst="wedgeRectCallout">
            <a:avLst>
              <a:gd name="adj1" fmla="val -40755"/>
              <a:gd name="adj2" fmla="val -61968"/>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Revisar y modificar el nombre si se considera necesario </a:t>
            </a:r>
          </a:p>
          <a:p>
            <a:endParaRPr lang="es-ES" sz="1000" dirty="0">
              <a:solidFill>
                <a:schemeClr val="tx1"/>
              </a:solidFill>
              <a:latin typeface="Arial" panose="020B0604020202020204" pitchFamily="34" charset="0"/>
              <a:cs typeface="Arial" panose="020B0604020202020204" pitchFamily="34" charset="0"/>
            </a:endParaRPr>
          </a:p>
          <a:p>
            <a:endParaRPr lang="es-ES" sz="1000" dirty="0" smtClean="0">
              <a:solidFill>
                <a:schemeClr val="tx1"/>
              </a:solidFill>
              <a:latin typeface="Arial" panose="020B0604020202020204" pitchFamily="34" charset="0"/>
              <a:cs typeface="Arial" panose="020B0604020202020204" pitchFamily="34" charset="0"/>
            </a:endParaRPr>
          </a:p>
        </p:txBody>
      </p:sp>
      <p:sp>
        <p:nvSpPr>
          <p:cNvPr id="9" name="8 Rectángulo"/>
          <p:cNvSpPr/>
          <p:nvPr/>
        </p:nvSpPr>
        <p:spPr>
          <a:xfrm>
            <a:off x="107504" y="5434040"/>
            <a:ext cx="3168352" cy="1423959"/>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just"/>
            <a:r>
              <a:rPr lang="es-ES" sz="1000" b="1" dirty="0" smtClean="0">
                <a:solidFill>
                  <a:schemeClr val="tx1"/>
                </a:solidFill>
                <a:latin typeface="Arial" panose="020B0604020202020204" pitchFamily="34" charset="0"/>
                <a:cs typeface="Arial" panose="020B0604020202020204" pitchFamily="34" charset="0"/>
              </a:rPr>
              <a:t>STEPS TO VALIDATE: </a:t>
            </a:r>
            <a:r>
              <a:rPr lang="es-ES" sz="1000" dirty="0" smtClean="0">
                <a:solidFill>
                  <a:schemeClr val="tx1"/>
                </a:solidFill>
                <a:latin typeface="Arial" panose="020B0604020202020204" pitchFamily="34" charset="0"/>
                <a:cs typeface="Arial" panose="020B0604020202020204" pitchFamily="34" charset="0"/>
              </a:rPr>
              <a:t>Listado </a:t>
            </a:r>
            <a:r>
              <a:rPr lang="es-ES" sz="1000" dirty="0">
                <a:solidFill>
                  <a:schemeClr val="tx1"/>
                </a:solidFill>
                <a:latin typeface="Arial" panose="020B0604020202020204" pitchFamily="34" charset="0"/>
                <a:cs typeface="Arial" panose="020B0604020202020204" pitchFamily="34" charset="0"/>
              </a:rPr>
              <a:t>con todos los pasos que se solicitan en esta </a:t>
            </a:r>
            <a:r>
              <a:rPr lang="es-ES" sz="1000" dirty="0" smtClean="0">
                <a:solidFill>
                  <a:schemeClr val="tx1"/>
                </a:solidFill>
                <a:latin typeface="Arial" panose="020B0604020202020204" pitchFamily="34" charset="0"/>
                <a:cs typeface="Arial" panose="020B0604020202020204" pitchFamily="34" charset="0"/>
              </a:rPr>
              <a:t>validación. La columna </a:t>
            </a:r>
            <a:r>
              <a:rPr lang="es-ES" sz="1000" dirty="0" err="1" smtClean="0">
                <a:solidFill>
                  <a:schemeClr val="tx1"/>
                </a:solidFill>
                <a:latin typeface="Arial" panose="020B0604020202020204" pitchFamily="34" charset="0"/>
                <a:cs typeface="Arial" panose="020B0604020202020204" pitchFamily="34" charset="0"/>
              </a:rPr>
              <a:t>Name</a:t>
            </a:r>
            <a:r>
              <a:rPr lang="es-ES" sz="1000" dirty="0" smtClean="0">
                <a:solidFill>
                  <a:schemeClr val="tx1"/>
                </a:solidFill>
                <a:latin typeface="Arial" panose="020B0604020202020204" pitchFamily="34" charset="0"/>
                <a:cs typeface="Arial" panose="020B0604020202020204" pitchFamily="34" charset="0"/>
              </a:rPr>
              <a:t>, es </a:t>
            </a:r>
            <a:r>
              <a:rPr lang="es-ES" sz="1000" dirty="0">
                <a:solidFill>
                  <a:schemeClr val="tx1"/>
                </a:solidFill>
                <a:latin typeface="Arial" panose="020B0604020202020204" pitchFamily="34" charset="0"/>
                <a:cs typeface="Arial" panose="020B0604020202020204" pitchFamily="34" charset="0"/>
              </a:rPr>
              <a:t>el nombre con el que se crearán en </a:t>
            </a:r>
            <a:r>
              <a:rPr lang="es-ES" sz="1000" dirty="0" err="1">
                <a:solidFill>
                  <a:schemeClr val="tx1"/>
                </a:solidFill>
                <a:latin typeface="Arial" panose="020B0604020202020204" pitchFamily="34" charset="0"/>
                <a:cs typeface="Arial" panose="020B0604020202020204" pitchFamily="34" charset="0"/>
              </a:rPr>
              <a:t>Xpert</a:t>
            </a:r>
            <a:r>
              <a:rPr lang="es-ES" sz="1000" dirty="0">
                <a:solidFill>
                  <a:schemeClr val="tx1"/>
                </a:solidFill>
                <a:latin typeface="Arial" panose="020B0604020202020204" pitchFamily="34" charset="0"/>
                <a:cs typeface="Arial" panose="020B0604020202020204" pitchFamily="34" charset="0"/>
              </a:rPr>
              <a:t> (precedido de código y abreviatura de proyecto). Si el nombre que se le ha dado al paso en la tabla “</a:t>
            </a:r>
            <a:r>
              <a:rPr lang="es-ES" sz="1000" dirty="0" err="1">
                <a:solidFill>
                  <a:schemeClr val="tx1"/>
                </a:solidFill>
                <a:latin typeface="Arial" panose="020B0604020202020204" pitchFamily="34" charset="0"/>
                <a:cs typeface="Arial" panose="020B0604020202020204" pitchFamily="34" charset="0"/>
              </a:rPr>
              <a:t>Edit</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cost</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carrier</a:t>
            </a:r>
            <a:r>
              <a:rPr lang="es-ES" sz="1000" dirty="0">
                <a:solidFill>
                  <a:schemeClr val="tx1"/>
                </a:solidFill>
                <a:latin typeface="Arial" panose="020B0604020202020204" pitchFamily="34" charset="0"/>
                <a:cs typeface="Arial" panose="020B0604020202020204" pitchFamily="34" charset="0"/>
              </a:rPr>
              <a:t>” es muy largo, </a:t>
            </a:r>
            <a:r>
              <a:rPr lang="es-ES" sz="1000" dirty="0" smtClean="0">
                <a:solidFill>
                  <a:schemeClr val="tx1"/>
                </a:solidFill>
                <a:latin typeface="Arial" panose="020B0604020202020204" pitchFamily="34" charset="0"/>
                <a:cs typeface="Arial" panose="020B0604020202020204" pitchFamily="34" charset="0"/>
              </a:rPr>
              <a:t>aquí, lo recorta </a:t>
            </a:r>
            <a:r>
              <a:rPr lang="es-ES" sz="1000" dirty="0">
                <a:solidFill>
                  <a:schemeClr val="tx1"/>
                </a:solidFill>
                <a:latin typeface="Arial" panose="020B0604020202020204" pitchFamily="34" charset="0"/>
                <a:cs typeface="Arial" panose="020B0604020202020204" pitchFamily="34" charset="0"/>
              </a:rPr>
              <a:t>automáticamente recogiendo los primeros </a:t>
            </a:r>
            <a:r>
              <a:rPr lang="es-ES" sz="1000" dirty="0" smtClean="0">
                <a:solidFill>
                  <a:schemeClr val="tx1"/>
                </a:solidFill>
                <a:latin typeface="Arial" panose="020B0604020202020204" pitchFamily="34" charset="0"/>
                <a:cs typeface="Arial" panose="020B0604020202020204" pitchFamily="34" charset="0"/>
              </a:rPr>
              <a:t>caracteres. Se debe cambiar el nombre si con éste no se entiende bien el concepto.</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lgn="just">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1" name="10 Rectángulo"/>
          <p:cNvSpPr/>
          <p:nvPr/>
        </p:nvSpPr>
        <p:spPr>
          <a:xfrm>
            <a:off x="3032224" y="1610646"/>
            <a:ext cx="6084168" cy="1800200"/>
          </a:xfrm>
          <a:prstGeom prst="rect">
            <a:avLst/>
          </a:prstGeom>
          <a:solidFill>
            <a:schemeClr val="bg1"/>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Campos General </a:t>
            </a:r>
            <a:r>
              <a:rPr lang="es-ES" sz="1000" b="1" dirty="0" err="1" smtClean="0">
                <a:solidFill>
                  <a:schemeClr val="tx1"/>
                </a:solidFill>
                <a:latin typeface="Arial" panose="020B0604020202020204" pitchFamily="34" charset="0"/>
                <a:cs typeface="Arial" panose="020B0604020202020204" pitchFamily="34" charset="0"/>
              </a:rPr>
              <a:t>Info</a:t>
            </a:r>
            <a:r>
              <a:rPr lang="es-ES" sz="1000" b="1" dirty="0" smtClean="0">
                <a:solidFill>
                  <a:schemeClr val="tx1"/>
                </a:solidFill>
                <a:latin typeface="Arial" panose="020B0604020202020204" pitchFamily="34" charset="0"/>
                <a:cs typeface="Arial" panose="020B0604020202020204" pitchFamily="34" charset="0"/>
              </a:rPr>
              <a:t> para ECO: </a:t>
            </a:r>
          </a:p>
          <a:p>
            <a:endParaRPr lang="es-ES" sz="1000" b="1"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Δ Piece </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price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b</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enefit %,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F</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ormula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1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Δ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Costs/Δ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Sales</a:t>
            </a:r>
          </a:p>
          <a:p>
            <a:pPr lvl="1"/>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Where	Δ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Costs:  ΔCosts_PN1*Total Volume_PN1 + ΔCosts_PN2*Total Volume_PN2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p>
          <a:p>
            <a:pPr lvl="1"/>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Effective Sales: Δ Sale price_PN1*Total Volume_PN1 +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 Sale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price_PN2*Total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Volume_PN2+…</a:t>
            </a:r>
            <a:endPar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Δ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sales (Total project)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property tooling benefit % </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SOP</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Annual average volume </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Series y</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ears</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2" name="11 Rectángulo"/>
          <p:cNvSpPr/>
          <p:nvPr/>
        </p:nvSpPr>
        <p:spPr>
          <a:xfrm>
            <a:off x="-9500" y="1772816"/>
            <a:ext cx="2889684" cy="1359768"/>
          </a:xfrm>
          <a:prstGeom prst="rect">
            <a:avLst/>
          </a:prstGeom>
          <a:solidFill>
            <a:schemeClr val="bg1"/>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b="1" dirty="0" smtClean="0">
                <a:solidFill>
                  <a:schemeClr val="tx1"/>
                </a:solidFill>
                <a:latin typeface="Arial" panose="020B0604020202020204" pitchFamily="34" charset="0"/>
                <a:cs typeface="Arial" panose="020B0604020202020204" pitchFamily="34" charset="0"/>
              </a:rPr>
              <a:t>Campos General Info para Industrialization: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Net margin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ales (Total project)</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property tooling benefit%</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plants</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SOP</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Annual average volume</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Series years</a:t>
            </a:r>
            <a:endPar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3" name="2 Rectángulo"/>
          <p:cNvSpPr/>
          <p:nvPr/>
        </p:nvSpPr>
        <p:spPr>
          <a:xfrm>
            <a:off x="3391769" y="3482781"/>
            <a:ext cx="864096" cy="2160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5" name="14 Rectángulo"/>
          <p:cNvSpPr/>
          <p:nvPr/>
        </p:nvSpPr>
        <p:spPr>
          <a:xfrm>
            <a:off x="1763688" y="5074291"/>
            <a:ext cx="864096" cy="21602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7" name="6 Rectángulo redondeado"/>
          <p:cNvSpPr/>
          <p:nvPr/>
        </p:nvSpPr>
        <p:spPr>
          <a:xfrm>
            <a:off x="5615472" y="4149069"/>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14</a:t>
            </a:r>
            <a:endParaRPr lang="es-ES" sz="1400" dirty="0">
              <a:solidFill>
                <a:schemeClr val="tx1"/>
              </a:solidFill>
            </a:endParaRPr>
          </a:p>
        </p:txBody>
      </p:sp>
    </p:spTree>
    <p:extLst>
      <p:ext uri="{BB962C8B-B14F-4D97-AF65-F5344CB8AC3E}">
        <p14:creationId xmlns:p14="http://schemas.microsoft.com/office/powerpoint/2010/main" val="96756242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21</a:t>
            </a:fld>
            <a:endParaRPr lang="es-ES" dirty="0"/>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3501008"/>
            <a:ext cx="7158039" cy="285273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556792"/>
            <a:ext cx="2019436" cy="1656184"/>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7" name="6 CuadroTexto"/>
          <p:cNvSpPr txBox="1"/>
          <p:nvPr/>
        </p:nvSpPr>
        <p:spPr>
          <a:xfrm>
            <a:off x="267320" y="980728"/>
            <a:ext cx="7329015" cy="369332"/>
          </a:xfrm>
          <a:prstGeom prst="rect">
            <a:avLst/>
          </a:prstGeom>
          <a:noFill/>
        </p:spPr>
        <p:txBody>
          <a:bodyPr wrap="square" rtlCol="0">
            <a:spAutoFit/>
          </a:bodyPr>
          <a:lstStyle/>
          <a:p>
            <a:r>
              <a:rPr lang="es-ES" b="1" dirty="0" smtClean="0">
                <a:solidFill>
                  <a:srgbClr val="254061"/>
                </a:solidFill>
              </a:rPr>
              <a:t>ENVÍO A VALIDACIÓN (PASOS) - PÁGINA STEPS VALIDATION SENDING - III</a:t>
            </a:r>
            <a:endParaRPr lang="en-US" b="1" dirty="0">
              <a:solidFill>
                <a:srgbClr val="254061"/>
              </a:solidFill>
            </a:endParaRPr>
          </a:p>
        </p:txBody>
      </p:sp>
      <p:sp>
        <p:nvSpPr>
          <p:cNvPr id="8" name="7 Rectángulo redondeado"/>
          <p:cNvSpPr/>
          <p:nvPr/>
        </p:nvSpPr>
        <p:spPr>
          <a:xfrm>
            <a:off x="1208006" y="1916832"/>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15</a:t>
            </a:r>
            <a:endParaRPr lang="es-ES" sz="1400" dirty="0">
              <a:solidFill>
                <a:schemeClr val="tx1"/>
              </a:solidFill>
            </a:endParaRPr>
          </a:p>
        </p:txBody>
      </p:sp>
      <p:sp>
        <p:nvSpPr>
          <p:cNvPr id="9" name="8 Llamada rectangular"/>
          <p:cNvSpPr/>
          <p:nvPr/>
        </p:nvSpPr>
        <p:spPr>
          <a:xfrm>
            <a:off x="2337098" y="1805228"/>
            <a:ext cx="1728192" cy="496739"/>
          </a:xfrm>
          <a:prstGeom prst="wedgeRectCallout">
            <a:avLst>
              <a:gd name="adj1" fmla="val -84297"/>
              <a:gd name="adj2" fmla="val -6360"/>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1000" dirty="0" smtClean="0">
              <a:solidFill>
                <a:schemeClr val="tx1"/>
              </a:solidFill>
              <a:latin typeface="Arial" panose="020B0604020202020204" pitchFamily="34" charset="0"/>
              <a:cs typeface="Arial" panose="020B0604020202020204" pitchFamily="34" charset="0"/>
            </a:endParaRPr>
          </a:p>
          <a:p>
            <a:endParaRPr lang="es-ES" sz="1000" dirty="0">
              <a:solidFill>
                <a:schemeClr val="tx1"/>
              </a:solidFill>
              <a:latin typeface="Arial" panose="020B0604020202020204" pitchFamily="34" charset="0"/>
              <a:cs typeface="Arial" panose="020B0604020202020204" pitchFamily="34" charset="0"/>
            </a:endParaRPr>
          </a:p>
          <a:p>
            <a:r>
              <a:rPr lang="es-ES" sz="1000" dirty="0" smtClean="0">
                <a:solidFill>
                  <a:schemeClr val="tx1"/>
                </a:solidFill>
                <a:latin typeface="Arial" panose="020B0604020202020204" pitchFamily="34" charset="0"/>
                <a:cs typeface="Arial" panose="020B0604020202020204" pitchFamily="34" charset="0"/>
              </a:rPr>
              <a:t>Envía a validar la solicitud</a:t>
            </a:r>
          </a:p>
          <a:p>
            <a:endParaRPr lang="es-ES" sz="1000" dirty="0">
              <a:solidFill>
                <a:schemeClr val="tx1"/>
              </a:solidFill>
              <a:latin typeface="Arial" panose="020B0604020202020204" pitchFamily="34" charset="0"/>
              <a:cs typeface="Arial" panose="020B0604020202020204" pitchFamily="34" charset="0"/>
            </a:endParaRPr>
          </a:p>
          <a:p>
            <a:endParaRPr lang="es-ES" sz="1000" dirty="0" smtClean="0">
              <a:solidFill>
                <a:schemeClr val="tx1"/>
              </a:solidFill>
              <a:latin typeface="Arial" panose="020B0604020202020204" pitchFamily="34" charset="0"/>
              <a:cs typeface="Arial" panose="020B0604020202020204" pitchFamily="34" charset="0"/>
            </a:endParaRPr>
          </a:p>
        </p:txBody>
      </p:sp>
      <p:sp>
        <p:nvSpPr>
          <p:cNvPr id="13" name="12 Rectángulo"/>
          <p:cNvSpPr/>
          <p:nvPr/>
        </p:nvSpPr>
        <p:spPr>
          <a:xfrm>
            <a:off x="2483768" y="4927377"/>
            <a:ext cx="6543701" cy="720080"/>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Los pasos que se han mandado a validar no pueden modificarse hasta que la solicitud tenga respuesta siendo aprobada o rechazada.</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endParaRPr>
          </a:p>
        </p:txBody>
      </p:sp>
      <p:sp>
        <p:nvSpPr>
          <p:cNvPr id="14" name="13 Rectángulo"/>
          <p:cNvSpPr/>
          <p:nvPr/>
        </p:nvSpPr>
        <p:spPr>
          <a:xfrm>
            <a:off x="2625327" y="2479948"/>
            <a:ext cx="2088232" cy="720080"/>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Si no se envía la solicitud a validar, no se guarda lo que se ha escrito en esta página</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080560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a:xfrm>
            <a:off x="6553200" y="6592267"/>
            <a:ext cx="2133600" cy="365125"/>
          </a:xfrm>
        </p:spPr>
        <p:txBody>
          <a:bodyPr/>
          <a:lstStyle/>
          <a:p>
            <a:fld id="{6C159591-2568-4DE8-9BFD-2ABD54E1DEC4}" type="slidenum">
              <a:rPr lang="es-ES" smtClean="0"/>
              <a:pPr/>
              <a:t>22</a:t>
            </a:fld>
            <a:endParaRPr lang="es-ES" dirty="0"/>
          </a:p>
        </p:txBody>
      </p:sp>
      <p:sp>
        <p:nvSpPr>
          <p:cNvPr id="4" name="3 CuadroTexto"/>
          <p:cNvSpPr txBox="1"/>
          <p:nvPr/>
        </p:nvSpPr>
        <p:spPr>
          <a:xfrm>
            <a:off x="267321" y="980728"/>
            <a:ext cx="6824960" cy="369332"/>
          </a:xfrm>
          <a:prstGeom prst="rect">
            <a:avLst/>
          </a:prstGeom>
          <a:noFill/>
        </p:spPr>
        <p:txBody>
          <a:bodyPr wrap="square" rtlCol="0">
            <a:spAutoFit/>
          </a:bodyPr>
          <a:lstStyle/>
          <a:p>
            <a:r>
              <a:rPr lang="es-ES" b="1" dirty="0" smtClean="0">
                <a:solidFill>
                  <a:srgbClr val="254061"/>
                </a:solidFill>
              </a:rPr>
              <a:t>ENVÍO A VALIDACIÓN (PASOS) - FLUJO </a:t>
            </a:r>
            <a:endParaRPr lang="en-US" b="1" dirty="0">
              <a:solidFill>
                <a:srgbClr val="254061"/>
              </a:solidFill>
            </a:endParaRPr>
          </a:p>
        </p:txBody>
      </p:sp>
      <p:sp>
        <p:nvSpPr>
          <p:cNvPr id="5" name="4 Rectángulo"/>
          <p:cNvSpPr/>
          <p:nvPr/>
        </p:nvSpPr>
        <p:spPr>
          <a:xfrm>
            <a:off x="31037" y="1443452"/>
            <a:ext cx="9072911" cy="3323987"/>
          </a:xfrm>
          <a:prstGeom prst="rect">
            <a:avLst/>
          </a:prstGeom>
          <a:noFill/>
          <a:ln w="12700">
            <a:solidFill>
              <a:schemeClr val="tx1"/>
            </a:solidFill>
          </a:ln>
        </p:spPr>
        <p:txBody>
          <a:bodyPr wrap="square">
            <a:spAutoFit/>
          </a:bodyPr>
          <a:lstStyle/>
          <a:p>
            <a:pPr algn="just"/>
            <a:r>
              <a:rPr lang="es-ES" sz="1000" dirty="0">
                <a:latin typeface="Arial" panose="020B0604020202020204" pitchFamily="34" charset="0"/>
                <a:cs typeface="Arial" panose="020B0604020202020204" pitchFamily="34" charset="0"/>
                <a:sym typeface="Wingdings" panose="05000000000000000000" pitchFamily="2" charset="2"/>
              </a:rPr>
              <a:t>Los flujos de validación dependen del tipo de proyecto. 4 Flujos</a:t>
            </a:r>
            <a:r>
              <a:rPr lang="es-ES" sz="1000" dirty="0" smtClean="0">
                <a:latin typeface="Arial" panose="020B0604020202020204" pitchFamily="34" charset="0"/>
                <a:cs typeface="Arial" panose="020B0604020202020204" pitchFamily="34" charset="0"/>
                <a:sym typeface="Wingdings" panose="05000000000000000000" pitchFamily="2" charset="2"/>
              </a:rPr>
              <a:t>:</a:t>
            </a:r>
            <a:endParaRPr lang="en-GB" sz="1000" b="1" dirty="0" smtClean="0">
              <a:ea typeface="Calibri"/>
            </a:endParaRPr>
          </a:p>
          <a:p>
            <a:pPr marL="342900" lvl="0" indent="-342900" algn="just">
              <a:spcAft>
                <a:spcPts val="0"/>
              </a:spcAft>
              <a:buFont typeface="+mj-lt"/>
              <a:buAutoNum type="alphaUcPeriod"/>
            </a:pPr>
            <a:r>
              <a:rPr lang="en-GB" sz="1000" b="1" dirty="0" smtClean="0">
                <a:ea typeface="Calibri"/>
              </a:rPr>
              <a:t>INDUSTRIALIZATION PROJECT:</a:t>
            </a:r>
          </a:p>
          <a:p>
            <a:pPr lvl="0" algn="just">
              <a:spcAft>
                <a:spcPts val="0"/>
              </a:spcAft>
            </a:pPr>
            <a:r>
              <a:rPr lang="en-GB" sz="1000" dirty="0" smtClean="0">
                <a:ea typeface="Calibri"/>
              </a:rPr>
              <a:t>Project Owner creates &amp; sends to validate &gt;  </a:t>
            </a:r>
            <a:r>
              <a:rPr lang="en-GB" sz="1000" b="1" dirty="0" smtClean="0">
                <a:ea typeface="Calibri"/>
              </a:rPr>
              <a:t>Project Manager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Internacional</a:t>
            </a:r>
            <a:r>
              <a:rPr lang="en-GB" sz="1000" b="1" baseline="30000" dirty="0">
                <a:ea typeface="Calibri"/>
              </a:rPr>
              <a:t>1</a:t>
            </a:r>
            <a:r>
              <a:rPr lang="en-GB" sz="1000" dirty="0" smtClean="0">
                <a:ea typeface="Calibri"/>
              </a:rPr>
              <a:t> Or </a:t>
            </a:r>
            <a:r>
              <a:rPr lang="en-GB" sz="1000" b="1" dirty="0" smtClean="0">
                <a:ea typeface="Calibri"/>
              </a:rPr>
              <a:t>National</a:t>
            </a:r>
            <a:r>
              <a:rPr lang="en-GB" sz="1000" b="1" baseline="30000" dirty="0" smtClean="0">
                <a:ea typeface="Calibri"/>
              </a:rPr>
              <a:t>2</a:t>
            </a:r>
            <a:r>
              <a:rPr lang="en-GB" sz="1000" b="1" dirty="0" smtClean="0">
                <a:ea typeface="Calibri"/>
              </a:rPr>
              <a:t> Operations Director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Technical Director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Plant General Manager</a:t>
            </a:r>
            <a:r>
              <a:rPr lang="en-GB" sz="1000" b="1" baseline="30000" dirty="0">
                <a:ea typeface="Calibri"/>
              </a:rPr>
              <a:t>3</a:t>
            </a:r>
            <a:r>
              <a:rPr lang="en-GB" sz="1000" dirty="0" smtClean="0">
                <a:solidFill>
                  <a:srgbClr val="00B050"/>
                </a:solidFill>
                <a:ea typeface="Calibri"/>
              </a:rPr>
              <a:t> validation </a:t>
            </a:r>
            <a:r>
              <a:rPr lang="en-GB" sz="1000" dirty="0" smtClean="0">
                <a:ea typeface="Calibri"/>
              </a:rPr>
              <a:t>&gt; </a:t>
            </a:r>
            <a:r>
              <a:rPr lang="en-GB" sz="1000" b="1" dirty="0" smtClean="0">
                <a:ea typeface="Calibri"/>
              </a:rPr>
              <a:t>Corp. and Plant Financial Resp. </a:t>
            </a:r>
            <a:r>
              <a:rPr lang="en-GB" sz="1000" dirty="0" smtClean="0">
                <a:solidFill>
                  <a:srgbClr val="376092"/>
                </a:solidFill>
                <a:ea typeface="Calibri"/>
              </a:rPr>
              <a:t>CC code creation in the system. </a:t>
            </a:r>
            <a:r>
              <a:rPr lang="en-GB" sz="1000" baseline="30000" dirty="0" smtClean="0">
                <a:ea typeface="Calibri"/>
              </a:rPr>
              <a:t>4</a:t>
            </a:r>
            <a:endParaRPr lang="en-GB" sz="1000" dirty="0" smtClean="0">
              <a:ea typeface="Calibri"/>
            </a:endParaRPr>
          </a:p>
          <a:p>
            <a:pPr algn="just">
              <a:spcAft>
                <a:spcPts val="0"/>
              </a:spcAft>
            </a:pPr>
            <a:r>
              <a:rPr lang="en-GB" sz="1000" dirty="0" smtClean="0">
                <a:ea typeface="Calibri"/>
              </a:rPr>
              <a:t> </a:t>
            </a:r>
            <a:endParaRPr lang="es-ES" sz="1000" dirty="0" smtClean="0">
              <a:ea typeface="Calibri"/>
            </a:endParaRPr>
          </a:p>
          <a:p>
            <a:pPr marL="342900" lvl="0" indent="-342900" algn="just">
              <a:spcAft>
                <a:spcPts val="0"/>
              </a:spcAft>
              <a:buFont typeface="+mj-lt"/>
              <a:buAutoNum type="alphaUcPeriod" startAt="2"/>
            </a:pPr>
            <a:r>
              <a:rPr lang="en-GB" sz="1000" dirty="0" smtClean="0">
                <a:ea typeface="Calibri"/>
              </a:rPr>
              <a:t> </a:t>
            </a:r>
            <a:r>
              <a:rPr lang="es-ES" sz="1000" b="1" dirty="0" smtClean="0">
                <a:ea typeface="Calibri"/>
              </a:rPr>
              <a:t>ECO INDUSTRIALIZATION PROJECTS:</a:t>
            </a:r>
          </a:p>
          <a:p>
            <a:pPr algn="just">
              <a:spcAft>
                <a:spcPts val="0"/>
              </a:spcAft>
            </a:pPr>
            <a:r>
              <a:rPr lang="es-ES" sz="1000" dirty="0" smtClean="0">
                <a:ea typeface="Calibri"/>
              </a:rPr>
              <a:t>Project </a:t>
            </a:r>
            <a:r>
              <a:rPr lang="es-ES" sz="1000" dirty="0" err="1" smtClean="0">
                <a:ea typeface="Calibri"/>
              </a:rPr>
              <a:t>Owner</a:t>
            </a:r>
            <a:r>
              <a:rPr lang="es-ES" sz="1000" dirty="0" smtClean="0">
                <a:ea typeface="Calibri"/>
              </a:rPr>
              <a:t> </a:t>
            </a:r>
            <a:r>
              <a:rPr lang="es-ES" sz="1000" dirty="0" err="1" smtClean="0">
                <a:ea typeface="Calibri"/>
              </a:rPr>
              <a:t>creates</a:t>
            </a:r>
            <a:r>
              <a:rPr lang="es-ES" sz="1000" dirty="0" smtClean="0">
                <a:ea typeface="Calibri"/>
              </a:rPr>
              <a:t> &amp; </a:t>
            </a:r>
            <a:r>
              <a:rPr lang="en-GB" sz="1000" dirty="0" smtClean="0">
                <a:ea typeface="Calibri"/>
              </a:rPr>
              <a:t>sends  to </a:t>
            </a:r>
            <a:r>
              <a:rPr lang="en-GB" sz="1000" dirty="0" smtClean="0">
                <a:ea typeface="Calibri"/>
              </a:rPr>
              <a:t>validate</a:t>
            </a:r>
            <a:r>
              <a:rPr lang="en-GB" sz="1000" baseline="30000" dirty="0" smtClean="0">
                <a:ea typeface="Calibri"/>
              </a:rPr>
              <a:t>5,6</a:t>
            </a:r>
            <a:r>
              <a:rPr lang="en-GB" sz="1000" dirty="0" smtClean="0">
                <a:ea typeface="Calibri"/>
              </a:rPr>
              <a:t> </a:t>
            </a:r>
            <a:r>
              <a:rPr lang="en-GB" sz="1000" dirty="0" smtClean="0">
                <a:ea typeface="Calibri"/>
              </a:rPr>
              <a:t>&gt;  </a:t>
            </a:r>
            <a:r>
              <a:rPr lang="en-GB" sz="1000" b="1" dirty="0" smtClean="0">
                <a:ea typeface="Calibri"/>
              </a:rPr>
              <a:t>Plant Engineering Resp.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Plant General Manager</a:t>
            </a:r>
            <a:r>
              <a:rPr lang="en-GB" sz="1000" dirty="0" smtClean="0">
                <a:solidFill>
                  <a:srgbClr val="00B050"/>
                </a:solidFill>
                <a:ea typeface="Calibri"/>
              </a:rPr>
              <a:t> validation </a:t>
            </a:r>
            <a:r>
              <a:rPr lang="en-GB" sz="1000" dirty="0" smtClean="0">
                <a:ea typeface="Calibri"/>
              </a:rPr>
              <a:t>&gt; </a:t>
            </a:r>
            <a:r>
              <a:rPr lang="en-GB" sz="1000" b="1" dirty="0" smtClean="0">
                <a:ea typeface="Calibri"/>
              </a:rPr>
              <a:t>Plant Financial Resp. </a:t>
            </a:r>
            <a:r>
              <a:rPr lang="en-GB" sz="1000" dirty="0" smtClean="0">
                <a:solidFill>
                  <a:srgbClr val="376092"/>
                </a:solidFill>
                <a:ea typeface="Calibri"/>
              </a:rPr>
              <a:t>CC code creation in the system.</a:t>
            </a:r>
          </a:p>
          <a:p>
            <a:pPr algn="just">
              <a:spcAft>
                <a:spcPts val="0"/>
              </a:spcAft>
            </a:pPr>
            <a:r>
              <a:rPr lang="es-ES" sz="1000" dirty="0" smtClean="0">
                <a:ea typeface="Calibri"/>
              </a:rPr>
              <a:t> </a:t>
            </a:r>
          </a:p>
          <a:p>
            <a:pPr marL="342900" lvl="0" indent="-342900" algn="just">
              <a:spcAft>
                <a:spcPts val="0"/>
              </a:spcAft>
              <a:buFont typeface="+mj-lt"/>
              <a:buAutoNum type="alphaUcPeriod" startAt="3"/>
            </a:pPr>
            <a:r>
              <a:rPr lang="es-ES" sz="1000" b="1" dirty="0" smtClean="0">
                <a:ea typeface="Calibri"/>
              </a:rPr>
              <a:t>PREDEVELOPMENT PROJECTS:</a:t>
            </a:r>
            <a:endParaRPr lang="es-ES" sz="1000" dirty="0" smtClean="0">
              <a:ea typeface="Calibri"/>
            </a:endParaRPr>
          </a:p>
          <a:p>
            <a:pPr algn="just">
              <a:spcAft>
                <a:spcPts val="0"/>
              </a:spcAft>
            </a:pPr>
            <a:r>
              <a:rPr lang="es-ES" sz="1000" dirty="0">
                <a:ea typeface="Calibri"/>
              </a:rPr>
              <a:t>Project </a:t>
            </a:r>
            <a:r>
              <a:rPr lang="es-ES" sz="1000" dirty="0" err="1">
                <a:ea typeface="Calibri"/>
              </a:rPr>
              <a:t>Owner</a:t>
            </a:r>
            <a:r>
              <a:rPr lang="es-ES" sz="1000" dirty="0">
                <a:ea typeface="Calibri"/>
              </a:rPr>
              <a:t> </a:t>
            </a:r>
            <a:r>
              <a:rPr lang="es-ES" sz="1000" dirty="0" err="1" smtClean="0">
                <a:ea typeface="Calibri"/>
              </a:rPr>
              <a:t>creates</a:t>
            </a:r>
            <a:r>
              <a:rPr lang="es-ES" sz="1000" dirty="0" smtClean="0">
                <a:ea typeface="Calibri"/>
              </a:rPr>
              <a:t>  &amp; </a:t>
            </a:r>
            <a:r>
              <a:rPr lang="en-GB" sz="1000" dirty="0" smtClean="0">
                <a:ea typeface="Calibri"/>
              </a:rPr>
              <a:t>sends  </a:t>
            </a:r>
            <a:r>
              <a:rPr lang="en-GB" sz="1000" dirty="0">
                <a:ea typeface="Calibri"/>
              </a:rPr>
              <a:t>to validate </a:t>
            </a:r>
            <a:r>
              <a:rPr lang="en-US" sz="1000" dirty="0" smtClean="0">
                <a:ea typeface="Calibri"/>
              </a:rPr>
              <a:t>&gt; </a:t>
            </a:r>
            <a:r>
              <a:rPr lang="en-GB" sz="1000" b="1" dirty="0" smtClean="0">
                <a:ea typeface="Calibri"/>
              </a:rPr>
              <a:t>Product Manager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Technical Director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Corp. Financial Resp. </a:t>
            </a:r>
            <a:r>
              <a:rPr lang="en-GB" sz="1000" dirty="0" smtClean="0">
                <a:solidFill>
                  <a:srgbClr val="376092"/>
                </a:solidFill>
                <a:ea typeface="Calibri"/>
              </a:rPr>
              <a:t>CC code creation in the system. </a:t>
            </a:r>
            <a:endParaRPr lang="es-ES" sz="1000" dirty="0" smtClean="0">
              <a:ea typeface="Calibri"/>
            </a:endParaRPr>
          </a:p>
          <a:p>
            <a:pPr algn="just">
              <a:spcAft>
                <a:spcPts val="0"/>
              </a:spcAft>
            </a:pPr>
            <a:endParaRPr lang="es-ES" sz="1000" dirty="0" smtClean="0">
              <a:ea typeface="Calibri"/>
            </a:endParaRPr>
          </a:p>
          <a:p>
            <a:pPr marL="228600" lvl="0" indent="-228600" algn="just">
              <a:spcAft>
                <a:spcPts val="0"/>
              </a:spcAft>
              <a:buFont typeface="+mj-lt"/>
              <a:buAutoNum type="alphaUcPeriod" startAt="4"/>
            </a:pPr>
            <a:r>
              <a:rPr lang="en-GB" sz="1000" b="1" dirty="0" smtClean="0">
                <a:ea typeface="Calibri"/>
              </a:rPr>
              <a:t>    R_D PROJECTS:</a:t>
            </a:r>
            <a:endParaRPr lang="es-ES" sz="1000" dirty="0" smtClean="0">
              <a:ea typeface="Calibri"/>
            </a:endParaRPr>
          </a:p>
          <a:p>
            <a:pPr algn="just">
              <a:spcAft>
                <a:spcPts val="0"/>
              </a:spcAft>
            </a:pPr>
            <a:r>
              <a:rPr lang="es-ES" sz="1000" dirty="0">
                <a:ea typeface="Calibri"/>
              </a:rPr>
              <a:t>Project </a:t>
            </a:r>
            <a:r>
              <a:rPr lang="es-ES" sz="1000" dirty="0" err="1">
                <a:ea typeface="Calibri"/>
              </a:rPr>
              <a:t>Owner</a:t>
            </a:r>
            <a:r>
              <a:rPr lang="es-ES" sz="1000" dirty="0">
                <a:ea typeface="Calibri"/>
              </a:rPr>
              <a:t> </a:t>
            </a:r>
            <a:r>
              <a:rPr lang="es-ES" sz="1000" dirty="0" err="1" smtClean="0">
                <a:ea typeface="Calibri"/>
              </a:rPr>
              <a:t>creates</a:t>
            </a:r>
            <a:r>
              <a:rPr lang="es-ES" sz="1000" dirty="0" smtClean="0">
                <a:ea typeface="Calibri"/>
              </a:rPr>
              <a:t>  &amp; </a:t>
            </a:r>
            <a:r>
              <a:rPr lang="en-GB" sz="1000" dirty="0" smtClean="0">
                <a:ea typeface="Calibri"/>
              </a:rPr>
              <a:t>sends  </a:t>
            </a:r>
            <a:r>
              <a:rPr lang="en-GB" sz="1000" dirty="0">
                <a:ea typeface="Calibri"/>
              </a:rPr>
              <a:t>to validate </a:t>
            </a:r>
            <a:r>
              <a:rPr lang="en-US" sz="1000" dirty="0" smtClean="0">
                <a:ea typeface="Calibri"/>
              </a:rPr>
              <a:t>&gt; </a:t>
            </a:r>
            <a:r>
              <a:rPr lang="en-GB" sz="1000" b="1" dirty="0" smtClean="0">
                <a:ea typeface="Calibri"/>
              </a:rPr>
              <a:t>Advance Manager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Technical Director </a:t>
            </a:r>
            <a:r>
              <a:rPr lang="en-GB" sz="1000" dirty="0" smtClean="0">
                <a:solidFill>
                  <a:srgbClr val="00B050"/>
                </a:solidFill>
                <a:ea typeface="Calibri"/>
              </a:rPr>
              <a:t>validation </a:t>
            </a:r>
            <a:r>
              <a:rPr lang="en-GB" sz="1000" dirty="0" smtClean="0">
                <a:ea typeface="Calibri"/>
              </a:rPr>
              <a:t>&gt; </a:t>
            </a:r>
            <a:r>
              <a:rPr lang="en-GB" sz="1000" b="1" dirty="0" smtClean="0">
                <a:ea typeface="Calibri"/>
              </a:rPr>
              <a:t>Corp. Financial Resp. </a:t>
            </a:r>
            <a:r>
              <a:rPr lang="en-GB" sz="1000" dirty="0" smtClean="0">
                <a:solidFill>
                  <a:srgbClr val="376092"/>
                </a:solidFill>
                <a:ea typeface="Calibri"/>
              </a:rPr>
              <a:t>CC code creation in the system.</a:t>
            </a:r>
          </a:p>
          <a:p>
            <a:pPr algn="just">
              <a:spcAft>
                <a:spcPts val="0"/>
              </a:spcAft>
            </a:pPr>
            <a:endParaRPr lang="en-GB" sz="1000" dirty="0">
              <a:solidFill>
                <a:srgbClr val="376092"/>
              </a:solidFill>
              <a:ea typeface="Calibri"/>
            </a:endParaRPr>
          </a:p>
          <a:p>
            <a:pPr algn="just">
              <a:spcAft>
                <a:spcPts val="0"/>
              </a:spcAft>
            </a:pPr>
            <a:endParaRPr lang="en-GB" sz="1000" dirty="0" smtClean="0">
              <a:solidFill>
                <a:srgbClr val="376092"/>
              </a:solidFill>
              <a:ea typeface="Calibri"/>
            </a:endParaRPr>
          </a:p>
          <a:p>
            <a:pPr algn="just">
              <a:spcAft>
                <a:spcPts val="0"/>
              </a:spcAft>
            </a:pPr>
            <a:endParaRPr lang="en-GB" sz="1000" dirty="0">
              <a:solidFill>
                <a:srgbClr val="376092"/>
              </a:solidFill>
              <a:ea typeface="Calibri"/>
            </a:endParaRPr>
          </a:p>
          <a:p>
            <a:pPr algn="just">
              <a:spcAft>
                <a:spcPts val="0"/>
              </a:spcAft>
            </a:pPr>
            <a:endParaRPr lang="en-GB" sz="1000" dirty="0" smtClean="0">
              <a:solidFill>
                <a:srgbClr val="376092"/>
              </a:solidFill>
              <a:ea typeface="Calibri"/>
            </a:endParaRPr>
          </a:p>
          <a:p>
            <a:pPr algn="just">
              <a:spcAft>
                <a:spcPts val="0"/>
              </a:spcAft>
            </a:pPr>
            <a:endParaRPr lang="en-GB" sz="1000" dirty="0">
              <a:solidFill>
                <a:srgbClr val="376092"/>
              </a:solidFill>
              <a:ea typeface="Calibri"/>
            </a:endParaRPr>
          </a:p>
          <a:p>
            <a:pPr algn="just">
              <a:spcAft>
                <a:spcPts val="0"/>
              </a:spcAft>
            </a:pPr>
            <a:endParaRPr lang="en-GB" sz="1000" dirty="0" smtClean="0">
              <a:solidFill>
                <a:srgbClr val="376092"/>
              </a:solidFill>
              <a:ea typeface="Calibri"/>
            </a:endParaRPr>
          </a:p>
          <a:p>
            <a:pPr algn="just">
              <a:spcAft>
                <a:spcPts val="0"/>
              </a:spcAft>
            </a:pPr>
            <a:endParaRPr lang="en-GB" sz="1000" dirty="0" smtClean="0">
              <a:solidFill>
                <a:srgbClr val="376092"/>
              </a:solidFill>
              <a:ea typeface="Calibri"/>
            </a:endParaRPr>
          </a:p>
        </p:txBody>
      </p:sp>
      <p:sp>
        <p:nvSpPr>
          <p:cNvPr id="17" name="8 Llamada rectangular"/>
          <p:cNvSpPr/>
          <p:nvPr/>
        </p:nvSpPr>
        <p:spPr>
          <a:xfrm>
            <a:off x="643610" y="4852814"/>
            <a:ext cx="2704254" cy="496739"/>
          </a:xfrm>
          <a:prstGeom prst="wedgeRectCallout">
            <a:avLst>
              <a:gd name="adj1" fmla="val 23511"/>
              <a:gd name="adj2" fmla="val 79928"/>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1000" dirty="0" smtClean="0">
              <a:solidFill>
                <a:schemeClr val="tx1"/>
              </a:solidFill>
              <a:latin typeface="Arial" panose="020B0604020202020204" pitchFamily="34" charset="0"/>
              <a:cs typeface="Arial" panose="020B0604020202020204" pitchFamily="34" charset="0"/>
            </a:endParaRPr>
          </a:p>
          <a:p>
            <a:endParaRPr lang="es-ES" sz="1000" dirty="0">
              <a:solidFill>
                <a:schemeClr val="tx1"/>
              </a:solidFill>
              <a:latin typeface="Arial" panose="020B0604020202020204" pitchFamily="34" charset="0"/>
              <a:cs typeface="Arial" panose="020B0604020202020204" pitchFamily="34" charset="0"/>
            </a:endParaRPr>
          </a:p>
          <a:p>
            <a:r>
              <a:rPr lang="es-ES" sz="1000" dirty="0" smtClean="0">
                <a:solidFill>
                  <a:schemeClr val="tx1"/>
                </a:solidFill>
                <a:latin typeface="Arial" panose="020B0604020202020204" pitchFamily="34" charset="0"/>
                <a:cs typeface="Arial" panose="020B0604020202020204" pitchFamily="34" charset="0"/>
              </a:rPr>
              <a:t>Para ver dónde se encuentra un flujo:</a:t>
            </a:r>
          </a:p>
          <a:p>
            <a:r>
              <a:rPr lang="es-ES" sz="1000" dirty="0" smtClean="0">
                <a:solidFill>
                  <a:schemeClr val="tx1"/>
                </a:solidFill>
                <a:latin typeface="Arial" panose="020B0604020202020204" pitchFamily="34" charset="0"/>
                <a:cs typeface="Arial" panose="020B0604020202020204" pitchFamily="34" charset="0"/>
              </a:rPr>
              <a:t>Actual Status and </a:t>
            </a:r>
            <a:r>
              <a:rPr lang="es-ES" sz="1000" dirty="0" err="1" smtClean="0">
                <a:solidFill>
                  <a:schemeClr val="tx1"/>
                </a:solidFill>
                <a:latin typeface="Arial" panose="020B0604020202020204" pitchFamily="34" charset="0"/>
                <a:cs typeface="Arial" panose="020B0604020202020204" pitchFamily="34" charset="0"/>
              </a:rPr>
              <a:t>history</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Última validación</a:t>
            </a:r>
            <a:endParaRPr lang="es-ES" sz="1000" dirty="0" smtClean="0">
              <a:solidFill>
                <a:schemeClr val="tx1"/>
              </a:solidFill>
              <a:latin typeface="Arial" panose="020B0604020202020204" pitchFamily="34" charset="0"/>
              <a:cs typeface="Arial" panose="020B0604020202020204" pitchFamily="34" charset="0"/>
            </a:endParaRPr>
          </a:p>
          <a:p>
            <a:endParaRPr lang="es-ES" sz="1000" dirty="0">
              <a:solidFill>
                <a:schemeClr val="tx1"/>
              </a:solidFill>
              <a:latin typeface="Arial" panose="020B0604020202020204" pitchFamily="34" charset="0"/>
              <a:cs typeface="Arial" panose="020B0604020202020204" pitchFamily="34" charset="0"/>
            </a:endParaRPr>
          </a:p>
          <a:p>
            <a:endParaRPr lang="es-ES" sz="1000" dirty="0" smtClean="0">
              <a:solidFill>
                <a:schemeClr val="tx1"/>
              </a:solidFill>
              <a:latin typeface="Arial" panose="020B0604020202020204" pitchFamily="34" charset="0"/>
              <a:cs typeface="Arial" panose="020B0604020202020204" pitchFamily="34" charset="0"/>
            </a:endParaRPr>
          </a:p>
        </p:txBody>
      </p:sp>
      <p:pic>
        <p:nvPicPr>
          <p:cNvPr id="3" name="Imagen 2"/>
          <p:cNvPicPr>
            <a:picLocks noChangeAspect="1"/>
          </p:cNvPicPr>
          <p:nvPr/>
        </p:nvPicPr>
        <p:blipFill>
          <a:blip r:embed="rId3"/>
          <a:stretch>
            <a:fillRect/>
          </a:stretch>
        </p:blipFill>
        <p:spPr>
          <a:xfrm>
            <a:off x="244808" y="5496371"/>
            <a:ext cx="2952328" cy="433958"/>
          </a:xfrm>
          <a:prstGeom prst="rect">
            <a:avLst/>
          </a:prstGeom>
          <a:ln>
            <a:solidFill>
              <a:schemeClr val="tx1"/>
            </a:solidFill>
          </a:ln>
        </p:spPr>
      </p:pic>
      <p:sp>
        <p:nvSpPr>
          <p:cNvPr id="19" name="12 Rectángulo redondeado"/>
          <p:cNvSpPr/>
          <p:nvPr/>
        </p:nvSpPr>
        <p:spPr>
          <a:xfrm>
            <a:off x="2761103" y="5720536"/>
            <a:ext cx="207379" cy="124321"/>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pic>
        <p:nvPicPr>
          <p:cNvPr id="21" name="Imagen 20"/>
          <p:cNvPicPr>
            <a:picLocks noChangeAspect="1"/>
          </p:cNvPicPr>
          <p:nvPr/>
        </p:nvPicPr>
        <p:blipFill>
          <a:blip r:embed="rId4"/>
          <a:stretch>
            <a:fillRect/>
          </a:stretch>
        </p:blipFill>
        <p:spPr>
          <a:xfrm>
            <a:off x="8951" y="6280582"/>
            <a:ext cx="4951241" cy="498663"/>
          </a:xfrm>
          <a:prstGeom prst="rect">
            <a:avLst/>
          </a:prstGeom>
          <a:ln>
            <a:solidFill>
              <a:schemeClr val="tx1"/>
            </a:solidFill>
          </a:ln>
        </p:spPr>
      </p:pic>
      <p:sp>
        <p:nvSpPr>
          <p:cNvPr id="22" name="9 Flecha abajo"/>
          <p:cNvSpPr/>
          <p:nvPr/>
        </p:nvSpPr>
        <p:spPr>
          <a:xfrm rot="987555">
            <a:off x="4776123" y="5850238"/>
            <a:ext cx="324447" cy="710626"/>
          </a:xfrm>
          <a:prstGeom prst="down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3" name="10 Flecha derecha"/>
          <p:cNvSpPr/>
          <p:nvPr/>
        </p:nvSpPr>
        <p:spPr>
          <a:xfrm>
            <a:off x="6354972" y="6312847"/>
            <a:ext cx="396455" cy="301563"/>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pic>
        <p:nvPicPr>
          <p:cNvPr id="24" name="Imagen 23"/>
          <p:cNvPicPr>
            <a:picLocks noChangeAspect="1"/>
          </p:cNvPicPr>
          <p:nvPr/>
        </p:nvPicPr>
        <p:blipFill>
          <a:blip r:embed="rId5"/>
          <a:stretch>
            <a:fillRect/>
          </a:stretch>
        </p:blipFill>
        <p:spPr>
          <a:xfrm>
            <a:off x="5284360" y="5805264"/>
            <a:ext cx="3492205" cy="991170"/>
          </a:xfrm>
          <a:prstGeom prst="rect">
            <a:avLst/>
          </a:prstGeom>
          <a:ln>
            <a:solidFill>
              <a:schemeClr val="tx1"/>
            </a:solidFill>
          </a:ln>
        </p:spPr>
      </p:pic>
      <p:pic>
        <p:nvPicPr>
          <p:cNvPr id="25" name="Imagen 24"/>
          <p:cNvPicPr>
            <a:picLocks noChangeAspect="1"/>
          </p:cNvPicPr>
          <p:nvPr/>
        </p:nvPicPr>
        <p:blipFill>
          <a:blip r:embed="rId6"/>
          <a:stretch>
            <a:fillRect/>
          </a:stretch>
        </p:blipFill>
        <p:spPr>
          <a:xfrm>
            <a:off x="3421091" y="4753340"/>
            <a:ext cx="2976613" cy="1250255"/>
          </a:xfrm>
          <a:prstGeom prst="rect">
            <a:avLst/>
          </a:prstGeom>
          <a:ln>
            <a:solidFill>
              <a:schemeClr val="tx1"/>
            </a:solidFill>
          </a:ln>
        </p:spPr>
      </p:pic>
      <p:sp>
        <p:nvSpPr>
          <p:cNvPr id="26" name="8 Flecha derecha"/>
          <p:cNvSpPr/>
          <p:nvPr/>
        </p:nvSpPr>
        <p:spPr>
          <a:xfrm rot="20040168">
            <a:off x="2977349" y="5524215"/>
            <a:ext cx="430176" cy="257140"/>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5" name="CuadroTexto 14"/>
          <p:cNvSpPr txBox="1"/>
          <p:nvPr/>
        </p:nvSpPr>
        <p:spPr>
          <a:xfrm>
            <a:off x="88534" y="3698487"/>
            <a:ext cx="8957915" cy="1246495"/>
          </a:xfrm>
          <a:prstGeom prst="rect">
            <a:avLst/>
          </a:prstGeom>
          <a:noFill/>
          <a:ln>
            <a:solidFill>
              <a:schemeClr val="tx1"/>
            </a:solidFill>
            <a:prstDash val="sysDot"/>
          </a:ln>
        </p:spPr>
        <p:txBody>
          <a:bodyPr wrap="square" rtlCol="0">
            <a:spAutoFit/>
          </a:bodyPr>
          <a:lstStyle/>
          <a:p>
            <a:pPr algn="just">
              <a:spcAft>
                <a:spcPts val="0"/>
              </a:spcAft>
            </a:pPr>
            <a:r>
              <a:rPr lang="en-GB" sz="900" i="1" baseline="30000" dirty="0">
                <a:ea typeface="Calibri"/>
              </a:rPr>
              <a:t>1</a:t>
            </a:r>
            <a:r>
              <a:rPr lang="en-GB" sz="900" i="1" dirty="0">
                <a:ea typeface="Calibri"/>
              </a:rPr>
              <a:t>Proyectos para: CZ-KU-GU-MX </a:t>
            </a:r>
          </a:p>
          <a:p>
            <a:pPr algn="just"/>
            <a:r>
              <a:rPr lang="en-GB" sz="900" i="1" baseline="30000" dirty="0">
                <a:ea typeface="Calibri"/>
              </a:rPr>
              <a:t>2</a:t>
            </a:r>
            <a:r>
              <a:rPr lang="en-GB" sz="900" i="1" dirty="0">
                <a:ea typeface="Calibri"/>
              </a:rPr>
              <a:t>Proyectos para: ZA-IG</a:t>
            </a:r>
            <a:endParaRPr lang="en-GB" sz="900" i="1" baseline="-25000" dirty="0">
              <a:ea typeface="Calibri"/>
            </a:endParaRPr>
          </a:p>
          <a:p>
            <a:pPr algn="just"/>
            <a:r>
              <a:rPr lang="en-GB" sz="900" i="1" baseline="30000" dirty="0">
                <a:ea typeface="Calibri"/>
              </a:rPr>
              <a:t>3</a:t>
            </a:r>
            <a:r>
              <a:rPr lang="en-GB" sz="900" i="1" dirty="0">
                <a:ea typeface="Calibri"/>
              </a:rPr>
              <a:t>No se </a:t>
            </a:r>
            <a:r>
              <a:rPr lang="en-GB" sz="900" i="1" dirty="0" err="1">
                <a:ea typeface="Calibri"/>
              </a:rPr>
              <a:t>requiere</a:t>
            </a:r>
            <a:r>
              <a:rPr lang="en-GB" sz="900" i="1" dirty="0">
                <a:ea typeface="Calibri"/>
              </a:rPr>
              <a:t> </a:t>
            </a:r>
            <a:r>
              <a:rPr lang="en-GB" sz="900" i="1" dirty="0" err="1">
                <a:ea typeface="Calibri"/>
              </a:rPr>
              <a:t>si</a:t>
            </a:r>
            <a:r>
              <a:rPr lang="en-GB" sz="900" i="1" dirty="0">
                <a:ea typeface="Calibri"/>
              </a:rPr>
              <a:t> </a:t>
            </a:r>
            <a:r>
              <a:rPr lang="en-GB" sz="900" i="1" dirty="0" err="1">
                <a:ea typeface="Calibri"/>
              </a:rPr>
              <a:t>existe</a:t>
            </a:r>
            <a:r>
              <a:rPr lang="en-GB" sz="900" i="1" dirty="0">
                <a:ea typeface="Calibri"/>
              </a:rPr>
              <a:t> </a:t>
            </a:r>
            <a:r>
              <a:rPr lang="en-GB" sz="900" i="1" dirty="0" err="1">
                <a:ea typeface="Calibri"/>
              </a:rPr>
              <a:t>una</a:t>
            </a:r>
            <a:r>
              <a:rPr lang="en-GB" sz="900" i="1" dirty="0">
                <a:ea typeface="Calibri"/>
              </a:rPr>
              <a:t> </a:t>
            </a:r>
            <a:r>
              <a:rPr lang="en-GB" sz="900" i="1" dirty="0" err="1">
                <a:ea typeface="Calibri"/>
              </a:rPr>
              <a:t>validación</a:t>
            </a:r>
            <a:r>
              <a:rPr lang="en-GB" sz="900" i="1" dirty="0">
                <a:ea typeface="Calibri"/>
              </a:rPr>
              <a:t> </a:t>
            </a:r>
            <a:r>
              <a:rPr lang="en-GB" sz="900" i="1" dirty="0" err="1">
                <a:ea typeface="Calibri"/>
              </a:rPr>
              <a:t>previa</a:t>
            </a:r>
            <a:r>
              <a:rPr lang="en-GB" sz="900" i="1" dirty="0">
                <a:ea typeface="Calibri"/>
              </a:rPr>
              <a:t> de la </a:t>
            </a:r>
            <a:r>
              <a:rPr lang="en-GB" sz="900" i="1" dirty="0" err="1">
                <a:ea typeface="Calibri"/>
              </a:rPr>
              <a:t>misma</a:t>
            </a:r>
            <a:r>
              <a:rPr lang="en-GB" sz="900" i="1" dirty="0">
                <a:ea typeface="Calibri"/>
              </a:rPr>
              <a:t> persona</a:t>
            </a:r>
          </a:p>
          <a:p>
            <a:pPr algn="just"/>
            <a:r>
              <a:rPr lang="en-GB" sz="900" i="1" baseline="30000" dirty="0">
                <a:ea typeface="Calibri"/>
              </a:rPr>
              <a:t>4</a:t>
            </a:r>
            <a:r>
              <a:rPr lang="en-GB" sz="900" i="1" dirty="0">
                <a:ea typeface="Calibri"/>
              </a:rPr>
              <a:t>Si la planta </a:t>
            </a:r>
            <a:r>
              <a:rPr lang="en-GB" sz="900" i="1" dirty="0" err="1">
                <a:ea typeface="Calibri"/>
              </a:rPr>
              <a:t>productiva</a:t>
            </a:r>
            <a:r>
              <a:rPr lang="en-GB" sz="900" i="1" dirty="0">
                <a:ea typeface="Calibri"/>
              </a:rPr>
              <a:t> del Proyecto </a:t>
            </a:r>
            <a:r>
              <a:rPr lang="en-GB" sz="900" i="1" dirty="0" err="1">
                <a:ea typeface="Calibri"/>
              </a:rPr>
              <a:t>es</a:t>
            </a:r>
            <a:r>
              <a:rPr lang="en-GB" sz="900" i="1" dirty="0">
                <a:ea typeface="Calibri"/>
              </a:rPr>
              <a:t> </a:t>
            </a:r>
            <a:r>
              <a:rPr lang="es-ES" sz="900" i="1" dirty="0" err="1">
                <a:ea typeface="Calibri"/>
              </a:rPr>
              <a:t>Batz</a:t>
            </a:r>
            <a:r>
              <a:rPr lang="es-ES" sz="900" i="1" dirty="0">
                <a:ea typeface="Calibri"/>
              </a:rPr>
              <a:t> corporativo cambia el flujo por: Project </a:t>
            </a:r>
            <a:r>
              <a:rPr lang="es-ES" sz="900" i="1" dirty="0" err="1">
                <a:ea typeface="Calibri"/>
              </a:rPr>
              <a:t>Owner</a:t>
            </a:r>
            <a:r>
              <a:rPr lang="es-ES" sz="900" i="1" dirty="0">
                <a:ea typeface="Calibri"/>
              </a:rPr>
              <a:t> </a:t>
            </a:r>
            <a:r>
              <a:rPr lang="es-ES" sz="900" i="1" dirty="0" err="1">
                <a:ea typeface="Calibri"/>
              </a:rPr>
              <a:t>creates</a:t>
            </a:r>
            <a:r>
              <a:rPr lang="es-ES" sz="900" i="1" dirty="0">
                <a:ea typeface="Calibri"/>
              </a:rPr>
              <a:t>  &amp; </a:t>
            </a:r>
            <a:r>
              <a:rPr lang="en-GB" sz="900" i="1" dirty="0">
                <a:ea typeface="Calibri"/>
              </a:rPr>
              <a:t>sends  to validate </a:t>
            </a:r>
            <a:r>
              <a:rPr lang="en-US" sz="900" i="1" dirty="0">
                <a:ea typeface="Calibri"/>
              </a:rPr>
              <a:t>&gt; </a:t>
            </a:r>
            <a:r>
              <a:rPr lang="en-GB" sz="900" b="1" i="1" dirty="0">
                <a:ea typeface="Calibri"/>
              </a:rPr>
              <a:t>Project manager </a:t>
            </a:r>
            <a:r>
              <a:rPr lang="en-GB" sz="900" dirty="0">
                <a:solidFill>
                  <a:srgbClr val="00B050"/>
                </a:solidFill>
                <a:ea typeface="Calibri"/>
              </a:rPr>
              <a:t>validation </a:t>
            </a:r>
            <a:r>
              <a:rPr lang="en-GB" sz="900" i="1" dirty="0">
                <a:ea typeface="Calibri"/>
              </a:rPr>
              <a:t>&gt; </a:t>
            </a:r>
            <a:r>
              <a:rPr lang="en-GB" sz="900" b="1" i="1" dirty="0">
                <a:ea typeface="Calibri"/>
              </a:rPr>
              <a:t>Technical Director </a:t>
            </a:r>
            <a:r>
              <a:rPr lang="en-GB" sz="900" dirty="0">
                <a:solidFill>
                  <a:srgbClr val="00B050"/>
                </a:solidFill>
                <a:ea typeface="Calibri"/>
              </a:rPr>
              <a:t>validation </a:t>
            </a:r>
            <a:r>
              <a:rPr lang="en-GB" sz="900" i="1" dirty="0">
                <a:ea typeface="Calibri"/>
              </a:rPr>
              <a:t>&gt; </a:t>
            </a:r>
            <a:r>
              <a:rPr lang="en-GB" sz="900" b="1" i="1" dirty="0">
                <a:ea typeface="Calibri"/>
              </a:rPr>
              <a:t>Corp. Financial Resp. </a:t>
            </a:r>
            <a:r>
              <a:rPr lang="en-GB" sz="900" dirty="0">
                <a:solidFill>
                  <a:srgbClr val="376092"/>
                </a:solidFill>
                <a:ea typeface="Calibri"/>
              </a:rPr>
              <a:t>CC code creation in the system</a:t>
            </a:r>
          </a:p>
          <a:p>
            <a:pPr algn="just"/>
            <a:r>
              <a:rPr lang="en-GB" sz="900" i="1" baseline="30000" dirty="0">
                <a:ea typeface="Calibri"/>
              </a:rPr>
              <a:t>5</a:t>
            </a:r>
            <a:r>
              <a:rPr lang="en-GB" sz="900" i="1" dirty="0">
                <a:ea typeface="Calibri"/>
              </a:rPr>
              <a:t>Si el owner del Proyecto </a:t>
            </a:r>
            <a:r>
              <a:rPr lang="en-GB" sz="900" i="1" dirty="0" err="1">
                <a:ea typeface="Calibri"/>
              </a:rPr>
              <a:t>pertenece</a:t>
            </a:r>
            <a:r>
              <a:rPr lang="en-GB" sz="900" i="1" dirty="0">
                <a:ea typeface="Calibri"/>
              </a:rPr>
              <a:t> a  </a:t>
            </a:r>
            <a:r>
              <a:rPr lang="en-GB" sz="900" i="1" dirty="0" err="1">
                <a:ea typeface="Calibri"/>
              </a:rPr>
              <a:t>Corporativo</a:t>
            </a:r>
            <a:r>
              <a:rPr lang="en-GB" sz="900" i="1" dirty="0">
                <a:ea typeface="Calibri"/>
              </a:rPr>
              <a:t> </a:t>
            </a:r>
            <a:r>
              <a:rPr lang="en-GB" sz="900" i="1" dirty="0" err="1">
                <a:ea typeface="Calibri"/>
              </a:rPr>
              <a:t>seguirá</a:t>
            </a:r>
            <a:r>
              <a:rPr lang="en-GB" sz="900" i="1" dirty="0">
                <a:ea typeface="Calibri"/>
              </a:rPr>
              <a:t> el </a:t>
            </a:r>
            <a:r>
              <a:rPr lang="en-GB" sz="900" i="1" dirty="0" err="1">
                <a:ea typeface="Calibri"/>
              </a:rPr>
              <a:t>flujo</a:t>
            </a:r>
            <a:r>
              <a:rPr lang="en-GB" sz="900" i="1" dirty="0">
                <a:ea typeface="Calibri"/>
              </a:rPr>
              <a:t> </a:t>
            </a:r>
            <a:r>
              <a:rPr lang="en-GB" sz="900" i="1" dirty="0">
                <a:ea typeface="Calibri"/>
                <a:sym typeface="Wingdings" panose="05000000000000000000" pitchFamily="2" charset="2"/>
              </a:rPr>
              <a:t>A</a:t>
            </a:r>
            <a:r>
              <a:rPr lang="en-GB" sz="900" i="1" dirty="0">
                <a:ea typeface="Calibri"/>
              </a:rPr>
              <a:t>. INDUSTRIALIZATION </a:t>
            </a:r>
            <a:r>
              <a:rPr lang="en-GB" sz="900" i="1" dirty="0" smtClean="0">
                <a:ea typeface="Calibri"/>
              </a:rPr>
              <a:t>PROJECTS</a:t>
            </a:r>
            <a:r>
              <a:rPr lang="en-GB" sz="1000" i="1" dirty="0">
                <a:solidFill>
                  <a:prstClr val="black"/>
                </a:solidFill>
                <a:ea typeface="Calibri"/>
              </a:rPr>
              <a:t> </a:t>
            </a:r>
            <a:endParaRPr lang="en-GB" sz="1000" i="1" dirty="0" smtClean="0">
              <a:solidFill>
                <a:prstClr val="black"/>
              </a:solidFill>
              <a:ea typeface="Calibri"/>
            </a:endParaRPr>
          </a:p>
          <a:p>
            <a:pPr algn="just"/>
            <a:r>
              <a:rPr lang="en-GB" sz="1000" i="1" baseline="30000" dirty="0" smtClean="0">
                <a:ea typeface="Calibri"/>
              </a:rPr>
              <a:t>6</a:t>
            </a:r>
            <a:r>
              <a:rPr lang="en-GB" sz="1000" i="1" dirty="0" smtClean="0">
                <a:ea typeface="Calibri"/>
              </a:rPr>
              <a:t>Si </a:t>
            </a:r>
            <a:r>
              <a:rPr lang="en-GB" sz="1000" i="1" dirty="0">
                <a:ea typeface="Calibri"/>
              </a:rPr>
              <a:t>el </a:t>
            </a:r>
            <a:r>
              <a:rPr lang="en-GB" sz="1000" i="1" dirty="0" smtClean="0">
                <a:ea typeface="Calibri"/>
              </a:rPr>
              <a:t>Proyecto </a:t>
            </a:r>
            <a:r>
              <a:rPr lang="en-GB" sz="1000" i="1" dirty="0" err="1" smtClean="0">
                <a:ea typeface="Calibri"/>
              </a:rPr>
              <a:t>tiene</a:t>
            </a:r>
            <a:r>
              <a:rPr lang="en-GB" sz="1000" i="1" dirty="0" smtClean="0">
                <a:ea typeface="Calibri"/>
              </a:rPr>
              <a:t> </a:t>
            </a:r>
            <a:r>
              <a:rPr lang="en-GB" sz="1000" i="1" dirty="0" err="1" smtClean="0">
                <a:ea typeface="Calibri"/>
              </a:rPr>
              <a:t>en</a:t>
            </a:r>
            <a:r>
              <a:rPr lang="en-GB" sz="1000" i="1" dirty="0" smtClean="0">
                <a:ea typeface="Calibri"/>
              </a:rPr>
              <a:t> PTKSIS el </a:t>
            </a:r>
            <a:r>
              <a:rPr lang="en-GB" sz="1000" i="1" dirty="0" err="1" smtClean="0">
                <a:ea typeface="Calibri"/>
              </a:rPr>
              <a:t>atributo</a:t>
            </a:r>
            <a:r>
              <a:rPr lang="en-GB" sz="1000" i="1" dirty="0" smtClean="0">
                <a:ea typeface="Calibri"/>
              </a:rPr>
              <a:t> Indicators: Yes </a:t>
            </a:r>
            <a:r>
              <a:rPr lang="en-GB" sz="1000" i="1" dirty="0" err="1" smtClean="0">
                <a:ea typeface="Calibri"/>
              </a:rPr>
              <a:t>seguirá</a:t>
            </a:r>
            <a:r>
              <a:rPr lang="en-GB" sz="1000" i="1" dirty="0" smtClean="0">
                <a:ea typeface="Calibri"/>
              </a:rPr>
              <a:t> </a:t>
            </a:r>
            <a:r>
              <a:rPr lang="en-GB" sz="1000" i="1" dirty="0">
                <a:ea typeface="Calibri"/>
              </a:rPr>
              <a:t>el </a:t>
            </a:r>
            <a:r>
              <a:rPr lang="en-GB" sz="1000" i="1" dirty="0" err="1">
                <a:ea typeface="Calibri"/>
              </a:rPr>
              <a:t>flujo</a:t>
            </a:r>
            <a:r>
              <a:rPr lang="en-GB" sz="1000" i="1" dirty="0">
                <a:ea typeface="Calibri"/>
              </a:rPr>
              <a:t> </a:t>
            </a:r>
            <a:r>
              <a:rPr lang="en-GB" sz="1000" i="1" dirty="0">
                <a:ea typeface="Calibri"/>
                <a:sym typeface="Wingdings" panose="05000000000000000000" pitchFamily="2" charset="2"/>
              </a:rPr>
              <a:t>A</a:t>
            </a:r>
            <a:r>
              <a:rPr lang="en-GB" sz="1000" i="1" dirty="0">
                <a:ea typeface="Calibri"/>
              </a:rPr>
              <a:t>. INDUSTRIALIZATION PROJECTS</a:t>
            </a:r>
            <a:r>
              <a:rPr lang="en-GB" sz="1050" i="1" dirty="0">
                <a:solidFill>
                  <a:prstClr val="black"/>
                </a:solidFill>
                <a:ea typeface="Calibri"/>
              </a:rPr>
              <a:t> </a:t>
            </a:r>
          </a:p>
          <a:p>
            <a:pPr algn="just"/>
            <a:endParaRPr lang="en-GB" sz="1000" i="1" dirty="0">
              <a:solidFill>
                <a:prstClr val="black"/>
              </a:solidFill>
              <a:ea typeface="Calibri"/>
            </a:endParaRPr>
          </a:p>
        </p:txBody>
      </p:sp>
    </p:spTree>
    <p:extLst>
      <p:ext uri="{BB962C8B-B14F-4D97-AF65-F5344CB8AC3E}">
        <p14:creationId xmlns:p14="http://schemas.microsoft.com/office/powerpoint/2010/main" val="101018255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23</a:t>
            </a:fld>
            <a:endParaRPr lang="es-ES" dirty="0"/>
          </a:p>
        </p:txBody>
      </p:sp>
      <p:pic>
        <p:nvPicPr>
          <p:cNvPr id="3" name="Imagen 2"/>
          <p:cNvPicPr>
            <a:picLocks noChangeAspect="1"/>
          </p:cNvPicPr>
          <p:nvPr/>
        </p:nvPicPr>
        <p:blipFill>
          <a:blip r:embed="rId2"/>
          <a:stretch>
            <a:fillRect/>
          </a:stretch>
        </p:blipFill>
        <p:spPr>
          <a:xfrm>
            <a:off x="1115616" y="2720526"/>
            <a:ext cx="5760640" cy="1884244"/>
          </a:xfrm>
          <a:prstGeom prst="rect">
            <a:avLst/>
          </a:prstGeom>
        </p:spPr>
      </p:pic>
      <p:sp>
        <p:nvSpPr>
          <p:cNvPr id="4" name="6 CuadroTexto"/>
          <p:cNvSpPr txBox="1"/>
          <p:nvPr/>
        </p:nvSpPr>
        <p:spPr>
          <a:xfrm>
            <a:off x="267320" y="980728"/>
            <a:ext cx="8337127" cy="646331"/>
          </a:xfrm>
          <a:prstGeom prst="rect">
            <a:avLst/>
          </a:prstGeom>
          <a:noFill/>
        </p:spPr>
        <p:txBody>
          <a:bodyPr wrap="square" rtlCol="0">
            <a:spAutoFit/>
          </a:bodyPr>
          <a:lstStyle>
            <a:defPPr>
              <a:defRPr lang="es-ES"/>
            </a:defPPr>
            <a:lvl1pPr>
              <a:defRPr b="1">
                <a:solidFill>
                  <a:srgbClr val="254061"/>
                </a:solidFill>
              </a:defRPr>
            </a:lvl1pPr>
          </a:lstStyle>
          <a:p>
            <a:pPr marL="0" lvl="2"/>
            <a:r>
              <a:rPr lang="en-US" b="1" dirty="0" smtClean="0">
                <a:solidFill>
                  <a:srgbClr val="254061"/>
                </a:solidFill>
              </a:rPr>
              <a:t>MENSAJES AL ENVIAR A VALIDAR: DEBE </a:t>
            </a:r>
            <a:r>
              <a:rPr lang="en-US" b="1" dirty="0">
                <a:solidFill>
                  <a:srgbClr val="254061"/>
                </a:solidFill>
              </a:rPr>
              <a:t>INFORMAR DEL PROYECTO AFECTADO (EN ECO’S)</a:t>
            </a:r>
          </a:p>
        </p:txBody>
      </p:sp>
      <p:sp>
        <p:nvSpPr>
          <p:cNvPr id="5" name="12 Rectángulo"/>
          <p:cNvSpPr/>
          <p:nvPr/>
        </p:nvSpPr>
        <p:spPr>
          <a:xfrm>
            <a:off x="247188" y="1628800"/>
            <a:ext cx="8856984" cy="81298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Siempre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que sea possible,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en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cost carriers al Proyecto de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modificacion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se le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asignará</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el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mismo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código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del Proyecto que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está</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modificando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continuando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correlativamente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con la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numeración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con la que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terminó</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el Proyecto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modificado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Se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posibilitará</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así</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tener</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una</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lectura</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coste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total. </a:t>
            </a:r>
          </a:p>
          <a:p>
            <a:endPar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Para saber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cuál</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es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el Proyecto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modificado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debe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informarse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del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mismo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en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PTKSIS</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endParaRPr>
          </a:p>
        </p:txBody>
      </p:sp>
      <p:sp>
        <p:nvSpPr>
          <p:cNvPr id="6" name="Elipse 5"/>
          <p:cNvSpPr/>
          <p:nvPr/>
        </p:nvSpPr>
        <p:spPr>
          <a:xfrm>
            <a:off x="2555776" y="3140968"/>
            <a:ext cx="1008112" cy="288032"/>
          </a:xfrm>
          <a:prstGeom prst="ellipse">
            <a:avLst/>
          </a:prstGeom>
          <a:noFill/>
          <a:ln w="31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5863074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24</a:t>
            </a:fld>
            <a:endParaRPr lang="es-ES" dirty="0"/>
          </a:p>
        </p:txBody>
      </p:sp>
      <p:sp>
        <p:nvSpPr>
          <p:cNvPr id="5" name="12 Rectángulo"/>
          <p:cNvSpPr/>
          <p:nvPr/>
        </p:nvSpPr>
        <p:spPr>
          <a:xfrm>
            <a:off x="179512" y="1535894"/>
            <a:ext cx="8856984" cy="81298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Si no hemos escrito una abreviatura para el nombre del proyecto nos saldrá este mensaje al enviar a validar para que lo hagamos en ese momento (al darle Aceptar, nos llevará al menú para editar el nombre). Podremos introducir un máximo de 10 caracteres. Después de rellenarlo podremos volver a darle a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Send</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to </a:t>
            </a:r>
            <a:r>
              <a:rPr lang="es-ES" sz="1000" dirty="0" err="1">
                <a:solidFill>
                  <a:schemeClr val="tx1"/>
                </a:solidFill>
                <a:latin typeface="Arial" panose="020B0604020202020204" pitchFamily="34" charset="0"/>
                <a:cs typeface="Arial" panose="020B0604020202020204" pitchFamily="34" charset="0"/>
                <a:sym typeface="Wingdings" panose="05000000000000000000" pitchFamily="2" charset="2"/>
              </a:rPr>
              <a:t>v</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alidate</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endParaRPr>
          </a:p>
        </p:txBody>
      </p:sp>
      <p:pic>
        <p:nvPicPr>
          <p:cNvPr id="6" name="Imagen 5"/>
          <p:cNvPicPr>
            <a:picLocks noChangeAspect="1"/>
          </p:cNvPicPr>
          <p:nvPr/>
        </p:nvPicPr>
        <p:blipFill>
          <a:blip r:embed="rId2"/>
          <a:stretch>
            <a:fillRect/>
          </a:stretch>
        </p:blipFill>
        <p:spPr>
          <a:xfrm>
            <a:off x="2339752" y="2192254"/>
            <a:ext cx="3254896" cy="902494"/>
          </a:xfrm>
          <a:prstGeom prst="rect">
            <a:avLst/>
          </a:prstGeom>
          <a:ln w="6350">
            <a:solidFill>
              <a:schemeClr val="tx1"/>
            </a:solidFill>
          </a:ln>
        </p:spPr>
      </p:pic>
      <p:sp>
        <p:nvSpPr>
          <p:cNvPr id="8" name="3 CuadroTexto"/>
          <p:cNvSpPr txBox="1"/>
          <p:nvPr/>
        </p:nvSpPr>
        <p:spPr>
          <a:xfrm>
            <a:off x="267320" y="980728"/>
            <a:ext cx="8337127" cy="369332"/>
          </a:xfrm>
          <a:prstGeom prst="rect">
            <a:avLst/>
          </a:prstGeom>
          <a:noFill/>
        </p:spPr>
        <p:txBody>
          <a:bodyPr wrap="square" rtlCol="0">
            <a:spAutoFit/>
          </a:bodyPr>
          <a:lstStyle/>
          <a:p>
            <a:pPr marL="0" lvl="2"/>
            <a:r>
              <a:rPr lang="en-US" b="1" dirty="0">
                <a:solidFill>
                  <a:srgbClr val="254061"/>
                </a:solidFill>
              </a:rPr>
              <a:t>MENSAJES AL ENVIAR A VALIDAR: </a:t>
            </a:r>
            <a:r>
              <a:rPr lang="en-US" b="1" dirty="0" smtClean="0">
                <a:solidFill>
                  <a:srgbClr val="254061"/>
                </a:solidFill>
              </a:rPr>
              <a:t>EL </a:t>
            </a:r>
            <a:r>
              <a:rPr lang="en-US" b="1" dirty="0">
                <a:solidFill>
                  <a:srgbClr val="254061"/>
                </a:solidFill>
              </a:rPr>
              <a:t>PROYECTO NO CONTIENE ABREVIATURA</a:t>
            </a:r>
          </a:p>
        </p:txBody>
      </p:sp>
      <p:pic>
        <p:nvPicPr>
          <p:cNvPr id="9" name="Imagen 8">
            <a:hlinkClick r:id="rId3" action="ppaction://hlinksldjump"/>
          </p:cNvPr>
          <p:cNvPicPr>
            <a:picLocks noChangeAspect="1"/>
          </p:cNvPicPr>
          <p:nvPr/>
        </p:nvPicPr>
        <p:blipFill>
          <a:blip r:embed="rId4"/>
          <a:stretch>
            <a:fillRect/>
          </a:stretch>
        </p:blipFill>
        <p:spPr>
          <a:xfrm>
            <a:off x="306455" y="3636609"/>
            <a:ext cx="4857493" cy="3221391"/>
          </a:xfrm>
          <a:prstGeom prst="rect">
            <a:avLst/>
          </a:prstGeom>
        </p:spPr>
      </p:pic>
      <p:sp>
        <p:nvSpPr>
          <p:cNvPr id="10" name="12 Rectángulo"/>
          <p:cNvSpPr/>
          <p:nvPr/>
        </p:nvSpPr>
        <p:spPr>
          <a:xfrm>
            <a:off x="159957" y="3216887"/>
            <a:ext cx="3187907" cy="415425"/>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Más sobre la abreviatura del proyecto en diapositiva:</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2074927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25</a:t>
            </a:fld>
            <a:endParaRPr lang="es-ES" dirty="0"/>
          </a:p>
        </p:txBody>
      </p:sp>
      <p:grpSp>
        <p:nvGrpSpPr>
          <p:cNvPr id="6" name="Grupo 5"/>
          <p:cNvGrpSpPr/>
          <p:nvPr/>
        </p:nvGrpSpPr>
        <p:grpSpPr>
          <a:xfrm>
            <a:off x="186039" y="1700808"/>
            <a:ext cx="8274562" cy="802032"/>
            <a:chOff x="186039" y="3224348"/>
            <a:chExt cx="8274562" cy="802032"/>
          </a:xfrm>
        </p:grpSpPr>
        <p:pic>
          <p:nvPicPr>
            <p:cNvPr id="4" name="Imagen 3"/>
            <p:cNvPicPr>
              <a:picLocks noChangeAspect="1"/>
            </p:cNvPicPr>
            <p:nvPr/>
          </p:nvPicPr>
          <p:blipFill>
            <a:blip r:embed="rId3"/>
            <a:stretch>
              <a:fillRect/>
            </a:stretch>
          </p:blipFill>
          <p:spPr>
            <a:xfrm>
              <a:off x="539552" y="3789040"/>
              <a:ext cx="7920880" cy="237340"/>
            </a:xfrm>
            <a:prstGeom prst="rect">
              <a:avLst/>
            </a:prstGeom>
          </p:spPr>
        </p:pic>
        <p:pic>
          <p:nvPicPr>
            <p:cNvPr id="5" name="Imagen 4"/>
            <p:cNvPicPr>
              <a:picLocks noChangeAspect="1"/>
            </p:cNvPicPr>
            <p:nvPr/>
          </p:nvPicPr>
          <p:blipFill>
            <a:blip r:embed="rId4"/>
            <a:stretch>
              <a:fillRect/>
            </a:stretch>
          </p:blipFill>
          <p:spPr>
            <a:xfrm>
              <a:off x="186039" y="3224348"/>
              <a:ext cx="8274562" cy="564692"/>
            </a:xfrm>
            <a:prstGeom prst="rect">
              <a:avLst/>
            </a:prstGeom>
          </p:spPr>
        </p:pic>
      </p:grpSp>
      <p:sp>
        <p:nvSpPr>
          <p:cNvPr id="7" name="6 CuadroTexto"/>
          <p:cNvSpPr txBox="1"/>
          <p:nvPr/>
        </p:nvSpPr>
        <p:spPr>
          <a:xfrm>
            <a:off x="267320" y="980728"/>
            <a:ext cx="8337127" cy="646331"/>
          </a:xfrm>
          <a:prstGeom prst="rect">
            <a:avLst/>
          </a:prstGeom>
          <a:noFill/>
        </p:spPr>
        <p:txBody>
          <a:bodyPr wrap="square" rtlCol="0">
            <a:spAutoFit/>
          </a:bodyPr>
          <a:lstStyle>
            <a:defPPr>
              <a:defRPr lang="es-ES"/>
            </a:defPPr>
            <a:lvl1pPr>
              <a:defRPr b="1">
                <a:solidFill>
                  <a:srgbClr val="254061"/>
                </a:solidFill>
              </a:defRPr>
            </a:lvl1pPr>
          </a:lstStyle>
          <a:p>
            <a:pPr marL="0" lvl="2"/>
            <a:r>
              <a:rPr lang="en-US" b="1" dirty="0">
                <a:solidFill>
                  <a:srgbClr val="254061"/>
                </a:solidFill>
              </a:rPr>
              <a:t>MENSAJES AL ENVIAR A VALIDAR: </a:t>
            </a:r>
            <a:r>
              <a:rPr lang="en-US" b="1" dirty="0" smtClean="0">
                <a:solidFill>
                  <a:srgbClr val="254061"/>
                </a:solidFill>
              </a:rPr>
              <a:t>BUDGET </a:t>
            </a:r>
            <a:r>
              <a:rPr lang="en-US" b="1" dirty="0">
                <a:solidFill>
                  <a:srgbClr val="254061"/>
                </a:solidFill>
              </a:rPr>
              <a:t>APPROVED DIFIERE DEL SUMATORIO DE LOS EXPENSES</a:t>
            </a:r>
          </a:p>
        </p:txBody>
      </p:sp>
      <p:sp>
        <p:nvSpPr>
          <p:cNvPr id="9" name="Rectángulo 8"/>
          <p:cNvSpPr/>
          <p:nvPr/>
        </p:nvSpPr>
        <p:spPr>
          <a:xfrm>
            <a:off x="2411760" y="2265500"/>
            <a:ext cx="360040" cy="237340"/>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10" name="Rectángulo 9"/>
          <p:cNvSpPr/>
          <p:nvPr/>
        </p:nvSpPr>
        <p:spPr>
          <a:xfrm>
            <a:off x="3059832" y="2236827"/>
            <a:ext cx="1368152" cy="237340"/>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1" name="Rectángulo 10"/>
          <p:cNvSpPr/>
          <p:nvPr/>
        </p:nvSpPr>
        <p:spPr>
          <a:xfrm>
            <a:off x="5759967" y="2250147"/>
            <a:ext cx="1339053" cy="237340"/>
          </a:xfrm>
          <a:prstGeom prst="rect">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a:solidFill>
                <a:schemeClr val="tx1"/>
              </a:solidFill>
              <a:latin typeface="Arial" panose="020B0604020202020204" pitchFamily="34" charset="0"/>
              <a:cs typeface="Arial" panose="020B0604020202020204" pitchFamily="34" charset="0"/>
            </a:endParaRPr>
          </a:p>
        </p:txBody>
      </p:sp>
      <p:sp>
        <p:nvSpPr>
          <p:cNvPr id="12" name="Rectángulo 11"/>
          <p:cNvSpPr/>
          <p:nvPr/>
        </p:nvSpPr>
        <p:spPr>
          <a:xfrm>
            <a:off x="4464153" y="2236827"/>
            <a:ext cx="1259975" cy="23734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3" name="Rectángulo 12"/>
          <p:cNvSpPr/>
          <p:nvPr/>
        </p:nvSpPr>
        <p:spPr>
          <a:xfrm>
            <a:off x="7149823" y="2236827"/>
            <a:ext cx="1259975" cy="23734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4" name="Rectángulo 13"/>
          <p:cNvSpPr/>
          <p:nvPr/>
        </p:nvSpPr>
        <p:spPr>
          <a:xfrm>
            <a:off x="1835696" y="2255000"/>
            <a:ext cx="288032" cy="237340"/>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8" name="12 Rectángulo"/>
          <p:cNvSpPr/>
          <p:nvPr/>
        </p:nvSpPr>
        <p:spPr>
          <a:xfrm>
            <a:off x="107504" y="4024529"/>
            <a:ext cx="8856984" cy="1276679"/>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lvl="2"/>
            <a:r>
              <a:rPr lang="en-US" sz="1000" dirty="0" err="1" smtClean="0">
                <a:solidFill>
                  <a:schemeClr val="tx1"/>
                </a:solidFill>
                <a:latin typeface="Arial" panose="020B0604020202020204" pitchFamily="34" charset="0"/>
                <a:cs typeface="Arial" panose="020B0604020202020204" pitchFamily="34" charset="0"/>
              </a:rPr>
              <a:t>Cuando</a:t>
            </a:r>
            <a:r>
              <a:rPr lang="en-US" sz="1000" dirty="0" smtClean="0">
                <a:solidFill>
                  <a:schemeClr val="tx1"/>
                </a:solidFill>
                <a:latin typeface="Arial" panose="020B0604020202020204" pitchFamily="34" charset="0"/>
                <a:cs typeface="Arial" panose="020B0604020202020204" pitchFamily="34" charset="0"/>
              </a:rPr>
              <a:t> el </a:t>
            </a:r>
            <a:r>
              <a:rPr lang="en-US" sz="1000" dirty="0" err="1" smtClean="0">
                <a:solidFill>
                  <a:schemeClr val="tx1"/>
                </a:solidFill>
                <a:latin typeface="Arial" panose="020B0604020202020204" pitchFamily="34" charset="0"/>
                <a:cs typeface="Arial" panose="020B0604020202020204" pitchFamily="34" charset="0"/>
              </a:rPr>
              <a:t>paso</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es</a:t>
            </a:r>
            <a:r>
              <a:rPr lang="en-US" sz="1000" dirty="0" smtClean="0">
                <a:solidFill>
                  <a:schemeClr val="tx1"/>
                </a:solidFill>
                <a:latin typeface="Arial" panose="020B0604020202020204" pitchFamily="34" charset="0"/>
                <a:cs typeface="Arial" panose="020B0604020202020204" pitchFamily="34" charset="0"/>
              </a:rPr>
              <a:t> de </a:t>
            </a:r>
            <a:r>
              <a:rPr lang="en-US" sz="1000" dirty="0" err="1" smtClean="0">
                <a:solidFill>
                  <a:schemeClr val="tx1"/>
                </a:solidFill>
                <a:latin typeface="Arial" panose="020B0604020202020204" pitchFamily="34" charset="0"/>
                <a:cs typeface="Arial" panose="020B0604020202020204" pitchFamily="34" charset="0"/>
              </a:rPr>
              <a:t>tipo</a:t>
            </a:r>
            <a:r>
              <a:rPr lang="en-US" sz="1000" dirty="0" smtClean="0">
                <a:solidFill>
                  <a:schemeClr val="tx1"/>
                </a:solidFill>
                <a:latin typeface="Arial" panose="020B0604020202020204" pitchFamily="34" charset="0"/>
                <a:cs typeface="Arial" panose="020B0604020202020204" pitchFamily="34" charset="0"/>
              </a:rPr>
              <a:t> A2 (Origen </a:t>
            </a:r>
            <a:r>
              <a:rPr lang="en-US" sz="1000" dirty="0" err="1" smtClean="0">
                <a:solidFill>
                  <a:schemeClr val="tx1"/>
                </a:solidFill>
                <a:latin typeface="Arial" panose="020B0604020202020204" pitchFamily="34" charset="0"/>
                <a:cs typeface="Arial" panose="020B0604020202020204" pitchFamily="34" charset="0"/>
              </a:rPr>
              <a:t>oferta</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técnica</a:t>
            </a:r>
            <a:r>
              <a:rPr lang="en-US" sz="1000" dirty="0" smtClean="0">
                <a:solidFill>
                  <a:schemeClr val="tx1"/>
                </a:solidFill>
                <a:latin typeface="Arial" panose="020B0604020202020204" pitchFamily="34" charset="0"/>
                <a:cs typeface="Arial" panose="020B0604020202020204" pitchFamily="34" charset="0"/>
              </a:rPr>
              <a:t> o budget), </a:t>
            </a:r>
            <a:r>
              <a:rPr lang="en-US" sz="1000" dirty="0" err="1" smtClean="0">
                <a:solidFill>
                  <a:schemeClr val="tx1"/>
                </a:solidFill>
                <a:latin typeface="Arial" panose="020B0604020202020204" pitchFamily="34" charset="0"/>
                <a:cs typeface="Arial" panose="020B0604020202020204" pitchFamily="34" charset="0"/>
              </a:rPr>
              <a:t>este</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es</a:t>
            </a:r>
            <a:r>
              <a:rPr lang="en-US" sz="1000" dirty="0" smtClean="0">
                <a:solidFill>
                  <a:schemeClr val="tx1"/>
                </a:solidFill>
                <a:latin typeface="Arial" panose="020B0604020202020204" pitchFamily="34" charset="0"/>
                <a:cs typeface="Arial" panose="020B0604020202020204" pitchFamily="34" charset="0"/>
              </a:rPr>
              <a:t> el </a:t>
            </a:r>
            <a:r>
              <a:rPr lang="en-US" sz="1000" dirty="0" err="1" smtClean="0">
                <a:solidFill>
                  <a:schemeClr val="tx1"/>
                </a:solidFill>
                <a:latin typeface="Arial" panose="020B0604020202020204" pitchFamily="34" charset="0"/>
                <a:cs typeface="Arial" panose="020B0604020202020204" pitchFamily="34" charset="0"/>
              </a:rPr>
              <a:t>mensaje</a:t>
            </a:r>
            <a:r>
              <a:rPr lang="en-US" sz="1000" dirty="0" smtClean="0">
                <a:solidFill>
                  <a:schemeClr val="tx1"/>
                </a:solidFill>
                <a:latin typeface="Arial" panose="020B0604020202020204" pitchFamily="34" charset="0"/>
                <a:cs typeface="Arial" panose="020B0604020202020204" pitchFamily="34" charset="0"/>
              </a:rPr>
              <a:t> que sale </a:t>
            </a:r>
            <a:r>
              <a:rPr lang="en-US" sz="1000" dirty="0" err="1" smtClean="0">
                <a:solidFill>
                  <a:schemeClr val="tx1"/>
                </a:solidFill>
                <a:latin typeface="Arial" panose="020B0604020202020204" pitchFamily="34" charset="0"/>
                <a:cs typeface="Arial" panose="020B0604020202020204" pitchFamily="34" charset="0"/>
              </a:rPr>
              <a:t>si</a:t>
            </a:r>
            <a:r>
              <a:rPr lang="en-US" sz="1000" dirty="0" smtClean="0">
                <a:solidFill>
                  <a:schemeClr val="tx1"/>
                </a:solidFill>
                <a:latin typeface="Arial" panose="020B0604020202020204" pitchFamily="34" charset="0"/>
                <a:cs typeface="Arial" panose="020B0604020202020204" pitchFamily="34" charset="0"/>
              </a:rPr>
              <a:t> no se </a:t>
            </a:r>
            <a:r>
              <a:rPr lang="en-US" sz="1000" dirty="0" err="1" smtClean="0">
                <a:solidFill>
                  <a:schemeClr val="tx1"/>
                </a:solidFill>
                <a:latin typeface="Arial" panose="020B0604020202020204" pitchFamily="34" charset="0"/>
                <a:cs typeface="Arial" panose="020B0604020202020204" pitchFamily="34" charset="0"/>
              </a:rPr>
              <a:t>cumple</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esta</a:t>
            </a:r>
            <a:r>
              <a:rPr lang="en-US" sz="1000" dirty="0" smtClean="0">
                <a:solidFill>
                  <a:schemeClr val="tx1"/>
                </a:solidFill>
                <a:latin typeface="Arial" panose="020B0604020202020204" pitchFamily="34" charset="0"/>
                <a:cs typeface="Arial" panose="020B0604020202020204" pitchFamily="34" charset="0"/>
              </a:rPr>
              <a:t> </a:t>
            </a:r>
            <a:r>
              <a:rPr lang="en-US" sz="1000" dirty="0" err="1" smtClean="0">
                <a:solidFill>
                  <a:schemeClr val="tx1"/>
                </a:solidFill>
                <a:latin typeface="Arial" panose="020B0604020202020204" pitchFamily="34" charset="0"/>
                <a:cs typeface="Arial" panose="020B0604020202020204" pitchFamily="34" charset="0"/>
              </a:rPr>
              <a:t>condición</a:t>
            </a:r>
            <a:endParaRPr lang="en-US" sz="1000" dirty="0" smtClean="0">
              <a:solidFill>
                <a:schemeClr val="tx1"/>
              </a:solidFill>
              <a:latin typeface="Arial" panose="020B0604020202020204" pitchFamily="34" charset="0"/>
              <a:cs typeface="Arial" panose="020B0604020202020204" pitchFamily="34" charset="0"/>
            </a:endParaRPr>
          </a:p>
          <a:p>
            <a:pPr marL="0" lvl="2"/>
            <a:r>
              <a:rPr lang="es-ES" sz="1000" dirty="0" smtClean="0">
                <a:solidFill>
                  <a:schemeClr val="tx1"/>
                </a:solidFill>
                <a:latin typeface="Arial" panose="020B0604020202020204" pitchFamily="34" charset="0"/>
                <a:cs typeface="Arial" panose="020B0604020202020204" pitchFamily="34" charset="0"/>
              </a:rPr>
              <a:t>. </a:t>
            </a:r>
            <a:endParaRPr lang="es-ES" sz="1000" dirty="0">
              <a:solidFill>
                <a:schemeClr val="tx1"/>
              </a:solidFill>
              <a:latin typeface="Arial" panose="020B0604020202020204" pitchFamily="34" charset="0"/>
              <a:cs typeface="Arial" panose="020B0604020202020204" pitchFamily="34" charset="0"/>
            </a:endParaRPr>
          </a:p>
          <a:p>
            <a:pPr marL="177800" lvl="3" indent="-177800">
              <a:buFont typeface="Arial" panose="020B0604020202020204" pitchFamily="34" charset="0"/>
              <a:buChar char="•"/>
            </a:pPr>
            <a:r>
              <a:rPr lang="es-ES" sz="1000" b="1" dirty="0" smtClean="0">
                <a:solidFill>
                  <a:srgbClr val="0000FF"/>
                </a:solidFill>
                <a:latin typeface="Arial" panose="020B0604020202020204" pitchFamily="34" charset="0"/>
                <a:cs typeface="Arial" panose="020B0604020202020204" pitchFamily="34" charset="0"/>
              </a:rPr>
              <a:t>∑</a:t>
            </a:r>
            <a:r>
              <a:rPr lang="es-ES" sz="1000" b="1" dirty="0">
                <a:solidFill>
                  <a:srgbClr val="0000FF"/>
                </a:solidFill>
                <a:latin typeface="Arial" panose="020B0604020202020204" pitchFamily="34" charset="0"/>
                <a:cs typeface="Arial" panose="020B0604020202020204" pitchFamily="34" charset="0"/>
              </a:rPr>
              <a:t>Expenses = Budget </a:t>
            </a:r>
            <a:r>
              <a:rPr lang="es-ES" sz="1000" b="1" dirty="0" err="1">
                <a:solidFill>
                  <a:srgbClr val="0000FF"/>
                </a:solidFill>
                <a:latin typeface="Arial" panose="020B0604020202020204" pitchFamily="34" charset="0"/>
                <a:cs typeface="Arial" panose="020B0604020202020204" pitchFamily="34" charset="0"/>
              </a:rPr>
              <a:t>approved</a:t>
            </a:r>
            <a:endParaRPr lang="es-ES" sz="1000" b="1" dirty="0">
              <a:solidFill>
                <a:srgbClr val="0000FF"/>
              </a:solidFill>
              <a:latin typeface="Arial" panose="020B0604020202020204" pitchFamily="34" charset="0"/>
              <a:cs typeface="Arial" panose="020B0604020202020204" pitchFamily="34" charset="0"/>
            </a:endParaRPr>
          </a:p>
          <a:p>
            <a:pPr marL="177800" lvl="3" indent="-177800">
              <a:buFont typeface="Arial" panose="020B0604020202020204" pitchFamily="34" charset="0"/>
              <a:buChar char="•"/>
            </a:pPr>
            <a:r>
              <a:rPr lang="es-ES" sz="1000" b="1" dirty="0">
                <a:solidFill>
                  <a:srgbClr val="0000FF"/>
                </a:solidFill>
                <a:latin typeface="Arial" panose="020B0604020202020204" pitchFamily="34" charset="0"/>
                <a:cs typeface="Arial" panose="020B0604020202020204" pitchFamily="34" charset="0"/>
              </a:rPr>
              <a:t>∑</a:t>
            </a:r>
            <a:r>
              <a:rPr lang="es-ES" sz="1000" b="1" dirty="0" err="1">
                <a:solidFill>
                  <a:srgbClr val="0000FF"/>
                </a:solidFill>
                <a:latin typeface="Arial" panose="020B0604020202020204" pitchFamily="34" charset="0"/>
                <a:cs typeface="Arial" panose="020B0604020202020204" pitchFamily="34" charset="0"/>
              </a:rPr>
              <a:t>Incomes</a:t>
            </a:r>
            <a:r>
              <a:rPr lang="es-ES" sz="1000" b="1" dirty="0">
                <a:solidFill>
                  <a:srgbClr val="0000FF"/>
                </a:solidFill>
                <a:latin typeface="Arial" panose="020B0604020202020204" pitchFamily="34" charset="0"/>
                <a:cs typeface="Arial" panose="020B0604020202020204" pitchFamily="34" charset="0"/>
              </a:rPr>
              <a:t> = </a:t>
            </a:r>
            <a:r>
              <a:rPr lang="es-ES" sz="1000" b="1" dirty="0" err="1">
                <a:solidFill>
                  <a:srgbClr val="0000FF"/>
                </a:solidFill>
                <a:latin typeface="Arial" panose="020B0604020202020204" pitchFamily="34" charset="0"/>
                <a:cs typeface="Arial" panose="020B0604020202020204" pitchFamily="34" charset="0"/>
              </a:rPr>
              <a:t>Paid</a:t>
            </a:r>
            <a:r>
              <a:rPr lang="es-ES" sz="1000" b="1" dirty="0">
                <a:solidFill>
                  <a:srgbClr val="0000FF"/>
                </a:solidFill>
                <a:latin typeface="Arial" panose="020B0604020202020204" pitchFamily="34" charset="0"/>
                <a:cs typeface="Arial" panose="020B0604020202020204" pitchFamily="34" charset="0"/>
              </a:rPr>
              <a:t> </a:t>
            </a:r>
            <a:r>
              <a:rPr lang="es-ES" sz="1000" b="1" dirty="0" err="1">
                <a:solidFill>
                  <a:srgbClr val="0000FF"/>
                </a:solidFill>
                <a:latin typeface="Arial" panose="020B0604020202020204" pitchFamily="34" charset="0"/>
                <a:cs typeface="Arial" panose="020B0604020202020204" pitchFamily="34" charset="0"/>
              </a:rPr>
              <a:t>by</a:t>
            </a:r>
            <a:r>
              <a:rPr lang="es-ES" sz="1000" b="1" dirty="0">
                <a:solidFill>
                  <a:srgbClr val="0000FF"/>
                </a:solidFill>
                <a:latin typeface="Arial" panose="020B0604020202020204" pitchFamily="34" charset="0"/>
                <a:cs typeface="Arial" panose="020B0604020202020204" pitchFamily="34" charset="0"/>
              </a:rPr>
              <a:t> </a:t>
            </a:r>
            <a:r>
              <a:rPr lang="es-ES" sz="1000" b="1" dirty="0" err="1" smtClean="0">
                <a:solidFill>
                  <a:srgbClr val="0000FF"/>
                </a:solidFill>
                <a:latin typeface="Arial" panose="020B0604020202020204" pitchFamily="34" charset="0"/>
                <a:cs typeface="Arial" panose="020B0604020202020204" pitchFamily="34" charset="0"/>
              </a:rPr>
              <a:t>customer</a:t>
            </a:r>
            <a:endParaRPr lang="es-ES" sz="1000" b="1" dirty="0" smtClean="0">
              <a:solidFill>
                <a:srgbClr val="0000FF"/>
              </a:solidFill>
              <a:latin typeface="Arial" panose="020B0604020202020204" pitchFamily="34" charset="0"/>
              <a:cs typeface="Arial" panose="020B0604020202020204" pitchFamily="34" charset="0"/>
            </a:endParaRPr>
          </a:p>
          <a:p>
            <a:pPr marL="177800" lvl="3" indent="-177800">
              <a:buFont typeface="Arial" panose="020B0604020202020204" pitchFamily="34" charset="0"/>
              <a:buChar char="•"/>
            </a:pPr>
            <a:endParaRPr lang="en-US" sz="1000" dirty="0">
              <a:solidFill>
                <a:schemeClr val="tx1"/>
              </a:solidFill>
              <a:latin typeface="Arial" panose="020B0604020202020204" pitchFamily="34" charset="0"/>
              <a:cs typeface="Arial" panose="020B0604020202020204" pitchFamily="34" charset="0"/>
            </a:endParaRPr>
          </a:p>
          <a:p>
            <a:pPr marL="0" lvl="3"/>
            <a:r>
              <a:rPr lang="en-US" sz="1000" dirty="0" err="1">
                <a:solidFill>
                  <a:schemeClr val="tx1"/>
                </a:solidFill>
                <a:latin typeface="Arial" panose="020B0604020202020204" pitchFamily="34" charset="0"/>
                <a:cs typeface="Arial" panose="020B0604020202020204" pitchFamily="34" charset="0"/>
                <a:hlinkClick r:id="rId5" action="ppaction://hlinksldjump"/>
              </a:rPr>
              <a:t>Ver</a:t>
            </a:r>
            <a:r>
              <a:rPr lang="en-US" sz="1000" dirty="0">
                <a:solidFill>
                  <a:schemeClr val="tx1"/>
                </a:solidFill>
                <a:latin typeface="Arial" panose="020B0604020202020204" pitchFamily="34" charset="0"/>
                <a:cs typeface="Arial" panose="020B0604020202020204" pitchFamily="34" charset="0"/>
                <a:hlinkClick r:id="rId5" action="ppaction://hlinksldjump"/>
              </a:rPr>
              <a:t> </a:t>
            </a:r>
            <a:r>
              <a:rPr lang="en-US" sz="1000" dirty="0" err="1" smtClean="0">
                <a:solidFill>
                  <a:schemeClr val="tx1"/>
                </a:solidFill>
                <a:latin typeface="Arial" panose="020B0604020202020204" pitchFamily="34" charset="0"/>
                <a:cs typeface="Arial" panose="020B0604020202020204" pitchFamily="34" charset="0"/>
                <a:hlinkClick r:id="rId5" action="ppaction://hlinksldjump"/>
              </a:rPr>
              <a:t>diapositiva</a:t>
            </a:r>
            <a:r>
              <a:rPr lang="en-US" sz="1000" dirty="0" smtClean="0">
                <a:solidFill>
                  <a:schemeClr val="tx1"/>
                </a:solidFill>
                <a:latin typeface="Arial" panose="020B0604020202020204" pitchFamily="34" charset="0"/>
                <a:cs typeface="Arial" panose="020B0604020202020204" pitchFamily="34" charset="0"/>
                <a:hlinkClick r:id="rId5" action="ppaction://hlinksldjump"/>
              </a:rPr>
              <a:t> </a:t>
            </a:r>
            <a:endParaRPr lang="es-ES" sz="1000" dirty="0">
              <a:solidFill>
                <a:schemeClr val="tx1"/>
              </a:solidFill>
              <a:latin typeface="Arial" panose="020B0604020202020204" pitchFamily="34" charset="0"/>
              <a:cs typeface="Arial" panose="020B0604020202020204" pitchFamily="34" charset="0"/>
            </a:endParaRPr>
          </a:p>
        </p:txBody>
      </p:sp>
      <p:grpSp>
        <p:nvGrpSpPr>
          <p:cNvPr id="25" name="Grupo 24"/>
          <p:cNvGrpSpPr/>
          <p:nvPr/>
        </p:nvGrpSpPr>
        <p:grpSpPr>
          <a:xfrm>
            <a:off x="2423923" y="2780559"/>
            <a:ext cx="3823121" cy="1201552"/>
            <a:chOff x="2423923" y="2780559"/>
            <a:chExt cx="3823121" cy="1201552"/>
          </a:xfrm>
        </p:grpSpPr>
        <p:pic>
          <p:nvPicPr>
            <p:cNvPr id="3" name="Imagen 2"/>
            <p:cNvPicPr>
              <a:picLocks noChangeAspect="1"/>
            </p:cNvPicPr>
            <p:nvPr/>
          </p:nvPicPr>
          <p:blipFill>
            <a:blip r:embed="rId6"/>
            <a:stretch>
              <a:fillRect/>
            </a:stretch>
          </p:blipFill>
          <p:spPr>
            <a:xfrm>
              <a:off x="2423923" y="2780559"/>
              <a:ext cx="3823121" cy="1201552"/>
            </a:xfrm>
            <a:prstGeom prst="rect">
              <a:avLst/>
            </a:prstGeom>
          </p:spPr>
        </p:pic>
        <p:pic>
          <p:nvPicPr>
            <p:cNvPr id="22" name="Imagen 21"/>
            <p:cNvPicPr>
              <a:picLocks noChangeAspect="1"/>
            </p:cNvPicPr>
            <p:nvPr/>
          </p:nvPicPr>
          <p:blipFill>
            <a:blip r:embed="rId7"/>
            <a:stretch>
              <a:fillRect/>
            </a:stretch>
          </p:blipFill>
          <p:spPr>
            <a:xfrm>
              <a:off x="5148064" y="3212976"/>
              <a:ext cx="234000" cy="257941"/>
            </a:xfrm>
            <a:prstGeom prst="rect">
              <a:avLst/>
            </a:prstGeom>
          </p:spPr>
        </p:pic>
        <p:pic>
          <p:nvPicPr>
            <p:cNvPr id="23" name="Imagen 22"/>
            <p:cNvPicPr>
              <a:picLocks noChangeAspect="1"/>
            </p:cNvPicPr>
            <p:nvPr/>
          </p:nvPicPr>
          <p:blipFill>
            <a:blip r:embed="rId8"/>
            <a:stretch>
              <a:fillRect/>
            </a:stretch>
          </p:blipFill>
          <p:spPr>
            <a:xfrm flipH="1">
              <a:off x="5148064" y="3304800"/>
              <a:ext cx="102226" cy="126000"/>
            </a:xfrm>
            <a:prstGeom prst="rect">
              <a:avLst/>
            </a:prstGeom>
          </p:spPr>
        </p:pic>
        <p:pic>
          <p:nvPicPr>
            <p:cNvPr id="24" name="Imagen 23"/>
            <p:cNvPicPr>
              <a:picLocks noChangeAspect="1"/>
            </p:cNvPicPr>
            <p:nvPr/>
          </p:nvPicPr>
          <p:blipFill>
            <a:blip r:embed="rId9"/>
            <a:stretch>
              <a:fillRect/>
            </a:stretch>
          </p:blipFill>
          <p:spPr>
            <a:xfrm>
              <a:off x="5290789" y="3238460"/>
              <a:ext cx="314325" cy="285750"/>
            </a:xfrm>
            <a:prstGeom prst="rect">
              <a:avLst/>
            </a:prstGeom>
          </p:spPr>
        </p:pic>
      </p:grpSp>
    </p:spTree>
    <p:extLst>
      <p:ext uri="{BB962C8B-B14F-4D97-AF65-F5344CB8AC3E}">
        <p14:creationId xmlns:p14="http://schemas.microsoft.com/office/powerpoint/2010/main" val="33345844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26</a:t>
            </a:fld>
            <a:endParaRPr lang="es-ES" dirty="0"/>
          </a:p>
        </p:txBody>
      </p:sp>
      <p:sp>
        <p:nvSpPr>
          <p:cNvPr id="7" name="6 CuadroTexto"/>
          <p:cNvSpPr txBox="1"/>
          <p:nvPr/>
        </p:nvSpPr>
        <p:spPr>
          <a:xfrm>
            <a:off x="267320" y="980728"/>
            <a:ext cx="7329015" cy="369332"/>
          </a:xfrm>
          <a:prstGeom prst="rect">
            <a:avLst/>
          </a:prstGeom>
          <a:noFill/>
        </p:spPr>
        <p:txBody>
          <a:bodyPr wrap="square" rtlCol="0">
            <a:spAutoFit/>
          </a:bodyPr>
          <a:lstStyle/>
          <a:p>
            <a:r>
              <a:rPr lang="es-ES" b="1" dirty="0">
                <a:solidFill>
                  <a:srgbClr val="254061"/>
                </a:solidFill>
              </a:rPr>
              <a:t>ENVÍO A VALIDACION SÓLO DE LA GENERAL </a:t>
            </a:r>
            <a:r>
              <a:rPr lang="es-ES" b="1" dirty="0" smtClean="0">
                <a:solidFill>
                  <a:srgbClr val="254061"/>
                </a:solidFill>
              </a:rPr>
              <a:t>INFO - ACTUALIZACIÓN</a:t>
            </a:r>
            <a:endParaRPr lang="es-ES" b="1" dirty="0">
              <a:solidFill>
                <a:srgbClr val="254061"/>
              </a:solidFill>
            </a:endParaRPr>
          </a:p>
        </p:txBody>
      </p:sp>
      <p:sp>
        <p:nvSpPr>
          <p:cNvPr id="21" name="20 Rectángulo"/>
          <p:cNvSpPr/>
          <p:nvPr/>
        </p:nvSpPr>
        <p:spPr>
          <a:xfrm>
            <a:off x="171686" y="1422571"/>
            <a:ext cx="8788826" cy="830997"/>
          </a:xfrm>
          <a:prstGeom prst="rect">
            <a:avLst/>
          </a:prstGeom>
        </p:spPr>
        <p:txBody>
          <a:bodyPr wrap="square">
            <a:spAutoFit/>
          </a:bodyPr>
          <a:lstStyle/>
          <a:p>
            <a:r>
              <a:rPr lang="es-ES" sz="1200" dirty="0">
                <a:latin typeface="Arial" panose="020B0604020202020204" pitchFamily="34" charset="0"/>
                <a:cs typeface="Arial" panose="020B0604020202020204" pitchFamily="34" charset="0"/>
                <a:sym typeface="Wingdings" panose="05000000000000000000" pitchFamily="2" charset="2"/>
              </a:rPr>
              <a:t>Esta solicitud de validación no contiene </a:t>
            </a:r>
            <a:r>
              <a:rPr lang="es-ES" sz="1200" dirty="0" smtClean="0">
                <a:latin typeface="Arial" panose="020B0604020202020204" pitchFamily="34" charset="0"/>
                <a:cs typeface="Arial" panose="020B0604020202020204" pitchFamily="34" charset="0"/>
                <a:sym typeface="Wingdings" panose="05000000000000000000" pitchFamily="2" charset="2"/>
              </a:rPr>
              <a:t>pasos, </a:t>
            </a:r>
            <a:r>
              <a:rPr lang="es-ES" sz="1200" dirty="0">
                <a:latin typeface="Arial" panose="020B0604020202020204" pitchFamily="34" charset="0"/>
                <a:cs typeface="Arial" panose="020B0604020202020204" pitchFamily="34" charset="0"/>
                <a:sym typeface="Wingdings" panose="05000000000000000000" pitchFamily="2" charset="2"/>
              </a:rPr>
              <a:t>s</a:t>
            </a:r>
            <a:r>
              <a:rPr lang="es-ES"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e envían </a:t>
            </a:r>
            <a:r>
              <a:rPr lang="es-ES" sz="1200" dirty="0">
                <a:solidFill>
                  <a:schemeClr val="tx1"/>
                </a:solidFill>
                <a:latin typeface="Arial" panose="020B0604020202020204" pitchFamily="34" charset="0"/>
                <a:cs typeface="Arial" panose="020B0604020202020204" pitchFamily="34" charset="0"/>
                <a:sym typeface="Wingdings" panose="05000000000000000000" pitchFamily="2" charset="2"/>
              </a:rPr>
              <a:t>a validar sólo los datos recogidos en el recuadro General </a:t>
            </a:r>
            <a:r>
              <a:rPr lang="es-ES" sz="1200" dirty="0" err="1">
                <a:solidFill>
                  <a:schemeClr val="tx1"/>
                </a:solidFill>
                <a:latin typeface="Arial" panose="020B0604020202020204" pitchFamily="34" charset="0"/>
                <a:cs typeface="Arial" panose="020B0604020202020204" pitchFamily="34" charset="0"/>
                <a:sym typeface="Wingdings" panose="05000000000000000000" pitchFamily="2" charset="2"/>
              </a:rPr>
              <a:t>Info</a:t>
            </a:r>
            <a:r>
              <a:rPr lang="es-ES" sz="1200" dirty="0">
                <a:solidFill>
                  <a:schemeClr val="tx1"/>
                </a:solidFill>
                <a:latin typeface="Arial" panose="020B0604020202020204" pitchFamily="34" charset="0"/>
                <a:cs typeface="Arial" panose="020B0604020202020204" pitchFamily="34" charset="0"/>
                <a:sym typeface="Wingdings" panose="05000000000000000000" pitchFamily="2" charset="2"/>
              </a:rPr>
              <a:t> (margen neto, ventas </a:t>
            </a:r>
            <a:r>
              <a:rPr lang="es-ES"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efectivas etc. si el proyecto es de industrialización o </a:t>
            </a:r>
            <a:r>
              <a:rPr lang="el-GR"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a:t>
            </a:r>
            <a:r>
              <a:rPr lang="es-ES"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del beneficio en el precio pieza,  </a:t>
            </a:r>
            <a:r>
              <a:rPr lang="el-GR"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a:t>
            </a:r>
            <a:r>
              <a:rPr lang="es-ES"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 las ventas efectivas, etc. si el proyecto es de modificación). </a:t>
            </a:r>
            <a:endParaRPr lang="es-ES" sz="12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200" dirty="0">
              <a:solidFill>
                <a:schemeClr val="tx1"/>
              </a:solidFill>
              <a:latin typeface="Arial" panose="020B0604020202020204" pitchFamily="34" charset="0"/>
              <a:cs typeface="Arial" panose="020B0604020202020204" pitchFamily="34" charset="0"/>
            </a:endParaRPr>
          </a:p>
        </p:txBody>
      </p:sp>
      <p:sp>
        <p:nvSpPr>
          <p:cNvPr id="14" name="13 Rectángulo redondeado"/>
          <p:cNvSpPr/>
          <p:nvPr/>
        </p:nvSpPr>
        <p:spPr>
          <a:xfrm>
            <a:off x="6594801" y="2045290"/>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a:t>
            </a:r>
            <a:endParaRPr lang="es-ES" sz="1400" dirty="0">
              <a:solidFill>
                <a:schemeClr val="tx1"/>
              </a:solidFill>
            </a:endParaRPr>
          </a:p>
        </p:txBody>
      </p:sp>
      <p:pic>
        <p:nvPicPr>
          <p:cNvPr id="3" name="Imagen 2"/>
          <p:cNvPicPr>
            <a:picLocks noChangeAspect="1"/>
          </p:cNvPicPr>
          <p:nvPr/>
        </p:nvPicPr>
        <p:blipFill>
          <a:blip r:embed="rId2"/>
          <a:stretch>
            <a:fillRect/>
          </a:stretch>
        </p:blipFill>
        <p:spPr>
          <a:xfrm>
            <a:off x="537451" y="2754095"/>
            <a:ext cx="8390262" cy="4022652"/>
          </a:xfrm>
          <a:prstGeom prst="rect">
            <a:avLst/>
          </a:prstGeom>
          <a:ln w="6350">
            <a:solidFill>
              <a:schemeClr val="tx1"/>
            </a:solidFill>
          </a:ln>
          <a:effectLst/>
        </p:spPr>
      </p:pic>
      <p:sp>
        <p:nvSpPr>
          <p:cNvPr id="16" name="15 Llamada rectangular"/>
          <p:cNvSpPr/>
          <p:nvPr/>
        </p:nvSpPr>
        <p:spPr>
          <a:xfrm>
            <a:off x="3964290" y="2780928"/>
            <a:ext cx="4824536" cy="1171484"/>
          </a:xfrm>
          <a:prstGeom prst="wedgeRectCallout">
            <a:avLst>
              <a:gd name="adj1" fmla="val -76182"/>
              <a:gd name="adj2" fmla="val 25559"/>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Rellenar Campos</a:t>
            </a:r>
          </a:p>
          <a:p>
            <a:pPr marL="228600" indent="-228600">
              <a:buFont typeface="+mj-lt"/>
              <a:buAutoNum type="arabicPeriod"/>
            </a:pPr>
            <a:r>
              <a:rPr lang="es-ES" sz="1000" b="1" dirty="0" smtClean="0">
                <a:solidFill>
                  <a:schemeClr val="tx1"/>
                </a:solidFill>
                <a:latin typeface="Arial" panose="020B0604020202020204" pitchFamily="34" charset="0"/>
                <a:cs typeface="Arial" panose="020B0604020202020204" pitchFamily="34" charset="0"/>
              </a:rPr>
              <a:t>Budget </a:t>
            </a:r>
            <a:r>
              <a:rPr lang="es-ES" sz="1000" b="1" dirty="0" err="1" smtClean="0">
                <a:solidFill>
                  <a:schemeClr val="tx1"/>
                </a:solidFill>
                <a:latin typeface="Arial" panose="020B0604020202020204" pitchFamily="34" charset="0"/>
                <a:cs typeface="Arial" panose="020B0604020202020204" pitchFamily="34" charset="0"/>
              </a:rPr>
              <a:t>Denomination</a:t>
            </a:r>
            <a:r>
              <a:rPr lang="es-ES" sz="1000" b="1" dirty="0" smtClean="0">
                <a:solidFill>
                  <a:schemeClr val="tx1"/>
                </a:solidFill>
                <a:latin typeface="Arial" panose="020B0604020202020204" pitchFamily="34" charset="0"/>
                <a:cs typeface="Arial" panose="020B0604020202020204" pitchFamily="34" charset="0"/>
              </a:rPr>
              <a:t>: </a:t>
            </a:r>
            <a:r>
              <a:rPr lang="es-ES" sz="1000" dirty="0">
                <a:solidFill>
                  <a:schemeClr val="tx1"/>
                </a:solidFill>
                <a:latin typeface="Arial" panose="020B0604020202020204" pitchFamily="34" charset="0"/>
                <a:cs typeface="Arial" panose="020B0604020202020204" pitchFamily="34" charset="0"/>
              </a:rPr>
              <a:t>Etiqueta o nombre con el que se guardará esta solicitud</a:t>
            </a:r>
            <a:r>
              <a:rPr lang="es-ES" sz="1000" dirty="0" smtClean="0">
                <a:solidFill>
                  <a:schemeClr val="tx1"/>
                </a:solidFill>
                <a:latin typeface="Arial" panose="020B0604020202020204" pitchFamily="34" charset="0"/>
                <a:cs typeface="Arial" panose="020B0604020202020204" pitchFamily="34" charset="0"/>
              </a:rPr>
              <a:t> </a:t>
            </a:r>
          </a:p>
          <a:p>
            <a:pPr marL="228600" indent="-228600">
              <a:buFont typeface="+mj-lt"/>
              <a:buAutoNum type="arabicPeriod"/>
            </a:pPr>
            <a:r>
              <a:rPr lang="es-ES" sz="1000" b="1" dirty="0" smtClean="0">
                <a:solidFill>
                  <a:schemeClr val="tx1"/>
                </a:solidFill>
                <a:latin typeface="Arial" panose="020B0604020202020204" pitchFamily="34" charset="0"/>
                <a:cs typeface="Arial" panose="020B0604020202020204" pitchFamily="34" charset="0"/>
              </a:rPr>
              <a:t>Budget </a:t>
            </a:r>
            <a:r>
              <a:rPr lang="es-ES" sz="1000" b="1" dirty="0" err="1" smtClean="0">
                <a:solidFill>
                  <a:schemeClr val="tx1"/>
                </a:solidFill>
                <a:latin typeface="Arial" panose="020B0604020202020204" pitchFamily="34" charset="0"/>
                <a:cs typeface="Arial" panose="020B0604020202020204" pitchFamily="34" charset="0"/>
              </a:rPr>
              <a:t>Description</a:t>
            </a:r>
            <a:r>
              <a:rPr lang="es-ES" sz="1000" b="1" dirty="0">
                <a:solidFill>
                  <a:schemeClr val="tx1"/>
                </a:solidFill>
                <a:latin typeface="Arial" panose="020B0604020202020204" pitchFamily="34" charset="0"/>
                <a:cs typeface="Arial" panose="020B0604020202020204" pitchFamily="34" charset="0"/>
              </a:rPr>
              <a:t>: </a:t>
            </a:r>
            <a:r>
              <a:rPr lang="es-ES" sz="1000" dirty="0">
                <a:solidFill>
                  <a:schemeClr val="tx1"/>
                </a:solidFill>
                <a:latin typeface="Arial" panose="020B0604020202020204" pitchFamily="34" charset="0"/>
                <a:cs typeface="Arial" panose="020B0604020202020204" pitchFamily="34" charset="0"/>
              </a:rPr>
              <a:t>Se utiliza para explicar las desviaciones de los conceptos económicos recogidos en el cuadro General </a:t>
            </a:r>
            <a:r>
              <a:rPr lang="es-ES" sz="1000" dirty="0" err="1">
                <a:solidFill>
                  <a:schemeClr val="tx1"/>
                </a:solidFill>
                <a:latin typeface="Arial" panose="020B0604020202020204" pitchFamily="34" charset="0"/>
                <a:cs typeface="Arial" panose="020B0604020202020204" pitchFamily="34" charset="0"/>
              </a:rPr>
              <a:t>info</a:t>
            </a:r>
            <a:r>
              <a:rPr lang="es-ES" sz="1000" dirty="0">
                <a:solidFill>
                  <a:schemeClr val="tx1"/>
                </a:solidFill>
                <a:latin typeface="Arial" panose="020B0604020202020204" pitchFamily="34" charset="0"/>
                <a:cs typeface="Arial" panose="020B0604020202020204" pitchFamily="34" charset="0"/>
              </a:rPr>
              <a:t> de la validación anterior (si es la primera </a:t>
            </a:r>
            <a:r>
              <a:rPr lang="es-ES" sz="1000" dirty="0" err="1">
                <a:solidFill>
                  <a:schemeClr val="tx1"/>
                </a:solidFill>
                <a:latin typeface="Arial" panose="020B0604020202020204" pitchFamily="34" charset="0"/>
                <a:cs typeface="Arial" panose="020B0604020202020204" pitchFamily="34" charset="0"/>
              </a:rPr>
              <a:t>validación,sería</a:t>
            </a:r>
            <a:r>
              <a:rPr lang="es-ES" sz="1000" dirty="0">
                <a:solidFill>
                  <a:schemeClr val="tx1"/>
                </a:solidFill>
                <a:latin typeface="Arial" panose="020B0604020202020204" pitchFamily="34" charset="0"/>
                <a:cs typeface="Arial" panose="020B0604020202020204" pitchFamily="34" charset="0"/>
              </a:rPr>
              <a:t> la </a:t>
            </a:r>
            <a:r>
              <a:rPr lang="es-ES" sz="1000" dirty="0" err="1">
                <a:solidFill>
                  <a:schemeClr val="tx1"/>
                </a:solidFill>
                <a:latin typeface="Arial" panose="020B0604020202020204" pitchFamily="34" charset="0"/>
                <a:cs typeface="Arial" panose="020B0604020202020204" pitchFamily="34" charset="0"/>
              </a:rPr>
              <a:t>Awarding</a:t>
            </a:r>
            <a:r>
              <a:rPr lang="es-ES" sz="1000" dirty="0">
                <a:solidFill>
                  <a:schemeClr val="tx1"/>
                </a:solidFill>
                <a:latin typeface="Arial" panose="020B0604020202020204" pitchFamily="34" charset="0"/>
                <a:cs typeface="Arial" panose="020B0604020202020204" pitchFamily="34" charset="0"/>
              </a:rPr>
              <a:t> </a:t>
            </a:r>
            <a:r>
              <a:rPr lang="es-ES" sz="1000" dirty="0" err="1">
                <a:solidFill>
                  <a:schemeClr val="tx1"/>
                </a:solidFill>
                <a:latin typeface="Arial" panose="020B0604020202020204" pitchFamily="34" charset="0"/>
                <a:cs typeface="Arial" panose="020B0604020202020204" pitchFamily="34" charset="0"/>
              </a:rPr>
              <a:t>offer</a:t>
            </a:r>
            <a:r>
              <a:rPr lang="es-ES" sz="1000" dirty="0">
                <a:solidFill>
                  <a:schemeClr val="tx1"/>
                </a:solidFill>
                <a:latin typeface="Arial" panose="020B0604020202020204" pitchFamily="34" charset="0"/>
                <a:cs typeface="Arial" panose="020B0604020202020204" pitchFamily="34" charset="0"/>
              </a:rPr>
              <a:t>) y la actual solicitud </a:t>
            </a:r>
            <a:endParaRPr lang="es-ES" sz="1000" dirty="0" smtClean="0">
              <a:solidFill>
                <a:schemeClr val="tx1"/>
              </a:solidFill>
              <a:latin typeface="Arial" panose="020B0604020202020204" pitchFamily="34" charset="0"/>
              <a:cs typeface="Arial" panose="020B0604020202020204" pitchFamily="34" charset="0"/>
            </a:endParaRPr>
          </a:p>
          <a:p>
            <a:pPr marL="228600" indent="-228600">
              <a:buFont typeface="+mj-lt"/>
              <a:buAutoNum type="arabicPeriod"/>
            </a:pPr>
            <a:r>
              <a:rPr lang="es-ES" sz="1000" b="1" dirty="0" smtClean="0">
                <a:solidFill>
                  <a:schemeClr val="tx1"/>
                </a:solidFill>
                <a:latin typeface="Arial" panose="020B0604020202020204" pitchFamily="34" charset="0"/>
                <a:cs typeface="Arial" panose="020B0604020202020204" pitchFamily="34" charset="0"/>
              </a:rPr>
              <a:t>General </a:t>
            </a:r>
            <a:r>
              <a:rPr lang="es-ES" sz="1000" b="1" dirty="0" err="1" smtClean="0">
                <a:solidFill>
                  <a:schemeClr val="tx1"/>
                </a:solidFill>
                <a:latin typeface="Arial" panose="020B0604020202020204" pitchFamily="34" charset="0"/>
                <a:cs typeface="Arial" panose="020B0604020202020204" pitchFamily="34" charset="0"/>
              </a:rPr>
              <a:t>Info</a:t>
            </a:r>
            <a:endParaRPr lang="es-ES" sz="1000" b="1" dirty="0">
              <a:solidFill>
                <a:schemeClr val="tx1"/>
              </a:solidFill>
              <a:latin typeface="Arial" panose="020B0604020202020204" pitchFamily="34" charset="0"/>
              <a:cs typeface="Arial" panose="020B0604020202020204" pitchFamily="34" charset="0"/>
            </a:endParaRPr>
          </a:p>
        </p:txBody>
      </p:sp>
      <p:sp>
        <p:nvSpPr>
          <p:cNvPr id="17" name="16 Rectángulo"/>
          <p:cNvSpPr/>
          <p:nvPr/>
        </p:nvSpPr>
        <p:spPr>
          <a:xfrm>
            <a:off x="2413504" y="3925005"/>
            <a:ext cx="5734356" cy="455423"/>
          </a:xfrm>
          <a:prstGeom prst="rect">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900" i="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Included</a:t>
            </a:r>
            <a:r>
              <a:rPr lang="es-ES" sz="900" i="1" dirty="0" smtClean="0">
                <a:solidFill>
                  <a:schemeClr val="tx1"/>
                </a:solidFill>
                <a:latin typeface="Arial" panose="020B0604020202020204" pitchFamily="34" charset="0"/>
                <a:cs typeface="Arial" panose="020B0604020202020204" pitchFamily="34" charset="0"/>
                <a:sym typeface="Wingdings" panose="05000000000000000000" pitchFamily="2" charset="2"/>
              </a:rPr>
              <a:t> in Management Plan: El campo rellena automáticamente en función de si tiene o no una planificación con la etiqueta PG AÑO EN CURSO en la app de Bonos</a:t>
            </a:r>
            <a:endParaRPr lang="es-ES" sz="9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23" name="22 Rectángulo redondeado"/>
          <p:cNvSpPr/>
          <p:nvPr/>
        </p:nvSpPr>
        <p:spPr>
          <a:xfrm>
            <a:off x="2169985" y="3562082"/>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2</a:t>
            </a:r>
            <a:endParaRPr lang="es-ES" sz="1400" dirty="0">
              <a:solidFill>
                <a:schemeClr val="tx1"/>
              </a:solidFill>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884" y="2071393"/>
            <a:ext cx="6334316" cy="709535"/>
          </a:xfrm>
          <a:prstGeom prst="rect">
            <a:avLst/>
          </a:prstGeom>
          <a:ln w="6350">
            <a:solidFill>
              <a:schemeClr val="tx1"/>
            </a:solidFill>
          </a:ln>
          <a:effectLst/>
          <a:extLst>
            <a:ext uri="{909E8E84-426E-40DD-AFC4-6F175D3DCCD1}">
              <a14:hiddenFill xmlns:a14="http://schemas.microsoft.com/office/drawing/2010/main">
                <a:solidFill>
                  <a:schemeClr val="accent1"/>
                </a:solidFill>
              </a14:hiddenFill>
            </a:ext>
          </a:extLst>
        </p:spPr>
      </p:pic>
      <p:sp>
        <p:nvSpPr>
          <p:cNvPr id="13" name="12 Rectángulo"/>
          <p:cNvSpPr/>
          <p:nvPr/>
        </p:nvSpPr>
        <p:spPr>
          <a:xfrm>
            <a:off x="4691907" y="2071393"/>
            <a:ext cx="1752302" cy="28151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64781073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27</a:t>
            </a:fld>
            <a:endParaRPr lang="es-ES" dirty="0"/>
          </a:p>
        </p:txBody>
      </p:sp>
      <p:sp>
        <p:nvSpPr>
          <p:cNvPr id="5" name="4 Rectángulo"/>
          <p:cNvSpPr/>
          <p:nvPr/>
        </p:nvSpPr>
        <p:spPr>
          <a:xfrm>
            <a:off x="1" y="1350060"/>
            <a:ext cx="9144000" cy="1862916"/>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GENERAL INFO: </a:t>
            </a:r>
            <a:r>
              <a:rPr lang="es-ES" sz="1000" dirty="0" smtClean="0">
                <a:solidFill>
                  <a:schemeClr val="tx1"/>
                </a:solidFill>
                <a:latin typeface="Arial" panose="020B0604020202020204" pitchFamily="34" charset="0"/>
                <a:cs typeface="Arial" panose="020B0604020202020204" pitchFamily="34" charset="0"/>
              </a:rPr>
              <a:t>Se debe rellenar el valor </a:t>
            </a:r>
            <a:r>
              <a:rPr lang="es-ES" sz="1000" dirty="0" err="1" smtClean="0">
                <a:solidFill>
                  <a:schemeClr val="tx1"/>
                </a:solidFill>
                <a:latin typeface="Arial" panose="020B0604020202020204" pitchFamily="34" charset="0"/>
                <a:cs typeface="Arial" panose="020B0604020202020204" pitchFamily="34" charset="0"/>
              </a:rPr>
              <a:t>Awarding</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offer</a:t>
            </a:r>
            <a:r>
              <a:rPr lang="es-ES" sz="1000" dirty="0" smtClean="0">
                <a:solidFill>
                  <a:schemeClr val="tx1"/>
                </a:solidFill>
                <a:latin typeface="Arial" panose="020B0604020202020204" pitchFamily="34" charset="0"/>
                <a:cs typeface="Arial" panose="020B0604020202020204" pitchFamily="34" charset="0"/>
              </a:rPr>
              <a:t> y </a:t>
            </a:r>
            <a:r>
              <a:rPr lang="es-ES" sz="1000" dirty="0" err="1" smtClean="0">
                <a:solidFill>
                  <a:schemeClr val="tx1"/>
                </a:solidFill>
                <a:latin typeface="Arial" panose="020B0604020202020204" pitchFamily="34" charset="0"/>
                <a:cs typeface="Arial" panose="020B0604020202020204" pitchFamily="34" charset="0"/>
              </a:rPr>
              <a:t>Current</a:t>
            </a:r>
            <a:r>
              <a:rPr lang="es-ES" sz="1000" dirty="0" smtClean="0">
                <a:solidFill>
                  <a:schemeClr val="tx1"/>
                </a:solidFill>
                <a:latin typeface="Arial" panose="020B0604020202020204" pitchFamily="34" charset="0"/>
                <a:cs typeface="Arial" panose="020B0604020202020204" pitchFamily="34" charset="0"/>
              </a:rPr>
              <a:t> de  los distintos campos. En los envíos siguientes sólo habrá que rellenar la columna </a:t>
            </a:r>
            <a:r>
              <a:rPr lang="es-ES" sz="1000" dirty="0" err="1" smtClean="0">
                <a:solidFill>
                  <a:schemeClr val="tx1"/>
                </a:solidFill>
                <a:latin typeface="Arial" panose="020B0604020202020204" pitchFamily="34" charset="0"/>
                <a:cs typeface="Arial" panose="020B0604020202020204" pitchFamily="34" charset="0"/>
              </a:rPr>
              <a:t>Current</a:t>
            </a:r>
            <a:r>
              <a:rPr lang="es-ES" sz="1000" dirty="0" smtClean="0">
                <a:solidFill>
                  <a:schemeClr val="tx1"/>
                </a:solidFill>
                <a:latin typeface="Arial" panose="020B0604020202020204" pitchFamily="34" charset="0"/>
                <a:cs typeface="Arial" panose="020B0604020202020204" pitchFamily="34" charset="0"/>
              </a:rPr>
              <a:t>, pero en el primer envío se rellenan las dos.</a:t>
            </a:r>
          </a:p>
          <a:p>
            <a:endParaRPr lang="es-ES" sz="1000" b="1" dirty="0" smtClean="0">
              <a:solidFill>
                <a:schemeClr val="tx1"/>
              </a:solidFill>
              <a:latin typeface="Arial" panose="020B0604020202020204" pitchFamily="34" charset="0"/>
              <a:cs typeface="Arial" panose="020B0604020202020204" pitchFamily="34" charset="0"/>
            </a:endParaRPr>
          </a:p>
          <a:p>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endParaRPr lang="es-ES" sz="1000" b="1" dirty="0">
              <a:solidFill>
                <a:schemeClr val="tx1"/>
              </a:solidFill>
              <a:latin typeface="Arial" panose="020B0604020202020204" pitchFamily="34" charset="0"/>
              <a:cs typeface="Arial" panose="020B0604020202020204" pitchFamily="34" charset="0"/>
            </a:endParaRPr>
          </a:p>
        </p:txBody>
      </p:sp>
      <p:sp>
        <p:nvSpPr>
          <p:cNvPr id="11" name="10 Rectángulo"/>
          <p:cNvSpPr/>
          <p:nvPr/>
        </p:nvSpPr>
        <p:spPr>
          <a:xfrm>
            <a:off x="3059832" y="1772816"/>
            <a:ext cx="6084168" cy="1800200"/>
          </a:xfrm>
          <a:prstGeom prst="rect">
            <a:avLst/>
          </a:prstGeom>
          <a:solidFill>
            <a:schemeClr val="bg1"/>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b="1" dirty="0" smtClean="0">
                <a:solidFill>
                  <a:schemeClr val="tx1"/>
                </a:solidFill>
                <a:latin typeface="Arial" panose="020B0604020202020204" pitchFamily="34" charset="0"/>
                <a:cs typeface="Arial" panose="020B0604020202020204" pitchFamily="34" charset="0"/>
              </a:rPr>
              <a:t>Campos General </a:t>
            </a:r>
            <a:r>
              <a:rPr lang="es-ES" sz="1000" b="1" dirty="0" err="1" smtClean="0">
                <a:solidFill>
                  <a:schemeClr val="tx1"/>
                </a:solidFill>
                <a:latin typeface="Arial" panose="020B0604020202020204" pitchFamily="34" charset="0"/>
                <a:cs typeface="Arial" panose="020B0604020202020204" pitchFamily="34" charset="0"/>
              </a:rPr>
              <a:t>Info</a:t>
            </a:r>
            <a:r>
              <a:rPr lang="es-ES" sz="1000" b="1" dirty="0" smtClean="0">
                <a:solidFill>
                  <a:schemeClr val="tx1"/>
                </a:solidFill>
                <a:latin typeface="Arial" panose="020B0604020202020204" pitchFamily="34" charset="0"/>
                <a:cs typeface="Arial" panose="020B0604020202020204" pitchFamily="34" charset="0"/>
              </a:rPr>
              <a:t> para ECO: </a:t>
            </a:r>
          </a:p>
          <a:p>
            <a:endParaRPr lang="es-ES" sz="1000" b="1" dirty="0">
              <a:solidFill>
                <a:schemeClr val="tx1"/>
              </a:solidFill>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Δ Piece </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price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b</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enefit %, Formula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1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Δ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Costs/Δ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Sales</a:t>
            </a:r>
          </a:p>
          <a:p>
            <a:pPr lvl="1"/>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Donde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Costs:  ΔCosts_PN1*Total Volume_PN1 + ΔCosts_PN2*Total Volume_PN2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p>
          <a:p>
            <a:pPr lvl="1"/>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Effective Sales: Δ Sale price_PN1*Total Volume_PN1 +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Δ Sale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price_PN2*Total </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Volume_PN2+…</a:t>
            </a:r>
            <a:endPar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Δ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Effective </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sales (Total project)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a:t>
            </a: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property tooling benefit % </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SOP</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Annual average volume </a:t>
            </a:r>
          </a:p>
          <a:p>
            <a:pPr marL="171450" indent="-171450">
              <a:buFont typeface="Arial" panose="020B0604020202020204" pitchFamily="34" charset="0"/>
              <a:buChar char="•"/>
            </a:pPr>
            <a:r>
              <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rPr>
              <a:t>Series y</a:t>
            </a: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ears</a:t>
            </a:r>
            <a:endParaRPr lang="es-E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2" name="11 Rectángulo"/>
          <p:cNvSpPr/>
          <p:nvPr/>
        </p:nvSpPr>
        <p:spPr>
          <a:xfrm>
            <a:off x="-9500" y="1772816"/>
            <a:ext cx="2889684" cy="1359768"/>
          </a:xfrm>
          <a:prstGeom prst="rect">
            <a:avLst/>
          </a:prstGeom>
          <a:solidFill>
            <a:schemeClr val="bg1"/>
          </a:solidFill>
          <a:ln w="63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b="1" dirty="0" smtClean="0">
                <a:solidFill>
                  <a:schemeClr val="tx1"/>
                </a:solidFill>
                <a:latin typeface="Arial" panose="020B0604020202020204" pitchFamily="34" charset="0"/>
                <a:cs typeface="Arial" panose="020B0604020202020204" pitchFamily="34" charset="0"/>
              </a:rPr>
              <a:t>Campos General Info para Industrialization: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Net margin %</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Effective sales (Total project)</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property tooling benefit%</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Customer plants</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SOP</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Annual average volume</a:t>
            </a:r>
          </a:p>
          <a:p>
            <a:pPr marL="171450" indent="-171450">
              <a:buFont typeface="Arial" panose="020B0604020202020204" pitchFamily="34" charset="0"/>
              <a:buChar char="•"/>
            </a:pPr>
            <a:r>
              <a:rPr lang="en-U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Series years</a:t>
            </a:r>
            <a:endParaRPr lang="en-US" sz="1000" b="1"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3" name="12 CuadroTexto"/>
          <p:cNvSpPr txBox="1"/>
          <p:nvPr/>
        </p:nvSpPr>
        <p:spPr>
          <a:xfrm>
            <a:off x="267320" y="980728"/>
            <a:ext cx="7329015" cy="369332"/>
          </a:xfrm>
          <a:prstGeom prst="rect">
            <a:avLst/>
          </a:prstGeom>
          <a:noFill/>
        </p:spPr>
        <p:txBody>
          <a:bodyPr wrap="square" rtlCol="0">
            <a:spAutoFit/>
          </a:bodyPr>
          <a:lstStyle/>
          <a:p>
            <a:r>
              <a:rPr lang="es-ES" b="1" dirty="0">
                <a:solidFill>
                  <a:srgbClr val="254061"/>
                </a:solidFill>
              </a:rPr>
              <a:t>ENVÍO A VALIDACION SÓLO DE LA GENERAL INFO – ACTUALICACIÓN - </a:t>
            </a:r>
            <a:r>
              <a:rPr lang="es-ES" b="1" dirty="0" smtClean="0">
                <a:solidFill>
                  <a:srgbClr val="254061"/>
                </a:solidFill>
              </a:rPr>
              <a:t>II</a:t>
            </a:r>
            <a:endParaRPr lang="es-ES" b="1" dirty="0">
              <a:solidFill>
                <a:srgbClr val="254061"/>
              </a:solidFill>
            </a:endParaRPr>
          </a:p>
        </p:txBody>
      </p:sp>
      <p:pic>
        <p:nvPicPr>
          <p:cNvPr id="3" name="Imagen 2"/>
          <p:cNvPicPr>
            <a:picLocks noChangeAspect="1"/>
          </p:cNvPicPr>
          <p:nvPr/>
        </p:nvPicPr>
        <p:blipFill>
          <a:blip r:embed="rId2"/>
          <a:stretch>
            <a:fillRect/>
          </a:stretch>
        </p:blipFill>
        <p:spPr>
          <a:xfrm>
            <a:off x="179512" y="3611562"/>
            <a:ext cx="8250401" cy="292735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98699806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0" y="4091447"/>
            <a:ext cx="6038112" cy="1629524"/>
          </a:xfrm>
          <a:prstGeom prst="rect">
            <a:avLst/>
          </a:prstGeom>
          <a:ln w="9525">
            <a:solidFill>
              <a:schemeClr val="tx1"/>
            </a:solidFill>
          </a:ln>
        </p:spPr>
      </p:pic>
      <p:sp>
        <p:nvSpPr>
          <p:cNvPr id="2" name="1 Marcador de número de diapositiva"/>
          <p:cNvSpPr>
            <a:spLocks noGrp="1"/>
          </p:cNvSpPr>
          <p:nvPr>
            <p:ph type="sldNum" sz="quarter" idx="12"/>
          </p:nvPr>
        </p:nvSpPr>
        <p:spPr/>
        <p:txBody>
          <a:bodyPr/>
          <a:lstStyle/>
          <a:p>
            <a:fld id="{6C159591-2568-4DE8-9BFD-2ABD54E1DEC4}" type="slidenum">
              <a:rPr lang="es-ES" smtClean="0"/>
              <a:pPr/>
              <a:t>28</a:t>
            </a:fld>
            <a:endParaRPr lang="es-ES" dirty="0"/>
          </a:p>
        </p:txBody>
      </p:sp>
      <p:sp>
        <p:nvSpPr>
          <p:cNvPr id="7" name="6 CuadroTexto"/>
          <p:cNvSpPr txBox="1"/>
          <p:nvPr/>
        </p:nvSpPr>
        <p:spPr>
          <a:xfrm>
            <a:off x="267320" y="980728"/>
            <a:ext cx="7329015" cy="369332"/>
          </a:xfrm>
          <a:prstGeom prst="rect">
            <a:avLst/>
          </a:prstGeom>
          <a:noFill/>
        </p:spPr>
        <p:txBody>
          <a:bodyPr wrap="square" rtlCol="0">
            <a:spAutoFit/>
          </a:bodyPr>
          <a:lstStyle/>
          <a:p>
            <a:r>
              <a:rPr lang="es-ES" b="1" dirty="0">
                <a:solidFill>
                  <a:srgbClr val="254061"/>
                </a:solidFill>
              </a:rPr>
              <a:t>ENVÍO </a:t>
            </a:r>
            <a:r>
              <a:rPr lang="es-ES" b="1" dirty="0" smtClean="0">
                <a:solidFill>
                  <a:srgbClr val="254061"/>
                </a:solidFill>
              </a:rPr>
              <a:t>A VALIDACION SÓLO </a:t>
            </a:r>
            <a:r>
              <a:rPr lang="es-ES" b="1" dirty="0">
                <a:solidFill>
                  <a:srgbClr val="254061"/>
                </a:solidFill>
              </a:rPr>
              <a:t>DE </a:t>
            </a:r>
            <a:r>
              <a:rPr lang="es-ES" b="1" dirty="0" smtClean="0">
                <a:solidFill>
                  <a:srgbClr val="254061"/>
                </a:solidFill>
              </a:rPr>
              <a:t>LA GENERAL </a:t>
            </a:r>
            <a:r>
              <a:rPr lang="es-ES" b="1" dirty="0">
                <a:solidFill>
                  <a:srgbClr val="254061"/>
                </a:solidFill>
              </a:rPr>
              <a:t>INFO </a:t>
            </a:r>
            <a:r>
              <a:rPr lang="es-ES" b="1" dirty="0" smtClean="0">
                <a:solidFill>
                  <a:srgbClr val="254061"/>
                </a:solidFill>
              </a:rPr>
              <a:t>- FLUJO</a:t>
            </a:r>
            <a:endParaRPr lang="es-ES" b="1" dirty="0">
              <a:solidFill>
                <a:srgbClr val="254061"/>
              </a:solidFill>
            </a:endParaRPr>
          </a:p>
        </p:txBody>
      </p:sp>
      <p:sp>
        <p:nvSpPr>
          <p:cNvPr id="12" name="11 Rectángulo"/>
          <p:cNvSpPr/>
          <p:nvPr/>
        </p:nvSpPr>
        <p:spPr>
          <a:xfrm>
            <a:off x="46368" y="1888807"/>
            <a:ext cx="9097631" cy="1579920"/>
          </a:xfrm>
          <a:prstGeom prst="rect">
            <a:avLst/>
          </a:prstGeom>
        </p:spPr>
        <p:txBody>
          <a:bodyPr wrap="square">
            <a:spAutoFit/>
          </a:bodyPr>
          <a:lstStyle/>
          <a:p>
            <a:pPr marL="342900" lvl="0" indent="-342900" algn="just">
              <a:spcAft>
                <a:spcPts val="0"/>
              </a:spcAft>
              <a:buFont typeface="+mj-lt"/>
              <a:buAutoNum type="alphaUcPeriod"/>
            </a:pPr>
            <a:r>
              <a:rPr lang="en-GB" sz="1000" b="1" dirty="0">
                <a:ea typeface="Calibri"/>
              </a:rPr>
              <a:t>INDUSTRIALIZATION PROJECTS:</a:t>
            </a:r>
            <a:endParaRPr lang="es-ES" sz="1000" dirty="0">
              <a:ea typeface="Calibri"/>
            </a:endParaRPr>
          </a:p>
          <a:p>
            <a:pPr algn="just">
              <a:spcAft>
                <a:spcPts val="0"/>
              </a:spcAft>
            </a:pPr>
            <a:r>
              <a:rPr lang="en-GB" sz="1000" dirty="0">
                <a:ea typeface="Calibri"/>
              </a:rPr>
              <a:t>Project Owner creates &amp; sends to validate &gt;  </a:t>
            </a:r>
            <a:r>
              <a:rPr lang="en-GB" sz="1000" b="1" dirty="0">
                <a:ea typeface="Calibri"/>
              </a:rPr>
              <a:t>Project Manager </a:t>
            </a:r>
            <a:r>
              <a:rPr lang="en-GB" sz="1000" dirty="0">
                <a:solidFill>
                  <a:srgbClr val="00B050"/>
                </a:solidFill>
                <a:ea typeface="Calibri"/>
              </a:rPr>
              <a:t>validation </a:t>
            </a:r>
            <a:r>
              <a:rPr lang="en-GB" sz="1000" dirty="0">
                <a:ea typeface="Calibri"/>
              </a:rPr>
              <a:t>&gt; </a:t>
            </a:r>
            <a:r>
              <a:rPr lang="en-GB" sz="1000" b="1" dirty="0">
                <a:ea typeface="Calibri"/>
              </a:rPr>
              <a:t>Internacional</a:t>
            </a:r>
            <a:r>
              <a:rPr lang="en-GB" sz="1000" b="1" baseline="30000" dirty="0">
                <a:ea typeface="Calibri"/>
              </a:rPr>
              <a:t>1</a:t>
            </a:r>
            <a:r>
              <a:rPr lang="en-GB" sz="1000" dirty="0">
                <a:ea typeface="Calibri"/>
              </a:rPr>
              <a:t> Or </a:t>
            </a:r>
            <a:r>
              <a:rPr lang="en-GB" sz="1000" b="1" dirty="0">
                <a:ea typeface="Calibri"/>
              </a:rPr>
              <a:t>National</a:t>
            </a:r>
            <a:r>
              <a:rPr lang="en-GB" sz="1000" b="1" baseline="30000" dirty="0">
                <a:ea typeface="Calibri"/>
              </a:rPr>
              <a:t>2</a:t>
            </a:r>
            <a:r>
              <a:rPr lang="en-GB" sz="1000" b="1" dirty="0">
                <a:ea typeface="Calibri"/>
              </a:rPr>
              <a:t> Operations Director </a:t>
            </a:r>
            <a:r>
              <a:rPr lang="en-GB" sz="1000" dirty="0">
                <a:solidFill>
                  <a:srgbClr val="00B050"/>
                </a:solidFill>
                <a:ea typeface="Calibri"/>
              </a:rPr>
              <a:t>validation </a:t>
            </a:r>
            <a:r>
              <a:rPr lang="en-GB" sz="1000" dirty="0">
                <a:ea typeface="Calibri"/>
              </a:rPr>
              <a:t>&gt; </a:t>
            </a:r>
            <a:r>
              <a:rPr lang="en-GB" sz="1000" b="1" dirty="0">
                <a:ea typeface="Calibri"/>
              </a:rPr>
              <a:t>Technical Director </a:t>
            </a:r>
            <a:r>
              <a:rPr lang="en-GB" sz="1000" dirty="0">
                <a:solidFill>
                  <a:srgbClr val="00B050"/>
                </a:solidFill>
                <a:ea typeface="Calibri"/>
              </a:rPr>
              <a:t>validation </a:t>
            </a:r>
            <a:r>
              <a:rPr lang="en-GB" sz="1000" dirty="0">
                <a:ea typeface="Calibri"/>
              </a:rPr>
              <a:t>&gt; </a:t>
            </a:r>
            <a:r>
              <a:rPr lang="en-GB" sz="1000" b="1" dirty="0">
                <a:ea typeface="Calibri"/>
              </a:rPr>
              <a:t>Plant General Manager</a:t>
            </a:r>
            <a:r>
              <a:rPr lang="en-GB" sz="1000" b="1" baseline="30000" dirty="0">
                <a:ea typeface="Calibri"/>
              </a:rPr>
              <a:t>3</a:t>
            </a:r>
            <a:r>
              <a:rPr lang="en-GB" sz="1000" dirty="0">
                <a:solidFill>
                  <a:srgbClr val="00B050"/>
                </a:solidFill>
                <a:ea typeface="Calibri"/>
              </a:rPr>
              <a:t> </a:t>
            </a:r>
            <a:r>
              <a:rPr lang="en-GB" sz="1000" dirty="0" smtClean="0">
                <a:solidFill>
                  <a:srgbClr val="00B050"/>
                </a:solidFill>
                <a:ea typeface="Calibri"/>
              </a:rPr>
              <a:t>validation. </a:t>
            </a:r>
            <a:r>
              <a:rPr lang="en-GB" sz="1000" baseline="30000" dirty="0" smtClean="0">
                <a:ea typeface="Calibri"/>
              </a:rPr>
              <a:t>4</a:t>
            </a:r>
            <a:endParaRPr lang="en-GB" sz="1000" i="1" baseline="30000" dirty="0" smtClean="0">
              <a:ea typeface="Calibri"/>
            </a:endParaRPr>
          </a:p>
          <a:p>
            <a:pPr lvl="3" algn="just"/>
            <a:endParaRPr lang="es-ES" sz="1000" dirty="0">
              <a:ea typeface="Calibri"/>
            </a:endParaRPr>
          </a:p>
          <a:p>
            <a:pPr marL="342900" lvl="0" indent="-342900" algn="just">
              <a:spcAft>
                <a:spcPts val="0"/>
              </a:spcAft>
              <a:buFont typeface="+mj-lt"/>
              <a:buAutoNum type="alphaUcPeriod" startAt="2"/>
            </a:pPr>
            <a:r>
              <a:rPr lang="en-GB" sz="1000" dirty="0">
                <a:ea typeface="Calibri"/>
              </a:rPr>
              <a:t> </a:t>
            </a:r>
            <a:r>
              <a:rPr lang="es-ES" sz="1000" b="1" dirty="0">
                <a:ea typeface="Calibri"/>
              </a:rPr>
              <a:t>ECO INDUSTRIALIZATION PROJECTS:</a:t>
            </a:r>
          </a:p>
          <a:p>
            <a:pPr algn="just">
              <a:spcAft>
                <a:spcPts val="0"/>
              </a:spcAft>
            </a:pPr>
            <a:r>
              <a:rPr lang="es-ES" sz="1000" dirty="0">
                <a:ea typeface="Calibri"/>
              </a:rPr>
              <a:t>Project </a:t>
            </a:r>
            <a:r>
              <a:rPr lang="es-ES" sz="1000" dirty="0" err="1">
                <a:ea typeface="Calibri"/>
              </a:rPr>
              <a:t>Owner</a:t>
            </a:r>
            <a:r>
              <a:rPr lang="es-ES" sz="1000" dirty="0">
                <a:ea typeface="Calibri"/>
              </a:rPr>
              <a:t> </a:t>
            </a:r>
            <a:r>
              <a:rPr lang="es-ES" sz="1000" dirty="0" err="1">
                <a:ea typeface="Calibri"/>
              </a:rPr>
              <a:t>creates</a:t>
            </a:r>
            <a:r>
              <a:rPr lang="es-ES" sz="1000" dirty="0">
                <a:ea typeface="Calibri"/>
              </a:rPr>
              <a:t> &amp; </a:t>
            </a:r>
            <a:r>
              <a:rPr lang="en-GB" sz="1000" dirty="0">
                <a:ea typeface="Calibri"/>
              </a:rPr>
              <a:t>sends  to </a:t>
            </a:r>
            <a:r>
              <a:rPr lang="en-GB" sz="1000" dirty="0" smtClean="0">
                <a:ea typeface="Calibri"/>
              </a:rPr>
              <a:t>validate</a:t>
            </a:r>
            <a:r>
              <a:rPr lang="en-GB" sz="1000" baseline="30000" dirty="0">
                <a:ea typeface="Calibri"/>
              </a:rPr>
              <a:t>5</a:t>
            </a:r>
            <a:r>
              <a:rPr lang="en-GB" sz="1000" dirty="0" smtClean="0">
                <a:ea typeface="Calibri"/>
              </a:rPr>
              <a:t> </a:t>
            </a:r>
            <a:r>
              <a:rPr lang="en-GB" sz="1000" dirty="0">
                <a:ea typeface="Calibri"/>
              </a:rPr>
              <a:t>&gt;  </a:t>
            </a:r>
            <a:r>
              <a:rPr lang="en-GB" sz="1000" b="1" dirty="0">
                <a:ea typeface="Calibri"/>
              </a:rPr>
              <a:t>Plant Engineering Resp. </a:t>
            </a:r>
            <a:r>
              <a:rPr lang="en-GB" sz="1000" dirty="0">
                <a:solidFill>
                  <a:srgbClr val="00B050"/>
                </a:solidFill>
                <a:ea typeface="Calibri"/>
              </a:rPr>
              <a:t>validation </a:t>
            </a:r>
            <a:r>
              <a:rPr lang="en-GB" sz="1000" dirty="0">
                <a:ea typeface="Calibri"/>
              </a:rPr>
              <a:t>&gt; </a:t>
            </a:r>
            <a:r>
              <a:rPr lang="en-GB" sz="1000" b="1" dirty="0">
                <a:ea typeface="Calibri"/>
              </a:rPr>
              <a:t>Plant General Manager</a:t>
            </a:r>
            <a:r>
              <a:rPr lang="en-GB" sz="1000" dirty="0">
                <a:solidFill>
                  <a:srgbClr val="00B050"/>
                </a:solidFill>
                <a:ea typeface="Calibri"/>
              </a:rPr>
              <a:t> </a:t>
            </a:r>
            <a:r>
              <a:rPr lang="en-GB" sz="1000" dirty="0" smtClean="0">
                <a:solidFill>
                  <a:srgbClr val="00B050"/>
                </a:solidFill>
                <a:ea typeface="Calibri"/>
              </a:rPr>
              <a:t>validation</a:t>
            </a:r>
          </a:p>
          <a:p>
            <a:pPr algn="just"/>
            <a:endParaRPr lang="en-GB" sz="1000" i="1" baseline="30000" dirty="0" smtClean="0">
              <a:ea typeface="Calibri"/>
            </a:endParaRPr>
          </a:p>
          <a:p>
            <a:pPr algn="just"/>
            <a:r>
              <a:rPr lang="en-GB" sz="1000" i="1" baseline="30000" dirty="0" smtClean="0">
                <a:ea typeface="Calibri"/>
              </a:rPr>
              <a:t>1</a:t>
            </a:r>
            <a:r>
              <a:rPr lang="en-GB" sz="1000" i="1" dirty="0" smtClean="0">
                <a:ea typeface="Calibri"/>
              </a:rPr>
              <a:t>Proyectos </a:t>
            </a:r>
            <a:r>
              <a:rPr lang="en-GB" sz="1000" i="1" dirty="0" err="1">
                <a:ea typeface="Calibri"/>
              </a:rPr>
              <a:t>en</a:t>
            </a:r>
            <a:r>
              <a:rPr lang="en-GB" sz="1000" i="1" dirty="0">
                <a:ea typeface="Calibri"/>
              </a:rPr>
              <a:t>: CZ-KU-GU-MX; </a:t>
            </a:r>
            <a:r>
              <a:rPr lang="en-GB" sz="1000" i="1" baseline="30000" dirty="0">
                <a:ea typeface="Calibri"/>
              </a:rPr>
              <a:t>2</a:t>
            </a:r>
            <a:r>
              <a:rPr lang="en-GB" sz="1000" i="1" dirty="0">
                <a:ea typeface="Calibri"/>
              </a:rPr>
              <a:t>Proyectos </a:t>
            </a:r>
            <a:r>
              <a:rPr lang="en-GB" sz="1000" i="1" dirty="0" err="1">
                <a:ea typeface="Calibri"/>
              </a:rPr>
              <a:t>en</a:t>
            </a:r>
            <a:r>
              <a:rPr lang="en-GB" sz="1000" i="1" dirty="0">
                <a:ea typeface="Calibri"/>
              </a:rPr>
              <a:t>: ZA-IG</a:t>
            </a:r>
            <a:r>
              <a:rPr lang="en-GB" sz="1000" i="1" baseline="-25000" dirty="0">
                <a:ea typeface="Calibri"/>
              </a:rPr>
              <a:t>;</a:t>
            </a:r>
            <a:r>
              <a:rPr lang="en-GB" sz="1000" i="1" dirty="0">
                <a:ea typeface="Calibri"/>
              </a:rPr>
              <a:t> </a:t>
            </a:r>
            <a:r>
              <a:rPr lang="en-GB" sz="1000" i="1" baseline="30000" dirty="0">
                <a:ea typeface="Calibri"/>
              </a:rPr>
              <a:t>3</a:t>
            </a:r>
            <a:r>
              <a:rPr lang="en-GB" sz="1000" i="1" dirty="0">
                <a:ea typeface="Calibri"/>
              </a:rPr>
              <a:t>No se </a:t>
            </a:r>
            <a:r>
              <a:rPr lang="en-GB" sz="1000" i="1" dirty="0" err="1">
                <a:ea typeface="Calibri"/>
              </a:rPr>
              <a:t>requiere</a:t>
            </a:r>
            <a:r>
              <a:rPr lang="en-GB" sz="1000" i="1" dirty="0">
                <a:ea typeface="Calibri"/>
              </a:rPr>
              <a:t> </a:t>
            </a:r>
            <a:r>
              <a:rPr lang="en-GB" sz="1000" i="1" dirty="0" err="1">
                <a:ea typeface="Calibri"/>
              </a:rPr>
              <a:t>si</a:t>
            </a:r>
            <a:r>
              <a:rPr lang="en-GB" sz="1000" i="1" dirty="0">
                <a:ea typeface="Calibri"/>
              </a:rPr>
              <a:t> </a:t>
            </a:r>
            <a:r>
              <a:rPr lang="en-GB" sz="1000" i="1" dirty="0" err="1">
                <a:ea typeface="Calibri"/>
              </a:rPr>
              <a:t>existe</a:t>
            </a:r>
            <a:r>
              <a:rPr lang="en-GB" sz="1000" i="1" dirty="0">
                <a:ea typeface="Calibri"/>
              </a:rPr>
              <a:t> </a:t>
            </a:r>
            <a:r>
              <a:rPr lang="en-GB" sz="1000" i="1" dirty="0" err="1">
                <a:ea typeface="Calibri"/>
              </a:rPr>
              <a:t>una</a:t>
            </a:r>
            <a:r>
              <a:rPr lang="en-GB" sz="1000" i="1" dirty="0">
                <a:ea typeface="Calibri"/>
              </a:rPr>
              <a:t> </a:t>
            </a:r>
            <a:r>
              <a:rPr lang="en-GB" sz="1000" i="1" dirty="0" err="1">
                <a:ea typeface="Calibri"/>
              </a:rPr>
              <a:t>validación</a:t>
            </a:r>
            <a:r>
              <a:rPr lang="en-GB" sz="1000" i="1" dirty="0">
                <a:ea typeface="Calibri"/>
              </a:rPr>
              <a:t> </a:t>
            </a:r>
            <a:r>
              <a:rPr lang="en-GB" sz="1000" i="1" dirty="0" err="1">
                <a:ea typeface="Calibri"/>
              </a:rPr>
              <a:t>previa</a:t>
            </a:r>
            <a:r>
              <a:rPr lang="en-GB" sz="1000" i="1" dirty="0">
                <a:ea typeface="Calibri"/>
              </a:rPr>
              <a:t> de la </a:t>
            </a:r>
            <a:r>
              <a:rPr lang="en-GB" sz="1000" i="1" dirty="0" err="1">
                <a:ea typeface="Calibri"/>
              </a:rPr>
              <a:t>misma</a:t>
            </a:r>
            <a:r>
              <a:rPr lang="en-GB" sz="1000" i="1" dirty="0">
                <a:ea typeface="Calibri"/>
              </a:rPr>
              <a:t> persona; </a:t>
            </a:r>
            <a:r>
              <a:rPr lang="en-GB" sz="1000" i="1" baseline="30000" dirty="0">
                <a:ea typeface="Calibri"/>
              </a:rPr>
              <a:t>4</a:t>
            </a:r>
            <a:r>
              <a:rPr lang="en-GB" sz="1000" i="1" dirty="0">
                <a:ea typeface="Calibri"/>
              </a:rPr>
              <a:t>Si la planta </a:t>
            </a:r>
            <a:r>
              <a:rPr lang="en-GB" sz="1000" i="1" dirty="0" err="1">
                <a:ea typeface="Calibri"/>
              </a:rPr>
              <a:t>productiva</a:t>
            </a:r>
            <a:r>
              <a:rPr lang="en-GB" sz="1000" i="1" dirty="0">
                <a:ea typeface="Calibri"/>
              </a:rPr>
              <a:t> del Proyecto </a:t>
            </a:r>
            <a:r>
              <a:rPr lang="en-GB" sz="1000" i="1" dirty="0" err="1">
                <a:ea typeface="Calibri"/>
              </a:rPr>
              <a:t>es</a:t>
            </a:r>
            <a:r>
              <a:rPr lang="en-GB" sz="1000" i="1" dirty="0">
                <a:ea typeface="Calibri"/>
              </a:rPr>
              <a:t> </a:t>
            </a:r>
            <a:r>
              <a:rPr lang="es-ES" sz="1000" i="1" dirty="0" err="1">
                <a:ea typeface="Calibri"/>
              </a:rPr>
              <a:t>Batz</a:t>
            </a:r>
            <a:r>
              <a:rPr lang="es-ES" sz="1000" i="1" dirty="0">
                <a:ea typeface="Calibri"/>
              </a:rPr>
              <a:t> corporativo cambia el flujo por: Project </a:t>
            </a:r>
            <a:r>
              <a:rPr lang="es-ES" sz="1000" i="1" dirty="0" err="1">
                <a:ea typeface="Calibri"/>
              </a:rPr>
              <a:t>Owner</a:t>
            </a:r>
            <a:r>
              <a:rPr lang="es-ES" sz="1000" i="1" dirty="0">
                <a:ea typeface="Calibri"/>
              </a:rPr>
              <a:t> </a:t>
            </a:r>
            <a:r>
              <a:rPr lang="es-ES" sz="1000" i="1" dirty="0" err="1">
                <a:ea typeface="Calibri"/>
              </a:rPr>
              <a:t>creates</a:t>
            </a:r>
            <a:r>
              <a:rPr lang="es-ES" sz="1000" i="1" dirty="0">
                <a:ea typeface="Calibri"/>
              </a:rPr>
              <a:t>  &amp; </a:t>
            </a:r>
            <a:r>
              <a:rPr lang="en-GB" sz="1000" i="1" dirty="0">
                <a:ea typeface="Calibri"/>
              </a:rPr>
              <a:t>sends  to validate </a:t>
            </a:r>
            <a:r>
              <a:rPr lang="en-US" sz="1000" i="1" dirty="0">
                <a:ea typeface="Calibri"/>
              </a:rPr>
              <a:t>&gt; </a:t>
            </a:r>
            <a:r>
              <a:rPr lang="en-GB" sz="1000" b="1" i="1" dirty="0">
                <a:ea typeface="Calibri"/>
              </a:rPr>
              <a:t>Project manager </a:t>
            </a:r>
            <a:r>
              <a:rPr lang="en-GB" sz="1000" dirty="0">
                <a:solidFill>
                  <a:srgbClr val="00B050"/>
                </a:solidFill>
                <a:ea typeface="Calibri"/>
              </a:rPr>
              <a:t>validation </a:t>
            </a:r>
            <a:r>
              <a:rPr lang="en-GB" sz="1000" i="1" dirty="0">
                <a:ea typeface="Calibri"/>
              </a:rPr>
              <a:t>&gt; </a:t>
            </a:r>
            <a:r>
              <a:rPr lang="en-GB" sz="1000" b="1" i="1" dirty="0">
                <a:ea typeface="Calibri"/>
              </a:rPr>
              <a:t>Technical Director </a:t>
            </a:r>
            <a:r>
              <a:rPr lang="en-GB" sz="1000" dirty="0">
                <a:solidFill>
                  <a:srgbClr val="00B050"/>
                </a:solidFill>
                <a:ea typeface="Calibri"/>
              </a:rPr>
              <a:t>validation </a:t>
            </a:r>
            <a:r>
              <a:rPr lang="en-GB" sz="1000" i="1" dirty="0">
                <a:ea typeface="Calibri"/>
              </a:rPr>
              <a:t>.</a:t>
            </a:r>
          </a:p>
          <a:p>
            <a:pPr algn="just">
              <a:spcAft>
                <a:spcPts val="0"/>
              </a:spcAft>
            </a:pPr>
            <a:r>
              <a:rPr lang="en-GB" sz="1000" i="1" baseline="30000" dirty="0" smtClean="0">
                <a:ea typeface="Calibri"/>
              </a:rPr>
              <a:t>5</a:t>
            </a:r>
            <a:r>
              <a:rPr lang="en-GB" sz="1000" i="1" dirty="0" smtClean="0">
                <a:ea typeface="Calibri"/>
              </a:rPr>
              <a:t>Si el owner del Proyecto </a:t>
            </a:r>
            <a:r>
              <a:rPr lang="en-GB" sz="1000" i="1" dirty="0" err="1" smtClean="0">
                <a:ea typeface="Calibri"/>
              </a:rPr>
              <a:t>pertenece</a:t>
            </a:r>
            <a:r>
              <a:rPr lang="en-GB" sz="1000" i="1" dirty="0" smtClean="0">
                <a:ea typeface="Calibri"/>
              </a:rPr>
              <a:t> </a:t>
            </a:r>
            <a:r>
              <a:rPr lang="en-GB" sz="1000" i="1" dirty="0">
                <a:ea typeface="Calibri"/>
              </a:rPr>
              <a:t>a planta </a:t>
            </a:r>
            <a:r>
              <a:rPr lang="en-GB" sz="1000" i="1" dirty="0" err="1">
                <a:ea typeface="Calibri"/>
              </a:rPr>
              <a:t>Corporativo</a:t>
            </a:r>
            <a:r>
              <a:rPr lang="en-GB" sz="1000" i="1" dirty="0">
                <a:ea typeface="Calibri"/>
              </a:rPr>
              <a:t> </a:t>
            </a:r>
            <a:r>
              <a:rPr lang="en-GB" sz="1000" i="1" dirty="0" err="1">
                <a:ea typeface="Calibri"/>
              </a:rPr>
              <a:t>seguirá</a:t>
            </a:r>
            <a:r>
              <a:rPr lang="en-GB" sz="1000" i="1" dirty="0">
                <a:ea typeface="Calibri"/>
              </a:rPr>
              <a:t> el </a:t>
            </a:r>
            <a:r>
              <a:rPr lang="en-GB" sz="1000" i="1" dirty="0" err="1">
                <a:ea typeface="Calibri"/>
              </a:rPr>
              <a:t>flujo</a:t>
            </a:r>
            <a:r>
              <a:rPr lang="en-GB" sz="1000" i="1" dirty="0">
                <a:ea typeface="Calibri"/>
              </a:rPr>
              <a:t> </a:t>
            </a:r>
            <a:r>
              <a:rPr lang="en-GB" sz="1000" i="1" dirty="0">
                <a:ea typeface="Calibri"/>
                <a:sym typeface="Wingdings" panose="05000000000000000000" pitchFamily="2" charset="2"/>
              </a:rPr>
              <a:t>A</a:t>
            </a:r>
            <a:r>
              <a:rPr lang="en-GB" sz="1000" i="1" dirty="0">
                <a:ea typeface="Calibri"/>
              </a:rPr>
              <a:t>. INDUSTRIALIZATION PROJECTS</a:t>
            </a:r>
            <a:endParaRPr lang="es-ES" sz="1000" i="1" dirty="0">
              <a:ea typeface="Calibri"/>
            </a:endParaRPr>
          </a:p>
        </p:txBody>
      </p:sp>
      <p:sp>
        <p:nvSpPr>
          <p:cNvPr id="13" name="12 Rectángulo"/>
          <p:cNvSpPr/>
          <p:nvPr/>
        </p:nvSpPr>
        <p:spPr>
          <a:xfrm>
            <a:off x="42816" y="1427142"/>
            <a:ext cx="8852262" cy="461665"/>
          </a:xfrm>
          <a:prstGeom prst="rect">
            <a:avLst/>
          </a:prstGeom>
        </p:spPr>
        <p:txBody>
          <a:bodyPr wrap="square">
            <a:spAutoFit/>
          </a:bodyPr>
          <a:lstStyle/>
          <a:p>
            <a:r>
              <a:rPr lang="es-ES" sz="1200" dirty="0">
                <a:solidFill>
                  <a:schemeClr val="tx1"/>
                </a:solidFill>
                <a:latin typeface="Arial" panose="020B0604020202020204" pitchFamily="34" charset="0"/>
                <a:cs typeface="Arial" panose="020B0604020202020204" pitchFamily="34" charset="0"/>
                <a:sym typeface="Wingdings" panose="05000000000000000000" pitchFamily="2" charset="2"/>
              </a:rPr>
              <a:t>Esta validación sólo aplica en los proyectos del tipo </a:t>
            </a:r>
            <a:r>
              <a:rPr lang="es-ES"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industrialización y a los de modificación (ECO). El flujo de validadores es el mismo pero no llega al departamento financiero</a:t>
            </a:r>
            <a:r>
              <a:rPr lang="es-ES" sz="1200" dirty="0" smtClean="0">
                <a:latin typeface="Arial" panose="020B0604020202020204" pitchFamily="34" charset="0"/>
                <a:cs typeface="Arial" panose="020B0604020202020204" pitchFamily="34" charset="0"/>
                <a:sym typeface="Wingdings" panose="05000000000000000000" pitchFamily="2" charset="2"/>
              </a:rPr>
              <a:t>:</a:t>
            </a:r>
            <a:endParaRPr lang="es-ES" sz="12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pic>
        <p:nvPicPr>
          <p:cNvPr id="5122"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68366" y="3541817"/>
            <a:ext cx="2619214" cy="751279"/>
          </a:xfrm>
          <a:prstGeom prst="rect">
            <a:avLst/>
          </a:prstGeom>
          <a:ln w="9525">
            <a:solidFill>
              <a:schemeClr val="tx1"/>
            </a:solidFill>
          </a:ln>
          <a:extLst>
            <a:ext uri="{909E8E84-426E-40DD-AFC4-6F175D3DCCD1}">
              <a14:hiddenFill xmlns:a14="http://schemas.microsoft.com/office/drawing/2010/main">
                <a:solidFill>
                  <a:schemeClr val="accent1"/>
                </a:solidFill>
              </a14:hiddenFill>
            </a:ext>
          </a:extLst>
        </p:spPr>
      </p:pic>
      <p:sp>
        <p:nvSpPr>
          <p:cNvPr id="28" name="27 Rectángulo redondeado"/>
          <p:cNvSpPr/>
          <p:nvPr/>
        </p:nvSpPr>
        <p:spPr>
          <a:xfrm>
            <a:off x="3931827" y="3850473"/>
            <a:ext cx="100112" cy="102941"/>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32" name="31 Rectángulo redondeado"/>
          <p:cNvSpPr/>
          <p:nvPr/>
        </p:nvSpPr>
        <p:spPr>
          <a:xfrm>
            <a:off x="5626256" y="5490275"/>
            <a:ext cx="466172" cy="230696"/>
          </a:xfrm>
          <a:prstGeom prst="round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33" name="32 Rectángulo"/>
          <p:cNvSpPr/>
          <p:nvPr/>
        </p:nvSpPr>
        <p:spPr>
          <a:xfrm>
            <a:off x="6248944" y="4801907"/>
            <a:ext cx="2676424" cy="1015663"/>
          </a:xfrm>
          <a:prstGeom prst="rect">
            <a:avLst/>
          </a:prstGeom>
          <a:solidFill>
            <a:schemeClr val="bg1"/>
          </a:solidFill>
        </p:spPr>
        <p:txBody>
          <a:bodyPr wrap="square">
            <a:spAutoFit/>
          </a:bodyPr>
          <a:lstStyle/>
          <a:p>
            <a:r>
              <a:rPr lang="es-ES"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La general </a:t>
            </a:r>
            <a:r>
              <a:rPr lang="es-ES" sz="12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info</a:t>
            </a:r>
            <a:r>
              <a:rPr lang="es-ES"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 internamente se gestiona como </a:t>
            </a:r>
            <a:r>
              <a:rPr lang="es-ES" sz="1200" dirty="0" smtClean="0">
                <a:latin typeface="Arial" panose="020B0604020202020204" pitchFamily="34" charset="0"/>
                <a:cs typeface="Arial" panose="020B0604020202020204" pitchFamily="34" charset="0"/>
                <a:sym typeface="Wingdings" panose="05000000000000000000" pitchFamily="2" charset="2"/>
              </a:rPr>
              <a:t>si fuera otro paso que </a:t>
            </a:r>
            <a:r>
              <a:rPr lang="es-ES" sz="1200" dirty="0" smtClean="0">
                <a:solidFill>
                  <a:schemeClr val="tx1"/>
                </a:solidFill>
                <a:latin typeface="Arial" panose="020B0604020202020204" pitchFamily="34" charset="0"/>
                <a:cs typeface="Arial" panose="020B0604020202020204" pitchFamily="34" charset="0"/>
                <a:sym typeface="Wingdings" panose="05000000000000000000" pitchFamily="2" charset="2"/>
              </a:rPr>
              <a:t>está en el grupo de coste OTHERS DEV y así puede verse en qué punto de la validación está.</a:t>
            </a:r>
            <a:endParaRPr lang="es-ES" sz="12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grpSp>
        <p:nvGrpSpPr>
          <p:cNvPr id="5" name="Grupo 4"/>
          <p:cNvGrpSpPr/>
          <p:nvPr/>
        </p:nvGrpSpPr>
        <p:grpSpPr>
          <a:xfrm>
            <a:off x="826991" y="5817570"/>
            <a:ext cx="4799265" cy="982977"/>
            <a:chOff x="187786" y="4175612"/>
            <a:chExt cx="7886698" cy="1922816"/>
          </a:xfrm>
        </p:grpSpPr>
        <p:pic>
          <p:nvPicPr>
            <p:cNvPr id="5125"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7786" y="4175612"/>
              <a:ext cx="7886698" cy="192281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4" name="Imagen 3"/>
            <p:cNvPicPr>
              <a:picLocks noChangeAspect="1"/>
            </p:cNvPicPr>
            <p:nvPr/>
          </p:nvPicPr>
          <p:blipFill rotWithShape="1">
            <a:blip r:embed="rId5"/>
            <a:srcRect b="29217"/>
            <a:stretch/>
          </p:blipFill>
          <p:spPr>
            <a:xfrm>
              <a:off x="196508" y="4963083"/>
              <a:ext cx="2874856" cy="1008529"/>
            </a:xfrm>
            <a:prstGeom prst="rect">
              <a:avLst/>
            </a:prstGeom>
          </p:spPr>
        </p:pic>
      </p:grpSp>
      <p:pic>
        <p:nvPicPr>
          <p:cNvPr id="8" name="Imagen 7"/>
          <p:cNvPicPr>
            <a:picLocks noChangeAspect="1"/>
          </p:cNvPicPr>
          <p:nvPr/>
        </p:nvPicPr>
        <p:blipFill>
          <a:blip r:embed="rId6"/>
          <a:stretch>
            <a:fillRect/>
          </a:stretch>
        </p:blipFill>
        <p:spPr>
          <a:xfrm>
            <a:off x="4766753" y="3493041"/>
            <a:ext cx="3197687" cy="1232103"/>
          </a:xfrm>
          <a:prstGeom prst="rect">
            <a:avLst/>
          </a:prstGeom>
          <a:ln w="9525">
            <a:solidFill>
              <a:schemeClr val="tx1"/>
            </a:solidFill>
          </a:ln>
        </p:spPr>
      </p:pic>
      <p:sp>
        <p:nvSpPr>
          <p:cNvPr id="29" name="28 Flecha derecha"/>
          <p:cNvSpPr/>
          <p:nvPr/>
        </p:nvSpPr>
        <p:spPr>
          <a:xfrm>
            <a:off x="4343296" y="3668465"/>
            <a:ext cx="569523" cy="257140"/>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31" name="30 Flecha derecha"/>
          <p:cNvSpPr/>
          <p:nvPr/>
        </p:nvSpPr>
        <p:spPr>
          <a:xfrm rot="8180456">
            <a:off x="5285941" y="5708223"/>
            <a:ext cx="396455" cy="301563"/>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20" name="29 Flecha abajo"/>
          <p:cNvSpPr/>
          <p:nvPr/>
        </p:nvSpPr>
        <p:spPr>
          <a:xfrm rot="1062493">
            <a:off x="4675648" y="4400802"/>
            <a:ext cx="394269" cy="913750"/>
          </a:xfrm>
          <a:prstGeom prst="down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245501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29</a:t>
            </a:fld>
            <a:endParaRPr lang="es-ES" dirty="0"/>
          </a:p>
        </p:txBody>
      </p:sp>
      <p:sp>
        <p:nvSpPr>
          <p:cNvPr id="4" name="3 CuadroTexto"/>
          <p:cNvSpPr txBox="1"/>
          <p:nvPr/>
        </p:nvSpPr>
        <p:spPr>
          <a:xfrm>
            <a:off x="267321" y="980728"/>
            <a:ext cx="7098282" cy="369332"/>
          </a:xfrm>
          <a:prstGeom prst="rect">
            <a:avLst/>
          </a:prstGeom>
          <a:noFill/>
        </p:spPr>
        <p:txBody>
          <a:bodyPr wrap="square" rtlCol="0">
            <a:spAutoFit/>
          </a:bodyPr>
          <a:lstStyle/>
          <a:p>
            <a:r>
              <a:rPr lang="es-ES" b="1" dirty="0" smtClean="0">
                <a:solidFill>
                  <a:srgbClr val="254061"/>
                </a:solidFill>
              </a:rPr>
              <a:t>ESTADOS DEL PASO </a:t>
            </a:r>
            <a:endParaRPr lang="en-US" b="1" dirty="0">
              <a:solidFill>
                <a:srgbClr val="254061"/>
              </a:solidFill>
            </a:endParaRPr>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132856"/>
            <a:ext cx="2581275" cy="35433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Rectángulo"/>
          <p:cNvSpPr/>
          <p:nvPr/>
        </p:nvSpPr>
        <p:spPr>
          <a:xfrm>
            <a:off x="1115616" y="2852936"/>
            <a:ext cx="288032" cy="2823220"/>
          </a:xfrm>
          <a:prstGeom prst="rect">
            <a:avLst/>
          </a:prstGeom>
          <a:noFill/>
          <a:ln w="3175">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0" name="9 Rectángulo"/>
          <p:cNvSpPr/>
          <p:nvPr/>
        </p:nvSpPr>
        <p:spPr>
          <a:xfrm>
            <a:off x="4290788" y="1708447"/>
            <a:ext cx="4745708" cy="3304729"/>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Pending</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Approval</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El validador todavía no ha respondido nada a la </a:t>
            </a:r>
          </a:p>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solicitud de este paso</a:t>
            </a:r>
          </a:p>
          <a:p>
            <a:pPr marL="228600" indent="-228600">
              <a:buFont typeface="+mj-lt"/>
              <a:buAutoNum type="arabicPeriod"/>
            </a:pP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Approved</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El validador ha aprobado este paso. El paso ha sido   </a:t>
            </a:r>
          </a:p>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enviado a financiero para que lo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habra</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en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XPert</a:t>
            </a:r>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228600" indent="-228600">
              <a:buFont typeface="+mj-lt"/>
              <a:buAutoNum type="arabicPeriod"/>
            </a:pPr>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Rejected</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El validador ha rechazado este paso.</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228600" indent="-228600">
              <a:buFont typeface="+mj-lt"/>
              <a:buAutoNum type="arabicPeriod"/>
            </a:pPr>
            <a:endParaRPr lang="es-ES" sz="1000" dirty="0" smtClean="0">
              <a:solidFill>
                <a:schemeClr val="tx1"/>
              </a:solidFill>
              <a:latin typeface="Arial" panose="020B0604020202020204" pitchFamily="34" charset="0"/>
              <a:cs typeface="Arial" panose="020B0604020202020204" pitchFamily="34" charset="0"/>
            </a:endParaRPr>
          </a:p>
          <a:p>
            <a:r>
              <a:rPr lang="es-ES" sz="1000" dirty="0" smtClean="0">
                <a:solidFill>
                  <a:schemeClr val="tx1"/>
                </a:solidFill>
                <a:latin typeface="Arial" panose="020B0604020202020204" pitchFamily="34" charset="0"/>
                <a:cs typeface="Arial" panose="020B0604020202020204" pitchFamily="34" charset="0"/>
              </a:rPr>
              <a:t>Situando el cursor sobre el icono informa de los motivos</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pPr marL="171450" indent="-171450">
              <a:buFont typeface="Arial" panose="020B0604020202020204" pitchFamily="34" charset="0"/>
              <a:buChar char="•"/>
            </a:pPr>
            <a:r>
              <a:rPr lang="es-ES" sz="1000" b="1"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Opened</a:t>
            </a:r>
            <a:r>
              <a:rPr lang="es-ES" sz="1000" b="1"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Financiero ha abierto el portador          . El código que le ha dado se añade automáticamente  al nombre del paso</a:t>
            </a: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endParaRPr>
          </a:p>
        </p:txBody>
      </p:sp>
      <p:pic>
        <p:nvPicPr>
          <p:cNvPr id="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52120" y="1891056"/>
            <a:ext cx="276225" cy="2857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92280" y="2370212"/>
            <a:ext cx="295275" cy="26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365602" y="2617872"/>
            <a:ext cx="314325" cy="257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199"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39742" y="3279080"/>
            <a:ext cx="1409700" cy="48577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8200" name="Picture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94127" y="4005064"/>
            <a:ext cx="333375" cy="2190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201"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11042" y="4509120"/>
            <a:ext cx="3505200" cy="25717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17124700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30</a:t>
            </a:fld>
            <a:endParaRPr lang="es-ES" dirty="0"/>
          </a:p>
        </p:txBody>
      </p:sp>
      <p:sp>
        <p:nvSpPr>
          <p:cNvPr id="5" name="4 CuadroTexto"/>
          <p:cNvSpPr txBox="1"/>
          <p:nvPr/>
        </p:nvSpPr>
        <p:spPr>
          <a:xfrm>
            <a:off x="267321" y="980728"/>
            <a:ext cx="7185000" cy="369332"/>
          </a:xfrm>
          <a:prstGeom prst="rect">
            <a:avLst/>
          </a:prstGeom>
          <a:noFill/>
        </p:spPr>
        <p:txBody>
          <a:bodyPr wrap="square" rtlCol="0">
            <a:spAutoFit/>
          </a:bodyPr>
          <a:lstStyle/>
          <a:p>
            <a:r>
              <a:rPr lang="es-ES" b="1" dirty="0" smtClean="0">
                <a:solidFill>
                  <a:srgbClr val="254061"/>
                </a:solidFill>
              </a:rPr>
              <a:t>DATO REAL </a:t>
            </a:r>
            <a:endParaRPr lang="en-US" b="1" dirty="0">
              <a:solidFill>
                <a:srgbClr val="254061"/>
              </a:solidFill>
            </a:endParaRPr>
          </a:p>
        </p:txBody>
      </p:sp>
      <p:sp>
        <p:nvSpPr>
          <p:cNvPr id="7" name="1 Marcador de número de diapositiva"/>
          <p:cNvSpPr txBox="1">
            <a:spLocks/>
          </p:cNvSpPr>
          <p:nvPr/>
        </p:nvSpPr>
        <p:spPr>
          <a:xfrm>
            <a:off x="6553200" y="6356350"/>
            <a:ext cx="2133600" cy="365125"/>
          </a:xfrm>
          <a:prstGeom prst="rect">
            <a:avLst/>
          </a:prstGeom>
        </p:spPr>
        <p:txBody>
          <a:bodyPr vert="horz" lIns="91440" tIns="45720" rIns="91440" bIns="45720" rtlCol="0" anchor="ctr"/>
          <a:lstStyle>
            <a:defPPr>
              <a:defRPr lang="es-ES"/>
            </a:defPPr>
            <a:lvl1pPr marL="0" algn="r" defTabSz="914400" rtl="0" eaLnBrk="1" latinLnBrk="0" hangingPunct="1">
              <a:defRPr sz="12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C159591-2568-4DE8-9BFD-2ABD54E1DEC4}" type="slidenum">
              <a:rPr lang="es-ES" smtClean="0"/>
              <a:pPr/>
              <a:t>30</a:t>
            </a:fld>
            <a:endParaRPr lang="es-ES" dirty="0"/>
          </a:p>
        </p:txBody>
      </p:sp>
      <p:sp>
        <p:nvSpPr>
          <p:cNvPr id="8" name="Rectángulo 7"/>
          <p:cNvSpPr/>
          <p:nvPr/>
        </p:nvSpPr>
        <p:spPr>
          <a:xfrm>
            <a:off x="175642" y="1925379"/>
            <a:ext cx="2906636" cy="369332"/>
          </a:xfrm>
          <a:prstGeom prst="rect">
            <a:avLst/>
          </a:prstGeom>
        </p:spPr>
        <p:txBody>
          <a:bodyPr wrap="square">
            <a:spAutoFit/>
          </a:bodyPr>
          <a:lstStyle/>
          <a:p>
            <a:r>
              <a:rPr lang="es-ES" dirty="0" err="1">
                <a:hlinkClick r:id="rId2"/>
              </a:rPr>
              <a:t>Cost</a:t>
            </a:r>
            <a:r>
              <a:rPr lang="es-ES" dirty="0">
                <a:hlinkClick r:id="rId2"/>
              </a:rPr>
              <a:t> </a:t>
            </a:r>
            <a:r>
              <a:rPr lang="es-ES" dirty="0" err="1">
                <a:hlinkClick r:id="rId2"/>
              </a:rPr>
              <a:t>Carriers</a:t>
            </a:r>
            <a:r>
              <a:rPr lang="es-ES" dirty="0">
                <a:hlinkClick r:id="rId2"/>
              </a:rPr>
              <a:t> </a:t>
            </a:r>
            <a:r>
              <a:rPr lang="es-ES" dirty="0" err="1">
                <a:hlinkClick r:id="rId2"/>
              </a:rPr>
              <a:t>report</a:t>
            </a:r>
            <a:r>
              <a:rPr lang="es-ES" dirty="0">
                <a:hlinkClick r:id="rId2"/>
              </a:rPr>
              <a:t> (batz.es)</a:t>
            </a:r>
            <a:endParaRPr lang="es-ES" dirty="0"/>
          </a:p>
        </p:txBody>
      </p:sp>
      <p:pic>
        <p:nvPicPr>
          <p:cNvPr id="10" name="Imagen 9"/>
          <p:cNvPicPr>
            <a:picLocks noChangeAspect="1"/>
          </p:cNvPicPr>
          <p:nvPr/>
        </p:nvPicPr>
        <p:blipFill>
          <a:blip r:embed="rId3"/>
          <a:stretch>
            <a:fillRect/>
          </a:stretch>
        </p:blipFill>
        <p:spPr>
          <a:xfrm>
            <a:off x="153196" y="2611387"/>
            <a:ext cx="5977579" cy="2385069"/>
          </a:xfrm>
          <a:prstGeom prst="rect">
            <a:avLst/>
          </a:prstGeom>
          <a:ln>
            <a:noFill/>
          </a:ln>
          <a:effectLst>
            <a:outerShdw blurRad="190500" algn="tl" rotWithShape="0">
              <a:srgbClr val="000000">
                <a:alpha val="70000"/>
              </a:srgbClr>
            </a:outerShdw>
          </a:effectLst>
        </p:spPr>
      </p:pic>
      <p:pic>
        <p:nvPicPr>
          <p:cNvPr id="11" name="Imagen 10"/>
          <p:cNvPicPr>
            <a:picLocks noChangeAspect="1"/>
          </p:cNvPicPr>
          <p:nvPr/>
        </p:nvPicPr>
        <p:blipFill>
          <a:blip r:embed="rId4"/>
          <a:stretch>
            <a:fillRect/>
          </a:stretch>
        </p:blipFill>
        <p:spPr>
          <a:xfrm>
            <a:off x="4139952" y="5080438"/>
            <a:ext cx="4193843" cy="1671870"/>
          </a:xfrm>
          <a:prstGeom prst="rect">
            <a:avLst/>
          </a:prstGeom>
          <a:ln>
            <a:noFill/>
          </a:ln>
          <a:effectLst>
            <a:outerShdw blurRad="190500" algn="tl" rotWithShape="0">
              <a:srgbClr val="000000">
                <a:alpha val="70000"/>
              </a:srgbClr>
            </a:outerShdw>
          </a:effectLst>
        </p:spPr>
      </p:pic>
      <p:sp>
        <p:nvSpPr>
          <p:cNvPr id="12" name="Rectángulo 11"/>
          <p:cNvSpPr/>
          <p:nvPr/>
        </p:nvSpPr>
        <p:spPr>
          <a:xfrm>
            <a:off x="2337373" y="2611387"/>
            <a:ext cx="1152128" cy="746449"/>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3" name="Rectángulo 12"/>
          <p:cNvSpPr/>
          <p:nvPr/>
        </p:nvSpPr>
        <p:spPr>
          <a:xfrm>
            <a:off x="3489501" y="2707628"/>
            <a:ext cx="1289686" cy="648072"/>
          </a:xfrm>
          <a:prstGeom prst="rect">
            <a:avLst/>
          </a:prstGeom>
          <a:noFill/>
          <a:ln w="190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5" name="Rectángulo 14"/>
          <p:cNvSpPr/>
          <p:nvPr/>
        </p:nvSpPr>
        <p:spPr>
          <a:xfrm>
            <a:off x="6227296" y="1806801"/>
            <a:ext cx="2862016" cy="1477328"/>
          </a:xfrm>
          <a:prstGeom prst="rect">
            <a:avLst/>
          </a:prstGeom>
          <a:solidFill>
            <a:schemeClr val="bg1"/>
          </a:solidFill>
          <a:ln w="28575">
            <a:solidFill>
              <a:srgbClr val="00B050"/>
            </a:solidFill>
          </a:ln>
        </p:spPr>
        <p:txBody>
          <a:bodyPr wrap="square">
            <a:spAutoFit/>
          </a:bodyPr>
          <a:lstStyle/>
          <a:p>
            <a:pPr lvl="0" algn="ctr"/>
            <a:r>
              <a:rPr lang="en-US" sz="1000" b="1" dirty="0" smtClean="0">
                <a:solidFill>
                  <a:prstClr val="black"/>
                </a:solidFill>
                <a:latin typeface="Arial" panose="020B0604020202020204" pitchFamily="34" charset="0"/>
                <a:cs typeface="Arial" panose="020B0604020202020204" pitchFamily="34" charset="0"/>
              </a:rPr>
              <a:t>DATO REAL/TOTAL</a:t>
            </a:r>
          </a:p>
          <a:p>
            <a:pPr marL="171450" lvl="0" indent="-171450">
              <a:buFont typeface="Arial" panose="020B0604020202020204" pitchFamily="34" charset="0"/>
              <a:buChar char="•"/>
            </a:pPr>
            <a:r>
              <a:rPr lang="en-US" sz="1000" dirty="0" smtClean="0">
                <a:solidFill>
                  <a:prstClr val="black"/>
                </a:solidFill>
                <a:latin typeface="Arial" panose="020B0604020202020204" pitchFamily="34" charset="0"/>
                <a:cs typeface="Arial" panose="020B0604020202020204" pitchFamily="34" charset="0"/>
              </a:rPr>
              <a:t>XPERT: </a:t>
            </a:r>
            <a:r>
              <a:rPr lang="en-US" sz="1000" dirty="0" err="1" smtClean="0">
                <a:solidFill>
                  <a:prstClr val="black"/>
                </a:solidFill>
                <a:latin typeface="Arial" panose="020B0604020202020204" pitchFamily="34" charset="0"/>
                <a:cs typeface="Arial" panose="020B0604020202020204" pitchFamily="34" charset="0"/>
              </a:rPr>
              <a:t>Cantidad</a:t>
            </a:r>
            <a:r>
              <a:rPr lang="en-US" sz="1000" dirty="0" smtClean="0">
                <a:solidFill>
                  <a:prstClr val="black"/>
                </a:solidFill>
                <a:latin typeface="Arial" panose="020B0604020202020204" pitchFamily="34" charset="0"/>
                <a:cs typeface="Arial" panose="020B0604020202020204" pitchFamily="34" charset="0"/>
              </a:rPr>
              <a:t> total </a:t>
            </a:r>
            <a:r>
              <a:rPr lang="en-US" sz="1000" dirty="0" err="1" smtClean="0">
                <a:solidFill>
                  <a:prstClr val="black"/>
                </a:solidFill>
                <a:latin typeface="Arial" panose="020B0604020202020204" pitchFamily="34" charset="0"/>
                <a:cs typeface="Arial" panose="020B0604020202020204" pitchFamily="34" charset="0"/>
              </a:rPr>
              <a:t>en</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pedidos</a:t>
            </a:r>
            <a:r>
              <a:rPr lang="en-US" sz="1000" dirty="0" smtClean="0">
                <a:solidFill>
                  <a:prstClr val="black"/>
                </a:solidFill>
                <a:latin typeface="Arial" panose="020B0604020202020204" pitchFamily="34" charset="0"/>
                <a:cs typeface="Arial" panose="020B0604020202020204" pitchFamily="34" charset="0"/>
              </a:rPr>
              <a:t>.</a:t>
            </a:r>
          </a:p>
          <a:p>
            <a:pPr marL="171450" lvl="0" indent="-171450">
              <a:buFont typeface="Arial" panose="020B0604020202020204" pitchFamily="34" charset="0"/>
              <a:buChar char="•"/>
            </a:pPr>
            <a:r>
              <a:rPr lang="en-US" sz="1000" dirty="0" smtClean="0">
                <a:solidFill>
                  <a:prstClr val="black"/>
                </a:solidFill>
                <a:latin typeface="Arial" panose="020B0604020202020204" pitchFamily="34" charset="0"/>
                <a:cs typeface="Arial" panose="020B0604020202020204" pitchFamily="34" charset="0"/>
              </a:rPr>
              <a:t>BONOS: </a:t>
            </a:r>
            <a:r>
              <a:rPr lang="en-US" sz="1000" dirty="0" err="1" smtClean="0">
                <a:solidFill>
                  <a:prstClr val="black"/>
                </a:solidFill>
                <a:latin typeface="Arial" panose="020B0604020202020204" pitchFamily="34" charset="0"/>
                <a:cs typeface="Arial" panose="020B0604020202020204" pitchFamily="34" charset="0"/>
              </a:rPr>
              <a:t>Cantidad</a:t>
            </a:r>
            <a:r>
              <a:rPr lang="en-US" sz="1000" dirty="0" smtClean="0">
                <a:solidFill>
                  <a:prstClr val="black"/>
                </a:solidFill>
                <a:latin typeface="Arial" panose="020B0604020202020204" pitchFamily="34" charset="0"/>
                <a:cs typeface="Arial" panose="020B0604020202020204" pitchFamily="34" charset="0"/>
              </a:rPr>
              <a:t> total </a:t>
            </a:r>
            <a:r>
              <a:rPr lang="en-US" sz="1000" dirty="0" err="1" smtClean="0">
                <a:solidFill>
                  <a:prstClr val="black"/>
                </a:solidFill>
                <a:latin typeface="Arial" panose="020B0604020202020204" pitchFamily="34" charset="0"/>
                <a:cs typeface="Arial" panose="020B0604020202020204" pitchFamily="34" charset="0"/>
              </a:rPr>
              <a:t>en</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recursos</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humanos-maquina</a:t>
            </a:r>
            <a:endParaRPr lang="en-US" sz="1000" dirty="0" smtClean="0">
              <a:solidFill>
                <a:prstClr val="black"/>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000" dirty="0" smtClean="0">
                <a:solidFill>
                  <a:prstClr val="black"/>
                </a:solidFill>
                <a:latin typeface="Arial" panose="020B0604020202020204" pitchFamily="34" charset="0"/>
                <a:cs typeface="Arial" panose="020B0604020202020204" pitchFamily="34" charset="0"/>
              </a:rPr>
              <a:t>TOTAL AMOUNT INVOICED: </a:t>
            </a:r>
            <a:r>
              <a:rPr lang="en-US" sz="1000" dirty="0" err="1" smtClean="0">
                <a:solidFill>
                  <a:prstClr val="black"/>
                </a:solidFill>
                <a:latin typeface="Arial" panose="020B0604020202020204" pitchFamily="34" charset="0"/>
                <a:cs typeface="Arial" panose="020B0604020202020204" pitchFamily="34" charset="0"/>
              </a:rPr>
              <a:t>cantidad</a:t>
            </a:r>
            <a:r>
              <a:rPr lang="en-US" sz="1000" dirty="0">
                <a:solidFill>
                  <a:prstClr val="black"/>
                </a:solidFill>
                <a:latin typeface="Arial" panose="020B0604020202020204" pitchFamily="34" charset="0"/>
                <a:cs typeface="Arial" panose="020B0604020202020204" pitchFamily="34" charset="0"/>
              </a:rPr>
              <a:t> </a:t>
            </a:r>
            <a:r>
              <a:rPr lang="en-US" sz="1000" dirty="0" smtClean="0">
                <a:solidFill>
                  <a:prstClr val="black"/>
                </a:solidFill>
                <a:latin typeface="Arial" panose="020B0604020202020204" pitchFamily="34" charset="0"/>
                <a:cs typeface="Arial" panose="020B0604020202020204" pitchFamily="34" charset="0"/>
              </a:rPr>
              <a:t>total </a:t>
            </a:r>
            <a:r>
              <a:rPr lang="en-US" sz="1000" dirty="0" err="1" smtClean="0">
                <a:solidFill>
                  <a:prstClr val="black"/>
                </a:solidFill>
                <a:latin typeface="Arial" panose="020B0604020202020204" pitchFamily="34" charset="0"/>
                <a:cs typeface="Arial" panose="020B0604020202020204" pitchFamily="34" charset="0"/>
              </a:rPr>
              <a:t>facturada</a:t>
            </a:r>
            <a:r>
              <a:rPr lang="en-US" sz="1000" dirty="0" smtClean="0">
                <a:solidFill>
                  <a:prstClr val="black"/>
                </a:solidFill>
                <a:latin typeface="Arial" panose="020B0604020202020204" pitchFamily="34" charset="0"/>
                <a:cs typeface="Arial" panose="020B0604020202020204" pitchFamily="34" charset="0"/>
              </a:rPr>
              <a:t> a </a:t>
            </a:r>
            <a:r>
              <a:rPr lang="en-US" sz="1000" dirty="0" err="1" smtClean="0">
                <a:solidFill>
                  <a:prstClr val="black"/>
                </a:solidFill>
                <a:latin typeface="Arial" panose="020B0604020202020204" pitchFamily="34" charset="0"/>
                <a:cs typeface="Arial" panose="020B0604020202020204" pitchFamily="34" charset="0"/>
              </a:rPr>
              <a:t>cliente</a:t>
            </a:r>
            <a:endParaRPr lang="en-US" sz="1000" dirty="0" smtClean="0">
              <a:solidFill>
                <a:prstClr val="black"/>
              </a:solidFill>
              <a:latin typeface="Arial" panose="020B0604020202020204" pitchFamily="34" charset="0"/>
              <a:cs typeface="Arial" panose="020B0604020202020204" pitchFamily="34" charset="0"/>
            </a:endParaRPr>
          </a:p>
          <a:p>
            <a:pPr marL="628650" lvl="1" indent="-171450">
              <a:buFont typeface="Arial" panose="020B0604020202020204" pitchFamily="34" charset="0"/>
              <a:buChar char="•"/>
            </a:pPr>
            <a:r>
              <a:rPr lang="en-US" sz="1000" dirty="0" smtClean="0">
                <a:solidFill>
                  <a:prstClr val="black"/>
                </a:solidFill>
                <a:latin typeface="Arial" panose="020B0604020202020204" pitchFamily="34" charset="0"/>
                <a:cs typeface="Arial" panose="020B0604020202020204" pitchFamily="34" charset="0"/>
              </a:rPr>
              <a:t>PAID: </a:t>
            </a:r>
            <a:r>
              <a:rPr lang="en-US" sz="1000" dirty="0" err="1" smtClean="0">
                <a:solidFill>
                  <a:prstClr val="black"/>
                </a:solidFill>
                <a:latin typeface="Arial" panose="020B0604020202020204" pitchFamily="34" charset="0"/>
                <a:cs typeface="Arial" panose="020B0604020202020204" pitchFamily="34" charset="0"/>
              </a:rPr>
              <a:t>toma</a:t>
            </a:r>
            <a:r>
              <a:rPr lang="en-US" sz="1000" dirty="0" smtClean="0">
                <a:solidFill>
                  <a:prstClr val="black"/>
                </a:solidFill>
                <a:latin typeface="Arial" panose="020B0604020202020204" pitchFamily="34" charset="0"/>
                <a:cs typeface="Arial" panose="020B0604020202020204" pitchFamily="34" charset="0"/>
              </a:rPr>
              <a:t> valor 1 </a:t>
            </a:r>
            <a:r>
              <a:rPr lang="en-US" sz="1000" dirty="0" err="1" smtClean="0">
                <a:solidFill>
                  <a:prstClr val="black"/>
                </a:solidFill>
                <a:latin typeface="Arial" panose="020B0604020202020204" pitchFamily="34" charset="0"/>
                <a:cs typeface="Arial" panose="020B0604020202020204" pitchFamily="34" charset="0"/>
              </a:rPr>
              <a:t>cuando</a:t>
            </a:r>
            <a:r>
              <a:rPr lang="en-US" sz="1000" dirty="0" smtClean="0">
                <a:solidFill>
                  <a:prstClr val="black"/>
                </a:solidFill>
                <a:latin typeface="Arial" panose="020B0604020202020204" pitchFamily="34" charset="0"/>
                <a:cs typeface="Arial" panose="020B0604020202020204" pitchFamily="34" charset="0"/>
              </a:rPr>
              <a:t> se </a:t>
            </a:r>
            <a:r>
              <a:rPr lang="en-US" sz="1000" dirty="0" err="1" smtClean="0">
                <a:solidFill>
                  <a:prstClr val="black"/>
                </a:solidFill>
                <a:latin typeface="Arial" panose="020B0604020202020204" pitchFamily="34" charset="0"/>
                <a:cs typeface="Arial" panose="020B0604020202020204" pitchFamily="34" charset="0"/>
              </a:rPr>
              <a:t>paga</a:t>
            </a:r>
            <a:r>
              <a:rPr lang="en-US" sz="1000" dirty="0" smtClean="0">
                <a:solidFill>
                  <a:prstClr val="black"/>
                </a:solidFill>
                <a:latin typeface="Arial" panose="020B0604020202020204" pitchFamily="34" charset="0"/>
                <a:cs typeface="Arial" panose="020B0604020202020204" pitchFamily="34" charset="0"/>
              </a:rPr>
              <a:t> la facture.</a:t>
            </a:r>
          </a:p>
          <a:p>
            <a:pPr lvl="0"/>
            <a:endParaRPr lang="en-US" sz="1000" dirty="0">
              <a:solidFill>
                <a:prstClr val="black"/>
              </a:solidFill>
              <a:latin typeface="Arial" panose="020B0604020202020204" pitchFamily="34" charset="0"/>
              <a:cs typeface="Arial" panose="020B0604020202020204" pitchFamily="34" charset="0"/>
            </a:endParaRPr>
          </a:p>
        </p:txBody>
      </p:sp>
      <p:cxnSp>
        <p:nvCxnSpPr>
          <p:cNvPr id="16" name="Conector angular 15"/>
          <p:cNvCxnSpPr>
            <a:stCxn id="13" idx="0"/>
          </p:cNvCxnSpPr>
          <p:nvPr/>
        </p:nvCxnSpPr>
        <p:spPr>
          <a:xfrm rot="5400000" flipH="1" flipV="1">
            <a:off x="5085136" y="1522392"/>
            <a:ext cx="234444" cy="2136029"/>
          </a:xfrm>
          <a:prstGeom prst="bentConnector2">
            <a:avLst/>
          </a:prstGeom>
          <a:ln w="190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ector angular 16"/>
          <p:cNvCxnSpPr>
            <a:stCxn id="10" idx="0"/>
          </p:cNvCxnSpPr>
          <p:nvPr/>
        </p:nvCxnSpPr>
        <p:spPr>
          <a:xfrm rot="5400000" flipH="1" flipV="1">
            <a:off x="3785540" y="1337169"/>
            <a:ext cx="630664" cy="1917773"/>
          </a:xfrm>
          <a:prstGeom prst="bentConnector3">
            <a:avLst>
              <a:gd name="adj1" fmla="val 5000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Elipse 17"/>
          <p:cNvSpPr/>
          <p:nvPr/>
        </p:nvSpPr>
        <p:spPr>
          <a:xfrm>
            <a:off x="2051720" y="4005064"/>
            <a:ext cx="432048" cy="288032"/>
          </a:xfrm>
          <a:prstGeom prst="ellipse">
            <a:avLst/>
          </a:prstGeom>
          <a:noFill/>
          <a:ln w="190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cxnSp>
        <p:nvCxnSpPr>
          <p:cNvPr id="19" name="Conector angular 18"/>
          <p:cNvCxnSpPr>
            <a:stCxn id="18" idx="5"/>
          </p:cNvCxnSpPr>
          <p:nvPr/>
        </p:nvCxnSpPr>
        <p:spPr>
          <a:xfrm rot="16200000" flipH="1">
            <a:off x="2674328" y="3997082"/>
            <a:ext cx="1255696" cy="1763361"/>
          </a:xfrm>
          <a:prstGeom prst="bentConnector2">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0" name="32 Rectángulo"/>
          <p:cNvSpPr/>
          <p:nvPr/>
        </p:nvSpPr>
        <p:spPr>
          <a:xfrm>
            <a:off x="1789225" y="5479471"/>
            <a:ext cx="2482468" cy="400110"/>
          </a:xfrm>
          <a:prstGeom prst="rect">
            <a:avLst/>
          </a:prstGeom>
        </p:spPr>
        <p:txBody>
          <a:bodyPr wrap="square">
            <a:spAutoFit/>
          </a:bodyPr>
          <a:lstStyle/>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You can see cost carrier detail clicking on the number (new window opens)</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21" name="Cerrar llave 20"/>
          <p:cNvSpPr/>
          <p:nvPr/>
        </p:nvSpPr>
        <p:spPr>
          <a:xfrm rot="5400000">
            <a:off x="5235459" y="2965732"/>
            <a:ext cx="439043" cy="1351588"/>
          </a:xfrm>
          <a:prstGeom prst="rightBrace">
            <a:avLst>
              <a:gd name="adj1" fmla="val 8333"/>
              <a:gd name="adj2" fmla="val 50914"/>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2" name="Rectángulo 21"/>
          <p:cNvSpPr/>
          <p:nvPr/>
        </p:nvSpPr>
        <p:spPr>
          <a:xfrm>
            <a:off x="4693155" y="3832067"/>
            <a:ext cx="3336144" cy="1015663"/>
          </a:xfrm>
          <a:prstGeom prst="rect">
            <a:avLst/>
          </a:prstGeom>
          <a:solidFill>
            <a:schemeClr val="bg1"/>
          </a:solidFill>
          <a:ln w="28575">
            <a:solidFill>
              <a:schemeClr val="bg1">
                <a:lumMod val="65000"/>
              </a:schemeClr>
            </a:solidFill>
          </a:ln>
        </p:spPr>
        <p:txBody>
          <a:bodyPr wrap="square">
            <a:spAutoFit/>
          </a:bodyPr>
          <a:lstStyle/>
          <a:p>
            <a:pPr lvl="0" algn="ctr"/>
            <a:r>
              <a:rPr lang="en-US" sz="1000" b="1" dirty="0" smtClean="0">
                <a:solidFill>
                  <a:prstClr val="black"/>
                </a:solidFill>
                <a:latin typeface="Arial" panose="020B0604020202020204" pitchFamily="34" charset="0"/>
                <a:cs typeface="Arial" panose="020B0604020202020204" pitchFamily="34" charset="0"/>
              </a:rPr>
              <a:t>DATO REAL/MENSUAL</a:t>
            </a:r>
          </a:p>
          <a:p>
            <a:pPr marL="171450" lvl="0" indent="-171450">
              <a:buFont typeface="Arial" panose="020B0604020202020204" pitchFamily="34" charset="0"/>
              <a:buChar char="•"/>
            </a:pPr>
            <a:r>
              <a:rPr lang="en-US" sz="1000" dirty="0" smtClean="0">
                <a:solidFill>
                  <a:prstClr val="black"/>
                </a:solidFill>
                <a:latin typeface="Arial" panose="020B0604020202020204" pitchFamily="34" charset="0"/>
                <a:cs typeface="Arial" panose="020B0604020202020204" pitchFamily="34" charset="0"/>
              </a:rPr>
              <a:t>XPERT</a:t>
            </a:r>
            <a:r>
              <a:rPr lang="en-US" sz="1000" dirty="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Cantidad</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mensual</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en</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pedidos</a:t>
            </a:r>
            <a:endParaRPr lang="en-US" sz="1000" dirty="0">
              <a:solidFill>
                <a:prstClr val="black"/>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000" dirty="0">
                <a:solidFill>
                  <a:prstClr val="black"/>
                </a:solidFill>
                <a:latin typeface="Arial" panose="020B0604020202020204" pitchFamily="34" charset="0"/>
                <a:cs typeface="Arial" panose="020B0604020202020204" pitchFamily="34" charset="0"/>
              </a:rPr>
              <a:t>BONOS: </a:t>
            </a:r>
            <a:r>
              <a:rPr lang="en-US" sz="1000" dirty="0" err="1" smtClean="0">
                <a:solidFill>
                  <a:prstClr val="black"/>
                </a:solidFill>
                <a:latin typeface="Arial" panose="020B0604020202020204" pitchFamily="34" charset="0"/>
                <a:cs typeface="Arial" panose="020B0604020202020204" pitchFamily="34" charset="0"/>
              </a:rPr>
              <a:t>Cantidad</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en</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recursos</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humanos-recursos</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máquina</a:t>
            </a:r>
            <a:endParaRPr lang="en-US" sz="1000" dirty="0">
              <a:solidFill>
                <a:prstClr val="black"/>
              </a:solidFill>
              <a:latin typeface="Arial" panose="020B0604020202020204" pitchFamily="34" charset="0"/>
              <a:cs typeface="Arial" panose="020B0604020202020204" pitchFamily="34" charset="0"/>
            </a:endParaRPr>
          </a:p>
          <a:p>
            <a:pPr marL="171450" lvl="0" indent="-171450">
              <a:buFont typeface="Arial" panose="020B0604020202020204" pitchFamily="34" charset="0"/>
              <a:buChar char="•"/>
            </a:pPr>
            <a:r>
              <a:rPr lang="en-US" sz="1000" dirty="0">
                <a:solidFill>
                  <a:prstClr val="black"/>
                </a:solidFill>
                <a:latin typeface="Arial" panose="020B0604020202020204" pitchFamily="34" charset="0"/>
                <a:cs typeface="Arial" panose="020B0604020202020204" pitchFamily="34" charset="0"/>
              </a:rPr>
              <a:t>TOTAL AMOUNT INVOICED</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Cantidad</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mensual</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facturada</a:t>
            </a:r>
            <a:r>
              <a:rPr lang="en-US" sz="1000" dirty="0" smtClean="0">
                <a:solidFill>
                  <a:prstClr val="black"/>
                </a:solidFill>
                <a:latin typeface="Arial" panose="020B0604020202020204" pitchFamily="34" charset="0"/>
                <a:cs typeface="Arial" panose="020B0604020202020204" pitchFamily="34" charset="0"/>
              </a:rPr>
              <a:t> al </a:t>
            </a:r>
            <a:r>
              <a:rPr lang="en-US" sz="1000" dirty="0" err="1" smtClean="0">
                <a:solidFill>
                  <a:prstClr val="black"/>
                </a:solidFill>
                <a:latin typeface="Arial" panose="020B0604020202020204" pitchFamily="34" charset="0"/>
                <a:cs typeface="Arial" panose="020B0604020202020204" pitchFamily="34" charset="0"/>
              </a:rPr>
              <a:t>cliente</a:t>
            </a:r>
            <a:endParaRPr lang="en-US" sz="1000" dirty="0">
              <a:solidFill>
                <a:prstClr val="black"/>
              </a:solidFill>
              <a:latin typeface="Arial" panose="020B0604020202020204" pitchFamily="34" charset="0"/>
              <a:cs typeface="Arial" panose="020B0604020202020204" pitchFamily="34" charset="0"/>
            </a:endParaRPr>
          </a:p>
        </p:txBody>
      </p:sp>
      <p:sp>
        <p:nvSpPr>
          <p:cNvPr id="23" name="9 Rectángulo"/>
          <p:cNvSpPr/>
          <p:nvPr/>
        </p:nvSpPr>
        <p:spPr>
          <a:xfrm>
            <a:off x="55811" y="1480314"/>
            <a:ext cx="3508077" cy="516974"/>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Utilizamos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Cost Carrier report para realizer el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seguimiento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del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los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gastos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reales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del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proyecto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Link al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informe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25" name="Rectángulo 24"/>
          <p:cNvSpPr/>
          <p:nvPr/>
        </p:nvSpPr>
        <p:spPr>
          <a:xfrm>
            <a:off x="3447784" y="1580613"/>
            <a:ext cx="3223950" cy="400110"/>
          </a:xfrm>
          <a:prstGeom prst="rect">
            <a:avLst/>
          </a:prstGeom>
          <a:noFill/>
          <a:ln w="28575">
            <a:solidFill>
              <a:srgbClr val="FF0000"/>
            </a:solidFill>
          </a:ln>
        </p:spPr>
        <p:txBody>
          <a:bodyPr wrap="square">
            <a:spAutoFit/>
          </a:bodyPr>
          <a:lstStyle/>
          <a:p>
            <a:pPr lvl="0"/>
            <a:r>
              <a:rPr lang="en-US" sz="1000" dirty="0" err="1" smtClean="0">
                <a:solidFill>
                  <a:prstClr val="black"/>
                </a:solidFill>
                <a:latin typeface="Arial" panose="020B0604020202020204" pitchFamily="34" charset="0"/>
                <a:cs typeface="Arial" panose="020B0604020202020204" pitchFamily="34" charset="0"/>
              </a:rPr>
              <a:t>Cantidad</a:t>
            </a:r>
            <a:r>
              <a:rPr lang="en-US" sz="1000" dirty="0" smtClean="0">
                <a:solidFill>
                  <a:prstClr val="black"/>
                </a:solidFill>
                <a:latin typeface="Arial" panose="020B0604020202020204" pitchFamily="34" charset="0"/>
                <a:cs typeface="Arial" panose="020B0604020202020204" pitchFamily="34" charset="0"/>
              </a:rPr>
              <a:t> </a:t>
            </a:r>
            <a:r>
              <a:rPr lang="en-US" sz="1000" dirty="0" err="1" smtClean="0">
                <a:solidFill>
                  <a:prstClr val="black"/>
                </a:solidFill>
                <a:latin typeface="Arial" panose="020B0604020202020204" pitchFamily="34" charset="0"/>
                <a:cs typeface="Arial" panose="020B0604020202020204" pitchFamily="34" charset="0"/>
              </a:rPr>
              <a:t>validada</a:t>
            </a:r>
            <a:r>
              <a:rPr lang="en-US" sz="1000" dirty="0" smtClean="0">
                <a:solidFill>
                  <a:prstClr val="black"/>
                </a:solidFill>
                <a:latin typeface="Arial" panose="020B0604020202020204" pitchFamily="34" charset="0"/>
                <a:cs typeface="Arial" panose="020B0604020202020204" pitchFamily="34" charset="0"/>
              </a:rPr>
              <a:t> a </a:t>
            </a:r>
            <a:r>
              <a:rPr lang="en-US" sz="1000" dirty="0" err="1" smtClean="0">
                <a:solidFill>
                  <a:prstClr val="black"/>
                </a:solidFill>
                <a:latin typeface="Arial" panose="020B0604020202020204" pitchFamily="34" charset="0"/>
                <a:cs typeface="Arial" panose="020B0604020202020204" pitchFamily="34" charset="0"/>
              </a:rPr>
              <a:t>través</a:t>
            </a:r>
            <a:r>
              <a:rPr lang="en-US" sz="1000" dirty="0" smtClean="0">
                <a:solidFill>
                  <a:prstClr val="black"/>
                </a:solidFill>
                <a:latin typeface="Arial" panose="020B0604020202020204" pitchFamily="34" charset="0"/>
                <a:cs typeface="Arial" panose="020B0604020202020204" pitchFamily="34" charset="0"/>
              </a:rPr>
              <a:t> de la </a:t>
            </a:r>
            <a:r>
              <a:rPr lang="en-US" sz="1000" dirty="0" err="1" smtClean="0">
                <a:solidFill>
                  <a:prstClr val="black"/>
                </a:solidFill>
                <a:latin typeface="Arial" panose="020B0604020202020204" pitchFamily="34" charset="0"/>
                <a:cs typeface="Arial" panose="020B0604020202020204" pitchFamily="34" charset="0"/>
              </a:rPr>
              <a:t>aplicación</a:t>
            </a:r>
            <a:r>
              <a:rPr lang="en-US" sz="1000" dirty="0" smtClean="0">
                <a:solidFill>
                  <a:prstClr val="black"/>
                </a:solidFill>
                <a:latin typeface="Arial" panose="020B0604020202020204" pitchFamily="34" charset="0"/>
                <a:cs typeface="Arial" panose="020B0604020202020204" pitchFamily="34" charset="0"/>
              </a:rPr>
              <a:t> CC report para Budget approved y Paid by customer</a:t>
            </a:r>
            <a:endParaRPr lang="en-US" sz="1000" dirty="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8440154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31</a:t>
            </a:fld>
            <a:endParaRPr lang="es-E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10" y="3212976"/>
            <a:ext cx="9052917" cy="14858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38" y="5193574"/>
            <a:ext cx="9123462" cy="32365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9" name="8 CuadroTexto"/>
          <p:cNvSpPr txBox="1"/>
          <p:nvPr/>
        </p:nvSpPr>
        <p:spPr>
          <a:xfrm>
            <a:off x="267321" y="980728"/>
            <a:ext cx="7185000" cy="369332"/>
          </a:xfrm>
          <a:prstGeom prst="rect">
            <a:avLst/>
          </a:prstGeom>
          <a:noFill/>
        </p:spPr>
        <p:txBody>
          <a:bodyPr wrap="square" rtlCol="0">
            <a:spAutoFit/>
          </a:bodyPr>
          <a:lstStyle/>
          <a:p>
            <a:r>
              <a:rPr lang="es-ES" b="1" dirty="0" smtClean="0">
                <a:solidFill>
                  <a:srgbClr val="254061"/>
                </a:solidFill>
              </a:rPr>
              <a:t>MODIFICACION DE PASO RECHAZADO</a:t>
            </a:r>
            <a:endParaRPr lang="en-US" b="1" dirty="0">
              <a:solidFill>
                <a:srgbClr val="254061"/>
              </a:solidFill>
            </a:endParaRPr>
          </a:p>
        </p:txBody>
      </p:sp>
      <p:sp>
        <p:nvSpPr>
          <p:cNvPr id="10" name="9 Rectángulo"/>
          <p:cNvSpPr/>
          <p:nvPr/>
        </p:nvSpPr>
        <p:spPr>
          <a:xfrm>
            <a:off x="20537" y="1513622"/>
            <a:ext cx="9088189" cy="1152628"/>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En estado rechazado el paso puede modificarse. El icono de estado cambiará cuando se envíe a validar. Para actualizarlo habrá que tener en cuenta qué tipo de paso es y hacerlo desde la aplicación correspondiente</a:t>
            </a:r>
          </a:p>
          <a:p>
            <a:endPar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Paso de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tipo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A1: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Modificar</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su</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planificación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en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Bonos</a:t>
            </a:r>
            <a:endPar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Paso de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tipo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A2: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Modificar</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la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oferta</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técnica</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/Budget</a:t>
            </a: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Paso de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tipo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B: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Modificarlo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directamente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en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CC</a:t>
            </a:r>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11" name="10 Rectángulo redondeado"/>
          <p:cNvSpPr/>
          <p:nvPr/>
        </p:nvSpPr>
        <p:spPr>
          <a:xfrm>
            <a:off x="7596336" y="3686965"/>
            <a:ext cx="487039"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rPr>
              <a:t>15</a:t>
            </a:r>
            <a:endParaRPr lang="es-ES" sz="1400" dirty="0">
              <a:solidFill>
                <a:schemeClr val="tx1"/>
              </a:solidFill>
            </a:endParaRPr>
          </a:p>
        </p:txBody>
      </p:sp>
      <p:sp>
        <p:nvSpPr>
          <p:cNvPr id="12" name="11 Llamada rectangular"/>
          <p:cNvSpPr/>
          <p:nvPr/>
        </p:nvSpPr>
        <p:spPr>
          <a:xfrm>
            <a:off x="7219279" y="4423027"/>
            <a:ext cx="1728192" cy="496739"/>
          </a:xfrm>
          <a:prstGeom prst="wedgeRectCallout">
            <a:avLst>
              <a:gd name="adj1" fmla="val 8297"/>
              <a:gd name="adj2" fmla="val -13099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ES" sz="1000" dirty="0" smtClean="0">
              <a:solidFill>
                <a:schemeClr val="tx1"/>
              </a:solidFill>
              <a:latin typeface="Arial" panose="020B0604020202020204" pitchFamily="34" charset="0"/>
              <a:cs typeface="Arial" panose="020B0604020202020204" pitchFamily="34" charset="0"/>
            </a:endParaRPr>
          </a:p>
          <a:p>
            <a:endParaRPr lang="es-ES" sz="1000" dirty="0">
              <a:solidFill>
                <a:schemeClr val="tx1"/>
              </a:solidFill>
              <a:latin typeface="Arial" panose="020B0604020202020204" pitchFamily="34" charset="0"/>
              <a:cs typeface="Arial" panose="020B0604020202020204" pitchFamily="34" charset="0"/>
            </a:endParaRPr>
          </a:p>
          <a:p>
            <a:r>
              <a:rPr lang="es-ES" sz="1000" dirty="0" smtClean="0">
                <a:solidFill>
                  <a:schemeClr val="tx1"/>
                </a:solidFill>
                <a:latin typeface="Arial" panose="020B0604020202020204" pitchFamily="34" charset="0"/>
                <a:cs typeface="Arial" panose="020B0604020202020204" pitchFamily="34" charset="0"/>
              </a:rPr>
              <a:t>Modificar cantidad</a:t>
            </a:r>
          </a:p>
          <a:p>
            <a:endParaRPr lang="es-ES" sz="1000" dirty="0">
              <a:solidFill>
                <a:schemeClr val="tx1"/>
              </a:solidFill>
              <a:latin typeface="Arial" panose="020B0604020202020204" pitchFamily="34" charset="0"/>
              <a:cs typeface="Arial" panose="020B0604020202020204" pitchFamily="34" charset="0"/>
            </a:endParaRPr>
          </a:p>
          <a:p>
            <a:endParaRPr lang="es-ES" sz="1000" dirty="0" smtClean="0">
              <a:solidFill>
                <a:schemeClr val="tx1"/>
              </a:solidFill>
              <a:latin typeface="Arial" panose="020B0604020202020204" pitchFamily="34" charset="0"/>
              <a:cs typeface="Arial" panose="020B0604020202020204" pitchFamily="34" charset="0"/>
            </a:endParaRPr>
          </a:p>
        </p:txBody>
      </p:sp>
      <p:sp>
        <p:nvSpPr>
          <p:cNvPr id="13" name="5 Rectángulo"/>
          <p:cNvSpPr/>
          <p:nvPr/>
        </p:nvSpPr>
        <p:spPr>
          <a:xfrm>
            <a:off x="0" y="2793979"/>
            <a:ext cx="8856984" cy="50405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En el ejemplo el paso es de tipo B (azul). Modificamos Expenses/</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Incomes</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y pulsamos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Save</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Se actualizan las columnas Budget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Approved</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y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Paid</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by</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s-E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customer</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a:t>
            </a:r>
          </a:p>
        </p:txBody>
      </p:sp>
    </p:spTree>
    <p:extLst>
      <p:ext uri="{BB962C8B-B14F-4D97-AF65-F5344CB8AC3E}">
        <p14:creationId xmlns:p14="http://schemas.microsoft.com/office/powerpoint/2010/main" val="206370439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32</a:t>
            </a:fld>
            <a:endParaRPr lang="es-ES" dirty="0"/>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941" y="3167269"/>
            <a:ext cx="9052917" cy="1485867"/>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7" name="6 Rectángulo"/>
          <p:cNvSpPr/>
          <p:nvPr/>
        </p:nvSpPr>
        <p:spPr>
          <a:xfrm>
            <a:off x="0" y="1556791"/>
            <a:ext cx="9144000" cy="985491"/>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En estado abierto el paso puede modificarse, y cuando se hace se dibuja en la celda un ojo que informa del valor que estaba aprobado anteriormente. Este icono desaparece si la modificación se acepta. Para </a:t>
            </a:r>
            <a:r>
              <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rPr>
              <a:t>actualizarlo habrá que tener en cuenta qué tipo de paso es y hacerlo desde la aplicación </a:t>
            </a:r>
            <a:r>
              <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correspondiente</a:t>
            </a: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Paso </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de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tipo</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A1: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Modificar</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su</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planificación</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en</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Bonos</a:t>
            </a:r>
            <a:endPar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Paso de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tipo</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A2: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Modificar</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la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oferta</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técnica</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/Budget</a:t>
            </a:r>
          </a:p>
          <a:p>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Paso de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tipo</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B: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Modificarlo</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directamente</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a:solidFill>
                  <a:schemeClr val="tx1"/>
                </a:solidFill>
                <a:latin typeface="Arial" panose="020B0604020202020204" pitchFamily="34" charset="0"/>
                <a:cs typeface="Arial" panose="020B0604020202020204" pitchFamily="34" charset="0"/>
                <a:sym typeface="Wingdings" panose="05000000000000000000" pitchFamily="2" charset="2"/>
              </a:rPr>
              <a:t>en</a:t>
            </a:r>
            <a:r>
              <a:rPr lang="en-US" sz="1000" dirty="0">
                <a:solidFill>
                  <a:schemeClr val="tx1"/>
                </a:solidFill>
                <a:latin typeface="Arial" panose="020B0604020202020204" pitchFamily="34" charset="0"/>
                <a:cs typeface="Arial" panose="020B0604020202020204" pitchFamily="34" charset="0"/>
                <a:sym typeface="Wingdings" panose="05000000000000000000" pitchFamily="2" charset="2"/>
              </a:rPr>
              <a:t> CC</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5940" y="5265415"/>
            <a:ext cx="9002563" cy="28803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9228" y="5873452"/>
            <a:ext cx="1819275" cy="72390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8" name="7 Flecha abajo"/>
          <p:cNvSpPr/>
          <p:nvPr/>
        </p:nvSpPr>
        <p:spPr>
          <a:xfrm>
            <a:off x="8388424" y="5617468"/>
            <a:ext cx="432048" cy="255984"/>
          </a:xfrm>
          <a:prstGeom prst="down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
        <p:nvSpPr>
          <p:cNvPr id="11" name="10 CuadroTexto"/>
          <p:cNvSpPr txBox="1"/>
          <p:nvPr/>
        </p:nvSpPr>
        <p:spPr>
          <a:xfrm>
            <a:off x="267321" y="980728"/>
            <a:ext cx="7257008" cy="369332"/>
          </a:xfrm>
          <a:prstGeom prst="rect">
            <a:avLst/>
          </a:prstGeom>
          <a:noFill/>
        </p:spPr>
        <p:txBody>
          <a:bodyPr wrap="square" rtlCol="0">
            <a:spAutoFit/>
          </a:bodyPr>
          <a:lstStyle/>
          <a:p>
            <a:r>
              <a:rPr lang="es-ES" b="1" dirty="0" smtClean="0">
                <a:solidFill>
                  <a:srgbClr val="254061"/>
                </a:solidFill>
              </a:rPr>
              <a:t>MODIFICACION DE PASO APROBADO</a:t>
            </a:r>
            <a:endParaRPr lang="en-US" b="1" dirty="0">
              <a:solidFill>
                <a:srgbClr val="254061"/>
              </a:solidFill>
            </a:endParaRPr>
          </a:p>
        </p:txBody>
      </p:sp>
      <p:sp>
        <p:nvSpPr>
          <p:cNvPr id="5" name="Rectángulo 4"/>
          <p:cNvSpPr/>
          <p:nvPr/>
        </p:nvSpPr>
        <p:spPr>
          <a:xfrm>
            <a:off x="0" y="2638375"/>
            <a:ext cx="8904089" cy="400110"/>
          </a:xfrm>
          <a:prstGeom prst="rect">
            <a:avLst/>
          </a:prstGeom>
        </p:spPr>
        <p:txBody>
          <a:bodyPr wrap="square">
            <a:spAutoFit/>
          </a:bodyPr>
          <a:lstStyle/>
          <a:p>
            <a:pPr lvl="0"/>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En el ejemplo el paso es de tipo </a:t>
            </a:r>
            <a:r>
              <a:rPr lang="es-ES" sz="1000" dirty="0" smtClean="0">
                <a:solidFill>
                  <a:prstClr val="black"/>
                </a:solidFill>
                <a:latin typeface="Arial" panose="020B0604020202020204" pitchFamily="34" charset="0"/>
                <a:cs typeface="Arial" panose="020B0604020202020204" pitchFamily="34" charset="0"/>
                <a:sym typeface="Wingdings" panose="05000000000000000000" pitchFamily="2" charset="2"/>
              </a:rPr>
              <a:t>B (azul). </a:t>
            </a:r>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Modificamos Expenses/</a:t>
            </a:r>
            <a:r>
              <a:rPr lang="es-ES" sz="1000" dirty="0" err="1">
                <a:solidFill>
                  <a:prstClr val="black"/>
                </a:solidFill>
                <a:latin typeface="Arial" panose="020B0604020202020204" pitchFamily="34" charset="0"/>
                <a:cs typeface="Arial" panose="020B0604020202020204" pitchFamily="34" charset="0"/>
                <a:sym typeface="Wingdings" panose="05000000000000000000" pitchFamily="2" charset="2"/>
              </a:rPr>
              <a:t>Incomes</a:t>
            </a:r>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 y pulsamos </a:t>
            </a:r>
            <a:r>
              <a:rPr lang="es-ES" sz="1000" dirty="0" err="1">
                <a:solidFill>
                  <a:prstClr val="black"/>
                </a:solidFill>
                <a:latin typeface="Arial" panose="020B0604020202020204" pitchFamily="34" charset="0"/>
                <a:cs typeface="Arial" panose="020B0604020202020204" pitchFamily="34" charset="0"/>
                <a:sym typeface="Wingdings" panose="05000000000000000000" pitchFamily="2" charset="2"/>
              </a:rPr>
              <a:t>Save</a:t>
            </a:r>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 Se actualizan las columnas Budget </a:t>
            </a:r>
            <a:r>
              <a:rPr lang="es-ES" sz="1000" dirty="0" err="1">
                <a:solidFill>
                  <a:prstClr val="black"/>
                </a:solidFill>
                <a:latin typeface="Arial" panose="020B0604020202020204" pitchFamily="34" charset="0"/>
                <a:cs typeface="Arial" panose="020B0604020202020204" pitchFamily="34" charset="0"/>
                <a:sym typeface="Wingdings" panose="05000000000000000000" pitchFamily="2" charset="2"/>
              </a:rPr>
              <a:t>Approved</a:t>
            </a:r>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 y </a:t>
            </a:r>
            <a:r>
              <a:rPr lang="es-ES" sz="1000" dirty="0" err="1">
                <a:solidFill>
                  <a:prstClr val="black"/>
                </a:solidFill>
                <a:latin typeface="Arial" panose="020B0604020202020204" pitchFamily="34" charset="0"/>
                <a:cs typeface="Arial" panose="020B0604020202020204" pitchFamily="34" charset="0"/>
                <a:sym typeface="Wingdings" panose="05000000000000000000" pitchFamily="2" charset="2"/>
              </a:rPr>
              <a:t>Paid</a:t>
            </a:r>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 </a:t>
            </a:r>
            <a:r>
              <a:rPr lang="es-ES" sz="1000" dirty="0" err="1">
                <a:solidFill>
                  <a:prstClr val="black"/>
                </a:solidFill>
                <a:latin typeface="Arial" panose="020B0604020202020204" pitchFamily="34" charset="0"/>
                <a:cs typeface="Arial" panose="020B0604020202020204" pitchFamily="34" charset="0"/>
                <a:sym typeface="Wingdings" panose="05000000000000000000" pitchFamily="2" charset="2"/>
              </a:rPr>
              <a:t>by</a:t>
            </a:r>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 </a:t>
            </a:r>
            <a:r>
              <a:rPr lang="es-ES" sz="1000" dirty="0" err="1">
                <a:solidFill>
                  <a:prstClr val="black"/>
                </a:solidFill>
                <a:latin typeface="Arial" panose="020B0604020202020204" pitchFamily="34" charset="0"/>
                <a:cs typeface="Arial" panose="020B0604020202020204" pitchFamily="34" charset="0"/>
                <a:sym typeface="Wingdings" panose="05000000000000000000" pitchFamily="2" charset="2"/>
              </a:rPr>
              <a:t>customer</a:t>
            </a:r>
            <a:r>
              <a:rPr lang="es-ES" sz="1000" dirty="0">
                <a:solidFill>
                  <a:prstClr val="black"/>
                </a:solidFill>
                <a:latin typeface="Arial" panose="020B0604020202020204" pitchFamily="34" charset="0"/>
                <a:cs typeface="Arial" panose="020B0604020202020204" pitchFamily="34" charset="0"/>
                <a:sym typeface="Wingdings" panose="05000000000000000000" pitchFamily="2" charset="2"/>
              </a:rPr>
              <a:t></a:t>
            </a:r>
          </a:p>
        </p:txBody>
      </p:sp>
    </p:spTree>
    <p:extLst>
      <p:ext uri="{BB962C8B-B14F-4D97-AF65-F5344CB8AC3E}">
        <p14:creationId xmlns:p14="http://schemas.microsoft.com/office/powerpoint/2010/main" val="27657277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número de diapositiva 1"/>
          <p:cNvSpPr>
            <a:spLocks noGrp="1"/>
          </p:cNvSpPr>
          <p:nvPr>
            <p:ph type="sldNum" sz="quarter" idx="12"/>
          </p:nvPr>
        </p:nvSpPr>
        <p:spPr/>
        <p:txBody>
          <a:bodyPr/>
          <a:lstStyle/>
          <a:p>
            <a:fld id="{6C159591-2568-4DE8-9BFD-2ABD54E1DEC4}" type="slidenum">
              <a:rPr lang="es-ES" smtClean="0"/>
              <a:pPr/>
              <a:t>33</a:t>
            </a:fld>
            <a:endParaRPr lang="es-ES" dirty="0"/>
          </a:p>
        </p:txBody>
      </p:sp>
      <p:sp>
        <p:nvSpPr>
          <p:cNvPr id="3" name="10 CuadroTexto"/>
          <p:cNvSpPr txBox="1"/>
          <p:nvPr/>
        </p:nvSpPr>
        <p:spPr>
          <a:xfrm>
            <a:off x="267321" y="980728"/>
            <a:ext cx="7257008" cy="369332"/>
          </a:xfrm>
          <a:prstGeom prst="rect">
            <a:avLst/>
          </a:prstGeom>
          <a:noFill/>
        </p:spPr>
        <p:txBody>
          <a:bodyPr wrap="square" rtlCol="0">
            <a:spAutoFit/>
          </a:bodyPr>
          <a:lstStyle/>
          <a:p>
            <a:pPr indent="-285750"/>
            <a:r>
              <a:rPr lang="en-US" b="1" dirty="0">
                <a:solidFill>
                  <a:srgbClr val="254061"/>
                </a:solidFill>
              </a:rPr>
              <a:t>SINCRONIZACIÓN INMEDIATA DE LA INFO DE PTKSIS/BONOS</a:t>
            </a:r>
          </a:p>
        </p:txBody>
      </p:sp>
      <p:pic>
        <p:nvPicPr>
          <p:cNvPr id="4" name="Imagen 3"/>
          <p:cNvPicPr>
            <a:picLocks noChangeAspect="1"/>
          </p:cNvPicPr>
          <p:nvPr/>
        </p:nvPicPr>
        <p:blipFill>
          <a:blip r:embed="rId2"/>
          <a:stretch>
            <a:fillRect/>
          </a:stretch>
        </p:blipFill>
        <p:spPr>
          <a:xfrm>
            <a:off x="355177" y="2230867"/>
            <a:ext cx="4431903" cy="2734047"/>
          </a:xfrm>
          <a:prstGeom prst="rect">
            <a:avLst/>
          </a:prstGeom>
          <a:ln>
            <a:noFill/>
          </a:ln>
          <a:effectLst>
            <a:outerShdw blurRad="190500" algn="tl" rotWithShape="0">
              <a:srgbClr val="000000">
                <a:alpha val="70000"/>
              </a:srgbClr>
            </a:outerShdw>
          </a:effectLst>
        </p:spPr>
      </p:pic>
      <p:pic>
        <p:nvPicPr>
          <p:cNvPr id="5" name="Imagen 4"/>
          <p:cNvPicPr>
            <a:picLocks noChangeAspect="1"/>
          </p:cNvPicPr>
          <p:nvPr/>
        </p:nvPicPr>
        <p:blipFill>
          <a:blip r:embed="rId3"/>
          <a:stretch>
            <a:fillRect/>
          </a:stretch>
        </p:blipFill>
        <p:spPr>
          <a:xfrm>
            <a:off x="5436096" y="2852936"/>
            <a:ext cx="3547686" cy="1747068"/>
          </a:xfrm>
          <a:prstGeom prst="rect">
            <a:avLst/>
          </a:prstGeom>
          <a:ln>
            <a:noFill/>
          </a:ln>
          <a:effectLst>
            <a:outerShdw blurRad="190500" algn="tl" rotWithShape="0">
              <a:srgbClr val="000000">
                <a:alpha val="70000"/>
              </a:srgbClr>
            </a:outerShdw>
          </a:effectLst>
        </p:spPr>
      </p:pic>
      <p:sp>
        <p:nvSpPr>
          <p:cNvPr id="6" name="9 Rectángulo"/>
          <p:cNvSpPr/>
          <p:nvPr/>
        </p:nvSpPr>
        <p:spPr>
          <a:xfrm>
            <a:off x="20537" y="1513622"/>
            <a:ext cx="9088189" cy="557792"/>
          </a:xfrm>
          <a:prstGeom prst="rect">
            <a:avLst/>
          </a:prstGeom>
          <a:solidFill>
            <a:schemeClr val="bg1"/>
          </a:solidFill>
          <a:ln w="6350"/>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En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Cost carriers, la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actualización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 la info de PTKSIS o de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otras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aplicaciones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(owner del Proyecto,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proyectos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afectados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se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realiza</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aautomáticamente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través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 un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proceso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nocturno</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Si no se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quiere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esperar</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al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día</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siguiente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se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puede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forzar</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la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sincronización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inmediata</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desde</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la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aplicación</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de </a:t>
            </a:r>
            <a:r>
              <a:rPr lang="en-US" sz="1000" dirty="0" err="1" smtClean="0">
                <a:solidFill>
                  <a:schemeClr val="tx1"/>
                </a:solidFill>
                <a:latin typeface="Arial" panose="020B0604020202020204" pitchFamily="34" charset="0"/>
                <a:cs typeface="Arial" panose="020B0604020202020204" pitchFamily="34" charset="0"/>
                <a:sym typeface="Wingdings" panose="05000000000000000000" pitchFamily="2" charset="2"/>
              </a:rPr>
              <a:t>bonos</a:t>
            </a:r>
            <a:r>
              <a:rPr lang="en-US" sz="1000" dirty="0" smtClean="0">
                <a:solidFill>
                  <a:schemeClr val="tx1"/>
                </a:solidFill>
                <a:latin typeface="Arial" panose="020B0604020202020204" pitchFamily="34" charset="0"/>
                <a:cs typeface="Arial" panose="020B0604020202020204" pitchFamily="34" charset="0"/>
                <a:sym typeface="Wingdings" panose="05000000000000000000" pitchFamily="2" charset="2"/>
              </a:rPr>
              <a:t>  </a:t>
            </a:r>
            <a:endParaRPr lang="es-ES" sz="1000" dirty="0">
              <a:solidFill>
                <a:schemeClr val="tx1"/>
              </a:solidFill>
              <a:latin typeface="Arial" panose="020B0604020202020204" pitchFamily="34" charset="0"/>
              <a:cs typeface="Arial" panose="020B0604020202020204" pitchFamily="34" charset="0"/>
              <a:sym typeface="Wingdings" panose="05000000000000000000" pitchFamily="2" charset="2"/>
            </a:endParaRPr>
          </a:p>
          <a:p>
            <a:endParaRPr lang="es-ES" sz="1000" dirty="0" smtClean="0">
              <a:solidFill>
                <a:schemeClr val="tx1"/>
              </a:solidFill>
              <a:latin typeface="Arial" panose="020B0604020202020204" pitchFamily="34" charset="0"/>
              <a:cs typeface="Arial" panose="020B0604020202020204" pitchFamily="34" charset="0"/>
              <a:sym typeface="Wingdings" panose="05000000000000000000" pitchFamily="2" charset="2"/>
            </a:endParaRPr>
          </a:p>
        </p:txBody>
      </p:sp>
      <p:sp>
        <p:nvSpPr>
          <p:cNvPr id="7" name="Flecha derecha 6"/>
          <p:cNvSpPr/>
          <p:nvPr/>
        </p:nvSpPr>
        <p:spPr>
          <a:xfrm>
            <a:off x="4572000" y="3501008"/>
            <a:ext cx="648072" cy="432048"/>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2782345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10 Rectángulo"/>
          <p:cNvSpPr/>
          <p:nvPr/>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2051" name="Picture 3"/>
          <p:cNvPicPr>
            <a:picLocks noChangeAspect="1" noChangeArrowheads="1"/>
          </p:cNvPicPr>
          <p:nvPr/>
        </p:nvPicPr>
        <p:blipFill>
          <a:blip r:embed="rId3" cstate="print"/>
          <a:srcRect b="15360"/>
          <a:stretch>
            <a:fillRect/>
          </a:stretch>
        </p:blipFill>
        <p:spPr bwMode="auto">
          <a:xfrm>
            <a:off x="3260866" y="1268760"/>
            <a:ext cx="5883134" cy="3888432"/>
          </a:xfrm>
          <a:prstGeom prst="rect">
            <a:avLst/>
          </a:prstGeom>
          <a:noFill/>
          <a:ln w="9525">
            <a:noFill/>
            <a:miter lim="800000"/>
            <a:headEnd/>
            <a:tailEnd/>
          </a:ln>
          <a:effectLst/>
        </p:spPr>
      </p:pic>
      <p:sp>
        <p:nvSpPr>
          <p:cNvPr id="9" name="8 Rectángulo"/>
          <p:cNvSpPr/>
          <p:nvPr/>
        </p:nvSpPr>
        <p:spPr>
          <a:xfrm>
            <a:off x="0" y="0"/>
            <a:ext cx="3275856" cy="6886136"/>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s-ES" dirty="0"/>
          </a:p>
        </p:txBody>
      </p:sp>
      <p:pic>
        <p:nvPicPr>
          <p:cNvPr id="6" name="Picture 6"/>
          <p:cNvPicPr>
            <a:picLocks noChangeAspect="1" noChangeArrowheads="1"/>
          </p:cNvPicPr>
          <p:nvPr/>
        </p:nvPicPr>
        <p:blipFill>
          <a:blip r:embed="rId4" cstate="print"/>
          <a:srcRect/>
          <a:stretch>
            <a:fillRect/>
          </a:stretch>
        </p:blipFill>
        <p:spPr bwMode="auto">
          <a:xfrm>
            <a:off x="323528" y="476672"/>
            <a:ext cx="2448272" cy="661600"/>
          </a:xfrm>
          <a:prstGeom prst="rect">
            <a:avLst/>
          </a:prstGeom>
          <a:noFill/>
          <a:ln w="9525">
            <a:noFill/>
            <a:miter lim="800000"/>
            <a:headEnd/>
            <a:tailEnd/>
          </a:ln>
          <a:effectLst/>
        </p:spPr>
      </p:pic>
      <p:sp>
        <p:nvSpPr>
          <p:cNvPr id="8" name="7 CuadroTexto"/>
          <p:cNvSpPr txBox="1"/>
          <p:nvPr/>
        </p:nvSpPr>
        <p:spPr>
          <a:xfrm>
            <a:off x="240398" y="1268760"/>
            <a:ext cx="2808312" cy="400110"/>
          </a:xfrm>
          <a:prstGeom prst="rect">
            <a:avLst/>
          </a:prstGeom>
          <a:noFill/>
        </p:spPr>
        <p:txBody>
          <a:bodyPr wrap="square" rtlCol="0">
            <a:spAutoFit/>
          </a:bodyPr>
          <a:lstStyle/>
          <a:p>
            <a:r>
              <a:rPr lang="es-ES" sz="2000" i="1" dirty="0" smtClean="0">
                <a:solidFill>
                  <a:schemeClr val="bg1"/>
                </a:solidFill>
              </a:rPr>
              <a:t>Meeting </a:t>
            </a:r>
            <a:r>
              <a:rPr lang="en-US" sz="2000" i="1" dirty="0" smtClean="0">
                <a:solidFill>
                  <a:schemeClr val="bg1"/>
                </a:solidFill>
              </a:rPr>
              <a:t>your</a:t>
            </a:r>
            <a:r>
              <a:rPr lang="es-ES" sz="2000" i="1" dirty="0" smtClean="0">
                <a:solidFill>
                  <a:schemeClr val="bg1"/>
                </a:solidFill>
              </a:rPr>
              <a:t> </a:t>
            </a:r>
            <a:r>
              <a:rPr lang="en-US" sz="2000" i="1" dirty="0" smtClean="0">
                <a:solidFill>
                  <a:schemeClr val="bg1"/>
                </a:solidFill>
              </a:rPr>
              <a:t>challenges</a:t>
            </a:r>
            <a:endParaRPr lang="en-US" sz="2000" i="1" dirty="0">
              <a:solidFill>
                <a:schemeClr val="bg1"/>
              </a:solidFill>
            </a:endParaRPr>
          </a:p>
        </p:txBody>
      </p:sp>
      <p:sp>
        <p:nvSpPr>
          <p:cNvPr id="12" name="11 CuadroTexto"/>
          <p:cNvSpPr txBox="1"/>
          <p:nvPr/>
        </p:nvSpPr>
        <p:spPr>
          <a:xfrm>
            <a:off x="3203848" y="17329"/>
            <a:ext cx="5674331" cy="1323439"/>
          </a:xfrm>
          <a:prstGeom prst="rect">
            <a:avLst/>
          </a:prstGeom>
          <a:noFill/>
        </p:spPr>
        <p:txBody>
          <a:bodyPr wrap="square">
            <a:spAutoFit/>
          </a:bodyPr>
          <a:lstStyle/>
          <a:p>
            <a:pPr algn="r" fontAlgn="auto">
              <a:spcBef>
                <a:spcPts val="0"/>
              </a:spcBef>
              <a:spcAft>
                <a:spcPts val="0"/>
              </a:spcAft>
              <a:defRPr/>
            </a:pPr>
            <a:r>
              <a:rPr lang="es-ES" sz="4000" b="1" dirty="0" smtClean="0">
                <a:solidFill>
                  <a:schemeClr val="tx2">
                    <a:lumMod val="75000"/>
                  </a:schemeClr>
                </a:solidFill>
              </a:rPr>
              <a:t>BATZ </a:t>
            </a:r>
          </a:p>
          <a:p>
            <a:pPr algn="r" fontAlgn="auto">
              <a:spcBef>
                <a:spcPts val="0"/>
              </a:spcBef>
              <a:spcAft>
                <a:spcPts val="0"/>
              </a:spcAft>
              <a:defRPr/>
            </a:pPr>
            <a:r>
              <a:rPr lang="es-ES" sz="4000" b="1" dirty="0" smtClean="0">
                <a:solidFill>
                  <a:schemeClr val="tx2">
                    <a:lumMod val="75000"/>
                  </a:schemeClr>
                </a:solidFill>
              </a:rPr>
              <a:t>AUTOMOTIVE SYSTEMS</a:t>
            </a:r>
            <a:endParaRPr lang="es-ES" sz="4000" b="1" dirty="0" smtClean="0">
              <a:solidFill>
                <a:schemeClr val="tx2">
                  <a:lumMod val="75000"/>
                </a:schemeClr>
              </a:solidFill>
              <a:latin typeface="+mn-lt"/>
              <a:cs typeface="+mn-cs"/>
            </a:endParaRPr>
          </a:p>
        </p:txBody>
      </p:sp>
      <p:sp>
        <p:nvSpPr>
          <p:cNvPr id="7" name="6 CuadroTexto"/>
          <p:cNvSpPr txBox="1"/>
          <p:nvPr/>
        </p:nvSpPr>
        <p:spPr>
          <a:xfrm>
            <a:off x="539552" y="6405632"/>
            <a:ext cx="2664296" cy="400110"/>
          </a:xfrm>
          <a:prstGeom prst="rect">
            <a:avLst/>
          </a:prstGeom>
          <a:noFill/>
        </p:spPr>
        <p:txBody>
          <a:bodyPr wrap="square" rtlCol="0">
            <a:spAutoFit/>
          </a:bodyPr>
          <a:lstStyle/>
          <a:p>
            <a:r>
              <a:rPr lang="es-ES" sz="2000" b="1" dirty="0" smtClean="0">
                <a:solidFill>
                  <a:schemeClr val="bg1"/>
                </a:solidFill>
              </a:rPr>
              <a:t>Febrero 2021</a:t>
            </a:r>
            <a:endParaRPr lang="es-ES" sz="2000" b="1" dirty="0">
              <a:solidFill>
                <a:schemeClr val="bg1"/>
              </a:solidFill>
            </a:endParaRPr>
          </a:p>
        </p:txBody>
      </p:sp>
      <p:sp>
        <p:nvSpPr>
          <p:cNvPr id="2" name="1 Marcador de número de diapositiva"/>
          <p:cNvSpPr>
            <a:spLocks noGrp="1"/>
          </p:cNvSpPr>
          <p:nvPr>
            <p:ph type="sldNum" sz="quarter" idx="12"/>
          </p:nvPr>
        </p:nvSpPr>
        <p:spPr/>
        <p:txBody>
          <a:bodyPr/>
          <a:lstStyle/>
          <a:p>
            <a:fld id="{132FADFE-3B8F-471C-ABF0-DBC7717ECBBC}" type="slidenum">
              <a:rPr lang="es-ES" smtClean="0"/>
              <a:pPr/>
              <a:t>34</a:t>
            </a:fld>
            <a:endParaRPr lang="es-ES" dirty="0"/>
          </a:p>
        </p:txBody>
      </p:sp>
      <p:sp>
        <p:nvSpPr>
          <p:cNvPr id="13" name="12 CuadroTexto"/>
          <p:cNvSpPr txBox="1"/>
          <p:nvPr/>
        </p:nvSpPr>
        <p:spPr>
          <a:xfrm>
            <a:off x="3362165" y="5808166"/>
            <a:ext cx="5674331" cy="892552"/>
          </a:xfrm>
          <a:prstGeom prst="rect">
            <a:avLst/>
          </a:prstGeom>
          <a:noFill/>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fontAlgn="auto">
              <a:spcBef>
                <a:spcPts val="0"/>
              </a:spcBef>
              <a:spcAft>
                <a:spcPts val="0"/>
              </a:spcAft>
              <a:defRPr/>
            </a:pPr>
            <a:r>
              <a:rPr lang="es-ES" sz="2600" b="1" i="1" cap="all" dirty="0" smtClean="0">
                <a:ln w="0"/>
                <a:solidFill>
                  <a:schemeClr val="tx2">
                    <a:lumMod val="75000"/>
                  </a:schemeClr>
                </a:solidFill>
                <a:effectLst>
                  <a:reflection blurRad="12700" stA="50000" endPos="50000" dist="5000" dir="5400000" sy="-100000" rotWithShape="0"/>
                </a:effectLst>
              </a:rPr>
              <a:t>SOLICITAR</a:t>
            </a:r>
          </a:p>
          <a:p>
            <a:pPr algn="ctr" fontAlgn="auto">
              <a:spcBef>
                <a:spcPts val="0"/>
              </a:spcBef>
              <a:spcAft>
                <a:spcPts val="0"/>
              </a:spcAft>
              <a:defRPr/>
            </a:pPr>
            <a:r>
              <a:rPr lang="es-ES" sz="2600" b="1" i="1" cap="all" dirty="0" smtClean="0">
                <a:ln w="0"/>
                <a:solidFill>
                  <a:schemeClr val="accent3">
                    <a:lumMod val="50000"/>
                  </a:schemeClr>
                </a:solidFill>
                <a:effectLst>
                  <a:reflection blurRad="12700" stA="50000" endPos="50000" dist="5000" dir="5400000" sy="-100000" rotWithShape="0"/>
                </a:effectLst>
              </a:rPr>
              <a:t>FACTURACIÓN</a:t>
            </a:r>
            <a:r>
              <a:rPr lang="es-ES" sz="2600" b="1" i="1" cap="all" dirty="0" smtClean="0">
                <a:ln w="0"/>
                <a:solidFill>
                  <a:schemeClr val="tx2">
                    <a:lumMod val="75000"/>
                  </a:schemeClr>
                </a:solidFill>
                <a:effectLst>
                  <a:reflection blurRad="12700" stA="50000" endPos="50000" dist="5000" dir="5400000" sy="-100000" rotWithShape="0"/>
                </a:effectLst>
              </a:rPr>
              <a:t> DE PORTADORES</a:t>
            </a:r>
            <a:endParaRPr lang="en-US" sz="2600" b="1" i="1" cap="all" dirty="0" smtClean="0">
              <a:ln w="0"/>
              <a:solidFill>
                <a:schemeClr val="tx2">
                  <a:lumMod val="75000"/>
                </a:schemeClr>
              </a:solidFill>
              <a:effectLst>
                <a:reflection blurRad="12700" stA="50000" endPos="50000" dist="5000" dir="5400000" sy="-100000" rotWithShape="0"/>
              </a:effectLst>
            </a:endParaRPr>
          </a:p>
        </p:txBody>
      </p:sp>
    </p:spTree>
    <p:extLst>
      <p:ext uri="{BB962C8B-B14F-4D97-AF65-F5344CB8AC3E}">
        <p14:creationId xmlns:p14="http://schemas.microsoft.com/office/powerpoint/2010/main" val="3683734978"/>
      </p:ext>
    </p:extLst>
  </p:cSld>
  <p:clrMapOvr>
    <a:masterClrMapping/>
  </p:clrMapOvr>
  <p:transition advClick="0"/>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3 Marcador de número de diapositiva"/>
          <p:cNvSpPr>
            <a:spLocks noGrp="1"/>
          </p:cNvSpPr>
          <p:nvPr>
            <p:ph type="sldNum" sz="quarter" idx="12"/>
          </p:nvPr>
        </p:nvSpPr>
        <p:spPr/>
        <p:txBody>
          <a:bodyPr/>
          <a:lstStyle/>
          <a:p>
            <a:fld id="{132FADFE-3B8F-471C-ABF0-DBC7717ECBBC}" type="slidenum">
              <a:rPr lang="es-ES" smtClean="0"/>
              <a:pPr/>
              <a:t>35</a:t>
            </a:fld>
            <a:endParaRPr lang="es-ES" dirty="0"/>
          </a:p>
        </p:txBody>
      </p:sp>
      <p:sp>
        <p:nvSpPr>
          <p:cNvPr id="5" name="4 CuadroTexto"/>
          <p:cNvSpPr txBox="1"/>
          <p:nvPr/>
        </p:nvSpPr>
        <p:spPr>
          <a:xfrm>
            <a:off x="251522" y="1043444"/>
            <a:ext cx="8084648" cy="369332"/>
          </a:xfrm>
          <a:prstGeom prst="rect">
            <a:avLst/>
          </a:prstGeom>
          <a:noFill/>
        </p:spPr>
        <p:txBody>
          <a:bodyPr wrap="square" rtlCol="0">
            <a:spAutoFit/>
          </a:bodyPr>
          <a:lstStyle>
            <a:defPPr>
              <a:defRPr lang="es-ES"/>
            </a:defPPr>
            <a:lvl1pPr>
              <a:defRPr b="1">
                <a:solidFill>
                  <a:srgbClr val="254061"/>
                </a:solidFill>
              </a:defRPr>
            </a:lvl1pPr>
          </a:lstStyle>
          <a:p>
            <a:r>
              <a:rPr lang="es-ES" dirty="0"/>
              <a:t>OBJETIVO, ALCANCE Y ACCESO</a:t>
            </a:r>
            <a:endParaRPr lang="en-US" dirty="0"/>
          </a:p>
        </p:txBody>
      </p:sp>
      <p:sp>
        <p:nvSpPr>
          <p:cNvPr id="7" name="6 Rectángulo"/>
          <p:cNvSpPr/>
          <p:nvPr/>
        </p:nvSpPr>
        <p:spPr>
          <a:xfrm>
            <a:off x="251521" y="1484784"/>
            <a:ext cx="8496944" cy="461665"/>
          </a:xfrm>
          <a:prstGeom prst="rect">
            <a:avLst/>
          </a:prstGeom>
        </p:spPr>
        <p:txBody>
          <a:bodyPr wrap="square">
            <a:spAutoFit/>
          </a:bodyPr>
          <a:lstStyle/>
          <a:p>
            <a:pPr marL="171450" indent="-171450" algn="just">
              <a:buFont typeface="Arial" panose="020B0604020202020204" pitchFamily="34" charset="0"/>
              <a:buChar char="•"/>
            </a:pPr>
            <a:r>
              <a:rPr lang="es-ES" sz="1200" b="1" dirty="0" smtClean="0">
                <a:latin typeface="Arial" panose="020B0604020202020204" pitchFamily="34" charset="0"/>
                <a:cs typeface="Arial" panose="020B0604020202020204" pitchFamily="34" charset="0"/>
              </a:rPr>
              <a:t>OBJETIVO: </a:t>
            </a:r>
            <a:r>
              <a:rPr lang="es-ES" sz="1200" dirty="0">
                <a:latin typeface="Arial" panose="020B0604020202020204" pitchFamily="34" charset="0"/>
                <a:cs typeface="Arial" panose="020B0604020202020204" pitchFamily="34" charset="0"/>
              </a:rPr>
              <a:t>Controlar el proceso de la facturación de </a:t>
            </a:r>
            <a:r>
              <a:rPr lang="es-ES" sz="1200" dirty="0" smtClean="0">
                <a:latin typeface="Arial" panose="020B0604020202020204" pitchFamily="34" charset="0"/>
                <a:cs typeface="Arial" panose="020B0604020202020204" pitchFamily="34" charset="0"/>
              </a:rPr>
              <a:t>los conceptos propiedad de cliente.</a:t>
            </a:r>
            <a:endParaRPr lang="es-ES" sz="1200" dirty="0">
              <a:latin typeface="Arial" panose="020B0604020202020204" pitchFamily="34" charset="0"/>
              <a:cs typeface="Arial" panose="020B0604020202020204" pitchFamily="34" charset="0"/>
            </a:endParaRPr>
          </a:p>
          <a:p>
            <a:pPr marL="171450" indent="-171450" algn="just">
              <a:buFont typeface="Arial" panose="020B0604020202020204" pitchFamily="34" charset="0"/>
              <a:buChar char="•"/>
            </a:pPr>
            <a:r>
              <a:rPr lang="es-ES" sz="1200" b="1" dirty="0" smtClean="0">
                <a:latin typeface="Arial" panose="020B0604020202020204" pitchFamily="34" charset="0"/>
                <a:cs typeface="Arial" panose="020B0604020202020204" pitchFamily="34" charset="0"/>
              </a:rPr>
              <a:t>ALCANCE: </a:t>
            </a:r>
            <a:r>
              <a:rPr lang="es-ES" sz="1200" dirty="0">
                <a:latin typeface="Arial" panose="020B0604020202020204" pitchFamily="34" charset="0"/>
                <a:cs typeface="Arial" panose="020B0604020202020204" pitchFamily="34" charset="0"/>
              </a:rPr>
              <a:t>T</a:t>
            </a:r>
            <a:r>
              <a:rPr lang="es-ES" sz="1200" dirty="0" smtClean="0">
                <a:latin typeface="Arial" panose="020B0604020202020204" pitchFamily="34" charset="0"/>
                <a:cs typeface="Arial" panose="020B0604020202020204" pitchFamily="34" charset="0"/>
              </a:rPr>
              <a:t>odos los conceptos propiedad de cliente (utillajes, líneas de montaje, gastos de desarrollo, </a:t>
            </a:r>
            <a:r>
              <a:rPr lang="es-ES" sz="1200" dirty="0" err="1" smtClean="0">
                <a:latin typeface="Arial" panose="020B0604020202020204" pitchFamily="34" charset="0"/>
                <a:cs typeface="Arial" panose="020B0604020202020204" pitchFamily="34" charset="0"/>
              </a:rPr>
              <a:t>etc</a:t>
            </a:r>
            <a:r>
              <a:rPr lang="es-ES" sz="1200" dirty="0" smtClean="0">
                <a:latin typeface="Arial" panose="020B0604020202020204" pitchFamily="34" charset="0"/>
                <a:cs typeface="Arial" panose="020B0604020202020204" pitchFamily="34" charset="0"/>
              </a:rPr>
              <a:t>)..</a:t>
            </a:r>
            <a:endParaRPr lang="es-ES" sz="1200" dirty="0">
              <a:latin typeface="Arial" panose="020B0604020202020204" pitchFamily="34" charset="0"/>
              <a:cs typeface="Arial" panose="020B0604020202020204" pitchFamily="34" charset="0"/>
            </a:endParaRPr>
          </a:p>
        </p:txBody>
      </p:sp>
      <p:sp>
        <p:nvSpPr>
          <p:cNvPr id="3" name="2 Abrir llave"/>
          <p:cNvSpPr/>
          <p:nvPr/>
        </p:nvSpPr>
        <p:spPr>
          <a:xfrm>
            <a:off x="1573550" y="1946449"/>
            <a:ext cx="668854" cy="4758009"/>
          </a:xfrm>
          <a:prstGeom prst="leftBrace">
            <a:avLst>
              <a:gd name="adj1" fmla="val 8333"/>
              <a:gd name="adj2" fmla="val 49819"/>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s-ES"/>
          </a:p>
        </p:txBody>
      </p:sp>
      <p:sp>
        <p:nvSpPr>
          <p:cNvPr id="26" name="25 Llamada rectangular"/>
          <p:cNvSpPr/>
          <p:nvPr/>
        </p:nvSpPr>
        <p:spPr>
          <a:xfrm>
            <a:off x="324072" y="4077072"/>
            <a:ext cx="1918332" cy="564121"/>
          </a:xfrm>
          <a:prstGeom prst="wedgeRectCallout">
            <a:avLst>
              <a:gd name="adj1" fmla="val -49861"/>
              <a:gd name="adj2" fmla="val 19889"/>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algn="just">
              <a:buFont typeface="Arial" panose="020B0604020202020204" pitchFamily="34" charset="0"/>
              <a:buChar char="•"/>
            </a:pPr>
            <a:r>
              <a:rPr lang="es-ES" sz="1200" b="1" dirty="0" smtClean="0">
                <a:solidFill>
                  <a:schemeClr val="tx1"/>
                </a:solidFill>
                <a:latin typeface="Arial" panose="020B0604020202020204" pitchFamily="34" charset="0"/>
                <a:cs typeface="Arial" panose="020B0604020202020204" pitchFamily="34" charset="0"/>
              </a:rPr>
              <a:t>ACCESO</a:t>
            </a:r>
            <a:endParaRPr lang="es-ES" sz="1200" b="1" i="1" dirty="0">
              <a:solidFill>
                <a:schemeClr val="tx1"/>
              </a:solidFill>
              <a:latin typeface="Arial" panose="020B0604020202020204" pitchFamily="34" charset="0"/>
              <a:cs typeface="Arial" panose="020B0604020202020204" pitchFamily="34" charset="0"/>
            </a:endParaRPr>
          </a:p>
        </p:txBody>
      </p:sp>
      <p:pic>
        <p:nvPicPr>
          <p:cNvPr id="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7864" y="2054914"/>
            <a:ext cx="4701251" cy="3091086"/>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28" name="27 Llamada rectangular"/>
          <p:cNvSpPr/>
          <p:nvPr/>
        </p:nvSpPr>
        <p:spPr>
          <a:xfrm>
            <a:off x="1979712" y="3429001"/>
            <a:ext cx="4608512" cy="504056"/>
          </a:xfrm>
          <a:prstGeom prst="wedgeRectCallout">
            <a:avLst>
              <a:gd name="adj1" fmla="val -16622"/>
              <a:gd name="adj2" fmla="val 123755"/>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Un icono en la columna de estado del paso mostrará las líneas de pedido del portador en estado </a:t>
            </a:r>
            <a:r>
              <a:rPr lang="es-ES" sz="1000" b="1" i="1" dirty="0" err="1" smtClean="0">
                <a:solidFill>
                  <a:schemeClr val="tx1"/>
                </a:solidFill>
                <a:latin typeface="Arial" panose="020B0604020202020204" pitchFamily="34" charset="0"/>
                <a:cs typeface="Arial" panose="020B0604020202020204" pitchFamily="34" charset="0"/>
              </a:rPr>
              <a:t>Sent</a:t>
            </a:r>
            <a:r>
              <a:rPr lang="es-ES" sz="1000" b="1" i="1" dirty="0" smtClean="0">
                <a:solidFill>
                  <a:schemeClr val="tx1"/>
                </a:solidFill>
                <a:latin typeface="Arial" panose="020B0604020202020204" pitchFamily="34" charset="0"/>
                <a:cs typeface="Arial" panose="020B0604020202020204" pitchFamily="34" charset="0"/>
              </a:rPr>
              <a:t> </a:t>
            </a:r>
            <a:r>
              <a:rPr lang="es-ES" sz="1000" b="1" i="1" dirty="0" err="1" smtClean="0">
                <a:solidFill>
                  <a:schemeClr val="tx1"/>
                </a:solidFill>
                <a:latin typeface="Arial" panose="020B0604020202020204" pitchFamily="34" charset="0"/>
                <a:cs typeface="Arial" panose="020B0604020202020204" pitchFamily="34" charset="0"/>
              </a:rPr>
              <a:t>to</a:t>
            </a:r>
            <a:r>
              <a:rPr lang="es-ES" sz="1000" b="1" i="1" dirty="0" smtClean="0">
                <a:solidFill>
                  <a:schemeClr val="tx1"/>
                </a:solidFill>
                <a:latin typeface="Arial" panose="020B0604020202020204" pitchFamily="34" charset="0"/>
                <a:cs typeface="Arial" panose="020B0604020202020204" pitchFamily="34" charset="0"/>
              </a:rPr>
              <a:t> </a:t>
            </a:r>
            <a:r>
              <a:rPr lang="es-ES" sz="1000" b="1" i="1" dirty="0" err="1" smtClean="0">
                <a:solidFill>
                  <a:schemeClr val="tx1"/>
                </a:solidFill>
                <a:latin typeface="Arial" panose="020B0604020202020204" pitchFamily="34" charset="0"/>
                <a:cs typeface="Arial" panose="020B0604020202020204" pitchFamily="34" charset="0"/>
              </a:rPr>
              <a:t>invoice</a:t>
            </a:r>
            <a:r>
              <a:rPr lang="es-ES" sz="1000" b="1" i="1" dirty="0" smtClean="0">
                <a:solidFill>
                  <a:schemeClr val="tx1"/>
                </a:solidFill>
                <a:latin typeface="Arial" panose="020B0604020202020204" pitchFamily="34" charset="0"/>
                <a:cs typeface="Arial" panose="020B0604020202020204" pitchFamily="34" charset="0"/>
              </a:rPr>
              <a:t> </a:t>
            </a:r>
            <a:r>
              <a:rPr lang="es-ES" sz="1000" dirty="0" smtClean="0">
                <a:solidFill>
                  <a:schemeClr val="tx1"/>
                </a:solidFill>
                <a:latin typeface="Arial" panose="020B0604020202020204" pitchFamily="34" charset="0"/>
                <a:cs typeface="Arial" panose="020B0604020202020204" pitchFamily="34" charset="0"/>
              </a:rPr>
              <a:t>(icono negro) e </a:t>
            </a:r>
            <a:r>
              <a:rPr lang="es-ES" sz="1000" b="1" i="1" dirty="0" err="1">
                <a:solidFill>
                  <a:schemeClr val="tx1"/>
                </a:solidFill>
                <a:latin typeface="Arial" panose="020B0604020202020204" pitchFamily="34" charset="0"/>
                <a:cs typeface="Arial" panose="020B0604020202020204" pitchFamily="34" charset="0"/>
              </a:rPr>
              <a:t>I</a:t>
            </a:r>
            <a:r>
              <a:rPr lang="es-ES" sz="1000" b="1" i="1" dirty="0" err="1" smtClean="0">
                <a:solidFill>
                  <a:schemeClr val="tx1"/>
                </a:solidFill>
                <a:latin typeface="Arial" panose="020B0604020202020204" pitchFamily="34" charset="0"/>
                <a:cs typeface="Arial" panose="020B0604020202020204" pitchFamily="34" charset="0"/>
              </a:rPr>
              <a:t>nvoiced</a:t>
            </a:r>
            <a:r>
              <a:rPr lang="es-ES" sz="1000" b="1" i="1" dirty="0" smtClean="0">
                <a:solidFill>
                  <a:schemeClr val="tx1"/>
                </a:solidFill>
                <a:latin typeface="Arial" panose="020B0604020202020204" pitchFamily="34" charset="0"/>
                <a:cs typeface="Arial" panose="020B0604020202020204" pitchFamily="34" charset="0"/>
              </a:rPr>
              <a:t> </a:t>
            </a:r>
            <a:r>
              <a:rPr lang="es-ES" sz="1000" dirty="0" smtClean="0">
                <a:solidFill>
                  <a:schemeClr val="tx1"/>
                </a:solidFill>
                <a:latin typeface="Arial" panose="020B0604020202020204" pitchFamily="34" charset="0"/>
                <a:cs typeface="Arial" panose="020B0604020202020204" pitchFamily="34" charset="0"/>
              </a:rPr>
              <a:t>(icono verde).</a:t>
            </a:r>
            <a:endParaRPr lang="es-ES" sz="1000" dirty="0">
              <a:solidFill>
                <a:schemeClr val="tx1"/>
              </a:solidFill>
              <a:latin typeface="Arial" panose="020B0604020202020204" pitchFamily="34" charset="0"/>
              <a:cs typeface="Arial" panose="020B0604020202020204" pitchFamily="34" charset="0"/>
            </a:endParaRPr>
          </a:p>
        </p:txBody>
      </p:sp>
      <p:sp>
        <p:nvSpPr>
          <p:cNvPr id="2" name="1 Rectángulo"/>
          <p:cNvSpPr/>
          <p:nvPr/>
        </p:nvSpPr>
        <p:spPr>
          <a:xfrm>
            <a:off x="3547025" y="4359132"/>
            <a:ext cx="160879" cy="149988"/>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4304" y="5883918"/>
            <a:ext cx="1203060" cy="72008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95982" y="5727192"/>
            <a:ext cx="4852483" cy="1135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8" name="17 Llamada rectangular"/>
          <p:cNvSpPr/>
          <p:nvPr/>
        </p:nvSpPr>
        <p:spPr>
          <a:xfrm>
            <a:off x="2043288" y="5249172"/>
            <a:ext cx="3168352" cy="468052"/>
          </a:xfrm>
          <a:prstGeom prst="wedgeRectCallout">
            <a:avLst>
              <a:gd name="adj1" fmla="val 101450"/>
              <a:gd name="adj2" fmla="val 117506"/>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err="1" smtClean="0">
                <a:solidFill>
                  <a:schemeClr val="tx1"/>
                </a:solidFill>
                <a:latin typeface="Arial" panose="020B0604020202020204" pitchFamily="34" charset="0"/>
                <a:cs typeface="Arial" panose="020B0604020202020204" pitchFamily="34" charset="0"/>
              </a:rPr>
              <a:t>Cost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Carriers</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Report</a:t>
            </a:r>
            <a:r>
              <a:rPr lang="es-ES" sz="1000" dirty="0" smtClean="0">
                <a:solidFill>
                  <a:schemeClr val="tx1"/>
                </a:solidFill>
                <a:latin typeface="Arial" panose="020B0604020202020204" pitchFamily="34" charset="0"/>
                <a:cs typeface="Arial" panose="020B0604020202020204" pitchFamily="34" charset="0"/>
              </a:rPr>
              <a:t>: Cantidad facturada y si esta ha sido pagada.</a:t>
            </a:r>
            <a:endParaRPr lang="es-ES" sz="1000" dirty="0">
              <a:solidFill>
                <a:schemeClr val="tx1"/>
              </a:solidFill>
              <a:latin typeface="Arial" panose="020B0604020202020204" pitchFamily="34" charset="0"/>
              <a:cs typeface="Arial" panose="020B0604020202020204" pitchFamily="34" charset="0"/>
            </a:endParaRPr>
          </a:p>
        </p:txBody>
      </p:sp>
      <p:sp>
        <p:nvSpPr>
          <p:cNvPr id="19" name="18 Flecha derecha"/>
          <p:cNvSpPr/>
          <p:nvPr/>
        </p:nvSpPr>
        <p:spPr>
          <a:xfrm>
            <a:off x="3303428" y="6139269"/>
            <a:ext cx="648072" cy="209378"/>
          </a:xfrm>
          <a:prstGeom prst="rightArrow">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sz="1400" dirty="0" smtClean="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1782464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36</a:t>
            </a:fld>
            <a:endParaRPr lang="es-E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270" y="2027484"/>
            <a:ext cx="6826682" cy="202197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7864" y="5039246"/>
            <a:ext cx="1628775" cy="619125"/>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CuadroTexto"/>
          <p:cNvSpPr txBox="1"/>
          <p:nvPr/>
        </p:nvSpPr>
        <p:spPr>
          <a:xfrm>
            <a:off x="267321" y="980728"/>
            <a:ext cx="8121104" cy="369332"/>
          </a:xfrm>
          <a:prstGeom prst="rect">
            <a:avLst/>
          </a:prstGeom>
          <a:noFill/>
        </p:spPr>
        <p:txBody>
          <a:bodyPr wrap="square" rtlCol="0">
            <a:spAutoFit/>
          </a:bodyPr>
          <a:lstStyle/>
          <a:p>
            <a:r>
              <a:rPr lang="es-ES" b="1" dirty="0" smtClean="0">
                <a:solidFill>
                  <a:srgbClr val="254061"/>
                </a:solidFill>
              </a:rPr>
              <a:t>SENDING TO INVOICE - I</a:t>
            </a:r>
            <a:endParaRPr lang="en-US" b="1" dirty="0">
              <a:solidFill>
                <a:srgbClr val="254061"/>
              </a:solidFill>
            </a:endParaRPr>
          </a:p>
        </p:txBody>
      </p:sp>
      <p:sp>
        <p:nvSpPr>
          <p:cNvPr id="8" name="7 Rectángulo redondeado"/>
          <p:cNvSpPr/>
          <p:nvPr/>
        </p:nvSpPr>
        <p:spPr>
          <a:xfrm>
            <a:off x="386532" y="2145816"/>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1</a:t>
            </a:r>
            <a:endParaRPr lang="es-ES" sz="1400" dirty="0">
              <a:solidFill>
                <a:schemeClr val="tx1"/>
              </a:solidFill>
              <a:latin typeface="Arial" panose="020B0604020202020204" pitchFamily="34" charset="0"/>
              <a:cs typeface="Arial" panose="020B0604020202020204" pitchFamily="34" charset="0"/>
            </a:endParaRPr>
          </a:p>
        </p:txBody>
      </p:sp>
      <p:sp>
        <p:nvSpPr>
          <p:cNvPr id="9" name="8 Rectángulo"/>
          <p:cNvSpPr/>
          <p:nvPr/>
        </p:nvSpPr>
        <p:spPr>
          <a:xfrm>
            <a:off x="743050" y="2704460"/>
            <a:ext cx="216024" cy="1052142"/>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redondeado"/>
          <p:cNvSpPr/>
          <p:nvPr/>
        </p:nvSpPr>
        <p:spPr>
          <a:xfrm>
            <a:off x="693888" y="5832834"/>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2</a:t>
            </a:r>
            <a:endParaRPr lang="es-ES" sz="1400" dirty="0">
              <a:solidFill>
                <a:schemeClr val="tx1"/>
              </a:solidFill>
              <a:latin typeface="Arial" panose="020B0604020202020204" pitchFamily="34" charset="0"/>
              <a:cs typeface="Arial" panose="020B0604020202020204" pitchFamily="34" charset="0"/>
            </a:endParaRPr>
          </a:p>
        </p:txBody>
      </p:sp>
      <p:sp>
        <p:nvSpPr>
          <p:cNvPr id="12" name="11 Rectángulo"/>
          <p:cNvSpPr/>
          <p:nvPr/>
        </p:nvSpPr>
        <p:spPr>
          <a:xfrm>
            <a:off x="621881" y="5099658"/>
            <a:ext cx="1387572" cy="558924"/>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13 Llamada rectangular"/>
          <p:cNvSpPr/>
          <p:nvPr/>
        </p:nvSpPr>
        <p:spPr>
          <a:xfrm>
            <a:off x="132476" y="1484785"/>
            <a:ext cx="5184576" cy="432048"/>
          </a:xfrm>
          <a:prstGeom prst="wedgeRectCallout">
            <a:avLst>
              <a:gd name="adj1" fmla="val -37072"/>
              <a:gd name="adj2" fmla="val 21999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En la página “</a:t>
            </a:r>
            <a:r>
              <a:rPr lang="es-ES" sz="1000" dirty="0" err="1" smtClean="0">
                <a:solidFill>
                  <a:schemeClr val="tx1"/>
                </a:solidFill>
                <a:latin typeface="Arial" panose="020B0604020202020204" pitchFamily="34" charset="0"/>
                <a:cs typeface="Arial" panose="020B0604020202020204" pitchFamily="34" charset="0"/>
              </a:rPr>
              <a:t>Edit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Cost</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Carriers</a:t>
            </a:r>
            <a:r>
              <a:rPr lang="es-ES" sz="1000" dirty="0" smtClean="0">
                <a:solidFill>
                  <a:schemeClr val="tx1"/>
                </a:solidFill>
                <a:latin typeface="Arial" panose="020B0604020202020204" pitchFamily="34" charset="0"/>
                <a:cs typeface="Arial" panose="020B0604020202020204" pitchFamily="34" charset="0"/>
              </a:rPr>
              <a:t>” seleccionar los portadores que pueden facturarse que pertenezcan a un mismo pedido</a:t>
            </a:r>
            <a:endParaRPr lang="es-ES" sz="1000" dirty="0">
              <a:solidFill>
                <a:schemeClr val="tx1"/>
              </a:solidFill>
              <a:latin typeface="Arial" panose="020B0604020202020204" pitchFamily="34" charset="0"/>
              <a:cs typeface="Arial" panose="020B0604020202020204" pitchFamily="34" charset="0"/>
            </a:endParaRPr>
          </a:p>
        </p:txBody>
      </p:sp>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4137" y="4295928"/>
            <a:ext cx="2763304" cy="2373432"/>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7" name="16 Rectángulo"/>
          <p:cNvSpPr/>
          <p:nvPr/>
        </p:nvSpPr>
        <p:spPr>
          <a:xfrm>
            <a:off x="5474755" y="6357678"/>
            <a:ext cx="1028637" cy="283116"/>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18 Llamada rectangular"/>
          <p:cNvSpPr/>
          <p:nvPr/>
        </p:nvSpPr>
        <p:spPr>
          <a:xfrm>
            <a:off x="6549070" y="5865788"/>
            <a:ext cx="2487426" cy="375102"/>
          </a:xfrm>
          <a:prstGeom prst="wedgeRectCallout">
            <a:avLst>
              <a:gd name="adj1" fmla="val -56556"/>
              <a:gd name="adj2" fmla="val 50250"/>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Si el pedido no existe, hay que crearlo</a:t>
            </a:r>
            <a:endParaRPr lang="es-ES" sz="1000" dirty="0">
              <a:solidFill>
                <a:schemeClr val="tx1"/>
              </a:solidFill>
              <a:latin typeface="Arial" panose="020B0604020202020204" pitchFamily="34" charset="0"/>
              <a:cs typeface="Arial" panose="020B0604020202020204" pitchFamily="34" charset="0"/>
            </a:endParaRPr>
          </a:p>
        </p:txBody>
      </p:sp>
      <p:sp>
        <p:nvSpPr>
          <p:cNvPr id="20" name="19 Rectángulo redondeado"/>
          <p:cNvSpPr/>
          <p:nvPr/>
        </p:nvSpPr>
        <p:spPr>
          <a:xfrm>
            <a:off x="6702004" y="6321384"/>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3</a:t>
            </a:r>
            <a:endParaRPr lang="es-ES" sz="1400" dirty="0">
              <a:solidFill>
                <a:schemeClr val="tx1"/>
              </a:solidFill>
              <a:latin typeface="Arial" panose="020B0604020202020204" pitchFamily="34" charset="0"/>
              <a:cs typeface="Arial" panose="020B0604020202020204" pitchFamily="34" charset="0"/>
            </a:endParaRPr>
          </a:p>
        </p:txBody>
      </p:sp>
      <p:sp>
        <p:nvSpPr>
          <p:cNvPr id="25" name="24 Llamada rectangular"/>
          <p:cNvSpPr/>
          <p:nvPr/>
        </p:nvSpPr>
        <p:spPr>
          <a:xfrm>
            <a:off x="323528" y="6294258"/>
            <a:ext cx="1702054" cy="375102"/>
          </a:xfrm>
          <a:prstGeom prst="wedgeRectCallout">
            <a:avLst>
              <a:gd name="adj1" fmla="val 7342"/>
              <a:gd name="adj2" fmla="val -219934"/>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Pulsar sobre “</a:t>
            </a:r>
            <a:r>
              <a:rPr lang="es-ES" sz="1000" dirty="0" err="1" smtClean="0">
                <a:solidFill>
                  <a:schemeClr val="tx1"/>
                </a:solidFill>
                <a:latin typeface="Arial" panose="020B0604020202020204" pitchFamily="34" charset="0"/>
                <a:cs typeface="Arial" panose="020B0604020202020204" pitchFamily="34" charset="0"/>
              </a:rPr>
              <a:t>Send</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to</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invoice</a:t>
            </a:r>
            <a:r>
              <a:rPr lang="es-ES" sz="1000" dirty="0" smtClean="0">
                <a:solidFill>
                  <a:schemeClr val="tx1"/>
                </a:solidFill>
                <a:latin typeface="Arial" panose="020B0604020202020204" pitchFamily="34" charset="0"/>
                <a:cs typeface="Arial" panose="020B0604020202020204" pitchFamily="34" charset="0"/>
              </a:rPr>
              <a:t>”</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34859017"/>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22 CuadroTexto"/>
          <p:cNvSpPr txBox="1"/>
          <p:nvPr/>
        </p:nvSpPr>
        <p:spPr>
          <a:xfrm>
            <a:off x="267321" y="980728"/>
            <a:ext cx="8121104" cy="369332"/>
          </a:xfrm>
          <a:prstGeom prst="rect">
            <a:avLst/>
          </a:prstGeom>
          <a:noFill/>
        </p:spPr>
        <p:txBody>
          <a:bodyPr wrap="square" rtlCol="0">
            <a:spAutoFit/>
          </a:bodyPr>
          <a:lstStyle/>
          <a:p>
            <a:r>
              <a:rPr lang="es-ES" b="1" dirty="0" smtClean="0">
                <a:solidFill>
                  <a:srgbClr val="254061"/>
                </a:solidFill>
              </a:rPr>
              <a:t>SENDING TO INVOICE</a:t>
            </a:r>
            <a:r>
              <a:rPr lang="es-ES" b="1" dirty="0">
                <a:solidFill>
                  <a:srgbClr val="254061"/>
                </a:solidFill>
              </a:rPr>
              <a:t> </a:t>
            </a:r>
            <a:r>
              <a:rPr lang="es-ES" b="1" dirty="0" smtClean="0">
                <a:solidFill>
                  <a:srgbClr val="254061"/>
                </a:solidFill>
              </a:rPr>
              <a:t>- II</a:t>
            </a:r>
            <a:endParaRPr lang="en-US" b="1" dirty="0">
              <a:solidFill>
                <a:srgbClr val="254061"/>
              </a:solidFill>
            </a:endParaRPr>
          </a:p>
        </p:txBody>
      </p:sp>
      <p:pic>
        <p:nvPicPr>
          <p:cNvPr id="2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83968" y="2470834"/>
            <a:ext cx="4542767" cy="365149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0" name="29 Rectángulo"/>
          <p:cNvSpPr/>
          <p:nvPr/>
        </p:nvSpPr>
        <p:spPr>
          <a:xfrm>
            <a:off x="8244409" y="5373216"/>
            <a:ext cx="288032" cy="26680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1" name="30 Rectángulo redondeado"/>
          <p:cNvSpPr/>
          <p:nvPr/>
        </p:nvSpPr>
        <p:spPr>
          <a:xfrm>
            <a:off x="7918831" y="5099683"/>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5</a:t>
            </a:r>
            <a:endParaRPr lang="es-ES" sz="1400" dirty="0">
              <a:solidFill>
                <a:schemeClr val="tx1"/>
              </a:solidFill>
              <a:latin typeface="Arial" panose="020B0604020202020204" pitchFamily="34" charset="0"/>
              <a:cs typeface="Arial" panose="020B0604020202020204" pitchFamily="34" charset="0"/>
            </a:endParaRPr>
          </a:p>
        </p:txBody>
      </p:sp>
      <p:sp>
        <p:nvSpPr>
          <p:cNvPr id="32" name="31 Llamada rectangular"/>
          <p:cNvSpPr/>
          <p:nvPr/>
        </p:nvSpPr>
        <p:spPr>
          <a:xfrm>
            <a:off x="7164287" y="2768940"/>
            <a:ext cx="1368153" cy="612068"/>
          </a:xfrm>
          <a:prstGeom prst="wedgeRectCallout">
            <a:avLst>
              <a:gd name="adj1" fmla="val 38621"/>
              <a:gd name="adj2" fmla="val 354603"/>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Añadir los pasos seleccionados al pedido</a:t>
            </a:r>
            <a:endParaRPr lang="es-ES" sz="1000" dirty="0">
              <a:solidFill>
                <a:schemeClr val="tx1"/>
              </a:solidFill>
              <a:latin typeface="Arial" panose="020B0604020202020204" pitchFamily="34" charset="0"/>
              <a:cs typeface="Arial" panose="020B0604020202020204" pitchFamily="34" charset="0"/>
            </a:endParaRPr>
          </a:p>
        </p:txBody>
      </p:sp>
      <p:pic>
        <p:nvPicPr>
          <p:cNvPr id="3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073" y="1970967"/>
            <a:ext cx="3658644" cy="211472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34" name="33 Rectángulo redondeado"/>
          <p:cNvSpPr/>
          <p:nvPr/>
        </p:nvSpPr>
        <p:spPr>
          <a:xfrm>
            <a:off x="908896" y="3351454"/>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4</a:t>
            </a:r>
            <a:endParaRPr lang="es-ES" sz="1400" dirty="0">
              <a:solidFill>
                <a:schemeClr val="tx1"/>
              </a:solidFill>
              <a:latin typeface="Arial" panose="020B0604020202020204" pitchFamily="34" charset="0"/>
              <a:cs typeface="Arial" panose="020B0604020202020204" pitchFamily="34" charset="0"/>
            </a:endParaRPr>
          </a:p>
        </p:txBody>
      </p:sp>
      <p:sp>
        <p:nvSpPr>
          <p:cNvPr id="35" name="34 Llamada rectangular"/>
          <p:cNvSpPr/>
          <p:nvPr/>
        </p:nvSpPr>
        <p:spPr>
          <a:xfrm>
            <a:off x="190330" y="4149080"/>
            <a:ext cx="3387018" cy="679458"/>
          </a:xfrm>
          <a:prstGeom prst="wedgeRectCallout">
            <a:avLst>
              <a:gd name="adj1" fmla="val -18848"/>
              <a:gd name="adj2" fmla="val -10189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Rellenar el número del pedido (sólo el número), la cantidad TOTAL del mismo </a:t>
            </a:r>
            <a:r>
              <a:rPr lang="es-ES" sz="1000" dirty="0">
                <a:solidFill>
                  <a:schemeClr val="tx1"/>
                </a:solidFill>
                <a:latin typeface="Arial" panose="020B0604020202020204" pitchFamily="34" charset="0"/>
                <a:cs typeface="Arial" panose="020B0604020202020204" pitchFamily="34" charset="0"/>
              </a:rPr>
              <a:t>(se permiten </a:t>
            </a:r>
            <a:r>
              <a:rPr lang="es-ES" sz="1000" dirty="0" smtClean="0">
                <a:solidFill>
                  <a:schemeClr val="tx1"/>
                </a:solidFill>
                <a:latin typeface="Arial" panose="020B0604020202020204" pitchFamily="34" charset="0"/>
                <a:cs typeface="Arial" panose="020B0604020202020204" pitchFamily="34" charset="0"/>
              </a:rPr>
              <a:t>DOS </a:t>
            </a:r>
            <a:r>
              <a:rPr lang="es-ES" sz="1000" dirty="0">
                <a:solidFill>
                  <a:schemeClr val="tx1"/>
                </a:solidFill>
                <a:latin typeface="Arial" panose="020B0604020202020204" pitchFamily="34" charset="0"/>
                <a:cs typeface="Arial" panose="020B0604020202020204" pitchFamily="34" charset="0"/>
              </a:rPr>
              <a:t>decimales) y </a:t>
            </a:r>
            <a:r>
              <a:rPr lang="es-ES" sz="1000" dirty="0" smtClean="0">
                <a:solidFill>
                  <a:schemeClr val="tx1"/>
                </a:solidFill>
                <a:latin typeface="Arial" panose="020B0604020202020204" pitchFamily="34" charset="0"/>
                <a:cs typeface="Arial" panose="020B0604020202020204" pitchFamily="34" charset="0"/>
              </a:rPr>
              <a:t>la MONEDA en la debe facturarse</a:t>
            </a:r>
            <a:endParaRPr lang="es-ES" sz="1000" dirty="0">
              <a:solidFill>
                <a:schemeClr val="tx1"/>
              </a:solidFill>
              <a:latin typeface="Arial" panose="020B0604020202020204" pitchFamily="34" charset="0"/>
              <a:cs typeface="Arial" panose="020B0604020202020204" pitchFamily="34" charset="0"/>
            </a:endParaRPr>
          </a:p>
        </p:txBody>
      </p:sp>
      <p:sp>
        <p:nvSpPr>
          <p:cNvPr id="36" name="35 Rectángulo"/>
          <p:cNvSpPr/>
          <p:nvPr/>
        </p:nvSpPr>
        <p:spPr>
          <a:xfrm>
            <a:off x="1389009" y="3223174"/>
            <a:ext cx="2466708" cy="468377"/>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extLst>
      <p:ext uri="{BB962C8B-B14F-4D97-AF65-F5344CB8AC3E}">
        <p14:creationId xmlns:p14="http://schemas.microsoft.com/office/powerpoint/2010/main" val="15956793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número de diapositiva"/>
          <p:cNvSpPr>
            <a:spLocks noGrp="1"/>
          </p:cNvSpPr>
          <p:nvPr>
            <p:ph type="sldNum" sz="quarter" idx="12"/>
          </p:nvPr>
        </p:nvSpPr>
        <p:spPr/>
        <p:txBody>
          <a:bodyPr/>
          <a:lstStyle/>
          <a:p>
            <a:fld id="{6C159591-2568-4DE8-9BFD-2ABD54E1DEC4}" type="slidenum">
              <a:rPr lang="es-ES" smtClean="0"/>
              <a:pPr/>
              <a:t>38</a:t>
            </a:fld>
            <a:endParaRPr lang="es-ES" dirty="0"/>
          </a:p>
        </p:txBody>
      </p:sp>
      <p:pic>
        <p:nvPicPr>
          <p:cNvPr id="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5115" y="2338480"/>
            <a:ext cx="6361295" cy="253068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5" name="4 Llamada rectangular"/>
          <p:cNvSpPr/>
          <p:nvPr/>
        </p:nvSpPr>
        <p:spPr>
          <a:xfrm>
            <a:off x="107504" y="1466851"/>
            <a:ext cx="3096344" cy="497635"/>
          </a:xfrm>
          <a:prstGeom prst="wedgeRectCallout">
            <a:avLst>
              <a:gd name="adj1" fmla="val 11044"/>
              <a:gd name="adj2" fmla="val 287534"/>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b="1" i="1" dirty="0" err="1" smtClean="0">
                <a:solidFill>
                  <a:schemeClr val="tx1"/>
                </a:solidFill>
                <a:latin typeface="Arial" panose="020B0604020202020204" pitchFamily="34" charset="0"/>
                <a:cs typeface="Arial" panose="020B0604020202020204" pitchFamily="34" charset="0"/>
              </a:rPr>
              <a:t>Items</a:t>
            </a:r>
            <a:r>
              <a:rPr lang="es-ES" sz="1000" b="1" i="1" dirty="0" smtClean="0">
                <a:solidFill>
                  <a:schemeClr val="tx1"/>
                </a:solidFill>
                <a:latin typeface="Arial" panose="020B0604020202020204" pitchFamily="34" charset="0"/>
                <a:cs typeface="Arial" panose="020B0604020202020204" pitchFamily="34" charset="0"/>
              </a:rPr>
              <a:t>: </a:t>
            </a:r>
            <a:r>
              <a:rPr lang="es-ES" sz="1000" dirty="0">
                <a:solidFill>
                  <a:schemeClr val="tx1"/>
                </a:solidFill>
                <a:latin typeface="Arial" panose="020B0604020202020204" pitchFamily="34" charset="0"/>
                <a:cs typeface="Arial" panose="020B0604020202020204" pitchFamily="34" charset="0"/>
              </a:rPr>
              <a:t>N</a:t>
            </a:r>
            <a:r>
              <a:rPr lang="es-ES" sz="1000" dirty="0" smtClean="0">
                <a:solidFill>
                  <a:schemeClr val="tx1"/>
                </a:solidFill>
                <a:latin typeface="Arial" panose="020B0604020202020204" pitchFamily="34" charset="0"/>
                <a:cs typeface="Arial" panose="020B0604020202020204" pitchFamily="34" charset="0"/>
              </a:rPr>
              <a:t>úmero de posición o posiciones del pedido de cliente con  el que corresponde el portador</a:t>
            </a:r>
            <a:endParaRPr lang="es-ES" sz="1000" dirty="0">
              <a:solidFill>
                <a:schemeClr val="tx1"/>
              </a:solidFill>
              <a:latin typeface="Arial" panose="020B0604020202020204" pitchFamily="34" charset="0"/>
              <a:cs typeface="Arial" panose="020B0604020202020204" pitchFamily="34" charset="0"/>
            </a:endParaRPr>
          </a:p>
        </p:txBody>
      </p:sp>
      <p:sp>
        <p:nvSpPr>
          <p:cNvPr id="6" name="5 Rectángulo redondeado"/>
          <p:cNvSpPr/>
          <p:nvPr/>
        </p:nvSpPr>
        <p:spPr>
          <a:xfrm>
            <a:off x="2159732" y="3017915"/>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6</a:t>
            </a:r>
            <a:endParaRPr lang="es-ES" sz="1400" dirty="0">
              <a:solidFill>
                <a:schemeClr val="tx1"/>
              </a:solidFill>
              <a:latin typeface="Arial" panose="020B0604020202020204" pitchFamily="34" charset="0"/>
              <a:cs typeface="Arial" panose="020B0604020202020204" pitchFamily="34" charset="0"/>
            </a:endParaRPr>
          </a:p>
        </p:txBody>
      </p:sp>
      <p:sp>
        <p:nvSpPr>
          <p:cNvPr id="7" name="6 Rectángulo redondeado"/>
          <p:cNvSpPr/>
          <p:nvPr/>
        </p:nvSpPr>
        <p:spPr>
          <a:xfrm>
            <a:off x="3701732" y="3091699"/>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7</a:t>
            </a:r>
            <a:endParaRPr lang="es-ES" sz="1400" dirty="0">
              <a:solidFill>
                <a:schemeClr val="tx1"/>
              </a:solidFill>
              <a:latin typeface="Arial" panose="020B0604020202020204" pitchFamily="34" charset="0"/>
              <a:cs typeface="Arial" panose="020B0604020202020204" pitchFamily="34" charset="0"/>
            </a:endParaRPr>
          </a:p>
        </p:txBody>
      </p:sp>
      <p:sp>
        <p:nvSpPr>
          <p:cNvPr id="8" name="7 Llamada rectangular"/>
          <p:cNvSpPr/>
          <p:nvPr/>
        </p:nvSpPr>
        <p:spPr>
          <a:xfrm>
            <a:off x="2863724" y="1996174"/>
            <a:ext cx="2592288" cy="497635"/>
          </a:xfrm>
          <a:prstGeom prst="wedgeRectCallout">
            <a:avLst>
              <a:gd name="adj1" fmla="val -11644"/>
              <a:gd name="adj2" fmla="val 147544"/>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b="1" i="1" dirty="0" smtClean="0">
                <a:solidFill>
                  <a:schemeClr val="tx1"/>
                </a:solidFill>
                <a:latin typeface="Arial" panose="020B0604020202020204" pitchFamily="34" charset="0"/>
                <a:cs typeface="Arial" panose="020B0604020202020204" pitchFamily="34" charset="0"/>
              </a:rPr>
              <a:t>%:</a:t>
            </a:r>
            <a:r>
              <a:rPr lang="es-ES" sz="1000" dirty="0" smtClean="0">
                <a:solidFill>
                  <a:schemeClr val="tx1"/>
                </a:solidFill>
                <a:latin typeface="Arial" panose="020B0604020202020204" pitchFamily="34" charset="0"/>
                <a:cs typeface="Arial" panose="020B0604020202020204" pitchFamily="34" charset="0"/>
              </a:rPr>
              <a:t> Porcentaje que se factura. El valor por defecto es 100</a:t>
            </a:r>
            <a:endParaRPr lang="es-ES" sz="1000" dirty="0">
              <a:solidFill>
                <a:schemeClr val="tx1"/>
              </a:solidFill>
              <a:latin typeface="Arial" panose="020B0604020202020204" pitchFamily="34" charset="0"/>
              <a:cs typeface="Arial" panose="020B0604020202020204" pitchFamily="34" charset="0"/>
            </a:endParaRPr>
          </a:p>
        </p:txBody>
      </p:sp>
      <p:sp>
        <p:nvSpPr>
          <p:cNvPr id="9" name="8 Rectángulo redondeado"/>
          <p:cNvSpPr/>
          <p:nvPr/>
        </p:nvSpPr>
        <p:spPr>
          <a:xfrm>
            <a:off x="5313343" y="2851539"/>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8</a:t>
            </a:r>
            <a:endParaRPr lang="es-ES" sz="1400" dirty="0">
              <a:solidFill>
                <a:schemeClr val="tx1"/>
              </a:solidFill>
              <a:latin typeface="Arial" panose="020B0604020202020204" pitchFamily="34" charset="0"/>
              <a:cs typeface="Arial" panose="020B0604020202020204" pitchFamily="34" charset="0"/>
            </a:endParaRPr>
          </a:p>
        </p:txBody>
      </p:sp>
      <p:sp>
        <p:nvSpPr>
          <p:cNvPr id="10" name="9 Llamada rectangular"/>
          <p:cNvSpPr/>
          <p:nvPr/>
        </p:nvSpPr>
        <p:spPr>
          <a:xfrm>
            <a:off x="5493362" y="2089662"/>
            <a:ext cx="3327109" cy="497635"/>
          </a:xfrm>
          <a:prstGeom prst="wedgeRectCallout">
            <a:avLst>
              <a:gd name="adj1" fmla="val -43674"/>
              <a:gd name="adj2" fmla="val 90518"/>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b="1" i="1" dirty="0" err="1" smtClean="0">
                <a:solidFill>
                  <a:schemeClr val="tx1"/>
                </a:solidFill>
                <a:latin typeface="Arial" panose="020B0604020202020204" pitchFamily="34" charset="0"/>
                <a:cs typeface="Arial" panose="020B0604020202020204" pitchFamily="34" charset="0"/>
              </a:rPr>
              <a:t>Amount</a:t>
            </a:r>
            <a:r>
              <a:rPr lang="es-ES" sz="1000" b="1" i="1" dirty="0" smtClean="0">
                <a:solidFill>
                  <a:schemeClr val="tx1"/>
                </a:solidFill>
                <a:latin typeface="Arial" panose="020B0604020202020204" pitchFamily="34" charset="0"/>
                <a:cs typeface="Arial" panose="020B0604020202020204" pitchFamily="34" charset="0"/>
              </a:rPr>
              <a:t>:</a:t>
            </a:r>
            <a:r>
              <a:rPr lang="es-ES" sz="1000" dirty="0" smtClean="0">
                <a:solidFill>
                  <a:schemeClr val="tx1"/>
                </a:solidFill>
                <a:latin typeface="Arial" panose="020B0604020202020204" pitchFamily="34" charset="0"/>
                <a:cs typeface="Arial" panose="020B0604020202020204" pitchFamily="34" charset="0"/>
              </a:rPr>
              <a:t> Cantidad que debe facturarse. Si el valor es 0, ese portador no deberá aparecer en la factura. </a:t>
            </a:r>
            <a:r>
              <a:rPr lang="es-ES" sz="1000" b="1" i="1" dirty="0" smtClean="0">
                <a:solidFill>
                  <a:schemeClr val="tx1"/>
                </a:solidFill>
                <a:latin typeface="Arial" panose="020B0604020202020204" pitchFamily="34" charset="0"/>
                <a:cs typeface="Arial" panose="020B0604020202020204" pitchFamily="34" charset="0"/>
              </a:rPr>
              <a:t>Se permiten DOS decimales. </a:t>
            </a:r>
            <a:endParaRPr lang="es-ES" sz="1000" b="1" i="1" dirty="0">
              <a:solidFill>
                <a:schemeClr val="tx1"/>
              </a:solidFill>
              <a:latin typeface="Arial" panose="020B0604020202020204" pitchFamily="34" charset="0"/>
              <a:cs typeface="Arial" panose="020B0604020202020204" pitchFamily="34" charset="0"/>
            </a:endParaRPr>
          </a:p>
        </p:txBody>
      </p:sp>
      <p:sp>
        <p:nvSpPr>
          <p:cNvPr id="11" name="10 Rectángulo redondeado"/>
          <p:cNvSpPr/>
          <p:nvPr/>
        </p:nvSpPr>
        <p:spPr>
          <a:xfrm>
            <a:off x="2738661" y="4528549"/>
            <a:ext cx="360040"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9</a:t>
            </a:r>
            <a:endParaRPr lang="es-ES" sz="1400" dirty="0">
              <a:solidFill>
                <a:schemeClr val="tx1"/>
              </a:solidFill>
              <a:latin typeface="Arial" panose="020B0604020202020204" pitchFamily="34" charset="0"/>
              <a:cs typeface="Arial" panose="020B0604020202020204" pitchFamily="34" charset="0"/>
            </a:endParaRPr>
          </a:p>
        </p:txBody>
      </p:sp>
      <p:sp>
        <p:nvSpPr>
          <p:cNvPr id="12" name="11 Llamada rectangular"/>
          <p:cNvSpPr/>
          <p:nvPr/>
        </p:nvSpPr>
        <p:spPr>
          <a:xfrm>
            <a:off x="3779912" y="4410822"/>
            <a:ext cx="2592288" cy="508986"/>
          </a:xfrm>
          <a:prstGeom prst="wedgeRectCallout">
            <a:avLst>
              <a:gd name="adj1" fmla="val -80051"/>
              <a:gd name="adj2" fmla="val 557"/>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b="1" i="1" dirty="0" err="1" smtClean="0">
                <a:solidFill>
                  <a:schemeClr val="tx1"/>
                </a:solidFill>
                <a:latin typeface="Arial" panose="020B0604020202020204" pitchFamily="34" charset="0"/>
                <a:cs typeface="Arial" panose="020B0604020202020204" pitchFamily="34" charset="0"/>
              </a:rPr>
              <a:t>Additional</a:t>
            </a:r>
            <a:r>
              <a:rPr lang="es-ES" sz="1000" b="1" i="1" dirty="0" smtClean="0">
                <a:solidFill>
                  <a:schemeClr val="tx1"/>
                </a:solidFill>
                <a:latin typeface="Arial" panose="020B0604020202020204" pitchFamily="34" charset="0"/>
                <a:cs typeface="Arial" panose="020B0604020202020204" pitchFamily="34" charset="0"/>
              </a:rPr>
              <a:t> </a:t>
            </a:r>
            <a:r>
              <a:rPr lang="es-ES" sz="1000" b="1" i="1" dirty="0" err="1" smtClean="0">
                <a:solidFill>
                  <a:schemeClr val="tx1"/>
                </a:solidFill>
                <a:latin typeface="Arial" panose="020B0604020202020204" pitchFamily="34" charset="0"/>
                <a:cs typeface="Arial" panose="020B0604020202020204" pitchFamily="34" charset="0"/>
              </a:rPr>
              <a:t>Instructions</a:t>
            </a:r>
            <a:r>
              <a:rPr lang="es-ES" sz="1000" b="1" i="1" dirty="0" smtClean="0">
                <a:solidFill>
                  <a:schemeClr val="tx1"/>
                </a:solidFill>
                <a:latin typeface="Arial" panose="020B0604020202020204" pitchFamily="34" charset="0"/>
                <a:cs typeface="Arial" panose="020B0604020202020204" pitchFamily="34" charset="0"/>
              </a:rPr>
              <a:t>:</a:t>
            </a:r>
            <a:r>
              <a:rPr lang="es-ES" sz="1000" dirty="0" smtClean="0">
                <a:solidFill>
                  <a:schemeClr val="tx1"/>
                </a:solidFill>
                <a:latin typeface="Arial" panose="020B0604020202020204" pitchFamily="34" charset="0"/>
                <a:cs typeface="Arial" panose="020B0604020202020204" pitchFamily="34" charset="0"/>
              </a:rPr>
              <a:t> Instrucciones/aclaraciones para el facturador</a:t>
            </a:r>
            <a:endParaRPr lang="es-ES" sz="1000" dirty="0">
              <a:solidFill>
                <a:schemeClr val="tx1"/>
              </a:solidFill>
              <a:latin typeface="Arial" panose="020B0604020202020204" pitchFamily="34" charset="0"/>
              <a:cs typeface="Arial" panose="020B0604020202020204" pitchFamily="34" charset="0"/>
            </a:endParaRPr>
          </a:p>
        </p:txBody>
      </p:sp>
      <p:pic>
        <p:nvPicPr>
          <p:cNvPr id="11267"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55740" y="5085184"/>
            <a:ext cx="1407984" cy="1134209"/>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6" name="15 Rectángulo redondeado"/>
          <p:cNvSpPr/>
          <p:nvPr/>
        </p:nvSpPr>
        <p:spPr>
          <a:xfrm>
            <a:off x="2592177" y="5435723"/>
            <a:ext cx="467655" cy="273533"/>
          </a:xfrm>
          <a:prstGeom prst="roundRect">
            <a:avLst/>
          </a:prstGeom>
          <a:solidFill>
            <a:schemeClr val="accent3">
              <a:lumMod val="40000"/>
              <a:lumOff val="60000"/>
            </a:schemeClr>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dirty="0" smtClean="0">
                <a:solidFill>
                  <a:schemeClr val="tx1"/>
                </a:solidFill>
                <a:latin typeface="Arial" panose="020B0604020202020204" pitchFamily="34" charset="0"/>
                <a:cs typeface="Arial" panose="020B0604020202020204" pitchFamily="34" charset="0"/>
              </a:rPr>
              <a:t>10</a:t>
            </a:r>
            <a:endParaRPr lang="es-ES" sz="1400" dirty="0">
              <a:solidFill>
                <a:schemeClr val="tx1"/>
              </a:solidFill>
              <a:latin typeface="Arial" panose="020B0604020202020204" pitchFamily="34" charset="0"/>
              <a:cs typeface="Arial" panose="020B0604020202020204" pitchFamily="34" charset="0"/>
            </a:endParaRPr>
          </a:p>
        </p:txBody>
      </p:sp>
      <p:sp>
        <p:nvSpPr>
          <p:cNvPr id="17" name="16 CuadroTexto"/>
          <p:cNvSpPr txBox="1"/>
          <p:nvPr/>
        </p:nvSpPr>
        <p:spPr>
          <a:xfrm>
            <a:off x="267321" y="980728"/>
            <a:ext cx="8121104" cy="369332"/>
          </a:xfrm>
          <a:prstGeom prst="rect">
            <a:avLst/>
          </a:prstGeom>
          <a:noFill/>
        </p:spPr>
        <p:txBody>
          <a:bodyPr wrap="square" rtlCol="0">
            <a:spAutoFit/>
          </a:bodyPr>
          <a:lstStyle/>
          <a:p>
            <a:r>
              <a:rPr lang="es-ES" b="1" dirty="0" smtClean="0">
                <a:solidFill>
                  <a:srgbClr val="254061"/>
                </a:solidFill>
              </a:rPr>
              <a:t>SENDING TO INVOICE</a:t>
            </a:r>
            <a:r>
              <a:rPr lang="es-ES" b="1" dirty="0">
                <a:solidFill>
                  <a:srgbClr val="254061"/>
                </a:solidFill>
              </a:rPr>
              <a:t> </a:t>
            </a:r>
            <a:r>
              <a:rPr lang="es-ES" b="1" dirty="0" smtClean="0">
                <a:solidFill>
                  <a:srgbClr val="254061"/>
                </a:solidFill>
              </a:rPr>
              <a:t>- III</a:t>
            </a:r>
            <a:endParaRPr lang="en-US" b="1" dirty="0">
              <a:solidFill>
                <a:srgbClr val="254061"/>
              </a:solidFill>
            </a:endParaRPr>
          </a:p>
        </p:txBody>
      </p:sp>
      <p:sp>
        <p:nvSpPr>
          <p:cNvPr id="19" name="18 Llamada rectangular"/>
          <p:cNvSpPr/>
          <p:nvPr/>
        </p:nvSpPr>
        <p:spPr>
          <a:xfrm>
            <a:off x="3131375" y="5970575"/>
            <a:ext cx="2592288" cy="497635"/>
          </a:xfrm>
          <a:prstGeom prst="wedgeRectCallout">
            <a:avLst>
              <a:gd name="adj1" fmla="val -65568"/>
              <a:gd name="adj2" fmla="val -95342"/>
            </a:avLst>
          </a:prstGeom>
          <a:solidFill>
            <a:schemeClr val="accent3">
              <a:lumMod val="40000"/>
              <a:lumOff val="60000"/>
            </a:schemeClr>
          </a:solidFill>
          <a:ln w="6350"/>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000" dirty="0" smtClean="0">
                <a:solidFill>
                  <a:schemeClr val="tx1"/>
                </a:solidFill>
                <a:latin typeface="Arial" panose="020B0604020202020204" pitchFamily="34" charset="0"/>
                <a:cs typeface="Arial" panose="020B0604020202020204" pitchFamily="34" charset="0"/>
              </a:rPr>
              <a:t>Al darle a “</a:t>
            </a:r>
            <a:r>
              <a:rPr lang="es-ES" sz="1000" dirty="0" err="1" smtClean="0">
                <a:solidFill>
                  <a:schemeClr val="tx1"/>
                </a:solidFill>
                <a:latin typeface="Arial" panose="020B0604020202020204" pitchFamily="34" charset="0"/>
                <a:cs typeface="Arial" panose="020B0604020202020204" pitchFamily="34" charset="0"/>
              </a:rPr>
              <a:t>Send</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to</a:t>
            </a:r>
            <a:r>
              <a:rPr lang="es-ES" sz="1000" dirty="0" smtClean="0">
                <a:solidFill>
                  <a:schemeClr val="tx1"/>
                </a:solidFill>
                <a:latin typeface="Arial" panose="020B0604020202020204" pitchFamily="34" charset="0"/>
                <a:cs typeface="Arial" panose="020B0604020202020204" pitchFamily="34" charset="0"/>
              </a:rPr>
              <a:t> </a:t>
            </a:r>
            <a:r>
              <a:rPr lang="es-ES" sz="1000" dirty="0" err="1" smtClean="0">
                <a:solidFill>
                  <a:schemeClr val="tx1"/>
                </a:solidFill>
                <a:latin typeface="Arial" panose="020B0604020202020204" pitchFamily="34" charset="0"/>
                <a:cs typeface="Arial" panose="020B0604020202020204" pitchFamily="34" charset="0"/>
              </a:rPr>
              <a:t>invoice</a:t>
            </a:r>
            <a:r>
              <a:rPr lang="es-ES" sz="1000" dirty="0" smtClean="0">
                <a:solidFill>
                  <a:schemeClr val="tx1"/>
                </a:solidFill>
                <a:latin typeface="Arial" panose="020B0604020202020204" pitchFamily="34" charset="0"/>
                <a:cs typeface="Arial" panose="020B0604020202020204" pitchFamily="34" charset="0"/>
              </a:rPr>
              <a:t>” </a:t>
            </a:r>
            <a:r>
              <a:rPr lang="es-ES" sz="1000" dirty="0">
                <a:solidFill>
                  <a:schemeClr val="tx1"/>
                </a:solidFill>
                <a:latin typeface="Arial" panose="020B0604020202020204" pitchFamily="34" charset="0"/>
                <a:cs typeface="Arial" panose="020B0604020202020204" pitchFamily="34" charset="0"/>
              </a:rPr>
              <a:t>l</a:t>
            </a:r>
            <a:r>
              <a:rPr lang="es-ES" sz="1000" dirty="0" smtClean="0">
                <a:solidFill>
                  <a:schemeClr val="tx1"/>
                </a:solidFill>
                <a:latin typeface="Arial" panose="020B0604020202020204" pitchFamily="34" charset="0"/>
                <a:cs typeface="Arial" panose="020B0604020202020204" pitchFamily="34" charset="0"/>
              </a:rPr>
              <a:t>a columna status cambiará a “</a:t>
            </a:r>
            <a:r>
              <a:rPr lang="es-ES" sz="1000" dirty="0" err="1" smtClean="0">
                <a:solidFill>
                  <a:schemeClr val="tx1"/>
                </a:solidFill>
                <a:latin typeface="Arial" panose="020B0604020202020204" pitchFamily="34" charset="0"/>
                <a:cs typeface="Arial" panose="020B0604020202020204" pitchFamily="34" charset="0"/>
              </a:rPr>
              <a:t>Invoiced</a:t>
            </a:r>
            <a:r>
              <a:rPr lang="es-ES" sz="1000" dirty="0" smtClean="0">
                <a:solidFill>
                  <a:schemeClr val="tx1"/>
                </a:solidFill>
                <a:latin typeface="Arial" panose="020B0604020202020204" pitchFamily="34" charset="0"/>
                <a:cs typeface="Arial" panose="020B0604020202020204" pitchFamily="34" charset="0"/>
              </a:rPr>
              <a:t>”</a:t>
            </a:r>
            <a:endParaRPr lang="es-ES" sz="10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9338355"/>
      </p:ext>
    </p:extLst>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schemeClr>
        </a:solidFill>
        <a:ln w="3175">
          <a:solidFill>
            <a:schemeClr val="tx1"/>
          </a:solidFill>
        </a:ln>
      </a:spPr>
      <a:bodyPr rtlCol="0" anchor="ctr"/>
      <a:lstStyle>
        <a:defPPr algn="ctr">
          <a:defRPr sz="1400" dirty="0" smtClean="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1_Tema de Office">
  <a:themeElements>
    <a:clrScheme name="Oficin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cin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cin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3">
            <a:lumMod val="40000"/>
            <a:lumOff val="60000"/>
          </a:schemeClr>
        </a:solidFill>
        <a:ln w="3175">
          <a:solidFill>
            <a:schemeClr val="tx1"/>
          </a:solidFill>
        </a:ln>
      </a:spPr>
      <a:bodyPr rtlCol="0" anchor="ctr"/>
      <a:lstStyle>
        <a:defPPr algn="ctr">
          <a:defRPr sz="1400" dirty="0" smtClean="0">
            <a:solidFill>
              <a:schemeClr val="tx1"/>
            </a:solidFill>
            <a:latin typeface="Arial" panose="020B0604020202020204" pitchFamily="34" charset="0"/>
            <a:cs typeface="Arial" panose="020B0604020202020204"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7692</TotalTime>
  <Words>3686</Words>
  <Application>Microsoft Office PowerPoint</Application>
  <PresentationFormat>Presentación en pantalla (4:3)</PresentationFormat>
  <Paragraphs>523</Paragraphs>
  <Slides>38</Slides>
  <Notes>7</Notes>
  <HiddenSlides>0</HiddenSlides>
  <MMClips>0</MMClips>
  <ScaleCrop>false</ScaleCrop>
  <HeadingPairs>
    <vt:vector size="6" baseType="variant">
      <vt:variant>
        <vt:lpstr>Fuentes usadas</vt:lpstr>
      </vt:variant>
      <vt:variant>
        <vt:i4>3</vt:i4>
      </vt:variant>
      <vt:variant>
        <vt:lpstr>Tema</vt:lpstr>
      </vt:variant>
      <vt:variant>
        <vt:i4>2</vt:i4>
      </vt:variant>
      <vt:variant>
        <vt:lpstr>Títulos de diapositiva</vt:lpstr>
      </vt:variant>
      <vt:variant>
        <vt:i4>38</vt:i4>
      </vt:variant>
    </vt:vector>
  </HeadingPairs>
  <TitlesOfParts>
    <vt:vector size="43" baseType="lpstr">
      <vt:lpstr>Arial</vt:lpstr>
      <vt:lpstr>Calibri</vt:lpstr>
      <vt:lpstr>Wingdings</vt:lpstr>
      <vt:lpstr>Tema de Office</vt:lpstr>
      <vt:lpstr>1_Tema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Diapositiva 1</dc:title>
  <dc:creator>Maite Olivares Beobide</dc:creator>
  <cp:lastModifiedBy>Maite Olivares Beobide</cp:lastModifiedBy>
  <cp:revision>890</cp:revision>
  <dcterms:created xsi:type="dcterms:W3CDTF">2016-09-22T15:22:34Z</dcterms:created>
  <dcterms:modified xsi:type="dcterms:W3CDTF">2023-09-11T10:43:25Z</dcterms:modified>
</cp:coreProperties>
</file>