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Lst>
  <p:notesMasterIdLst>
    <p:notesMasterId r:id="rId41"/>
  </p:notesMasterIdLst>
  <p:sldIdLst>
    <p:sldId id="287" r:id="rId3"/>
    <p:sldId id="289" r:id="rId4"/>
    <p:sldId id="291" r:id="rId5"/>
    <p:sldId id="257" r:id="rId6"/>
    <p:sldId id="258" r:id="rId7"/>
    <p:sldId id="265" r:id="rId8"/>
    <p:sldId id="261" r:id="rId9"/>
    <p:sldId id="264" r:id="rId10"/>
    <p:sldId id="266" r:id="rId11"/>
    <p:sldId id="301" r:id="rId12"/>
    <p:sldId id="267" r:id="rId13"/>
    <p:sldId id="302" r:id="rId14"/>
    <p:sldId id="303" r:id="rId15"/>
    <p:sldId id="268" r:id="rId16"/>
    <p:sldId id="269" r:id="rId17"/>
    <p:sldId id="277" r:id="rId18"/>
    <p:sldId id="270" r:id="rId19"/>
    <p:sldId id="271" r:id="rId20"/>
    <p:sldId id="272" r:id="rId21"/>
    <p:sldId id="273" r:id="rId22"/>
    <p:sldId id="274" r:id="rId23"/>
    <p:sldId id="280" r:id="rId24"/>
    <p:sldId id="304" r:id="rId25"/>
    <p:sldId id="305" r:id="rId26"/>
    <p:sldId id="306" r:id="rId27"/>
    <p:sldId id="298" r:id="rId28"/>
    <p:sldId id="307" r:id="rId29"/>
    <p:sldId id="299" r:id="rId30"/>
    <p:sldId id="275" r:id="rId31"/>
    <p:sldId id="276" r:id="rId32"/>
    <p:sldId id="278" r:id="rId33"/>
    <p:sldId id="279" r:id="rId34"/>
    <p:sldId id="308" r:id="rId35"/>
    <p:sldId id="282" r:id="rId36"/>
    <p:sldId id="293" r:id="rId37"/>
    <p:sldId id="295" r:id="rId38"/>
    <p:sldId id="296" r:id="rId39"/>
    <p:sldId id="297" r:id="rId4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70C0"/>
    <a:srgbClr val="002D86"/>
    <a:srgbClr val="FFFF00"/>
    <a:srgbClr val="FF33CC"/>
    <a:srgbClr val="006600"/>
    <a:srgbClr val="003399"/>
    <a:srgbClr val="254061"/>
    <a:srgbClr val="002060"/>
    <a:srgbClr val="1737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8093" autoAdjust="0"/>
    <p:restoredTop sz="96399" autoAdjust="0"/>
  </p:normalViewPr>
  <p:slideViewPr>
    <p:cSldViewPr>
      <p:cViewPr varScale="1">
        <p:scale>
          <a:sx n="112" d="100"/>
          <a:sy n="112" d="100"/>
        </p:scale>
        <p:origin x="1128" y="11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BCBCB-036B-453E-BF70-851563E2DECA}" type="datetimeFigureOut">
              <a:rPr lang="es-ES" smtClean="0"/>
              <a:pPr/>
              <a:t>11/09/2023</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FE9763-4EA5-456F-BE99-B64CE06C9C6E}" type="slidenum">
              <a:rPr lang="es-ES" smtClean="0"/>
              <a:pPr/>
              <a:t>‹Nº›</a:t>
            </a:fld>
            <a:endParaRPr lang="es-ES"/>
          </a:p>
        </p:txBody>
      </p:sp>
    </p:spTree>
    <p:extLst>
      <p:ext uri="{BB962C8B-B14F-4D97-AF65-F5344CB8AC3E}">
        <p14:creationId xmlns:p14="http://schemas.microsoft.com/office/powerpoint/2010/main" val="172236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1E7F99C-8866-486B-B56F-6AB871EF7A36}" type="slidenum">
              <a:rPr lang="es-ES" smtClean="0"/>
              <a:pPr/>
              <a:t>1</a:t>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1E7F99C-8866-486B-B56F-6AB871EF7A36}" type="slidenum">
              <a:rPr lang="es-ES" smtClean="0"/>
              <a:pPr/>
              <a:t>2</a:t>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3FE9763-4EA5-456F-BE99-B64CE06C9C6E}" type="slidenum">
              <a:rPr lang="es-ES" smtClean="0"/>
              <a:pPr/>
              <a:t>10</a:t>
            </a:fld>
            <a:endParaRPr lang="es-ES"/>
          </a:p>
        </p:txBody>
      </p:sp>
    </p:spTree>
    <p:extLst>
      <p:ext uri="{BB962C8B-B14F-4D97-AF65-F5344CB8AC3E}">
        <p14:creationId xmlns:p14="http://schemas.microsoft.com/office/powerpoint/2010/main" val="3085418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3FE9763-4EA5-456F-BE99-B64CE06C9C6E}" type="slidenum">
              <a:rPr lang="es-ES" smtClean="0"/>
              <a:pPr/>
              <a:t>25</a:t>
            </a:fld>
            <a:endParaRPr lang="es-ES"/>
          </a:p>
        </p:txBody>
      </p:sp>
    </p:spTree>
    <p:extLst>
      <p:ext uri="{BB962C8B-B14F-4D97-AF65-F5344CB8AC3E}">
        <p14:creationId xmlns:p14="http://schemas.microsoft.com/office/powerpoint/2010/main" val="2118515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1E7F99C-8866-486B-B56F-6AB871EF7A36}" type="slidenum">
              <a:rPr lang="es-ES" smtClean="0"/>
              <a:pPr/>
              <a:t>34</a:t>
            </a:fld>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5412C811-28ED-4A95-A132-4F20DA413F2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93CC4FA-E1C6-44BF-9030-8D4F22E2451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247041A-C3FC-4419-A1FA-185A4604612E}"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DBF85DD4-8DC8-497C-AB68-B50BAF23C7A7}"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939D5383-0856-4D6F-91D0-D93769F44810}" type="datetime1">
              <a:rPr lang="es-ES" smtClean="0"/>
              <a:t>11/09/2023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B737E4FE-4B2B-4FF0-93C8-F90208E1C8FE}"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
        <p:nvSpPr>
          <p:cNvPr id="8" name="7 Marcador de texto"/>
          <p:cNvSpPr>
            <a:spLocks noGrp="1"/>
          </p:cNvSpPr>
          <p:nvPr>
            <p:ph type="body" sz="quarter" idx="13" hasCustomPrompt="1"/>
          </p:nvPr>
        </p:nvSpPr>
        <p:spPr>
          <a:xfrm>
            <a:off x="7451725" y="1052512"/>
            <a:ext cx="1152723" cy="216248"/>
          </a:xfrm>
          <a:ln>
            <a:noFill/>
          </a:ln>
        </p:spPr>
        <p:txBody>
          <a:bodyPr>
            <a:noAutofit/>
          </a:bodyPr>
          <a:lstStyle>
            <a:lvl1pPr marL="0" indent="0">
              <a:buNone/>
              <a:defRPr sz="1200"/>
            </a:lvl1pPr>
          </a:lstStyle>
          <a:p>
            <a:pPr lvl="0"/>
            <a:r>
              <a:rPr lang="es-ES" dirty="0" smtClean="0"/>
              <a:t>volver</a:t>
            </a:r>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5796398-E37A-4821-AB64-868D2292FF3F}"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6545666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9B3A615-66DD-444E-9A0E-B0D6F9A07DB9}"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51F7DAD-1473-4A57-A48C-1A968C933396}"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64A86D5-46EC-4EF5-9555-8B882887C988}"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81508295-8956-46F1-AB42-EC2C6612A287}"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51173500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05D9CAF-5B30-47A7-BF4C-805041D42615}"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5412C811-28ED-4A95-A132-4F20DA413F2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82078871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93CC4FA-E1C6-44BF-9030-8D4F22E2451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54932506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247041A-C3FC-4419-A1FA-185A4604612E}"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35503240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DBF85DD4-8DC8-497C-AB68-B50BAF23C7A7}"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7114053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939D5383-0856-4D6F-91D0-D93769F44810}" type="datetime1">
              <a:rPr lang="es-ES" smtClean="0"/>
              <a:t>11/09/2023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38662059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B737E4FE-4B2B-4FF0-93C8-F90208E1C8FE}"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84513385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
        <p:nvSpPr>
          <p:cNvPr id="8" name="7 Marcador de texto"/>
          <p:cNvSpPr>
            <a:spLocks noGrp="1"/>
          </p:cNvSpPr>
          <p:nvPr>
            <p:ph type="body" sz="quarter" idx="13" hasCustomPrompt="1"/>
          </p:nvPr>
        </p:nvSpPr>
        <p:spPr>
          <a:xfrm>
            <a:off x="7451725" y="1052512"/>
            <a:ext cx="1152723" cy="216248"/>
          </a:xfrm>
          <a:ln>
            <a:noFill/>
          </a:ln>
        </p:spPr>
        <p:txBody>
          <a:bodyPr>
            <a:noAutofit/>
          </a:bodyPr>
          <a:lstStyle>
            <a:lvl1pPr marL="0" indent="0">
              <a:buNone/>
              <a:defRPr sz="1200"/>
            </a:lvl1pPr>
          </a:lstStyle>
          <a:p>
            <a:pPr lvl="0"/>
            <a:r>
              <a:rPr lang="es-ES" dirty="0" smtClean="0"/>
              <a:t>volver</a:t>
            </a:r>
            <a:endParaRPr lang="en-US" dirty="0"/>
          </a:p>
        </p:txBody>
      </p:sp>
    </p:spTree>
    <p:extLst>
      <p:ext uri="{BB962C8B-B14F-4D97-AF65-F5344CB8AC3E}">
        <p14:creationId xmlns:p14="http://schemas.microsoft.com/office/powerpoint/2010/main" val="36390084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1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5796398-E37A-4821-AB64-868D2292FF3F}"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5" name="6 Título"/>
          <p:cNvSpPr txBox="1">
            <a:spLocks/>
          </p:cNvSpPr>
          <p:nvPr userDrawn="1"/>
        </p:nvSpPr>
        <p:spPr>
          <a:xfrm>
            <a:off x="152400" y="462744"/>
            <a:ext cx="5410944" cy="310344"/>
          </a:xfrm>
          <a:prstGeom prst="rect">
            <a:avLst/>
          </a:prstGeom>
          <a:ln>
            <a:noFill/>
          </a:ln>
        </p:spPr>
        <p:txBody>
          <a:bodyPr vert="horz" lIns="91440" tIns="45720" rIns="91440" bIns="45720" rtlCol="0" anchor="ctr" anchorCtr="0">
            <a:normAutofit fontScale="47500" lnSpcReduction="20000"/>
          </a:bodyPr>
          <a:lstStyle/>
          <a:p>
            <a:pPr lvl="0">
              <a:lnSpc>
                <a:spcPct val="150000"/>
              </a:lnSpc>
              <a:spcBef>
                <a:spcPct val="20000"/>
              </a:spcBef>
            </a:pPr>
            <a:r>
              <a:rPr lang="es-ES" sz="2200" b="1" dirty="0" smtClean="0">
                <a:solidFill>
                  <a:srgbClr val="1F497D"/>
                </a:solidFill>
                <a:latin typeface="Arial" pitchFamily="34" charset="0"/>
                <a:cs typeface="Arial" pitchFamily="34" charset="0"/>
              </a:rPr>
              <a:t>EXCEL(.</a:t>
            </a:r>
            <a:r>
              <a:rPr lang="es-ES" sz="2200" b="1" dirty="0" err="1" smtClean="0">
                <a:solidFill>
                  <a:srgbClr val="1F497D"/>
                </a:solidFill>
                <a:latin typeface="Arial" pitchFamily="34" charset="0"/>
                <a:cs typeface="Arial" pitchFamily="34" charset="0"/>
              </a:rPr>
              <a:t>xlsx</a:t>
            </a:r>
            <a:r>
              <a:rPr lang="es-ES" sz="2200" b="1" dirty="0" smtClean="0">
                <a:solidFill>
                  <a:srgbClr val="1F497D"/>
                </a:solidFill>
                <a:latin typeface="Arial" pitchFamily="34" charset="0"/>
                <a:cs typeface="Arial" pitchFamily="34" charset="0"/>
              </a:rPr>
              <a:t>)</a:t>
            </a:r>
            <a:endParaRPr lang="en-US" sz="2200" b="1" dirty="0">
              <a:solidFill>
                <a:srgbClr val="1F497D"/>
              </a:solidFill>
              <a:latin typeface="Arial" pitchFamily="34" charset="0"/>
              <a:cs typeface="Arial" pitchFamily="34" charset="0"/>
            </a:endParaRPr>
          </a:p>
        </p:txBody>
      </p:sp>
    </p:spTree>
    <p:extLst>
      <p:ext uri="{BB962C8B-B14F-4D97-AF65-F5344CB8AC3E}">
        <p14:creationId xmlns:p14="http://schemas.microsoft.com/office/powerpoint/2010/main" val="78913355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9B3A615-66DD-444E-9A0E-B0D6F9A07DB9}"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448985281"/>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51F7DAD-1473-4A57-A48C-1A968C933396}"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568270371"/>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64A86D5-46EC-4EF5-9555-8B882887C988}"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99590096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81508295-8956-46F1-AB42-EC2C6612A287}"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99374234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05D9CAF-5B30-47A7-BF4C-805041D42615}"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13969199"/>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789383399"/>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789383399"/>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78938339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 Target="../slides/slide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image" Target="../media/image3.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 Target="../slides/slide3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17BDE-278E-45AC-9E00-A9F51DF70CF9}" type="datetime1">
              <a:rPr lang="es-ES" smtClean="0"/>
              <a:t>11/09/2023</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pic>
        <p:nvPicPr>
          <p:cNvPr id="10" name="12 Imagen" descr="Batz®.png"/>
          <p:cNvPicPr>
            <a:picLocks noChangeAspect="1"/>
          </p:cNvPicPr>
          <p:nvPr userDrawn="1"/>
        </p:nvPicPr>
        <p:blipFill>
          <a:blip r:embed="rId15" cstate="email"/>
          <a:srcRect/>
          <a:stretch>
            <a:fillRect/>
          </a:stretch>
        </p:blipFill>
        <p:spPr bwMode="auto">
          <a:xfrm>
            <a:off x="7693481" y="113655"/>
            <a:ext cx="1198999" cy="363017"/>
          </a:xfrm>
          <a:prstGeom prst="rect">
            <a:avLst/>
          </a:prstGeom>
          <a:noFill/>
          <a:ln w="9525">
            <a:noFill/>
            <a:miter lim="800000"/>
            <a:headEnd/>
            <a:tailEnd/>
          </a:ln>
        </p:spPr>
      </p:pic>
      <p:sp>
        <p:nvSpPr>
          <p:cNvPr id="11" name="10 Rectángulo redondeado"/>
          <p:cNvSpPr/>
          <p:nvPr userDrawn="1"/>
        </p:nvSpPr>
        <p:spPr>
          <a:xfrm>
            <a:off x="168395" y="692696"/>
            <a:ext cx="68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2" name="11 Rectángulo redondeado"/>
          <p:cNvSpPr/>
          <p:nvPr userDrawn="1"/>
        </p:nvSpPr>
        <p:spPr>
          <a:xfrm>
            <a:off x="-11246" y="692696"/>
            <a:ext cx="14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3" name="6 Título"/>
          <p:cNvSpPr txBox="1">
            <a:spLocks/>
          </p:cNvSpPr>
          <p:nvPr userDrawn="1"/>
        </p:nvSpPr>
        <p:spPr>
          <a:xfrm>
            <a:off x="0" y="0"/>
            <a:ext cx="5410944" cy="620688"/>
          </a:xfrm>
          <a:prstGeom prst="rect">
            <a:avLst/>
          </a:prstGeom>
          <a:ln>
            <a:noFill/>
          </a:ln>
        </p:spPr>
        <p:txBody>
          <a:bodyPr vert="horz" lIns="91440" tIns="45720" rIns="91440" bIns="45720" rtlCol="0" anchor="ctr" anchorCtr="0">
            <a:normAutofit fontScale="77500" lnSpcReduction="20000"/>
          </a:bodyPr>
          <a:lstStyle/>
          <a:p>
            <a:pPr lvl="0">
              <a:lnSpc>
                <a:spcPct val="150000"/>
              </a:lnSpc>
              <a:spcBef>
                <a:spcPct val="20000"/>
              </a:spcBef>
            </a:pPr>
            <a:r>
              <a:rPr lang="es-ES" sz="1800" b="1" i="1" dirty="0" smtClean="0">
                <a:solidFill>
                  <a:srgbClr val="1F497D"/>
                </a:solidFill>
                <a:latin typeface="Arial" pitchFamily="34" charset="0"/>
                <a:cs typeface="Arial" pitchFamily="34" charset="0"/>
              </a:rPr>
              <a:t>REQUEST FOR COST CARRIERS OPENING/MODIFICATION</a:t>
            </a:r>
            <a:endParaRPr lang="en-US" sz="1800" b="1" i="1" dirty="0">
              <a:solidFill>
                <a:srgbClr val="1F497D"/>
              </a:solidFill>
              <a:latin typeface="Arial" pitchFamily="34" charset="0"/>
              <a:cs typeface="Arial" pitchFamily="34" charset="0"/>
            </a:endParaRPr>
          </a:p>
        </p:txBody>
      </p:sp>
      <p:sp>
        <p:nvSpPr>
          <p:cNvPr id="14" name="13 Rectángulo"/>
          <p:cNvSpPr/>
          <p:nvPr userDrawn="1"/>
        </p:nvSpPr>
        <p:spPr>
          <a:xfrm>
            <a:off x="0" y="908720"/>
            <a:ext cx="9123363" cy="552614"/>
          </a:xfrm>
          <a:prstGeom prst="rect">
            <a:avLst/>
          </a:prstGeom>
          <a:solidFill>
            <a:schemeClr val="tx2">
              <a:lumMod val="20000"/>
              <a:lumOff val="80000"/>
              <a:alpha val="60000"/>
            </a:schemeClr>
          </a:solidFill>
          <a:ln w="9525">
            <a:noFill/>
            <a:miter lim="800000"/>
            <a:headEnd/>
            <a:tailEnd/>
          </a:ln>
        </p:spPr>
        <p:txBody>
          <a:bodyPr wrap="none" lIns="90000" tIns="46800" rIns="234000" bIns="46800" anchor="ctr"/>
          <a:lstStyle/>
          <a:p>
            <a:pPr algn="r">
              <a:defRPr/>
            </a:pPr>
            <a:endParaRPr lang="es-ES" dirty="0"/>
          </a:p>
        </p:txBody>
      </p:sp>
      <p:sp>
        <p:nvSpPr>
          <p:cNvPr id="15" name="14 Flecha derecha"/>
          <p:cNvSpPr/>
          <p:nvPr userDrawn="1"/>
        </p:nvSpPr>
        <p:spPr>
          <a:xfrm>
            <a:off x="107950" y="980728"/>
            <a:ext cx="143570" cy="436326"/>
          </a:xfrm>
          <a:prstGeom prst="rightArrow">
            <a:avLst>
              <a:gd name="adj1" fmla="val 100000"/>
              <a:gd name="adj2" fmla="val 69256"/>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16" name="Picture 2" descr="C:\Users\molivares\AppData\Local\Microsoft\Windows\Temporary Internet Files\Content.IE5\8Q51644P\home-150499_960_720[1].png">
            <a:hlinkClick r:id="rId16" action="ppaction://hlinksldjump"/>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638215" y="1061211"/>
            <a:ext cx="326273" cy="33040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1" r:id="rId8"/>
    <p:sldLayoutId id="2147483656" r:id="rId9"/>
    <p:sldLayoutId id="2147483657" r:id="rId10"/>
    <p:sldLayoutId id="2147483658" r:id="rId11"/>
    <p:sldLayoutId id="2147483660" r:id="rId12"/>
    <p:sldLayoutId id="2147483659" r:id="rId13"/>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17BDE-278E-45AC-9E00-A9F51DF70CF9}" type="datetime1">
              <a:rPr lang="es-ES" smtClean="0"/>
              <a:t>11/09/2023</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pic>
        <p:nvPicPr>
          <p:cNvPr id="10" name="12 Imagen" descr="Batz®.png"/>
          <p:cNvPicPr>
            <a:picLocks noChangeAspect="1"/>
          </p:cNvPicPr>
          <p:nvPr userDrawn="1"/>
        </p:nvPicPr>
        <p:blipFill>
          <a:blip r:embed="rId18" cstate="email"/>
          <a:srcRect/>
          <a:stretch>
            <a:fillRect/>
          </a:stretch>
        </p:blipFill>
        <p:spPr bwMode="auto">
          <a:xfrm>
            <a:off x="7693481" y="113655"/>
            <a:ext cx="1198999" cy="363017"/>
          </a:xfrm>
          <a:prstGeom prst="rect">
            <a:avLst/>
          </a:prstGeom>
          <a:noFill/>
          <a:ln w="9525">
            <a:noFill/>
            <a:miter lim="800000"/>
            <a:headEnd/>
            <a:tailEnd/>
          </a:ln>
        </p:spPr>
      </p:pic>
      <p:sp>
        <p:nvSpPr>
          <p:cNvPr id="11" name="10 Rectángulo redondeado"/>
          <p:cNvSpPr/>
          <p:nvPr userDrawn="1"/>
        </p:nvSpPr>
        <p:spPr>
          <a:xfrm>
            <a:off x="168395" y="692696"/>
            <a:ext cx="68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2" name="11 Rectángulo redondeado"/>
          <p:cNvSpPr/>
          <p:nvPr userDrawn="1"/>
        </p:nvSpPr>
        <p:spPr>
          <a:xfrm>
            <a:off x="-11246" y="692696"/>
            <a:ext cx="14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3" name="6 Título"/>
          <p:cNvSpPr txBox="1">
            <a:spLocks/>
          </p:cNvSpPr>
          <p:nvPr userDrawn="1"/>
        </p:nvSpPr>
        <p:spPr>
          <a:xfrm>
            <a:off x="0" y="0"/>
            <a:ext cx="5410944" cy="620688"/>
          </a:xfrm>
          <a:prstGeom prst="rect">
            <a:avLst/>
          </a:prstGeom>
          <a:ln>
            <a:noFill/>
          </a:ln>
        </p:spPr>
        <p:txBody>
          <a:bodyPr vert="horz" lIns="91440" tIns="45720" rIns="91440" bIns="45720" rtlCol="0" anchor="ctr" anchorCtr="0">
            <a:normAutofit/>
          </a:bodyPr>
          <a:lstStyle/>
          <a:p>
            <a:pPr lvl="0">
              <a:lnSpc>
                <a:spcPct val="150000"/>
              </a:lnSpc>
              <a:spcBef>
                <a:spcPct val="20000"/>
              </a:spcBef>
            </a:pPr>
            <a:r>
              <a:rPr lang="es-ES" sz="1800" b="1" i="1" dirty="0" smtClean="0">
                <a:solidFill>
                  <a:srgbClr val="1F497D"/>
                </a:solidFill>
                <a:latin typeface="Arial" pitchFamily="34" charset="0"/>
                <a:cs typeface="Arial" pitchFamily="34" charset="0"/>
              </a:rPr>
              <a:t>REQUEST FOR INVOICING</a:t>
            </a:r>
            <a:endParaRPr lang="en-US" sz="1800" b="1" i="1" dirty="0">
              <a:solidFill>
                <a:srgbClr val="1F497D"/>
              </a:solidFill>
              <a:latin typeface="Arial" pitchFamily="34" charset="0"/>
              <a:cs typeface="Arial" pitchFamily="34" charset="0"/>
            </a:endParaRPr>
          </a:p>
        </p:txBody>
      </p:sp>
      <p:sp>
        <p:nvSpPr>
          <p:cNvPr id="14" name="13 Rectángulo"/>
          <p:cNvSpPr/>
          <p:nvPr userDrawn="1"/>
        </p:nvSpPr>
        <p:spPr>
          <a:xfrm>
            <a:off x="0" y="908720"/>
            <a:ext cx="9123363" cy="552614"/>
          </a:xfrm>
          <a:prstGeom prst="rect">
            <a:avLst/>
          </a:prstGeom>
          <a:solidFill>
            <a:schemeClr val="tx2">
              <a:lumMod val="20000"/>
              <a:lumOff val="80000"/>
              <a:alpha val="60000"/>
            </a:schemeClr>
          </a:solidFill>
          <a:ln w="9525">
            <a:noFill/>
            <a:miter lim="800000"/>
            <a:headEnd/>
            <a:tailEnd/>
          </a:ln>
        </p:spPr>
        <p:txBody>
          <a:bodyPr wrap="none" lIns="90000" tIns="46800" rIns="234000" bIns="46800" anchor="ctr"/>
          <a:lstStyle/>
          <a:p>
            <a:pPr algn="r">
              <a:defRPr/>
            </a:pPr>
            <a:endParaRPr lang="es-ES" dirty="0"/>
          </a:p>
        </p:txBody>
      </p:sp>
      <p:sp>
        <p:nvSpPr>
          <p:cNvPr id="15" name="14 Flecha derecha"/>
          <p:cNvSpPr/>
          <p:nvPr userDrawn="1"/>
        </p:nvSpPr>
        <p:spPr>
          <a:xfrm>
            <a:off x="107950" y="980728"/>
            <a:ext cx="143570" cy="436326"/>
          </a:xfrm>
          <a:prstGeom prst="rightArrow">
            <a:avLst>
              <a:gd name="adj1" fmla="val 100000"/>
              <a:gd name="adj2" fmla="val 69256"/>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17" name="Picture 2" descr="C:\Users\molivares\AppData\Local\Microsoft\Windows\Temporary Internet Files\Content.IE5\OFG0M4TQ\inicio[1].png">
            <a:hlinkClick r:id="rId19" action="ppaction://hlinksldjump"/>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8491148" y="985089"/>
            <a:ext cx="399876" cy="39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63193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slide" Target="slide35.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image" Target="../media/image6.png"/><Relationship Id="rId4" Type="http://schemas.openxmlformats.org/officeDocument/2006/relationships/image" Target="../media/image5.wmf"/></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26.xml"/><Relationship Id="rId18" Type="http://schemas.openxmlformats.org/officeDocument/2006/relationships/slide" Target="slide32.xml"/><Relationship Id="rId3" Type="http://schemas.openxmlformats.org/officeDocument/2006/relationships/slide" Target="slide5.xml"/><Relationship Id="rId7" Type="http://schemas.openxmlformats.org/officeDocument/2006/relationships/slide" Target="slide18.xml"/><Relationship Id="rId12" Type="http://schemas.openxmlformats.org/officeDocument/2006/relationships/slide" Target="slide25.xml"/><Relationship Id="rId17" Type="http://schemas.openxmlformats.org/officeDocument/2006/relationships/slide" Target="slide31.xml"/><Relationship Id="rId2" Type="http://schemas.openxmlformats.org/officeDocument/2006/relationships/slide" Target="slide4.xml"/><Relationship Id="rId16" Type="http://schemas.openxmlformats.org/officeDocument/2006/relationships/slide" Target="slide30.xml"/><Relationship Id="rId1" Type="http://schemas.openxmlformats.org/officeDocument/2006/relationships/slideLayout" Target="../slideLayouts/slideLayout2.xml"/><Relationship Id="rId6" Type="http://schemas.openxmlformats.org/officeDocument/2006/relationships/slide" Target="slide17.xml"/><Relationship Id="rId11" Type="http://schemas.openxmlformats.org/officeDocument/2006/relationships/slide" Target="slide24.xml"/><Relationship Id="rId5" Type="http://schemas.openxmlformats.org/officeDocument/2006/relationships/slide" Target="slide9.xml"/><Relationship Id="rId15" Type="http://schemas.openxmlformats.org/officeDocument/2006/relationships/slide" Target="slide29.xml"/><Relationship Id="rId10" Type="http://schemas.openxmlformats.org/officeDocument/2006/relationships/slide" Target="slide23.xml"/><Relationship Id="rId19" Type="http://schemas.openxmlformats.org/officeDocument/2006/relationships/slide" Target="slide33.xml"/><Relationship Id="rId4" Type="http://schemas.openxmlformats.org/officeDocument/2006/relationships/slide" Target="slide7.xml"/><Relationship Id="rId9" Type="http://schemas.openxmlformats.org/officeDocument/2006/relationships/slide" Target="slide22.xml"/><Relationship Id="rId14" Type="http://schemas.openxmlformats.org/officeDocument/2006/relationships/slide" Target="slide2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60.png"/><Relationship Id="rId1" Type="http://schemas.openxmlformats.org/officeDocument/2006/relationships/slideLayout" Target="../slideLayouts/slideLayout8.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4.png"/><Relationship Id="rId5" Type="http://schemas.openxmlformats.org/officeDocument/2006/relationships/slide" Target="slide11.xml"/><Relationship Id="rId4" Type="http://schemas.openxmlformats.org/officeDocument/2006/relationships/image" Target="../media/image63.png"/><Relationship Id="rId9"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hyperlink" Target="https://cognos.batz.es/ibmcognos/bi/?perspective=authoring&amp;id=iC82D95E94EEB4F8BB85B3EC500F208A6&amp;objRef=iC82D95E94EEB4F8BB85B3EC500F208A6&amp;action=run&amp;format=HTML&amp;prompt=false&amp;cmPropStr=%7B%22id%22%3A%22iC82D95E94EEB4F8BB85B3EC500F208A6%22%2C%22type%22%3A%22report%22%2C%22defaultName%22%3A%22Cost%20Carriers%20report%22%2C%22permissions%22%3A%5B%22execute%22%2C%22read%22%2C%22traverse%22%5D%7D" TargetMode="External"/><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3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3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4.xml"/><Relationship Id="rId4" Type="http://schemas.openxmlformats.org/officeDocument/2006/relationships/image" Target="../media/image93.png"/></Relationships>
</file>

<file path=ppt/slides/_rels/slide3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7.xml"/><Relationship Id="rId4" Type="http://schemas.openxmlformats.org/officeDocument/2006/relationships/image" Target="../media/image96.png"/></Relationships>
</file>

<file path=ppt/slides/_rels/slide3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2051" name="Picture 3"/>
          <p:cNvPicPr>
            <a:picLocks noChangeAspect="1" noChangeArrowheads="1"/>
          </p:cNvPicPr>
          <p:nvPr/>
        </p:nvPicPr>
        <p:blipFill>
          <a:blip r:embed="rId3" cstate="print"/>
          <a:srcRect b="15360"/>
          <a:stretch>
            <a:fillRect/>
          </a:stretch>
        </p:blipFill>
        <p:spPr bwMode="auto">
          <a:xfrm>
            <a:off x="3260866" y="1268760"/>
            <a:ext cx="5883134" cy="3888432"/>
          </a:xfrm>
          <a:prstGeom prst="rect">
            <a:avLst/>
          </a:prstGeom>
          <a:noFill/>
          <a:ln w="9525">
            <a:noFill/>
            <a:miter lim="800000"/>
            <a:headEnd/>
            <a:tailEnd/>
          </a:ln>
          <a:effectLst/>
        </p:spPr>
      </p:pic>
      <p:sp>
        <p:nvSpPr>
          <p:cNvPr id="9" name="8 Rectángulo"/>
          <p:cNvSpPr/>
          <p:nvPr/>
        </p:nvSpPr>
        <p:spPr>
          <a:xfrm>
            <a:off x="0" y="0"/>
            <a:ext cx="3275856" cy="688613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6" name="Picture 6"/>
          <p:cNvPicPr>
            <a:picLocks noChangeAspect="1" noChangeArrowheads="1"/>
          </p:cNvPicPr>
          <p:nvPr/>
        </p:nvPicPr>
        <p:blipFill>
          <a:blip r:embed="rId4" cstate="print"/>
          <a:srcRect/>
          <a:stretch>
            <a:fillRect/>
          </a:stretch>
        </p:blipFill>
        <p:spPr bwMode="auto">
          <a:xfrm>
            <a:off x="323528" y="476672"/>
            <a:ext cx="2448272" cy="661600"/>
          </a:xfrm>
          <a:prstGeom prst="rect">
            <a:avLst/>
          </a:prstGeom>
          <a:noFill/>
          <a:ln w="9525">
            <a:noFill/>
            <a:miter lim="800000"/>
            <a:headEnd/>
            <a:tailEnd/>
          </a:ln>
          <a:effectLst/>
        </p:spPr>
      </p:pic>
      <p:sp>
        <p:nvSpPr>
          <p:cNvPr id="8" name="7 CuadroTexto"/>
          <p:cNvSpPr txBox="1"/>
          <p:nvPr/>
        </p:nvSpPr>
        <p:spPr>
          <a:xfrm>
            <a:off x="240398" y="1268760"/>
            <a:ext cx="2808312" cy="400110"/>
          </a:xfrm>
          <a:prstGeom prst="rect">
            <a:avLst/>
          </a:prstGeom>
          <a:noFill/>
        </p:spPr>
        <p:txBody>
          <a:bodyPr wrap="square" rtlCol="0">
            <a:spAutoFit/>
          </a:bodyPr>
          <a:lstStyle/>
          <a:p>
            <a:r>
              <a:rPr lang="es-ES" sz="2000" i="1" dirty="0" smtClean="0">
                <a:solidFill>
                  <a:schemeClr val="bg1"/>
                </a:solidFill>
              </a:rPr>
              <a:t>Meeting </a:t>
            </a:r>
            <a:r>
              <a:rPr lang="en-US" sz="2000" i="1" dirty="0" smtClean="0">
                <a:solidFill>
                  <a:schemeClr val="bg1"/>
                </a:solidFill>
              </a:rPr>
              <a:t>your</a:t>
            </a:r>
            <a:r>
              <a:rPr lang="es-ES" sz="2000" i="1" dirty="0" smtClean="0">
                <a:solidFill>
                  <a:schemeClr val="bg1"/>
                </a:solidFill>
              </a:rPr>
              <a:t> </a:t>
            </a:r>
            <a:r>
              <a:rPr lang="en-US" sz="2000" i="1" dirty="0" smtClean="0">
                <a:solidFill>
                  <a:schemeClr val="bg1"/>
                </a:solidFill>
              </a:rPr>
              <a:t>challenges</a:t>
            </a:r>
            <a:endParaRPr lang="en-US" sz="2000" i="1" dirty="0">
              <a:solidFill>
                <a:schemeClr val="bg1"/>
              </a:solidFill>
            </a:endParaRPr>
          </a:p>
        </p:txBody>
      </p:sp>
      <p:sp>
        <p:nvSpPr>
          <p:cNvPr id="12" name="11 CuadroTexto"/>
          <p:cNvSpPr txBox="1"/>
          <p:nvPr/>
        </p:nvSpPr>
        <p:spPr>
          <a:xfrm>
            <a:off x="3203848" y="17329"/>
            <a:ext cx="5674331" cy="1323439"/>
          </a:xfrm>
          <a:prstGeom prst="rect">
            <a:avLst/>
          </a:prstGeom>
          <a:noFill/>
        </p:spPr>
        <p:txBody>
          <a:bodyPr wrap="square">
            <a:spAutoFit/>
          </a:bodyPr>
          <a:lstStyle/>
          <a:p>
            <a:pPr algn="r" fontAlgn="auto">
              <a:spcBef>
                <a:spcPts val="0"/>
              </a:spcBef>
              <a:spcAft>
                <a:spcPts val="0"/>
              </a:spcAft>
              <a:defRPr/>
            </a:pPr>
            <a:r>
              <a:rPr lang="es-ES" sz="4000" b="1" dirty="0" smtClean="0">
                <a:solidFill>
                  <a:schemeClr val="tx2">
                    <a:lumMod val="75000"/>
                  </a:schemeClr>
                </a:solidFill>
              </a:rPr>
              <a:t>BATZ </a:t>
            </a:r>
          </a:p>
          <a:p>
            <a:pPr algn="r" fontAlgn="auto">
              <a:spcBef>
                <a:spcPts val="0"/>
              </a:spcBef>
              <a:spcAft>
                <a:spcPts val="0"/>
              </a:spcAft>
              <a:defRPr/>
            </a:pPr>
            <a:r>
              <a:rPr lang="es-ES" sz="4000" b="1" dirty="0" smtClean="0">
                <a:solidFill>
                  <a:schemeClr val="tx2">
                    <a:lumMod val="75000"/>
                  </a:schemeClr>
                </a:solidFill>
              </a:rPr>
              <a:t>AUTOMOTIVE SYSTEMS</a:t>
            </a:r>
          </a:p>
        </p:txBody>
      </p:sp>
      <p:sp>
        <p:nvSpPr>
          <p:cNvPr id="7" name="6 CuadroTexto"/>
          <p:cNvSpPr txBox="1"/>
          <p:nvPr/>
        </p:nvSpPr>
        <p:spPr>
          <a:xfrm>
            <a:off x="179512" y="6165304"/>
            <a:ext cx="2664296" cy="400110"/>
          </a:xfrm>
          <a:prstGeom prst="rect">
            <a:avLst/>
          </a:prstGeom>
          <a:noFill/>
        </p:spPr>
        <p:txBody>
          <a:bodyPr wrap="square" rtlCol="0">
            <a:spAutoFit/>
          </a:bodyPr>
          <a:lstStyle/>
          <a:p>
            <a:r>
              <a:rPr lang="es-ES" sz="2000" b="1" dirty="0" err="1" smtClean="0">
                <a:solidFill>
                  <a:schemeClr val="bg1"/>
                </a:solidFill>
              </a:rPr>
              <a:t>August</a:t>
            </a:r>
            <a:r>
              <a:rPr lang="es-ES" sz="2000" b="1" dirty="0" smtClean="0">
                <a:solidFill>
                  <a:schemeClr val="bg1"/>
                </a:solidFill>
              </a:rPr>
              <a:t> 2022</a:t>
            </a:r>
            <a:endParaRPr lang="es-ES" sz="2000" b="1" dirty="0">
              <a:solidFill>
                <a:schemeClr val="bg1"/>
              </a:solidFill>
            </a:endParaRPr>
          </a:p>
        </p:txBody>
      </p:sp>
      <p:sp>
        <p:nvSpPr>
          <p:cNvPr id="10" name="9 CuadroTexto"/>
          <p:cNvSpPr txBox="1"/>
          <p:nvPr/>
        </p:nvSpPr>
        <p:spPr>
          <a:xfrm>
            <a:off x="3275856" y="2973708"/>
            <a:ext cx="5674331" cy="1046440"/>
          </a:xfrm>
          <a:prstGeom prst="rect">
            <a:avLst/>
          </a:prstGeom>
          <a:solidFill>
            <a:schemeClr val="bg1"/>
          </a:solid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sz="3000" b="1" cap="all" dirty="0">
                <a:ln w="0"/>
                <a:solidFill>
                  <a:schemeClr val="tx2">
                    <a:lumMod val="50000"/>
                  </a:schemeClr>
                </a:solidFill>
                <a:effectLst>
                  <a:reflection blurRad="12700" stA="50000" endPos="50000" dist="5000" dir="5400000" sy="-100000" rotWithShape="0"/>
                </a:effectLst>
              </a:rPr>
              <a:t>COST CARRIERS APPLICATION</a:t>
            </a:r>
          </a:p>
          <a:p>
            <a:pPr algn="ctr" fontAlgn="auto">
              <a:spcBef>
                <a:spcPts val="0"/>
              </a:spcBef>
              <a:spcAft>
                <a:spcPts val="0"/>
              </a:spcAft>
              <a:defRPr/>
            </a:pPr>
            <a:r>
              <a:rPr lang="es-ES" sz="3200" b="1" i="1" cap="all" dirty="0">
                <a:ln w="0"/>
                <a:solidFill>
                  <a:schemeClr val="tx2">
                    <a:lumMod val="50000"/>
                  </a:schemeClr>
                </a:solidFill>
                <a:effectLst>
                  <a:reflection blurRad="12700" stA="50000" endPos="50000" dist="5000" dir="5400000" sy="-100000" rotWithShape="0"/>
                </a:effectLst>
              </a:rPr>
              <a:t>APPLICANT</a:t>
            </a:r>
          </a:p>
        </p:txBody>
      </p:sp>
      <p:sp>
        <p:nvSpPr>
          <p:cNvPr id="2" name="1 Marcador de número de diapositiva"/>
          <p:cNvSpPr>
            <a:spLocks noGrp="1"/>
          </p:cNvSpPr>
          <p:nvPr>
            <p:ph type="sldNum" sz="quarter" idx="12"/>
          </p:nvPr>
        </p:nvSpPr>
        <p:spPr/>
        <p:txBody>
          <a:bodyPr/>
          <a:lstStyle/>
          <a:p>
            <a:fld id="{132FADFE-3B8F-471C-ABF0-DBC7717ECBBC}" type="slidenum">
              <a:rPr lang="es-ES" smtClean="0"/>
              <a:pPr/>
              <a:t>1</a:t>
            </a:fld>
            <a:endParaRPr lang="es-ES" dirty="0"/>
          </a:p>
        </p:txBody>
      </p:sp>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223" y="6055984"/>
            <a:ext cx="1190625" cy="704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4" name="13 CuadroTexto"/>
          <p:cNvSpPr txBox="1"/>
          <p:nvPr/>
        </p:nvSpPr>
        <p:spPr>
          <a:xfrm>
            <a:off x="3362165" y="5517232"/>
            <a:ext cx="5674331" cy="1200329"/>
          </a:xfrm>
          <a:prstGeom prst="rect">
            <a:avLst/>
          </a:prstGeom>
          <a:no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b="1" i="1" cap="all" dirty="0" err="1" smtClean="0">
                <a:ln w="0"/>
                <a:solidFill>
                  <a:schemeClr val="tx2">
                    <a:lumMod val="75000"/>
                  </a:schemeClr>
                </a:solidFill>
                <a:effectLst>
                  <a:reflection blurRad="12700" stA="50000" endPos="50000" dist="5000" dir="5400000" sy="-100000" rotWithShape="0"/>
                </a:effectLst>
                <a:hlinkClick r:id="rId6" action="ppaction://hlinksldjump"/>
              </a:rPr>
              <a:t>Request</a:t>
            </a: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 </a:t>
            </a:r>
            <a:r>
              <a:rPr lang="es-ES" b="1" i="1" cap="all" dirty="0" err="1" smtClean="0">
                <a:ln w="0"/>
                <a:solidFill>
                  <a:schemeClr val="tx2">
                    <a:lumMod val="75000"/>
                  </a:schemeClr>
                </a:solidFill>
                <a:effectLst>
                  <a:reflection blurRad="12700" stA="50000" endPos="50000" dist="5000" dir="5400000" sy="-100000" rotWithShape="0"/>
                </a:effectLst>
                <a:hlinkClick r:id="rId6" action="ppaction://hlinksldjump"/>
              </a:rPr>
              <a:t>for</a:t>
            </a: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 </a:t>
            </a:r>
            <a:r>
              <a:rPr lang="es-ES" b="1" i="1" cap="all" dirty="0" err="1" smtClean="0">
                <a:ln w="0"/>
                <a:solidFill>
                  <a:schemeClr val="tx2">
                    <a:lumMod val="75000"/>
                  </a:schemeClr>
                </a:solidFill>
                <a:effectLst>
                  <a:reflection blurRad="12700" stA="50000" endPos="50000" dist="5000" dir="5400000" sy="-100000" rotWithShape="0"/>
                </a:effectLst>
                <a:hlinkClick r:id="rId6" action="ppaction://hlinksldjump"/>
              </a:rPr>
              <a:t>cost</a:t>
            </a: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 </a:t>
            </a:r>
            <a:r>
              <a:rPr lang="es-ES" b="1" i="1" cap="all" dirty="0" err="1" smtClean="0">
                <a:ln w="0"/>
                <a:solidFill>
                  <a:schemeClr val="tx2">
                    <a:lumMod val="75000"/>
                  </a:schemeClr>
                </a:solidFill>
                <a:effectLst>
                  <a:reflection blurRad="12700" stA="50000" endPos="50000" dist="5000" dir="5400000" sy="-100000" rotWithShape="0"/>
                </a:effectLst>
                <a:hlinkClick r:id="rId6" action="ppaction://hlinksldjump"/>
              </a:rPr>
              <a:t>carriers</a:t>
            </a: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 </a:t>
            </a:r>
            <a:r>
              <a:rPr lang="es-ES" b="1" i="1" cap="all" dirty="0" err="1" smtClean="0">
                <a:ln w="0"/>
                <a:solidFill>
                  <a:schemeClr val="tx2">
                    <a:lumMod val="75000"/>
                  </a:schemeClr>
                </a:solidFill>
                <a:effectLst>
                  <a:reflection blurRad="12700" stA="50000" endPos="50000" dist="5000" dir="5400000" sy="-100000" rotWithShape="0"/>
                </a:effectLst>
                <a:hlinkClick r:id="rId6" action="ppaction://hlinksldjump"/>
              </a:rPr>
              <a:t>opening</a:t>
            </a: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a:t>
            </a:r>
            <a:r>
              <a:rPr lang="es-ES" b="1" i="1" cap="all" dirty="0" err="1" smtClean="0">
                <a:ln w="0"/>
                <a:solidFill>
                  <a:schemeClr val="tx2">
                    <a:lumMod val="75000"/>
                  </a:schemeClr>
                </a:solidFill>
                <a:effectLst>
                  <a:reflection blurRad="12700" stA="50000" endPos="50000" dist="5000" dir="5400000" sy="-100000" rotWithShape="0"/>
                </a:effectLst>
                <a:hlinkClick r:id="rId6" action="ppaction://hlinksldjump"/>
              </a:rPr>
              <a:t>modification</a:t>
            </a:r>
            <a:endParaRPr lang="es-ES" b="1" i="1" cap="all" dirty="0" smtClean="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endParaRPr lang="es-ES" b="1" i="1" cap="all" dirty="0" smtClean="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r>
              <a:rPr lang="es-ES" b="1" i="1" cap="all" dirty="0" err="1" smtClean="0">
                <a:ln w="0"/>
                <a:solidFill>
                  <a:schemeClr val="tx2">
                    <a:lumMod val="75000"/>
                  </a:schemeClr>
                </a:solidFill>
                <a:effectLst>
                  <a:reflection blurRad="12700" stA="50000" endPos="50000" dist="5000" dir="5400000" sy="-100000" rotWithShape="0"/>
                </a:effectLst>
                <a:hlinkClick r:id="rId7" action="ppaction://hlinksldjump"/>
              </a:rPr>
              <a:t>Request</a:t>
            </a:r>
            <a:r>
              <a:rPr lang="es-ES" b="1" i="1" cap="all" dirty="0" smtClean="0">
                <a:ln w="0"/>
                <a:solidFill>
                  <a:schemeClr val="tx2">
                    <a:lumMod val="75000"/>
                  </a:schemeClr>
                </a:solidFill>
                <a:effectLst>
                  <a:reflection blurRad="12700" stA="50000" endPos="50000" dist="5000" dir="5400000" sy="-100000" rotWithShape="0"/>
                </a:effectLst>
                <a:hlinkClick r:id="rId7" action="ppaction://hlinksldjump"/>
              </a:rPr>
              <a:t> </a:t>
            </a:r>
            <a:r>
              <a:rPr lang="es-ES" b="1" i="1" cap="all" dirty="0" err="1" smtClean="0">
                <a:ln w="0"/>
                <a:solidFill>
                  <a:schemeClr val="tx2">
                    <a:lumMod val="75000"/>
                  </a:schemeClr>
                </a:solidFill>
                <a:effectLst>
                  <a:reflection blurRad="12700" stA="50000" endPos="50000" dist="5000" dir="5400000" sy="-100000" rotWithShape="0"/>
                </a:effectLst>
                <a:hlinkClick r:id="rId7" action="ppaction://hlinksldjump"/>
              </a:rPr>
              <a:t>for</a:t>
            </a:r>
            <a:r>
              <a:rPr lang="es-ES" b="1" i="1" cap="all" dirty="0" smtClean="0">
                <a:ln w="0"/>
                <a:solidFill>
                  <a:schemeClr val="tx2">
                    <a:lumMod val="75000"/>
                  </a:schemeClr>
                </a:solidFill>
                <a:effectLst>
                  <a:reflection blurRad="12700" stA="50000" endPos="50000" dist="5000" dir="5400000" sy="-100000" rotWithShape="0"/>
                </a:effectLst>
                <a:hlinkClick r:id="rId7" action="ppaction://hlinksldjump"/>
              </a:rPr>
              <a:t> </a:t>
            </a:r>
            <a:r>
              <a:rPr lang="es-ES" b="1" i="1" cap="all" dirty="0" err="1" smtClean="0">
                <a:ln w="0"/>
                <a:solidFill>
                  <a:schemeClr val="tx2">
                    <a:lumMod val="75000"/>
                  </a:schemeClr>
                </a:solidFill>
                <a:effectLst>
                  <a:reflection blurRad="12700" stA="50000" endPos="50000" dist="5000" dir="5400000" sy="-100000" rotWithShape="0"/>
                </a:effectLst>
                <a:hlinkClick r:id="rId7" action="ppaction://hlinksldjump"/>
              </a:rPr>
              <a:t>invoicing</a:t>
            </a:r>
            <a:endParaRPr lang="en-US" b="1" i="1" cap="all" dirty="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endParaRPr lang="en-US" b="1" i="1" cap="all" dirty="0" smtClean="0">
              <a:ln w="0"/>
              <a:solidFill>
                <a:schemeClr val="tx2">
                  <a:lumMod val="75000"/>
                </a:schemeClr>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3010224608"/>
      </p:ext>
    </p:extLst>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Rectángulo"/>
          <p:cNvSpPr/>
          <p:nvPr/>
        </p:nvSpPr>
        <p:spPr>
          <a:xfrm>
            <a:off x="0" y="-197247"/>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2051" name="Picture 3"/>
          <p:cNvPicPr>
            <a:picLocks noChangeAspect="1" noChangeArrowheads="1"/>
          </p:cNvPicPr>
          <p:nvPr/>
        </p:nvPicPr>
        <p:blipFill>
          <a:blip r:embed="rId3" cstate="print"/>
          <a:srcRect b="15360"/>
          <a:stretch>
            <a:fillRect/>
          </a:stretch>
        </p:blipFill>
        <p:spPr bwMode="auto">
          <a:xfrm>
            <a:off x="3260866" y="1268760"/>
            <a:ext cx="5883134" cy="3888432"/>
          </a:xfrm>
          <a:prstGeom prst="rect">
            <a:avLst/>
          </a:prstGeom>
          <a:noFill/>
          <a:ln w="9525">
            <a:noFill/>
            <a:miter lim="800000"/>
            <a:headEnd/>
            <a:tailEnd/>
          </a:ln>
          <a:effectLst/>
        </p:spPr>
      </p:pic>
      <p:sp>
        <p:nvSpPr>
          <p:cNvPr id="9" name="8 Rectángulo"/>
          <p:cNvSpPr/>
          <p:nvPr/>
        </p:nvSpPr>
        <p:spPr>
          <a:xfrm>
            <a:off x="0" y="0"/>
            <a:ext cx="3275856" cy="688613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6" name="Picture 6"/>
          <p:cNvPicPr>
            <a:picLocks noChangeAspect="1" noChangeArrowheads="1"/>
          </p:cNvPicPr>
          <p:nvPr/>
        </p:nvPicPr>
        <p:blipFill>
          <a:blip r:embed="rId4" cstate="print"/>
          <a:srcRect/>
          <a:stretch>
            <a:fillRect/>
          </a:stretch>
        </p:blipFill>
        <p:spPr bwMode="auto">
          <a:xfrm>
            <a:off x="323528" y="476672"/>
            <a:ext cx="2448272" cy="661600"/>
          </a:xfrm>
          <a:prstGeom prst="rect">
            <a:avLst/>
          </a:prstGeom>
          <a:noFill/>
          <a:ln w="9525">
            <a:noFill/>
            <a:miter lim="800000"/>
            <a:headEnd/>
            <a:tailEnd/>
          </a:ln>
          <a:effectLst/>
        </p:spPr>
      </p:pic>
      <p:sp>
        <p:nvSpPr>
          <p:cNvPr id="8" name="7 CuadroTexto"/>
          <p:cNvSpPr txBox="1"/>
          <p:nvPr/>
        </p:nvSpPr>
        <p:spPr>
          <a:xfrm>
            <a:off x="240398" y="1268760"/>
            <a:ext cx="2808312" cy="400110"/>
          </a:xfrm>
          <a:prstGeom prst="rect">
            <a:avLst/>
          </a:prstGeom>
          <a:noFill/>
        </p:spPr>
        <p:txBody>
          <a:bodyPr wrap="square" rtlCol="0">
            <a:spAutoFit/>
          </a:bodyPr>
          <a:lstStyle/>
          <a:p>
            <a:r>
              <a:rPr lang="es-ES" sz="2000" i="1" dirty="0" smtClean="0">
                <a:solidFill>
                  <a:schemeClr val="bg1"/>
                </a:solidFill>
              </a:rPr>
              <a:t>Meeting </a:t>
            </a:r>
            <a:r>
              <a:rPr lang="en-US" sz="2000" i="1" dirty="0" smtClean="0">
                <a:solidFill>
                  <a:schemeClr val="bg1"/>
                </a:solidFill>
              </a:rPr>
              <a:t>your</a:t>
            </a:r>
            <a:r>
              <a:rPr lang="es-ES" sz="2000" i="1" dirty="0" smtClean="0">
                <a:solidFill>
                  <a:schemeClr val="bg1"/>
                </a:solidFill>
              </a:rPr>
              <a:t> </a:t>
            </a:r>
            <a:r>
              <a:rPr lang="en-US" sz="2000" i="1" dirty="0" smtClean="0">
                <a:solidFill>
                  <a:schemeClr val="bg1"/>
                </a:solidFill>
              </a:rPr>
              <a:t>challenges</a:t>
            </a:r>
            <a:endParaRPr lang="en-US" sz="2000" i="1" dirty="0">
              <a:solidFill>
                <a:schemeClr val="bg1"/>
              </a:solidFill>
            </a:endParaRPr>
          </a:p>
        </p:txBody>
      </p:sp>
      <p:sp>
        <p:nvSpPr>
          <p:cNvPr id="12" name="11 CuadroTexto"/>
          <p:cNvSpPr txBox="1"/>
          <p:nvPr/>
        </p:nvSpPr>
        <p:spPr>
          <a:xfrm>
            <a:off x="3203848" y="17329"/>
            <a:ext cx="5674331" cy="1323439"/>
          </a:xfrm>
          <a:prstGeom prst="rect">
            <a:avLst/>
          </a:prstGeom>
          <a:noFill/>
        </p:spPr>
        <p:txBody>
          <a:bodyPr wrap="square">
            <a:spAutoFit/>
          </a:bodyPr>
          <a:lstStyle/>
          <a:p>
            <a:pPr algn="r" fontAlgn="auto">
              <a:spcBef>
                <a:spcPts val="0"/>
              </a:spcBef>
              <a:spcAft>
                <a:spcPts val="0"/>
              </a:spcAft>
              <a:defRPr/>
            </a:pPr>
            <a:r>
              <a:rPr lang="es-ES" sz="4000" b="1" dirty="0" smtClean="0">
                <a:solidFill>
                  <a:schemeClr val="tx2">
                    <a:lumMod val="75000"/>
                  </a:schemeClr>
                </a:solidFill>
              </a:rPr>
              <a:t>BATZ </a:t>
            </a:r>
          </a:p>
          <a:p>
            <a:pPr algn="r" fontAlgn="auto">
              <a:spcBef>
                <a:spcPts val="0"/>
              </a:spcBef>
              <a:spcAft>
                <a:spcPts val="0"/>
              </a:spcAft>
              <a:defRPr/>
            </a:pPr>
            <a:r>
              <a:rPr lang="es-ES" sz="4000" b="1" dirty="0" smtClean="0">
                <a:solidFill>
                  <a:schemeClr val="tx2">
                    <a:lumMod val="75000"/>
                  </a:schemeClr>
                </a:solidFill>
              </a:rPr>
              <a:t>AUTOMOTIVE SYSTEMS</a:t>
            </a:r>
            <a:endParaRPr lang="es-ES" sz="4000" b="1" dirty="0" smtClean="0">
              <a:solidFill>
                <a:schemeClr val="tx2">
                  <a:lumMod val="75000"/>
                </a:schemeClr>
              </a:solidFill>
              <a:latin typeface="+mn-lt"/>
              <a:cs typeface="+mn-cs"/>
            </a:endParaRPr>
          </a:p>
        </p:txBody>
      </p:sp>
      <p:sp>
        <p:nvSpPr>
          <p:cNvPr id="7" name="6 CuadroTexto"/>
          <p:cNvSpPr txBox="1"/>
          <p:nvPr/>
        </p:nvSpPr>
        <p:spPr>
          <a:xfrm>
            <a:off x="539552" y="6405632"/>
            <a:ext cx="2664296" cy="400110"/>
          </a:xfrm>
          <a:prstGeom prst="rect">
            <a:avLst/>
          </a:prstGeom>
          <a:noFill/>
        </p:spPr>
        <p:txBody>
          <a:bodyPr wrap="square" rtlCol="0">
            <a:spAutoFit/>
          </a:bodyPr>
          <a:lstStyle/>
          <a:p>
            <a:r>
              <a:rPr lang="en-US" sz="2000" b="1" dirty="0" smtClean="0">
                <a:solidFill>
                  <a:schemeClr val="bg1"/>
                </a:solidFill>
              </a:rPr>
              <a:t>August</a:t>
            </a:r>
            <a:r>
              <a:rPr lang="es-ES" sz="2000" b="1" dirty="0" smtClean="0">
                <a:solidFill>
                  <a:schemeClr val="bg1"/>
                </a:solidFill>
              </a:rPr>
              <a:t> 2022</a:t>
            </a:r>
            <a:endParaRPr lang="es-ES" sz="2000" b="1" dirty="0">
              <a:solidFill>
                <a:schemeClr val="bg1"/>
              </a:solidFill>
            </a:endParaRPr>
          </a:p>
        </p:txBody>
      </p:sp>
      <p:sp>
        <p:nvSpPr>
          <p:cNvPr id="10" name="9 CuadroTexto"/>
          <p:cNvSpPr txBox="1"/>
          <p:nvPr/>
        </p:nvSpPr>
        <p:spPr>
          <a:xfrm>
            <a:off x="3362164" y="5549096"/>
            <a:ext cx="5674331" cy="1292662"/>
          </a:xfrm>
          <a:prstGeom prst="rect">
            <a:avLst/>
          </a:prstGeom>
          <a:no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sz="2600" b="1" i="1" cap="all" dirty="0" err="1" smtClean="0">
                <a:ln w="0"/>
                <a:solidFill>
                  <a:schemeClr val="tx2">
                    <a:lumMod val="75000"/>
                  </a:schemeClr>
                </a:solidFill>
                <a:effectLst>
                  <a:reflection blurRad="12700" stA="50000" endPos="50000" dist="5000" dir="5400000" sy="-100000" rotWithShape="0"/>
                </a:effectLst>
              </a:rPr>
              <a:t>Request</a:t>
            </a:r>
            <a:r>
              <a:rPr lang="es-ES" sz="2600" b="1" i="1" cap="all" dirty="0" smtClean="0">
                <a:ln w="0"/>
                <a:solidFill>
                  <a:schemeClr val="tx2">
                    <a:lumMod val="75000"/>
                  </a:schemeClr>
                </a:solidFill>
                <a:effectLst>
                  <a:reflection blurRad="12700" stA="50000" endPos="50000" dist="5000" dir="5400000" sy="-100000" rotWithShape="0"/>
                </a:effectLst>
              </a:rPr>
              <a:t> </a:t>
            </a:r>
            <a:r>
              <a:rPr lang="es-ES" sz="2600" b="1" i="1" cap="all" dirty="0" err="1" smtClean="0">
                <a:ln w="0"/>
                <a:solidFill>
                  <a:schemeClr val="tx2">
                    <a:lumMod val="75000"/>
                  </a:schemeClr>
                </a:solidFill>
                <a:effectLst>
                  <a:reflection blurRad="12700" stA="50000" endPos="50000" dist="5000" dir="5400000" sy="-100000" rotWithShape="0"/>
                </a:effectLst>
              </a:rPr>
              <a:t>for</a:t>
            </a:r>
            <a:endParaRPr lang="es-ES" sz="2600" b="1" i="1" cap="all" dirty="0" smtClean="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r>
              <a:rPr lang="es-ES" sz="2600" b="1" i="1" cap="all" dirty="0" err="1" smtClean="0">
                <a:ln w="0"/>
                <a:solidFill>
                  <a:schemeClr val="tx2">
                    <a:lumMod val="75000"/>
                  </a:schemeClr>
                </a:solidFill>
                <a:effectLst>
                  <a:reflection blurRad="12700" stA="50000" endPos="50000" dist="5000" dir="5400000" sy="-100000" rotWithShape="0"/>
                </a:effectLst>
              </a:rPr>
              <a:t>cost</a:t>
            </a:r>
            <a:r>
              <a:rPr lang="es-ES" sz="2600" b="1" i="1" cap="all" dirty="0" smtClean="0">
                <a:ln w="0"/>
                <a:solidFill>
                  <a:schemeClr val="tx2">
                    <a:lumMod val="75000"/>
                  </a:schemeClr>
                </a:solidFill>
                <a:effectLst>
                  <a:reflection blurRad="12700" stA="50000" endPos="50000" dist="5000" dir="5400000" sy="-100000" rotWithShape="0"/>
                </a:effectLst>
              </a:rPr>
              <a:t> </a:t>
            </a:r>
            <a:r>
              <a:rPr lang="es-ES" sz="2600" b="1" i="1" cap="all" dirty="0" err="1" smtClean="0">
                <a:ln w="0"/>
                <a:solidFill>
                  <a:schemeClr val="tx2">
                    <a:lumMod val="75000"/>
                  </a:schemeClr>
                </a:solidFill>
                <a:effectLst>
                  <a:reflection blurRad="12700" stA="50000" endPos="50000" dist="5000" dir="5400000" sy="-100000" rotWithShape="0"/>
                </a:effectLst>
              </a:rPr>
              <a:t>carriers</a:t>
            </a:r>
            <a:r>
              <a:rPr lang="es-ES" sz="2600" b="1" i="1" cap="all" dirty="0" smtClean="0">
                <a:ln w="0"/>
                <a:solidFill>
                  <a:schemeClr val="tx2">
                    <a:lumMod val="75000"/>
                  </a:schemeClr>
                </a:solidFill>
                <a:effectLst>
                  <a:reflection blurRad="12700" stA="50000" endPos="50000" dist="5000" dir="5400000" sy="-100000" rotWithShape="0"/>
                </a:effectLst>
              </a:rPr>
              <a:t> </a:t>
            </a:r>
            <a:r>
              <a:rPr lang="es-ES" sz="2600" b="1" i="1" cap="all" dirty="0" err="1" smtClean="0">
                <a:ln w="0"/>
                <a:solidFill>
                  <a:srgbClr val="FF0000"/>
                </a:solidFill>
                <a:effectLst>
                  <a:reflection blurRad="12700" stA="50000" endPos="50000" dist="5000" dir="5400000" sy="-100000" rotWithShape="0"/>
                </a:effectLst>
              </a:rPr>
              <a:t>opening</a:t>
            </a:r>
            <a:r>
              <a:rPr lang="es-ES" sz="2600" b="1" i="1" cap="all" dirty="0" smtClean="0">
                <a:ln w="0"/>
                <a:solidFill>
                  <a:srgbClr val="FF0000"/>
                </a:solidFill>
                <a:effectLst>
                  <a:reflection blurRad="12700" stA="50000" endPos="50000" dist="5000" dir="5400000" sy="-100000" rotWithShape="0"/>
                </a:effectLst>
              </a:rPr>
              <a:t>/</a:t>
            </a:r>
            <a:r>
              <a:rPr lang="es-ES" sz="2600" b="1" i="1" cap="all" dirty="0" err="1" smtClean="0">
                <a:ln w="0"/>
                <a:solidFill>
                  <a:srgbClr val="FF0000"/>
                </a:solidFill>
                <a:effectLst>
                  <a:reflection blurRad="12700" stA="50000" endPos="50000" dist="5000" dir="5400000" sy="-100000" rotWithShape="0"/>
                </a:effectLst>
              </a:rPr>
              <a:t>modification</a:t>
            </a:r>
            <a:endParaRPr lang="en-US" sz="2600" b="1" i="1" cap="all" dirty="0" smtClean="0">
              <a:ln w="0"/>
              <a:solidFill>
                <a:schemeClr val="tx2">
                  <a:lumMod val="75000"/>
                </a:schemeClr>
              </a:solidFill>
              <a:effectLst>
                <a:reflection blurRad="12700" stA="50000" endPos="50000" dist="5000" dir="5400000" sy="-100000" rotWithShape="0"/>
              </a:effectLst>
            </a:endParaRPr>
          </a:p>
        </p:txBody>
      </p:sp>
      <p:sp>
        <p:nvSpPr>
          <p:cNvPr id="2" name="1 Marcador de número de diapositiva"/>
          <p:cNvSpPr>
            <a:spLocks noGrp="1"/>
          </p:cNvSpPr>
          <p:nvPr>
            <p:ph type="sldNum" sz="quarter" idx="12"/>
          </p:nvPr>
        </p:nvSpPr>
        <p:spPr/>
        <p:txBody>
          <a:bodyPr/>
          <a:lstStyle/>
          <a:p>
            <a:fld id="{132FADFE-3B8F-471C-ABF0-DBC7717ECBBC}" type="slidenum">
              <a:rPr lang="es-ES" smtClean="0"/>
              <a:pPr/>
              <a:t>2</a:t>
            </a:fld>
            <a:endParaRPr lang="es-ES" dirty="0"/>
          </a:p>
        </p:txBody>
      </p:sp>
    </p:spTree>
    <p:extLst>
      <p:ext uri="{BB962C8B-B14F-4D97-AF65-F5344CB8AC3E}">
        <p14:creationId xmlns:p14="http://schemas.microsoft.com/office/powerpoint/2010/main" val="3012992685"/>
      </p:ext>
    </p:extLst>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1412776"/>
            <a:ext cx="9144000" cy="5445224"/>
          </a:xfrm>
        </p:spPr>
        <p:txBody>
          <a:bodyPr>
            <a:normAutofit fontScale="92500" lnSpcReduction="20000"/>
          </a:bodyPr>
          <a:lstStyle/>
          <a:p>
            <a:r>
              <a:rPr lang="es-ES" sz="1800" b="1" dirty="0">
                <a:solidFill>
                  <a:srgbClr val="254061"/>
                </a:solidFill>
                <a:hlinkClick r:id="rId2" action="ppaction://hlinksldjump"/>
              </a:rPr>
              <a:t>OBJETIVE, SCOPE AND ACCESS</a:t>
            </a:r>
            <a:endParaRPr lang="es-ES" sz="1800" b="1" dirty="0">
              <a:solidFill>
                <a:srgbClr val="254061"/>
              </a:solidFill>
            </a:endParaRPr>
          </a:p>
          <a:p>
            <a:r>
              <a:rPr lang="en-US" sz="1800" b="1" dirty="0">
                <a:solidFill>
                  <a:srgbClr val="254061"/>
                </a:solidFill>
                <a:hlinkClick r:id="rId3" action="ppaction://hlinksldjump"/>
              </a:rPr>
              <a:t>CREATE A NEW PROJECT IN THE APPLICATION </a:t>
            </a:r>
            <a:r>
              <a:rPr lang="es-ES" sz="1800" b="1" dirty="0" smtClean="0">
                <a:solidFill>
                  <a:srgbClr val="254061"/>
                </a:solidFill>
              </a:rPr>
              <a:t>I,II</a:t>
            </a:r>
          </a:p>
          <a:p>
            <a:r>
              <a:rPr lang="es-ES" sz="1800" b="1" dirty="0" smtClean="0">
                <a:solidFill>
                  <a:srgbClr val="254061"/>
                </a:solidFill>
              </a:rPr>
              <a:t>EDIT REQUEST</a:t>
            </a:r>
          </a:p>
          <a:p>
            <a:pPr lvl="1"/>
            <a:r>
              <a:rPr lang="es-ES" sz="1400" b="1" dirty="0" smtClean="0">
                <a:solidFill>
                  <a:srgbClr val="254061"/>
                </a:solidFill>
                <a:hlinkClick r:id="rId4" action="ppaction://hlinksldjump"/>
              </a:rPr>
              <a:t>TABLE </a:t>
            </a:r>
            <a:r>
              <a:rPr lang="es-ES" sz="1400" b="1" dirty="0">
                <a:solidFill>
                  <a:srgbClr val="254061"/>
                </a:solidFill>
                <a:hlinkClick r:id="rId4" action="ppaction://hlinksldjump"/>
              </a:rPr>
              <a:t>STRUCTURE </a:t>
            </a:r>
            <a:r>
              <a:rPr lang="es-ES" sz="1400" b="1" dirty="0">
                <a:solidFill>
                  <a:srgbClr val="254061"/>
                </a:solidFill>
              </a:rPr>
              <a:t>- </a:t>
            </a:r>
            <a:r>
              <a:rPr lang="es-ES" sz="1400" b="1" dirty="0" smtClean="0">
                <a:solidFill>
                  <a:srgbClr val="254061"/>
                </a:solidFill>
              </a:rPr>
              <a:t>I, II</a:t>
            </a:r>
          </a:p>
          <a:p>
            <a:pPr lvl="1"/>
            <a:r>
              <a:rPr lang="en-US" sz="1400" b="1" dirty="0">
                <a:solidFill>
                  <a:srgbClr val="254061"/>
                </a:solidFill>
                <a:hlinkClick r:id="rId5" action="ppaction://hlinksldjump"/>
              </a:rPr>
              <a:t>TO CREATE NEW STEPS</a:t>
            </a:r>
            <a:endParaRPr lang="es-ES" sz="1400" b="1" dirty="0">
              <a:solidFill>
                <a:srgbClr val="254061"/>
              </a:solidFill>
            </a:endParaRPr>
          </a:p>
          <a:p>
            <a:pPr lvl="2"/>
            <a:r>
              <a:rPr lang="es-ES" sz="1400" b="1" dirty="0">
                <a:solidFill>
                  <a:srgbClr val="254061"/>
                </a:solidFill>
                <a:sym typeface="Wingdings" panose="05000000000000000000" pitchFamily="2" charset="2"/>
              </a:rPr>
              <a:t>1. </a:t>
            </a:r>
            <a:r>
              <a:rPr lang="es-ES" sz="1400" b="1" dirty="0" smtClean="0">
                <a:solidFill>
                  <a:srgbClr val="254061"/>
                </a:solidFill>
                <a:sym typeface="Wingdings" panose="05000000000000000000" pitchFamily="2" charset="2"/>
              </a:rPr>
              <a:t>STEP TYPE A1</a:t>
            </a:r>
            <a:r>
              <a:rPr lang="es-ES" sz="1400" b="1" dirty="0" smtClean="0">
                <a:solidFill>
                  <a:srgbClr val="254061"/>
                </a:solidFill>
              </a:rPr>
              <a:t>: </a:t>
            </a:r>
            <a:r>
              <a:rPr lang="es-ES" sz="1400" b="1" dirty="0">
                <a:solidFill>
                  <a:srgbClr val="254061"/>
                </a:solidFill>
              </a:rPr>
              <a:t>TIMECARDS I,II</a:t>
            </a:r>
            <a:endParaRPr lang="en-US" sz="1400" b="1" dirty="0">
              <a:solidFill>
                <a:srgbClr val="254061"/>
              </a:solidFill>
            </a:endParaRPr>
          </a:p>
          <a:p>
            <a:pPr lvl="2"/>
            <a:r>
              <a:rPr lang="es-ES" sz="1400" b="1" dirty="0">
                <a:solidFill>
                  <a:srgbClr val="254061"/>
                </a:solidFill>
                <a:sym typeface="Wingdings" panose="05000000000000000000" pitchFamily="2" charset="2"/>
              </a:rPr>
              <a:t>2. </a:t>
            </a:r>
            <a:r>
              <a:rPr lang="es-ES" sz="1400" b="1" dirty="0" smtClean="0">
                <a:solidFill>
                  <a:srgbClr val="254061"/>
                </a:solidFill>
              </a:rPr>
              <a:t>STEP TYPE A2: </a:t>
            </a:r>
            <a:r>
              <a:rPr lang="es-ES" sz="1400" b="1" dirty="0">
                <a:solidFill>
                  <a:srgbClr val="254061"/>
                </a:solidFill>
              </a:rPr>
              <a:t>TECHNICAL OFFER-BUDGED  I, II</a:t>
            </a:r>
          </a:p>
          <a:p>
            <a:pPr lvl="2"/>
            <a:r>
              <a:rPr lang="es-ES" sz="1400" b="1" dirty="0">
                <a:solidFill>
                  <a:srgbClr val="254061"/>
                </a:solidFill>
              </a:rPr>
              <a:t>3. </a:t>
            </a:r>
            <a:r>
              <a:rPr lang="es-ES" sz="1400" b="1" dirty="0" smtClean="0">
                <a:solidFill>
                  <a:srgbClr val="254061"/>
                </a:solidFill>
              </a:rPr>
              <a:t>STEP TYPE B : </a:t>
            </a:r>
            <a:r>
              <a:rPr lang="en-US" sz="1400" b="1" dirty="0">
                <a:solidFill>
                  <a:srgbClr val="254061"/>
                </a:solidFill>
              </a:rPr>
              <a:t>MANUAL I, II, III, IV</a:t>
            </a:r>
            <a:endParaRPr lang="es-ES" sz="1400" b="1" dirty="0">
              <a:solidFill>
                <a:srgbClr val="254061"/>
              </a:solidFill>
            </a:endParaRPr>
          </a:p>
          <a:p>
            <a:pPr lvl="1"/>
            <a:r>
              <a:rPr lang="en-US" sz="1400" b="1" dirty="0" smtClean="0">
                <a:solidFill>
                  <a:srgbClr val="254061"/>
                </a:solidFill>
                <a:hlinkClick r:id="rId6" action="ppaction://hlinksldjump"/>
              </a:rPr>
              <a:t>PROJECT SHORT NAME</a:t>
            </a:r>
            <a:endParaRPr lang="es-ES" sz="1400" b="1" dirty="0" smtClean="0">
              <a:solidFill>
                <a:srgbClr val="254061"/>
              </a:solidFill>
            </a:endParaRPr>
          </a:p>
          <a:p>
            <a:r>
              <a:rPr lang="es-ES" sz="1800" b="1" dirty="0">
                <a:solidFill>
                  <a:srgbClr val="254061"/>
                </a:solidFill>
              </a:rPr>
              <a:t>SENDING TO VALIDATION </a:t>
            </a:r>
            <a:r>
              <a:rPr lang="es-ES" sz="1800" b="1" dirty="0" smtClean="0">
                <a:solidFill>
                  <a:srgbClr val="254061"/>
                </a:solidFill>
              </a:rPr>
              <a:t> (STEPS)</a:t>
            </a:r>
          </a:p>
          <a:p>
            <a:pPr lvl="1"/>
            <a:r>
              <a:rPr lang="en-US" sz="1400" b="1" dirty="0">
                <a:solidFill>
                  <a:srgbClr val="254061"/>
                </a:solidFill>
                <a:hlinkClick r:id="rId7" action="ppaction://hlinksldjump"/>
              </a:rPr>
              <a:t>SELECT STEPS</a:t>
            </a:r>
            <a:endParaRPr lang="es-ES" sz="1400" b="1" dirty="0">
              <a:solidFill>
                <a:srgbClr val="254061"/>
              </a:solidFill>
            </a:endParaRPr>
          </a:p>
          <a:p>
            <a:pPr lvl="1"/>
            <a:r>
              <a:rPr lang="es-ES" sz="1400" b="1" dirty="0" smtClean="0">
                <a:solidFill>
                  <a:srgbClr val="254061"/>
                </a:solidFill>
                <a:hlinkClick r:id="rId8" action="ppaction://hlinksldjump"/>
              </a:rPr>
              <a:t>STEPS VALIDATION SENDING PAGE</a:t>
            </a:r>
            <a:r>
              <a:rPr lang="es-ES" sz="1400" b="1" dirty="0">
                <a:solidFill>
                  <a:srgbClr val="254061"/>
                </a:solidFill>
              </a:rPr>
              <a:t> </a:t>
            </a:r>
            <a:r>
              <a:rPr lang="es-ES" sz="1400" b="1" dirty="0" smtClean="0">
                <a:solidFill>
                  <a:srgbClr val="254061"/>
                </a:solidFill>
              </a:rPr>
              <a:t>I,II, III.</a:t>
            </a:r>
          </a:p>
          <a:p>
            <a:pPr lvl="1"/>
            <a:r>
              <a:rPr lang="es-ES" sz="1400" b="1" dirty="0" smtClean="0">
                <a:solidFill>
                  <a:srgbClr val="254061"/>
                </a:solidFill>
                <a:hlinkClick r:id="rId9" action="ppaction://hlinksldjump"/>
              </a:rPr>
              <a:t>FLOW </a:t>
            </a:r>
            <a:endParaRPr lang="es-ES" sz="1400" b="1" dirty="0">
              <a:solidFill>
                <a:srgbClr val="254061"/>
              </a:solidFill>
            </a:endParaRPr>
          </a:p>
          <a:p>
            <a:pPr lvl="1"/>
            <a:r>
              <a:rPr lang="en-US" sz="1400" b="1" dirty="0">
                <a:solidFill>
                  <a:srgbClr val="254061"/>
                </a:solidFill>
              </a:rPr>
              <a:t>POSSIBLE MESSAGES/ WARNINGS WHEN YOU SEND TO VALIDATE</a:t>
            </a:r>
          </a:p>
          <a:p>
            <a:pPr lvl="2"/>
            <a:r>
              <a:rPr lang="en-US" sz="1000" b="1" dirty="0" smtClean="0">
                <a:solidFill>
                  <a:srgbClr val="254061"/>
                </a:solidFill>
                <a:hlinkClick r:id="rId10" action="ppaction://hlinksldjump"/>
              </a:rPr>
              <a:t>YOU SHOULD INFORM ABOUT PROJECT AFFECTED (FOR </a:t>
            </a:r>
            <a:r>
              <a:rPr lang="en-US" sz="1000" b="1" dirty="0">
                <a:solidFill>
                  <a:srgbClr val="254061"/>
                </a:solidFill>
                <a:hlinkClick r:id="rId10" action="ppaction://hlinksldjump"/>
              </a:rPr>
              <a:t>ECO’S)</a:t>
            </a:r>
            <a:endParaRPr lang="en-US" sz="1000" b="1" dirty="0">
              <a:solidFill>
                <a:srgbClr val="254061"/>
              </a:solidFill>
            </a:endParaRPr>
          </a:p>
          <a:p>
            <a:pPr lvl="2"/>
            <a:r>
              <a:rPr lang="en-US" sz="1000" b="1" dirty="0" smtClean="0">
                <a:solidFill>
                  <a:srgbClr val="254061"/>
                </a:solidFill>
                <a:hlinkClick r:id="rId11" action="ppaction://hlinksldjump"/>
              </a:rPr>
              <a:t>THE PROJECT DOES NOT CONTAIN ABREVIATION</a:t>
            </a:r>
            <a:endParaRPr lang="en-US" sz="1000" b="1" dirty="0">
              <a:solidFill>
                <a:srgbClr val="254061"/>
              </a:solidFill>
            </a:endParaRPr>
          </a:p>
          <a:p>
            <a:pPr lvl="2"/>
            <a:r>
              <a:rPr lang="en-US" sz="1000" b="1" dirty="0">
                <a:solidFill>
                  <a:srgbClr val="254061"/>
                </a:solidFill>
                <a:hlinkClick r:id="rId12" action="ppaction://hlinksldjump"/>
              </a:rPr>
              <a:t>BUDGET APPROVED </a:t>
            </a:r>
            <a:r>
              <a:rPr lang="en-US" sz="1000" b="1" dirty="0" smtClean="0">
                <a:solidFill>
                  <a:srgbClr val="254061"/>
                </a:solidFill>
                <a:hlinkClick r:id="rId12" action="ppaction://hlinksldjump"/>
              </a:rPr>
              <a:t>DIFFERS FROM EXPENSES SUM</a:t>
            </a:r>
            <a:endParaRPr lang="es-ES" sz="1400" b="1" dirty="0" smtClean="0">
              <a:solidFill>
                <a:srgbClr val="254061"/>
              </a:solidFill>
            </a:endParaRPr>
          </a:p>
          <a:p>
            <a:r>
              <a:rPr lang="es-ES" sz="1800" b="1" dirty="0" smtClean="0">
                <a:solidFill>
                  <a:srgbClr val="254061"/>
                </a:solidFill>
              </a:rPr>
              <a:t>SENDING TO VALIDATION (GENERAL INFO)</a:t>
            </a:r>
            <a:endParaRPr lang="es-ES" sz="1800" b="1" dirty="0">
              <a:solidFill>
                <a:srgbClr val="254061"/>
              </a:solidFill>
            </a:endParaRPr>
          </a:p>
          <a:p>
            <a:pPr lvl="1"/>
            <a:r>
              <a:rPr lang="en-US" sz="1400" b="1" dirty="0" smtClean="0">
                <a:solidFill>
                  <a:srgbClr val="254061"/>
                </a:solidFill>
                <a:hlinkClick r:id="rId13" action="ppaction://hlinksldjump"/>
              </a:rPr>
              <a:t>UPDATING OF THE GENERAL INFO </a:t>
            </a:r>
            <a:r>
              <a:rPr lang="en-US" sz="1400" b="1" dirty="0" smtClean="0">
                <a:solidFill>
                  <a:srgbClr val="254061"/>
                </a:solidFill>
              </a:rPr>
              <a:t>I, II</a:t>
            </a:r>
            <a:endParaRPr lang="es-ES" sz="1400" b="1" dirty="0" smtClean="0">
              <a:solidFill>
                <a:srgbClr val="254061"/>
              </a:solidFill>
            </a:endParaRPr>
          </a:p>
          <a:p>
            <a:pPr lvl="1"/>
            <a:r>
              <a:rPr lang="es-ES" sz="1400" b="1" dirty="0" smtClean="0">
                <a:solidFill>
                  <a:srgbClr val="254061"/>
                </a:solidFill>
                <a:hlinkClick r:id="rId14" action="ppaction://hlinksldjump"/>
              </a:rPr>
              <a:t>FLOW</a:t>
            </a:r>
            <a:endParaRPr lang="en-US" sz="1400" b="1" dirty="0">
              <a:solidFill>
                <a:srgbClr val="254061"/>
              </a:solidFill>
            </a:endParaRPr>
          </a:p>
          <a:p>
            <a:pPr indent="-285750"/>
            <a:r>
              <a:rPr lang="es-ES" sz="1800" b="1" dirty="0" smtClean="0">
                <a:solidFill>
                  <a:srgbClr val="254061"/>
                </a:solidFill>
                <a:hlinkClick r:id="rId15" action="ppaction://hlinksldjump"/>
              </a:rPr>
              <a:t>STATES OF THE STEP</a:t>
            </a:r>
            <a:endParaRPr lang="es-ES" sz="1800" b="1" dirty="0" smtClean="0">
              <a:solidFill>
                <a:srgbClr val="254061"/>
              </a:solidFill>
            </a:endParaRPr>
          </a:p>
          <a:p>
            <a:pPr indent="-285750"/>
            <a:r>
              <a:rPr lang="es-ES" sz="1800" b="1" dirty="0" smtClean="0">
                <a:solidFill>
                  <a:srgbClr val="254061"/>
                </a:solidFill>
                <a:hlinkClick r:id="rId16" action="ppaction://hlinksldjump"/>
              </a:rPr>
              <a:t>REAL DATA</a:t>
            </a:r>
            <a:endParaRPr lang="es-ES" sz="1800" b="1" dirty="0" smtClean="0">
              <a:solidFill>
                <a:srgbClr val="254061"/>
              </a:solidFill>
            </a:endParaRPr>
          </a:p>
          <a:p>
            <a:pPr indent="-285750"/>
            <a:r>
              <a:rPr lang="es-ES" sz="1800" b="1" dirty="0" smtClean="0">
                <a:solidFill>
                  <a:srgbClr val="254061"/>
                </a:solidFill>
                <a:hlinkClick r:id="rId17" action="ppaction://hlinksldjump"/>
              </a:rPr>
              <a:t>MODIFICATION OF REJECTED STEP</a:t>
            </a:r>
            <a:endParaRPr lang="es-ES" sz="1800" b="1" dirty="0" smtClean="0">
              <a:solidFill>
                <a:srgbClr val="254061"/>
              </a:solidFill>
            </a:endParaRPr>
          </a:p>
          <a:p>
            <a:pPr indent="-285750"/>
            <a:r>
              <a:rPr lang="es-ES" sz="1800" b="1" dirty="0" smtClean="0">
                <a:solidFill>
                  <a:srgbClr val="254061"/>
                </a:solidFill>
                <a:hlinkClick r:id="rId18" action="ppaction://hlinksldjump"/>
              </a:rPr>
              <a:t>MODIFICATION OF APPROVED STEP</a:t>
            </a:r>
            <a:endParaRPr lang="es-ES" sz="1800" b="1" dirty="0" smtClean="0">
              <a:solidFill>
                <a:srgbClr val="254061"/>
              </a:solidFill>
            </a:endParaRPr>
          </a:p>
          <a:p>
            <a:pPr indent="-285750"/>
            <a:r>
              <a:rPr lang="en-US" sz="1800" b="1" dirty="0" smtClean="0">
                <a:solidFill>
                  <a:srgbClr val="254061"/>
                </a:solidFill>
                <a:hlinkClick r:id="rId19" action="ppaction://hlinksldjump"/>
              </a:rPr>
              <a:t>INMEDIATE SYNCRONIZATION OF PTKSIS INFO</a:t>
            </a:r>
            <a:endParaRPr lang="en-US" sz="1800" b="1" dirty="0">
              <a:solidFill>
                <a:srgbClr val="254061"/>
              </a:solidFill>
            </a:endParaRPr>
          </a:p>
          <a:p>
            <a:pPr marL="57150" indent="0">
              <a:buNone/>
            </a:pPr>
            <a:endParaRPr lang="en-US" sz="1800" b="1" dirty="0">
              <a:solidFill>
                <a:srgbClr val="254061"/>
              </a:solidFill>
            </a:endParaRPr>
          </a:p>
          <a:p>
            <a:pPr marL="457200" lvl="1" indent="0">
              <a:buNone/>
            </a:pPr>
            <a:endParaRPr lang="en-US" sz="1400" b="1" dirty="0">
              <a:solidFill>
                <a:srgbClr val="254061"/>
              </a:solidFill>
            </a:endParaRPr>
          </a:p>
          <a:p>
            <a:pPr lvl="1"/>
            <a:endParaRPr lang="en-US" sz="1400" b="1" dirty="0">
              <a:solidFill>
                <a:srgbClr val="254061"/>
              </a:solidFill>
            </a:endParaRPr>
          </a:p>
          <a:p>
            <a:endParaRPr lang="en-US" sz="1800" b="1" dirty="0">
              <a:solidFill>
                <a:srgbClr val="254061"/>
              </a:solidFill>
            </a:endParaRPr>
          </a:p>
          <a:p>
            <a:endParaRPr lang="en-US" sz="1800" b="1" dirty="0">
              <a:solidFill>
                <a:srgbClr val="254061"/>
              </a:solidFill>
            </a:endParaRPr>
          </a:p>
          <a:p>
            <a:pPr marL="0" indent="0">
              <a:buNone/>
            </a:pPr>
            <a:endParaRPr lang="en-US" sz="1800" b="1" dirty="0">
              <a:solidFill>
                <a:srgbClr val="254061"/>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a:t>
            </a:fld>
            <a:endParaRPr lang="es-ES" dirty="0"/>
          </a:p>
        </p:txBody>
      </p:sp>
      <p:sp>
        <p:nvSpPr>
          <p:cNvPr id="5" name="4 CuadroTexto"/>
          <p:cNvSpPr txBox="1"/>
          <p:nvPr/>
        </p:nvSpPr>
        <p:spPr>
          <a:xfrm>
            <a:off x="251521" y="1043444"/>
            <a:ext cx="8136903" cy="369332"/>
          </a:xfrm>
          <a:prstGeom prst="rect">
            <a:avLst/>
          </a:prstGeom>
          <a:noFill/>
        </p:spPr>
        <p:txBody>
          <a:bodyPr wrap="square" rtlCol="0">
            <a:spAutoFit/>
          </a:bodyPr>
          <a:lstStyle/>
          <a:p>
            <a:r>
              <a:rPr lang="es-ES" b="1" dirty="0" smtClean="0">
                <a:solidFill>
                  <a:srgbClr val="254061"/>
                </a:solidFill>
              </a:rPr>
              <a:t>INDEX</a:t>
            </a:r>
            <a:endParaRPr lang="en-US" b="1" dirty="0">
              <a:solidFill>
                <a:srgbClr val="254061"/>
              </a:solidFill>
            </a:endParaRPr>
          </a:p>
        </p:txBody>
      </p:sp>
    </p:spTree>
    <p:extLst>
      <p:ext uri="{BB962C8B-B14F-4D97-AF65-F5344CB8AC3E}">
        <p14:creationId xmlns:p14="http://schemas.microsoft.com/office/powerpoint/2010/main" val="1749166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132FADFE-3B8F-471C-ABF0-DBC7717ECBBC}" type="slidenum">
              <a:rPr lang="es-ES" smtClean="0"/>
              <a:pPr/>
              <a:t>4</a:t>
            </a:fld>
            <a:endParaRPr lang="es-ES" dirty="0"/>
          </a:p>
        </p:txBody>
      </p:sp>
      <p:sp>
        <p:nvSpPr>
          <p:cNvPr id="5" name="4 CuadroTexto"/>
          <p:cNvSpPr txBox="1"/>
          <p:nvPr/>
        </p:nvSpPr>
        <p:spPr>
          <a:xfrm>
            <a:off x="251521" y="1043444"/>
            <a:ext cx="8136903" cy="369332"/>
          </a:xfrm>
          <a:prstGeom prst="rect">
            <a:avLst/>
          </a:prstGeom>
          <a:noFill/>
        </p:spPr>
        <p:txBody>
          <a:bodyPr wrap="square" rtlCol="0">
            <a:spAutoFit/>
          </a:bodyPr>
          <a:lstStyle/>
          <a:p>
            <a:r>
              <a:rPr lang="es-ES" b="1" dirty="0">
                <a:solidFill>
                  <a:srgbClr val="254061"/>
                </a:solidFill>
              </a:rPr>
              <a:t>OBJETIVE, SCOPE AND ACCESS</a:t>
            </a:r>
            <a:endParaRPr lang="en-US" b="1" dirty="0">
              <a:solidFill>
                <a:srgbClr val="254061"/>
              </a:solidFill>
            </a:endParaRPr>
          </a:p>
        </p:txBody>
      </p:sp>
      <p:sp>
        <p:nvSpPr>
          <p:cNvPr id="7" name="6 Rectángulo"/>
          <p:cNvSpPr/>
          <p:nvPr/>
        </p:nvSpPr>
        <p:spPr>
          <a:xfrm>
            <a:off x="251521" y="1822172"/>
            <a:ext cx="8496944" cy="4524315"/>
          </a:xfrm>
          <a:prstGeom prst="rect">
            <a:avLst/>
          </a:prstGeom>
        </p:spPr>
        <p:txBody>
          <a:bodyPr wrap="square">
            <a:spAutoFit/>
          </a:bodyPr>
          <a:lstStyle/>
          <a:p>
            <a:pPr algn="just"/>
            <a:r>
              <a:rPr lang="es-ES" sz="1600" b="1" dirty="0" smtClean="0">
                <a:latin typeface="Arial" panose="020B0604020202020204" pitchFamily="34" charset="0"/>
                <a:cs typeface="Arial" panose="020B0604020202020204" pitchFamily="34" charset="0"/>
              </a:rPr>
              <a:t>OBJETIVE: </a:t>
            </a:r>
            <a:r>
              <a:rPr lang="en-US" sz="1600" dirty="0" smtClean="0">
                <a:latin typeface="Arial" panose="020B0604020202020204" pitchFamily="34" charset="0"/>
                <a:cs typeface="Arial" panose="020B0604020202020204" pitchFamily="34" charset="0"/>
              </a:rPr>
              <a:t>Improve </a:t>
            </a:r>
            <a:r>
              <a:rPr lang="en-US" sz="1600" dirty="0">
                <a:latin typeface="Arial" panose="020B0604020202020204" pitchFamily="34" charset="0"/>
                <a:cs typeface="Arial" panose="020B0604020202020204" pitchFamily="34" charset="0"/>
              </a:rPr>
              <a:t>the cost carrier request process for new projects or modifications. Improve the economic monitoring of the project, reduce the time to obtain indicators.</a:t>
            </a:r>
            <a:endParaRPr lang="es-ES" sz="1600" dirty="0" smtClean="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r>
              <a:rPr lang="es-ES" sz="1600" b="1" dirty="0">
                <a:latin typeface="Arial" panose="020B0604020202020204" pitchFamily="34" charset="0"/>
                <a:cs typeface="Arial" panose="020B0604020202020204" pitchFamily="34" charset="0"/>
              </a:rPr>
              <a:t>SCOPE: </a:t>
            </a:r>
            <a:r>
              <a:rPr lang="en-US" sz="1600" dirty="0">
                <a:latin typeface="Arial" panose="020B0604020202020204" pitchFamily="34" charset="0"/>
                <a:cs typeface="Arial" panose="020B0604020202020204" pitchFamily="34" charset="0"/>
              </a:rPr>
              <a:t>All cost carriers regarding to </a:t>
            </a:r>
            <a:r>
              <a:rPr lang="en-US" sz="1600" dirty="0" smtClean="0">
                <a:latin typeface="Arial" panose="020B0604020202020204" pitchFamily="34" charset="0"/>
                <a:cs typeface="Arial" panose="020B0604020202020204" pitchFamily="34" charset="0"/>
              </a:rPr>
              <a:t>Industrialization, Advance, Predevelopment and ECO (change) projects </a:t>
            </a:r>
            <a:r>
              <a:rPr lang="en-US" sz="1600" dirty="0">
                <a:latin typeface="Arial" panose="020B0604020202020204" pitchFamily="34" charset="0"/>
                <a:cs typeface="Arial" panose="020B0604020202020204" pitchFamily="34" charset="0"/>
              </a:rPr>
              <a:t>will be requested through this application</a:t>
            </a:r>
            <a:r>
              <a:rPr lang="es-ES" sz="1600" dirty="0">
                <a:latin typeface="Arial" panose="020B0604020202020204" pitchFamily="34" charset="0"/>
                <a:cs typeface="Arial" panose="020B0604020202020204" pitchFamily="34" charset="0"/>
              </a:rPr>
              <a:t>.</a:t>
            </a:r>
          </a:p>
          <a:p>
            <a:pPr algn="just"/>
            <a:endParaRPr lang="es-ES" sz="1600" dirty="0">
              <a:latin typeface="Arial" panose="020B0604020202020204" pitchFamily="34" charset="0"/>
              <a:cs typeface="Arial" panose="020B0604020202020204" pitchFamily="34" charset="0"/>
            </a:endParaRPr>
          </a:p>
          <a:p>
            <a:pPr algn="just"/>
            <a:endParaRPr lang="es-ES" sz="1600" dirty="0">
              <a:latin typeface="Arial" panose="020B0604020202020204" pitchFamily="34" charset="0"/>
              <a:cs typeface="Arial" panose="020B0604020202020204" pitchFamily="34" charset="0"/>
            </a:endParaRPr>
          </a:p>
          <a:p>
            <a:pPr algn="just"/>
            <a:endParaRPr lang="es-ES" sz="1600" b="1" dirty="0">
              <a:latin typeface="Arial" panose="020B0604020202020204" pitchFamily="34" charset="0"/>
              <a:cs typeface="Arial" panose="020B0604020202020204" pitchFamily="34" charset="0"/>
            </a:endParaRPr>
          </a:p>
          <a:p>
            <a:pPr algn="just"/>
            <a:endParaRPr lang="es-ES" sz="1600" b="1" dirty="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pPr algn="just"/>
            <a:endParaRPr lang="es-ES" sz="1600" b="1" dirty="0">
              <a:latin typeface="Arial" panose="020B0604020202020204" pitchFamily="34" charset="0"/>
              <a:cs typeface="Arial" panose="020B0604020202020204" pitchFamily="34" charset="0"/>
            </a:endParaRPr>
          </a:p>
          <a:p>
            <a:pPr algn="just"/>
            <a:r>
              <a:rPr lang="es-ES" sz="1600" b="1" dirty="0" smtClean="0">
                <a:latin typeface="Arial" panose="020B0604020202020204" pitchFamily="34" charset="0"/>
                <a:cs typeface="Arial" panose="020B0604020202020204" pitchFamily="34" charset="0"/>
              </a:rPr>
              <a:t>ACCESS</a:t>
            </a:r>
            <a:r>
              <a:rPr lang="es-ES" sz="1600" b="1" dirty="0">
                <a:latin typeface="Arial" panose="020B0604020202020204" pitchFamily="34" charset="0"/>
                <a:cs typeface="Arial" panose="020B0604020202020204" pitchFamily="34" charset="0"/>
              </a:rPr>
              <a:t>: </a:t>
            </a:r>
            <a:r>
              <a:rPr lang="es-ES" sz="1600" dirty="0">
                <a:latin typeface="Arial" panose="020B0604020202020204" pitchFamily="34" charset="0"/>
                <a:cs typeface="Arial" panose="020B0604020202020204" pitchFamily="34" charset="0"/>
              </a:rPr>
              <a:t>Intranet </a:t>
            </a:r>
            <a:r>
              <a:rPr lang="es-ES" sz="1600" dirty="0" err="1">
                <a:latin typeface="Arial" panose="020B0604020202020204" pitchFamily="34" charset="0"/>
                <a:cs typeface="Arial" panose="020B0604020202020204" pitchFamily="34" charset="0"/>
              </a:rPr>
              <a:t>icon</a:t>
            </a:r>
            <a:endParaRPr lang="es-ES" sz="1600" b="1" dirty="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pPr algn="just"/>
            <a:endParaRPr lang="es-ES" sz="1600" b="1" dirty="0">
              <a:latin typeface="Arial" panose="020B0604020202020204" pitchFamily="34" charset="0"/>
              <a:cs typeface="Arial" panose="020B0604020202020204" pitchFamily="34" charset="0"/>
            </a:endParaRPr>
          </a:p>
          <a:p>
            <a:pPr algn="just"/>
            <a:endParaRPr lang="es-ES" sz="1600" dirty="0" smtClean="0">
              <a:latin typeface="Arial" panose="020B0604020202020204" pitchFamily="34" charset="0"/>
              <a:cs typeface="Arial" panose="020B0604020202020204" pitchFamily="34" charset="0"/>
            </a:endParaRPr>
          </a:p>
          <a:p>
            <a:pPr algn="just"/>
            <a:endParaRPr lang="es-ES" sz="1600" dirty="0" smtClean="0">
              <a:latin typeface="Arial" panose="020B0604020202020204" pitchFamily="34" charset="0"/>
              <a:cs typeface="Arial" panose="020B0604020202020204" pitchFamily="34" charset="0"/>
            </a:endParaRPr>
          </a:p>
          <a:p>
            <a:pPr lvl="0" algn="just"/>
            <a:endParaRPr lang="en-US" sz="1600" dirty="0">
              <a:latin typeface="Arial" panose="020B0604020202020204" pitchFamily="34" charset="0"/>
              <a:cs typeface="Arial" panose="020B0604020202020204" pitchFamily="34"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0500" y="4646240"/>
            <a:ext cx="1190625" cy="704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4524350"/>
            <a:ext cx="3012183" cy="121880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0" name="9 Flecha derecha"/>
          <p:cNvSpPr/>
          <p:nvPr/>
        </p:nvSpPr>
        <p:spPr>
          <a:xfrm>
            <a:off x="4697760" y="4826260"/>
            <a:ext cx="378296" cy="172405"/>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 name="1 Rectángulo"/>
          <p:cNvSpPr/>
          <p:nvPr/>
        </p:nvSpPr>
        <p:spPr>
          <a:xfrm>
            <a:off x="5256076" y="4646240"/>
            <a:ext cx="900100" cy="352425"/>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10 Llamada rectangular"/>
          <p:cNvSpPr/>
          <p:nvPr/>
        </p:nvSpPr>
        <p:spPr>
          <a:xfrm>
            <a:off x="3694538" y="5743151"/>
            <a:ext cx="1561538" cy="603335"/>
          </a:xfrm>
          <a:prstGeom prst="wedgeRectCallout">
            <a:avLst>
              <a:gd name="adj1" fmla="val 54459"/>
              <a:gd name="adj2" fmla="val -19379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smtClean="0">
                <a:solidFill>
                  <a:schemeClr val="tx1"/>
                </a:solidFill>
                <a:latin typeface="Arial" panose="020B0604020202020204" pitchFamily="34" charset="0"/>
                <a:cs typeface="Arial" panose="020B0604020202020204" pitchFamily="34" charset="0"/>
              </a:rPr>
              <a:t>Shows all projects of </a:t>
            </a:r>
            <a:r>
              <a:rPr lang="en-US" sz="1000" dirty="0">
                <a:solidFill>
                  <a:schemeClr val="tx1"/>
                </a:solidFill>
                <a:latin typeface="Arial" panose="020B0604020202020204" pitchFamily="34" charset="0"/>
                <a:cs typeface="Arial" panose="020B0604020202020204" pitchFamily="34" charset="0"/>
              </a:rPr>
              <a:t>the logged in user (</a:t>
            </a:r>
            <a:r>
              <a:rPr lang="en-US" sz="1000" dirty="0" smtClean="0">
                <a:solidFill>
                  <a:schemeClr val="tx1"/>
                </a:solidFill>
                <a:latin typeface="Arial" panose="020B0604020202020204" pitchFamily="34" charset="0"/>
                <a:cs typeface="Arial" panose="020B0604020202020204" pitchFamily="34" charset="0"/>
              </a:rPr>
              <a:t>project owner/co-owner in PTKSIS)</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25063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upo 14"/>
          <p:cNvGrpSpPr/>
          <p:nvPr/>
        </p:nvGrpSpPr>
        <p:grpSpPr>
          <a:xfrm>
            <a:off x="4986642" y="2924944"/>
            <a:ext cx="3304162" cy="2490855"/>
            <a:chOff x="4838625" y="3047975"/>
            <a:chExt cx="3680476" cy="2901305"/>
          </a:xfrm>
        </p:grpSpPr>
        <p:pic>
          <p:nvPicPr>
            <p:cNvPr id="1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8625" y="3047975"/>
              <a:ext cx="3680476" cy="290130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7" name="Imagen 16"/>
            <p:cNvPicPr>
              <a:picLocks noChangeAspect="1"/>
            </p:cNvPicPr>
            <p:nvPr/>
          </p:nvPicPr>
          <p:blipFill>
            <a:blip r:embed="rId3"/>
            <a:stretch>
              <a:fillRect/>
            </a:stretch>
          </p:blipFill>
          <p:spPr>
            <a:xfrm>
              <a:off x="4838625" y="3428484"/>
              <a:ext cx="3680476" cy="412361"/>
            </a:xfrm>
            <a:prstGeom prst="rect">
              <a:avLst/>
            </a:prstGeom>
          </p:spPr>
        </p:pic>
      </p:grpSp>
      <p:sp>
        <p:nvSpPr>
          <p:cNvPr id="4" name="3 Marcador de número de diapositiva"/>
          <p:cNvSpPr>
            <a:spLocks noGrp="1"/>
          </p:cNvSpPr>
          <p:nvPr>
            <p:ph type="sldNum" sz="quarter" idx="12"/>
          </p:nvPr>
        </p:nvSpPr>
        <p:spPr/>
        <p:txBody>
          <a:bodyPr/>
          <a:lstStyle/>
          <a:p>
            <a:fld id="{132FADFE-3B8F-471C-ABF0-DBC7717ECBBC}" type="slidenum">
              <a:rPr lang="es-ES" smtClean="0"/>
              <a:pPr/>
              <a:t>5</a:t>
            </a:fld>
            <a:endParaRPr lang="es-ES"/>
          </a:p>
        </p:txBody>
      </p:sp>
      <p:sp>
        <p:nvSpPr>
          <p:cNvPr id="5" name="4 CuadroTexto"/>
          <p:cNvSpPr txBox="1"/>
          <p:nvPr/>
        </p:nvSpPr>
        <p:spPr>
          <a:xfrm>
            <a:off x="296643" y="1043444"/>
            <a:ext cx="7011662" cy="369332"/>
          </a:xfrm>
          <a:prstGeom prst="rect">
            <a:avLst/>
          </a:prstGeom>
          <a:noFill/>
        </p:spPr>
        <p:txBody>
          <a:bodyPr wrap="square" rtlCol="0">
            <a:spAutoFit/>
          </a:bodyPr>
          <a:lstStyle>
            <a:defPPr>
              <a:defRPr lang="es-ES"/>
            </a:defPPr>
            <a:lvl1pPr>
              <a:defRPr b="1">
                <a:solidFill>
                  <a:srgbClr val="254061"/>
                </a:solidFill>
              </a:defRPr>
            </a:lvl1pPr>
          </a:lstStyle>
          <a:p>
            <a:r>
              <a:rPr lang="en-US" dirty="0" smtClean="0"/>
              <a:t>CREATE A NEW PROJECT IN THE APPLICATION - </a:t>
            </a:r>
            <a:r>
              <a:rPr lang="es-ES" dirty="0" smtClean="0"/>
              <a:t>I</a:t>
            </a:r>
            <a:endParaRPr lang="en-US" dirty="0"/>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3047975"/>
            <a:ext cx="1190625" cy="704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6495" y="3047975"/>
            <a:ext cx="2577226" cy="116014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4" name="23 Llamada rectangular"/>
          <p:cNvSpPr/>
          <p:nvPr/>
        </p:nvSpPr>
        <p:spPr>
          <a:xfrm>
            <a:off x="7452320" y="3840845"/>
            <a:ext cx="1561538" cy="504056"/>
          </a:xfrm>
          <a:prstGeom prst="wedgeRectCallout">
            <a:avLst>
              <a:gd name="adj1" fmla="val -62046"/>
              <a:gd name="adj2" fmla="val -483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Select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project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type</a:t>
            </a:r>
            <a:endParaRPr lang="es-ES" sz="1000" dirty="0">
              <a:solidFill>
                <a:schemeClr val="tx1"/>
              </a:solidFill>
              <a:latin typeface="Arial" panose="020B0604020202020204" pitchFamily="34" charset="0"/>
              <a:cs typeface="Arial" panose="020B0604020202020204" pitchFamily="34" charset="0"/>
            </a:endParaRPr>
          </a:p>
        </p:txBody>
      </p:sp>
      <p:sp>
        <p:nvSpPr>
          <p:cNvPr id="6" name="5 Rectángulo"/>
          <p:cNvSpPr/>
          <p:nvPr/>
        </p:nvSpPr>
        <p:spPr>
          <a:xfrm>
            <a:off x="140012" y="1570647"/>
            <a:ext cx="8114900" cy="1323439"/>
          </a:xfrm>
          <a:prstGeom prst="rect">
            <a:avLst/>
          </a:prstGeom>
        </p:spPr>
        <p:txBody>
          <a:bodyPr wrap="square">
            <a:spAutoFit/>
          </a:bodyPr>
          <a:lstStyle/>
          <a:p>
            <a:pPr marL="285750" indent="-285750">
              <a:buFont typeface="Arial" panose="020B0604020202020204" pitchFamily="34" charset="0"/>
              <a:buChar char="•"/>
            </a:pPr>
            <a:r>
              <a:rPr lang="en-US" sz="1600" dirty="0" smtClean="0">
                <a:latin typeface="Arial" panose="020B0604020202020204" pitchFamily="34" charset="0"/>
                <a:cs typeface="Arial" panose="020B0604020202020204" pitchFamily="34" charset="0"/>
              </a:rPr>
              <a:t>Requirements for all projects:</a:t>
            </a:r>
            <a:endParaRPr lang="en-US" sz="16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en-US" sz="1600" dirty="0">
                <a:latin typeface="Arial" panose="020B0604020202020204" pitchFamily="34" charset="0"/>
                <a:cs typeface="Arial" panose="020B0604020202020204" pitchFamily="34" charset="0"/>
              </a:rPr>
              <a:t>To be Owner or Co-Owner of the project in PTKSIS</a:t>
            </a:r>
          </a:p>
          <a:p>
            <a:pPr marL="742950" lvl="1" indent="-285750">
              <a:buFont typeface="Wingdings" panose="05000000000000000000" pitchFamily="2" charset="2"/>
              <a:buChar char="§"/>
            </a:pPr>
            <a:r>
              <a:rPr lang="en-US" sz="1600" dirty="0" smtClean="0">
                <a:latin typeface="Arial" panose="020B0604020202020204" pitchFamily="34" charset="0"/>
                <a:cs typeface="Arial" panose="020B0604020202020204" pitchFamily="34" charset="0"/>
              </a:rPr>
              <a:t>Project planning must be finalized in timecards application.</a:t>
            </a:r>
          </a:p>
          <a:p>
            <a:pPr marL="285750" indent="-285750">
              <a:buFont typeface="Arial" panose="020B0604020202020204" pitchFamily="34" charset="0"/>
              <a:buChar char="•"/>
            </a:pPr>
            <a:r>
              <a:rPr lang="en-US" sz="1600" dirty="0" smtClean="0">
                <a:latin typeface="Arial" panose="020B0604020202020204" pitchFamily="34" charset="0"/>
                <a:cs typeface="Arial" panose="020B0604020202020204" pitchFamily="34" charset="0"/>
              </a:rPr>
              <a:t>For industrialization type projects it is necessary also:</a:t>
            </a:r>
          </a:p>
          <a:p>
            <a:pPr marL="742950" lvl="1" indent="-285750">
              <a:buFont typeface="Wingdings" panose="05000000000000000000" pitchFamily="2" charset="2"/>
              <a:buChar char="§"/>
            </a:pPr>
            <a:r>
              <a:rPr lang="en-US" sz="1600" dirty="0" smtClean="0">
                <a:latin typeface="Arial" panose="020B0604020202020204" pitchFamily="34" charset="0"/>
                <a:cs typeface="Arial" panose="020B0604020202020204" pitchFamily="34" charset="0"/>
              </a:rPr>
              <a:t>Awarding offer version must be registered in Technical offer-Budget application   </a:t>
            </a:r>
            <a:endParaRPr lang="es-ES" sz="1600" dirty="0" smtClean="0">
              <a:latin typeface="Arial" panose="020B0604020202020204" pitchFamily="34" charset="0"/>
              <a:cs typeface="Arial" panose="020B0604020202020204" pitchFamily="34" charset="0"/>
            </a:endParaRPr>
          </a:p>
        </p:txBody>
      </p:sp>
      <p:sp>
        <p:nvSpPr>
          <p:cNvPr id="8" name="7 Rectángulo redondeado"/>
          <p:cNvSpPr/>
          <p:nvPr/>
        </p:nvSpPr>
        <p:spPr>
          <a:xfrm>
            <a:off x="577587" y="391460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1</a:t>
            </a:r>
            <a:endParaRPr lang="es-ES" sz="1400" dirty="0">
              <a:solidFill>
                <a:schemeClr val="tx1"/>
              </a:solidFill>
              <a:latin typeface="Arial" panose="020B0604020202020204" pitchFamily="34" charset="0"/>
              <a:cs typeface="Arial" panose="020B0604020202020204" pitchFamily="34" charset="0"/>
            </a:endParaRPr>
          </a:p>
        </p:txBody>
      </p:sp>
      <p:sp>
        <p:nvSpPr>
          <p:cNvPr id="22" name="21 Rectángulo redondeado"/>
          <p:cNvSpPr/>
          <p:nvPr/>
        </p:nvSpPr>
        <p:spPr>
          <a:xfrm>
            <a:off x="3065088" y="4277157"/>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2</a:t>
            </a:r>
            <a:endParaRPr lang="es-ES" sz="1400" dirty="0">
              <a:solidFill>
                <a:schemeClr val="tx1"/>
              </a:solidFill>
              <a:latin typeface="Arial" panose="020B0604020202020204" pitchFamily="34" charset="0"/>
              <a:cs typeface="Arial" panose="020B0604020202020204" pitchFamily="34" charset="0"/>
            </a:endParaRPr>
          </a:p>
        </p:txBody>
      </p:sp>
      <p:sp>
        <p:nvSpPr>
          <p:cNvPr id="30" name="29 Rectángulo redondeado"/>
          <p:cNvSpPr/>
          <p:nvPr/>
        </p:nvSpPr>
        <p:spPr>
          <a:xfrm>
            <a:off x="6904686" y="6093296"/>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3</a:t>
            </a:r>
            <a:endParaRPr lang="es-ES" sz="1400" dirty="0">
              <a:solidFill>
                <a:schemeClr val="tx1"/>
              </a:solidFill>
            </a:endParaRPr>
          </a:p>
        </p:txBody>
      </p:sp>
      <p:sp>
        <p:nvSpPr>
          <p:cNvPr id="9" name="8 Rectángulo redondeado"/>
          <p:cNvSpPr/>
          <p:nvPr/>
        </p:nvSpPr>
        <p:spPr>
          <a:xfrm>
            <a:off x="1969297" y="3748813"/>
            <a:ext cx="1795045" cy="400267"/>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31" name="30 Rectángulo redondeado"/>
          <p:cNvSpPr/>
          <p:nvPr/>
        </p:nvSpPr>
        <p:spPr>
          <a:xfrm>
            <a:off x="5828737" y="4668067"/>
            <a:ext cx="2511938" cy="400267"/>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5" name="24 Llamada rectangular"/>
          <p:cNvSpPr/>
          <p:nvPr/>
        </p:nvSpPr>
        <p:spPr>
          <a:xfrm>
            <a:off x="7474143" y="4497301"/>
            <a:ext cx="1561538" cy="504056"/>
          </a:xfrm>
          <a:prstGeom prst="wedgeRectCallout">
            <a:avLst>
              <a:gd name="adj1" fmla="val -62046"/>
              <a:gd name="adj2" fmla="val -483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Select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product</a:t>
            </a:r>
            <a:r>
              <a:rPr lang="es-ES" sz="1000" dirty="0" smtClean="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project</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12246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p:cNvGrpSpPr/>
          <p:nvPr/>
        </p:nvGrpSpPr>
        <p:grpSpPr>
          <a:xfrm>
            <a:off x="1115616" y="1628800"/>
            <a:ext cx="7368505" cy="2950382"/>
            <a:chOff x="1115616" y="1988840"/>
            <a:chExt cx="7368505" cy="2950382"/>
          </a:xfrm>
        </p:grpSpPr>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988840"/>
              <a:ext cx="7368505" cy="295038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7" name="Imagen 16"/>
            <p:cNvPicPr>
              <a:picLocks noChangeAspect="1"/>
            </p:cNvPicPr>
            <p:nvPr/>
          </p:nvPicPr>
          <p:blipFill>
            <a:blip r:embed="rId3"/>
            <a:stretch>
              <a:fillRect/>
            </a:stretch>
          </p:blipFill>
          <p:spPr>
            <a:xfrm>
              <a:off x="6876256" y="4309200"/>
              <a:ext cx="1285592" cy="432000"/>
            </a:xfrm>
            <a:prstGeom prst="rect">
              <a:avLst/>
            </a:prstGeom>
          </p:spPr>
        </p:pic>
      </p:grpSp>
      <p:sp>
        <p:nvSpPr>
          <p:cNvPr id="2" name="1 Marcador de número de diapositiva"/>
          <p:cNvSpPr>
            <a:spLocks noGrp="1"/>
          </p:cNvSpPr>
          <p:nvPr>
            <p:ph type="sldNum" sz="quarter" idx="12"/>
          </p:nvPr>
        </p:nvSpPr>
        <p:spPr/>
        <p:txBody>
          <a:bodyPr/>
          <a:lstStyle/>
          <a:p>
            <a:fld id="{6C159591-2568-4DE8-9BFD-2ABD54E1DEC4}" type="slidenum">
              <a:rPr lang="es-ES" smtClean="0"/>
              <a:pPr/>
              <a:t>6</a:t>
            </a:fld>
            <a:endParaRPr lang="es-ES" dirty="0"/>
          </a:p>
        </p:txBody>
      </p:sp>
      <p:sp>
        <p:nvSpPr>
          <p:cNvPr id="10" name="9 CuadroTexto"/>
          <p:cNvSpPr txBox="1"/>
          <p:nvPr/>
        </p:nvSpPr>
        <p:spPr>
          <a:xfrm>
            <a:off x="296643" y="1043444"/>
            <a:ext cx="7155678" cy="369332"/>
          </a:xfrm>
          <a:prstGeom prst="rect">
            <a:avLst/>
          </a:prstGeom>
          <a:noFill/>
        </p:spPr>
        <p:txBody>
          <a:bodyPr wrap="square" rtlCol="0">
            <a:spAutoFit/>
          </a:bodyPr>
          <a:lstStyle/>
          <a:p>
            <a:r>
              <a:rPr lang="en-US" b="1" dirty="0">
                <a:solidFill>
                  <a:srgbClr val="254061"/>
                </a:solidFill>
              </a:rPr>
              <a:t>CREATE A NEW PROJECT IN THE APPLICATION - </a:t>
            </a:r>
            <a:r>
              <a:rPr lang="en-US" b="1" dirty="0" smtClean="0">
                <a:solidFill>
                  <a:srgbClr val="254061"/>
                </a:solidFill>
              </a:rPr>
              <a:t>II</a:t>
            </a:r>
            <a:endParaRPr lang="en-US" b="1" dirty="0">
              <a:solidFill>
                <a:srgbClr val="254061"/>
              </a:solidFill>
            </a:endParaRPr>
          </a:p>
        </p:txBody>
      </p:sp>
      <p:sp>
        <p:nvSpPr>
          <p:cNvPr id="12" name="11 Llamada rectangular"/>
          <p:cNvSpPr/>
          <p:nvPr/>
        </p:nvSpPr>
        <p:spPr>
          <a:xfrm>
            <a:off x="2415688" y="4479704"/>
            <a:ext cx="2232248" cy="186739"/>
          </a:xfrm>
          <a:prstGeom prst="wedgeRectCallout">
            <a:avLst>
              <a:gd name="adj1" fmla="val 72064"/>
              <a:gd name="adj2" fmla="val -15978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project</a:t>
            </a:r>
            <a:r>
              <a:rPr lang="es-ES" sz="1000" dirty="0" smtClean="0">
                <a:solidFill>
                  <a:schemeClr val="tx1"/>
                </a:solidFill>
                <a:latin typeface="Arial" panose="020B0604020202020204" pitchFamily="34" charset="0"/>
                <a:cs typeface="Arial" panose="020B0604020202020204" pitchFamily="34" charset="0"/>
              </a:rPr>
              <a:t> has </a:t>
            </a:r>
            <a:r>
              <a:rPr lang="es-ES" sz="1000" dirty="0" err="1" smtClean="0">
                <a:solidFill>
                  <a:schemeClr val="tx1"/>
                </a:solidFill>
                <a:latin typeface="Arial" panose="020B0604020202020204" pitchFamily="34" charset="0"/>
                <a:cs typeface="Arial" panose="020B0604020202020204" pitchFamily="34" charset="0"/>
              </a:rPr>
              <a:t>been</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created</a:t>
            </a:r>
            <a:endParaRPr lang="es-ES" sz="1000" dirty="0">
              <a:solidFill>
                <a:schemeClr val="tx1"/>
              </a:solidFill>
              <a:latin typeface="Arial" panose="020B0604020202020204" pitchFamily="34" charset="0"/>
              <a:cs typeface="Arial" panose="020B0604020202020204" pitchFamily="34" charset="0"/>
            </a:endParaRPr>
          </a:p>
        </p:txBody>
      </p:sp>
      <p:sp>
        <p:nvSpPr>
          <p:cNvPr id="13" name="12 Rectángulo redondeado"/>
          <p:cNvSpPr/>
          <p:nvPr/>
        </p:nvSpPr>
        <p:spPr>
          <a:xfrm>
            <a:off x="6373180" y="4480171"/>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4</a:t>
            </a:r>
            <a:endParaRPr lang="es-ES" sz="1400" dirty="0">
              <a:solidFill>
                <a:schemeClr val="tx1"/>
              </a:solidFill>
            </a:endParaRPr>
          </a:p>
        </p:txBody>
      </p:sp>
      <p:sp>
        <p:nvSpPr>
          <p:cNvPr id="9" name="8 Rectángulo redondeado"/>
          <p:cNvSpPr/>
          <p:nvPr/>
        </p:nvSpPr>
        <p:spPr>
          <a:xfrm>
            <a:off x="6836701" y="4192139"/>
            <a:ext cx="216024" cy="28803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14 Rectángulo"/>
          <p:cNvSpPr/>
          <p:nvPr/>
        </p:nvSpPr>
        <p:spPr>
          <a:xfrm>
            <a:off x="202465" y="4869160"/>
            <a:ext cx="5904656" cy="153232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s-ES" sz="1200" dirty="0" err="1" smtClean="0">
                <a:solidFill>
                  <a:schemeClr val="tx1"/>
                </a:solidFill>
                <a:latin typeface="Arial" panose="020B0604020202020204" pitchFamily="34" charset="0"/>
                <a:cs typeface="Arial" panose="020B0604020202020204" pitchFamily="34" charset="0"/>
              </a:rPr>
              <a:t>Edit</a:t>
            </a:r>
            <a:r>
              <a:rPr lang="es-ES" sz="1200" dirty="0" smtClean="0">
                <a:solidFill>
                  <a:schemeClr val="tx1"/>
                </a:solidFill>
                <a:latin typeface="Arial" panose="020B0604020202020204" pitchFamily="34" charset="0"/>
                <a:cs typeface="Arial" panose="020B0604020202020204" pitchFamily="34" charset="0"/>
              </a:rPr>
              <a:t> </a:t>
            </a:r>
            <a:r>
              <a:rPr lang="es-ES" sz="1200" dirty="0" err="1" smtClean="0">
                <a:solidFill>
                  <a:schemeClr val="tx1"/>
                </a:solidFill>
                <a:latin typeface="Arial" panose="020B0604020202020204" pitchFamily="34" charset="0"/>
                <a:cs typeface="Arial" panose="020B0604020202020204" pitchFamily="34" charset="0"/>
              </a:rPr>
              <a:t>Request</a:t>
            </a:r>
            <a:r>
              <a:rPr lang="es-ES" sz="1200" dirty="0" smtClean="0">
                <a:solidFill>
                  <a:schemeClr val="tx1"/>
                </a:solidFill>
                <a:latin typeface="Arial" panose="020B0604020202020204" pitchFamily="34" charset="0"/>
                <a:cs typeface="Arial" panose="020B0604020202020204" pitchFamily="34" charset="0"/>
              </a:rPr>
              <a:t>. </a:t>
            </a:r>
            <a:r>
              <a:rPr lang="en-US" sz="1200" dirty="0">
                <a:solidFill>
                  <a:schemeClr val="tx1"/>
                </a:solidFill>
                <a:latin typeface="Arial" panose="020B0604020202020204" pitchFamily="34" charset="0"/>
                <a:cs typeface="Arial" panose="020B0604020202020204" pitchFamily="34" charset="0"/>
              </a:rPr>
              <a:t>To create the project steps required in the </a:t>
            </a:r>
            <a:r>
              <a:rPr lang="en-US" sz="1200" dirty="0" smtClean="0">
                <a:solidFill>
                  <a:schemeClr val="tx1"/>
                </a:solidFill>
                <a:latin typeface="Arial" panose="020B0604020202020204" pitchFamily="34" charset="0"/>
                <a:cs typeface="Arial" panose="020B0604020202020204" pitchFamily="34" charset="0"/>
              </a:rPr>
              <a:t>project.</a:t>
            </a: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200" dirty="0" err="1" smtClean="0">
                <a:solidFill>
                  <a:schemeClr val="tx1"/>
                </a:solidFill>
                <a:latin typeface="Arial" panose="020B0604020202020204" pitchFamily="34" charset="0"/>
                <a:cs typeface="Arial" panose="020B0604020202020204" pitchFamily="34" charset="0"/>
              </a:rPr>
              <a:t>Detete</a:t>
            </a:r>
            <a:r>
              <a:rPr lang="es-ES" sz="1200" dirty="0" smtClean="0">
                <a:solidFill>
                  <a:schemeClr val="tx1"/>
                </a:solidFill>
                <a:latin typeface="Arial" panose="020B0604020202020204" pitchFamily="34" charset="0"/>
                <a:cs typeface="Arial" panose="020B0604020202020204" pitchFamily="34" charset="0"/>
              </a:rPr>
              <a:t> </a:t>
            </a:r>
            <a:r>
              <a:rPr lang="es-ES" sz="1200" dirty="0" err="1" smtClean="0">
                <a:solidFill>
                  <a:schemeClr val="tx1"/>
                </a:solidFill>
                <a:latin typeface="Arial" panose="020B0604020202020204" pitchFamily="34" charset="0"/>
                <a:cs typeface="Arial" panose="020B0604020202020204" pitchFamily="34" charset="0"/>
              </a:rPr>
              <a:t>request</a:t>
            </a:r>
            <a:r>
              <a:rPr lang="es-ES" sz="1200" dirty="0" smtClean="0">
                <a:solidFill>
                  <a:schemeClr val="tx1"/>
                </a:solidFill>
                <a:latin typeface="Arial" panose="020B0604020202020204" pitchFamily="34" charset="0"/>
                <a:cs typeface="Arial" panose="020B0604020202020204" pitchFamily="34" charset="0"/>
              </a:rPr>
              <a:t>: </a:t>
            </a:r>
            <a:r>
              <a:rPr lang="en-US" sz="1200" dirty="0">
                <a:solidFill>
                  <a:schemeClr val="tx1"/>
                </a:solidFill>
                <a:latin typeface="Arial" panose="020B0604020202020204" pitchFamily="34" charset="0"/>
                <a:cs typeface="Arial" panose="020B0604020202020204" pitchFamily="34" charset="0"/>
              </a:rPr>
              <a:t>It can only be deleted if it does not have approved </a:t>
            </a:r>
            <a:r>
              <a:rPr lang="en-US" sz="1200" dirty="0" smtClean="0">
                <a:solidFill>
                  <a:schemeClr val="tx1"/>
                </a:solidFill>
                <a:latin typeface="Arial" panose="020B0604020202020204" pitchFamily="34" charset="0"/>
                <a:cs typeface="Arial" panose="020B0604020202020204" pitchFamily="34" charset="0"/>
              </a:rPr>
              <a:t>steps.</a:t>
            </a:r>
          </a:p>
          <a:p>
            <a:pPr marL="285750" indent="-285750">
              <a:buFont typeface="Arial" panose="020B0604020202020204" pitchFamily="34" charset="0"/>
              <a:buChar char="•"/>
            </a:pPr>
            <a:endParaRPr lang="en-US" sz="12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00" dirty="0" smtClean="0">
                <a:solidFill>
                  <a:schemeClr val="tx1"/>
                </a:solidFill>
                <a:latin typeface="Arial" panose="020B0604020202020204" pitchFamily="34" charset="0"/>
                <a:cs typeface="Arial" panose="020B0604020202020204" pitchFamily="34" charset="0"/>
              </a:rPr>
              <a:t>To add </a:t>
            </a:r>
            <a:r>
              <a:rPr lang="en-US" sz="1200" dirty="0">
                <a:solidFill>
                  <a:schemeClr val="tx1"/>
                </a:solidFill>
                <a:latin typeface="Arial" panose="020B0604020202020204" pitchFamily="34" charset="0"/>
                <a:cs typeface="Arial" panose="020B0604020202020204" pitchFamily="34" charset="0"/>
              </a:rPr>
              <a:t>a different plant to the productive </a:t>
            </a:r>
            <a:r>
              <a:rPr lang="en-US" sz="1200" dirty="0" smtClean="0">
                <a:solidFill>
                  <a:schemeClr val="tx1"/>
                </a:solidFill>
                <a:latin typeface="Arial" panose="020B0604020202020204" pitchFamily="34" charset="0"/>
                <a:cs typeface="Arial" panose="020B0604020202020204" pitchFamily="34" charset="0"/>
              </a:rPr>
              <a:t>one.</a:t>
            </a: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200" dirty="0">
                <a:solidFill>
                  <a:schemeClr val="tx1"/>
                </a:solidFill>
                <a:latin typeface="Arial" panose="020B0604020202020204" pitchFamily="34" charset="0"/>
                <a:cs typeface="Arial" panose="020B0604020202020204" pitchFamily="34" charset="0"/>
              </a:rPr>
              <a:t>Actual Status and </a:t>
            </a:r>
            <a:r>
              <a:rPr lang="es-ES" sz="1200" dirty="0" err="1">
                <a:solidFill>
                  <a:schemeClr val="tx1"/>
                </a:solidFill>
                <a:latin typeface="Arial" panose="020B0604020202020204" pitchFamily="34" charset="0"/>
                <a:cs typeface="Arial" panose="020B0604020202020204" pitchFamily="34" charset="0"/>
              </a:rPr>
              <a:t>History</a:t>
            </a:r>
            <a:r>
              <a:rPr lang="es-ES" sz="1200" dirty="0">
                <a:solidFill>
                  <a:schemeClr val="tx1"/>
                </a:solidFill>
                <a:latin typeface="Arial" panose="020B0604020202020204" pitchFamily="34" charset="0"/>
                <a:cs typeface="Arial" panose="020B0604020202020204" pitchFamily="34" charset="0"/>
              </a:rPr>
              <a:t>: </a:t>
            </a:r>
            <a:r>
              <a:rPr lang="es-ES" sz="1200" dirty="0" err="1">
                <a:solidFill>
                  <a:schemeClr val="tx1"/>
                </a:solidFill>
                <a:latin typeface="Arial" panose="020B0604020202020204" pitchFamily="34" charset="0"/>
                <a:cs typeface="Arial" panose="020B0604020202020204" pitchFamily="34" charset="0"/>
              </a:rPr>
              <a:t>Validation</a:t>
            </a:r>
            <a:r>
              <a:rPr lang="es-ES" sz="1200" dirty="0">
                <a:solidFill>
                  <a:schemeClr val="tx1"/>
                </a:solidFill>
                <a:latin typeface="Arial" panose="020B0604020202020204" pitchFamily="34" charset="0"/>
                <a:cs typeface="Arial" panose="020B0604020202020204" pitchFamily="34" charset="0"/>
              </a:rPr>
              <a:t> </a:t>
            </a:r>
            <a:r>
              <a:rPr lang="es-ES" sz="1200" dirty="0" err="1" smtClean="0">
                <a:solidFill>
                  <a:schemeClr val="tx1"/>
                </a:solidFill>
                <a:latin typeface="Arial" panose="020B0604020202020204" pitchFamily="34" charset="0"/>
                <a:cs typeface="Arial" panose="020B0604020202020204" pitchFamily="34" charset="0"/>
              </a:rPr>
              <a:t>history</a:t>
            </a:r>
            <a:r>
              <a:rPr lang="es-ES" sz="1200" dirty="0" smtClean="0">
                <a:solidFill>
                  <a:schemeClr val="tx1"/>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200" dirty="0" err="1">
                <a:solidFill>
                  <a:schemeClr val="tx1"/>
                </a:solidFill>
                <a:latin typeface="Arial" panose="020B0604020202020204" pitchFamily="34" charset="0"/>
                <a:cs typeface="Arial" panose="020B0604020202020204" pitchFamily="34" charset="0"/>
              </a:rPr>
              <a:t>Totals</a:t>
            </a:r>
            <a:r>
              <a:rPr lang="es-ES" sz="1200" dirty="0">
                <a:solidFill>
                  <a:schemeClr val="tx1"/>
                </a:solidFill>
                <a:latin typeface="Arial" panose="020B0604020202020204" pitchFamily="34" charset="0"/>
                <a:cs typeface="Arial" panose="020B0604020202020204" pitchFamily="34" charset="0"/>
              </a:rPr>
              <a:t>: </a:t>
            </a:r>
            <a:r>
              <a:rPr lang="es-ES" sz="1200" dirty="0" err="1">
                <a:solidFill>
                  <a:schemeClr val="tx1"/>
                </a:solidFill>
                <a:latin typeface="Arial" panose="020B0604020202020204" pitchFamily="34" charset="0"/>
                <a:cs typeface="Arial" panose="020B0604020202020204" pitchFamily="34" charset="0"/>
              </a:rPr>
              <a:t>All</a:t>
            </a:r>
            <a:r>
              <a:rPr lang="es-ES" sz="1200" dirty="0">
                <a:solidFill>
                  <a:schemeClr val="tx1"/>
                </a:solidFill>
                <a:latin typeface="Arial" panose="020B0604020202020204" pitchFamily="34" charset="0"/>
                <a:cs typeface="Arial" panose="020B0604020202020204" pitchFamily="34" charset="0"/>
              </a:rPr>
              <a:t> </a:t>
            </a:r>
            <a:r>
              <a:rPr lang="es-ES" sz="1200" dirty="0" err="1">
                <a:solidFill>
                  <a:schemeClr val="tx1"/>
                </a:solidFill>
                <a:latin typeface="Arial" panose="020B0604020202020204" pitchFamily="34" charset="0"/>
                <a:cs typeface="Arial" panose="020B0604020202020204" pitchFamily="34" charset="0"/>
              </a:rPr>
              <a:t>approved</a:t>
            </a:r>
            <a:r>
              <a:rPr lang="es-ES" sz="1200" dirty="0">
                <a:solidFill>
                  <a:schemeClr val="tx1"/>
                </a:solidFill>
                <a:latin typeface="Arial" panose="020B0604020202020204" pitchFamily="34" charset="0"/>
                <a:cs typeface="Arial" panose="020B0604020202020204" pitchFamily="34" charset="0"/>
              </a:rPr>
              <a:t> </a:t>
            </a:r>
            <a:r>
              <a:rPr lang="es-ES" sz="1200" dirty="0" err="1">
                <a:solidFill>
                  <a:schemeClr val="tx1"/>
                </a:solidFill>
                <a:latin typeface="Arial" panose="020B0604020202020204" pitchFamily="34" charset="0"/>
                <a:cs typeface="Arial" panose="020B0604020202020204" pitchFamily="34" charset="0"/>
              </a:rPr>
              <a:t>project</a:t>
            </a:r>
            <a:r>
              <a:rPr lang="es-ES" sz="1200" dirty="0">
                <a:solidFill>
                  <a:schemeClr val="tx1"/>
                </a:solidFill>
                <a:latin typeface="Arial" panose="020B0604020202020204" pitchFamily="34" charset="0"/>
                <a:cs typeface="Arial" panose="020B0604020202020204" pitchFamily="34" charset="0"/>
              </a:rPr>
              <a:t> </a:t>
            </a:r>
            <a:r>
              <a:rPr lang="es-ES" sz="1200" dirty="0" smtClean="0">
                <a:solidFill>
                  <a:schemeClr val="tx1"/>
                </a:solidFill>
                <a:latin typeface="Arial" panose="020B0604020202020204" pitchFamily="34" charset="0"/>
                <a:cs typeface="Arial" panose="020B0604020202020204" pitchFamily="34" charset="0"/>
              </a:rPr>
              <a:t>expenses.</a:t>
            </a:r>
          </a:p>
        </p:txBody>
      </p:sp>
      <p:grpSp>
        <p:nvGrpSpPr>
          <p:cNvPr id="18" name="Grupo 17"/>
          <p:cNvGrpSpPr/>
          <p:nvPr/>
        </p:nvGrpSpPr>
        <p:grpSpPr>
          <a:xfrm>
            <a:off x="202432" y="4725144"/>
            <a:ext cx="360040" cy="1728192"/>
            <a:chOff x="202432" y="4725144"/>
            <a:chExt cx="360040" cy="1728192"/>
          </a:xfrm>
        </p:grpSpPr>
        <p:pic>
          <p:nvPicPr>
            <p:cNvPr id="1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172" y="5157192"/>
              <a:ext cx="340560" cy="2919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541" y="5781117"/>
              <a:ext cx="317822" cy="317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432" y="6161228"/>
              <a:ext cx="360040" cy="292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002" y="4725144"/>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Imagen 25"/>
            <p:cNvPicPr>
              <a:picLocks noChangeAspect="1"/>
            </p:cNvPicPr>
            <p:nvPr/>
          </p:nvPicPr>
          <p:blipFill>
            <a:blip r:embed="rId8"/>
            <a:stretch>
              <a:fillRect/>
            </a:stretch>
          </p:blipFill>
          <p:spPr>
            <a:xfrm>
              <a:off x="211002" y="5482493"/>
              <a:ext cx="342900" cy="352425"/>
            </a:xfrm>
            <a:prstGeom prst="rect">
              <a:avLst/>
            </a:prstGeom>
          </p:spPr>
        </p:pic>
      </p:grpSp>
    </p:spTree>
    <p:extLst>
      <p:ext uri="{BB962C8B-B14F-4D97-AF65-F5344CB8AC3E}">
        <p14:creationId xmlns:p14="http://schemas.microsoft.com/office/powerpoint/2010/main" val="1322761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7</a:t>
            </a:fld>
            <a:endParaRPr lang="es-ES" dirty="0"/>
          </a:p>
        </p:txBody>
      </p:sp>
      <p:sp>
        <p:nvSpPr>
          <p:cNvPr id="15" name="14 CuadroTexto"/>
          <p:cNvSpPr txBox="1"/>
          <p:nvPr/>
        </p:nvSpPr>
        <p:spPr>
          <a:xfrm>
            <a:off x="267321" y="980728"/>
            <a:ext cx="7040984" cy="369332"/>
          </a:xfrm>
          <a:prstGeom prst="rect">
            <a:avLst/>
          </a:prstGeom>
          <a:noFill/>
        </p:spPr>
        <p:txBody>
          <a:bodyPr wrap="square" rtlCol="0">
            <a:spAutoFit/>
          </a:bodyPr>
          <a:lstStyle/>
          <a:p>
            <a:r>
              <a:rPr lang="es-ES" b="1" dirty="0" smtClean="0">
                <a:solidFill>
                  <a:srgbClr val="254061"/>
                </a:solidFill>
              </a:rPr>
              <a:t>EDIT REQUEST - TABLE STRUCTURE</a:t>
            </a:r>
            <a:r>
              <a:rPr lang="es-ES" b="1" dirty="0">
                <a:solidFill>
                  <a:srgbClr val="254061"/>
                </a:solidFill>
              </a:rPr>
              <a:t> </a:t>
            </a:r>
            <a:r>
              <a:rPr lang="es-ES" b="1" dirty="0" smtClean="0">
                <a:solidFill>
                  <a:srgbClr val="254061"/>
                </a:solidFill>
              </a:rPr>
              <a:t>- I</a:t>
            </a:r>
            <a:endParaRPr lang="en-US" b="1" dirty="0">
              <a:solidFill>
                <a:srgbClr val="254061"/>
              </a:solidFill>
            </a:endParaRPr>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84" y="1651798"/>
            <a:ext cx="4736728" cy="11460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894438"/>
            <a:ext cx="2432722" cy="372343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1" name="10 Rectángulo"/>
          <p:cNvSpPr/>
          <p:nvPr/>
        </p:nvSpPr>
        <p:spPr>
          <a:xfrm>
            <a:off x="3219107" y="3356992"/>
            <a:ext cx="4896544" cy="92420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Y AXIS STRUCTURE</a:t>
            </a:r>
          </a:p>
          <a:p>
            <a:pPr marL="228600" indent="-228600">
              <a:buAutoNum type="arabicPeriod"/>
            </a:pPr>
            <a:r>
              <a:rPr lang="es-ES" sz="1000" b="1" dirty="0" err="1" smtClean="0">
                <a:solidFill>
                  <a:schemeClr val="tx1"/>
                </a:solidFill>
                <a:latin typeface="Arial" panose="020B0604020202020204" pitchFamily="34" charset="0"/>
                <a:cs typeface="Arial" panose="020B0604020202020204" pitchFamily="34" charset="0"/>
              </a:rPr>
              <a:t>Plant</a:t>
            </a:r>
            <a:r>
              <a:rPr lang="es-ES" sz="1000" b="1"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Plant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that</a:t>
            </a:r>
            <a:r>
              <a:rPr lang="es-ES" sz="1000" dirty="0" smtClean="0">
                <a:solidFill>
                  <a:schemeClr val="tx1"/>
                </a:solidFill>
                <a:latin typeface="Arial" panose="020B0604020202020204" pitchFamily="34" charset="0"/>
                <a:cs typeface="Arial" panose="020B0604020202020204" pitchFamily="34" charset="0"/>
              </a:rPr>
              <a:t> has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expense </a:t>
            </a:r>
            <a:r>
              <a:rPr lang="es-ES" sz="1000" dirty="0" err="1" smtClean="0">
                <a:solidFill>
                  <a:schemeClr val="tx1"/>
                </a:solidFill>
                <a:latin typeface="Arial" panose="020B0604020202020204" pitchFamily="34" charset="0"/>
                <a:cs typeface="Arial" panose="020B0604020202020204" pitchFamily="34" charset="0"/>
              </a:rPr>
              <a:t>or</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income</a:t>
            </a:r>
            <a:r>
              <a:rPr lang="es-ES" sz="1000" dirty="0" smtClean="0">
                <a:solidFill>
                  <a:schemeClr val="tx1"/>
                </a:solidFill>
                <a:latin typeface="Arial" panose="020B0604020202020204" pitchFamily="34" charset="0"/>
                <a:cs typeface="Arial" panose="020B0604020202020204" pitchFamily="34" charset="0"/>
              </a:rPr>
              <a:t> </a:t>
            </a:r>
          </a:p>
          <a:p>
            <a:r>
              <a:rPr lang="es-ES" sz="1000" b="1" dirty="0" smtClean="0">
                <a:solidFill>
                  <a:schemeClr val="tx1"/>
                </a:solidFill>
                <a:latin typeface="Arial" panose="020B0604020202020204" pitchFamily="34" charset="0"/>
                <a:cs typeface="Arial" panose="020B0604020202020204" pitchFamily="34" charset="0"/>
              </a:rPr>
              <a:t>           1.1 </a:t>
            </a:r>
            <a:r>
              <a:rPr lang="es-ES" sz="1000" b="1" dirty="0" err="1" smtClean="0">
                <a:solidFill>
                  <a:schemeClr val="tx1"/>
                </a:solidFill>
                <a:latin typeface="Arial" panose="020B0604020202020204" pitchFamily="34" charset="0"/>
                <a:cs typeface="Arial" panose="020B0604020202020204" pitchFamily="34" charset="0"/>
              </a:rPr>
              <a:t>State</a:t>
            </a:r>
            <a:r>
              <a:rPr lang="es-ES" sz="1000" b="1" dirty="0" smtClean="0">
                <a:solidFill>
                  <a:schemeClr val="tx1"/>
                </a:solidFill>
                <a:latin typeface="Arial" panose="020B0604020202020204" pitchFamily="34" charset="0"/>
                <a:cs typeface="Arial" panose="020B0604020202020204" pitchFamily="34" charset="0"/>
              </a:rPr>
              <a:t>: </a:t>
            </a:r>
            <a:r>
              <a:rPr lang="en-US" sz="1000" dirty="0" smtClean="0">
                <a:solidFill>
                  <a:schemeClr val="tx1"/>
                </a:solidFill>
                <a:latin typeface="Arial" panose="020B0604020202020204" pitchFamily="34" charset="0"/>
                <a:cs typeface="Arial" panose="020B0604020202020204" pitchFamily="34" charset="0"/>
              </a:rPr>
              <a:t>State </a:t>
            </a:r>
            <a:r>
              <a:rPr lang="en-US" sz="1000" dirty="0">
                <a:solidFill>
                  <a:schemeClr val="tx1"/>
                </a:solidFill>
                <a:latin typeface="Arial" panose="020B0604020202020204" pitchFamily="34" charset="0"/>
                <a:cs typeface="Arial" panose="020B0604020202020204" pitchFamily="34" charset="0"/>
              </a:rPr>
              <a:t>in which the </a:t>
            </a:r>
            <a:r>
              <a:rPr lang="en-US" sz="1000" dirty="0" smtClean="0">
                <a:solidFill>
                  <a:schemeClr val="tx1"/>
                </a:solidFill>
                <a:latin typeface="Arial" panose="020B0604020202020204" pitchFamily="34" charset="0"/>
                <a:cs typeface="Arial" panose="020B0604020202020204" pitchFamily="34" charset="0"/>
              </a:rPr>
              <a:t>expense/income </a:t>
            </a:r>
            <a:r>
              <a:rPr lang="en-US" sz="1000" dirty="0">
                <a:solidFill>
                  <a:schemeClr val="tx1"/>
                </a:solidFill>
                <a:latin typeface="Arial" panose="020B0604020202020204" pitchFamily="34" charset="0"/>
                <a:cs typeface="Arial" panose="020B0604020202020204" pitchFamily="34" charset="0"/>
              </a:rPr>
              <a:t>is made</a:t>
            </a:r>
            <a:endParaRPr lang="es-ES" sz="1000" dirty="0" smtClean="0">
              <a:solidFill>
                <a:schemeClr val="tx1"/>
              </a:solidFill>
              <a:latin typeface="Arial" panose="020B0604020202020204" pitchFamily="34" charset="0"/>
              <a:cs typeface="Arial" panose="020B0604020202020204" pitchFamily="34" charset="0"/>
            </a:endParaRPr>
          </a:p>
          <a:p>
            <a:pPr defTabSz="431800"/>
            <a:r>
              <a:rPr lang="es-ES" sz="1000" dirty="0" smtClean="0">
                <a:solidFill>
                  <a:schemeClr val="tx1"/>
                </a:solidFill>
                <a:latin typeface="Arial" panose="020B0604020202020204" pitchFamily="34" charset="0"/>
                <a:cs typeface="Arial" panose="020B0604020202020204" pitchFamily="34" charset="0"/>
              </a:rPr>
              <a:t>		</a:t>
            </a:r>
            <a:r>
              <a:rPr lang="es-ES" sz="1000" b="1" dirty="0" smtClean="0">
                <a:solidFill>
                  <a:schemeClr val="tx1"/>
                </a:solidFill>
                <a:latin typeface="Arial" panose="020B0604020202020204" pitchFamily="34" charset="0"/>
                <a:cs typeface="Arial" panose="020B0604020202020204" pitchFamily="34" charset="0"/>
              </a:rPr>
              <a:t>1.1.1 </a:t>
            </a:r>
            <a:r>
              <a:rPr lang="es-ES" sz="1000" b="1" dirty="0" err="1" smtClean="0">
                <a:solidFill>
                  <a:schemeClr val="tx1"/>
                </a:solidFill>
                <a:latin typeface="Arial" panose="020B0604020202020204" pitchFamily="34" charset="0"/>
                <a:cs typeface="Arial" panose="020B0604020202020204" pitchFamily="34" charset="0"/>
              </a:rPr>
              <a:t>Cost</a:t>
            </a:r>
            <a:r>
              <a:rPr lang="es-ES" sz="1000" b="1" dirty="0" smtClean="0">
                <a:solidFill>
                  <a:schemeClr val="tx1"/>
                </a:solidFill>
                <a:latin typeface="Arial" panose="020B0604020202020204" pitchFamily="34" charset="0"/>
                <a:cs typeface="Arial" panose="020B0604020202020204" pitchFamily="34" charset="0"/>
              </a:rPr>
              <a:t> </a:t>
            </a:r>
            <a:r>
              <a:rPr lang="es-ES" sz="1000" b="1" dirty="0" err="1" smtClean="0">
                <a:solidFill>
                  <a:schemeClr val="tx1"/>
                </a:solidFill>
                <a:latin typeface="Arial" panose="020B0604020202020204" pitchFamily="34" charset="0"/>
                <a:cs typeface="Arial" panose="020B0604020202020204" pitchFamily="34" charset="0"/>
              </a:rPr>
              <a:t>group</a:t>
            </a:r>
            <a:r>
              <a:rPr lang="es-ES" sz="1000" b="1" dirty="0" smtClean="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G</a:t>
            </a:r>
            <a:r>
              <a:rPr lang="es-ES" sz="1000" dirty="0" err="1" smtClean="0">
                <a:solidFill>
                  <a:schemeClr val="tx1"/>
                </a:solidFill>
                <a:latin typeface="Arial" panose="020B0604020202020204" pitchFamily="34" charset="0"/>
                <a:cs typeface="Arial" panose="020B0604020202020204" pitchFamily="34" charset="0"/>
              </a:rPr>
              <a:t>roup</a:t>
            </a:r>
            <a:r>
              <a:rPr lang="es-ES" sz="1000" dirty="0" smtClean="0">
                <a:solidFill>
                  <a:schemeClr val="tx1"/>
                </a:solidFill>
                <a:latin typeface="Arial" panose="020B0604020202020204" pitchFamily="34" charset="0"/>
                <a:cs typeface="Arial" panose="020B0604020202020204" pitchFamily="34" charset="0"/>
              </a:rPr>
              <a:t> of </a:t>
            </a:r>
            <a:r>
              <a:rPr lang="es-ES" sz="1000" dirty="0" err="1">
                <a:solidFill>
                  <a:schemeClr val="tx1"/>
                </a:solidFill>
                <a:latin typeface="Arial" panose="020B0604020202020204" pitchFamily="34" charset="0"/>
                <a:cs typeface="Arial" panose="020B0604020202020204" pitchFamily="34" charset="0"/>
              </a:rPr>
              <a:t>steps</a:t>
            </a:r>
            <a:endParaRPr lang="es-ES" sz="1000" dirty="0">
              <a:solidFill>
                <a:schemeClr val="tx1"/>
              </a:solidFill>
              <a:latin typeface="Arial" panose="020B0604020202020204" pitchFamily="34" charset="0"/>
              <a:cs typeface="Arial" panose="020B0604020202020204" pitchFamily="34" charset="0"/>
            </a:endParaRPr>
          </a:p>
          <a:p>
            <a:pPr defTabSz="233363"/>
            <a:r>
              <a:rPr lang="es-ES" sz="1000" dirty="0" smtClean="0">
                <a:solidFill>
                  <a:schemeClr val="tx1"/>
                </a:solidFill>
                <a:latin typeface="Arial" panose="020B0604020202020204" pitchFamily="34" charset="0"/>
                <a:cs typeface="Arial" panose="020B0604020202020204" pitchFamily="34" charset="0"/>
              </a:rPr>
              <a:t>						</a:t>
            </a:r>
            <a:r>
              <a:rPr lang="es-ES" sz="1000" b="1" dirty="0" smtClean="0">
                <a:solidFill>
                  <a:schemeClr val="tx1"/>
                </a:solidFill>
                <a:latin typeface="Arial" panose="020B0604020202020204" pitchFamily="34" charset="0"/>
                <a:cs typeface="Arial" panose="020B0604020202020204" pitchFamily="34" charset="0"/>
              </a:rPr>
              <a:t>1.1.1.1 </a:t>
            </a:r>
            <a:r>
              <a:rPr lang="es-ES" sz="1000" b="1" dirty="0" err="1" smtClean="0">
                <a:solidFill>
                  <a:schemeClr val="tx1"/>
                </a:solidFill>
                <a:latin typeface="Arial" panose="020B0604020202020204" pitchFamily="34" charset="0"/>
                <a:cs typeface="Arial" panose="020B0604020202020204" pitchFamily="34" charset="0"/>
              </a:rPr>
              <a:t>Step</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Cost carrier that will open in </a:t>
            </a:r>
            <a:r>
              <a:rPr lang="en-US" sz="1000" dirty="0" err="1">
                <a:solidFill>
                  <a:schemeClr val="tx1"/>
                </a:solidFill>
                <a:latin typeface="Arial" panose="020B0604020202020204" pitchFamily="34" charset="0"/>
                <a:cs typeface="Arial" panose="020B0604020202020204" pitchFamily="34" charset="0"/>
              </a:rPr>
              <a:t>XPert</a:t>
            </a:r>
            <a:endParaRPr lang="es-ES" sz="1000" dirty="0">
              <a:solidFill>
                <a:schemeClr val="tx1"/>
              </a:solidFill>
              <a:latin typeface="Arial" panose="020B0604020202020204" pitchFamily="34" charset="0"/>
              <a:cs typeface="Arial" panose="020B0604020202020204" pitchFamily="34" charset="0"/>
            </a:endParaRPr>
          </a:p>
        </p:txBody>
      </p:sp>
      <p:sp>
        <p:nvSpPr>
          <p:cNvPr id="16" name="15 Rectángulo"/>
          <p:cNvSpPr/>
          <p:nvPr/>
        </p:nvSpPr>
        <p:spPr>
          <a:xfrm>
            <a:off x="3563888" y="4586877"/>
            <a:ext cx="5400600" cy="461665"/>
          </a:xfrm>
          <a:prstGeom prst="rect">
            <a:avLst/>
          </a:prstGeom>
        </p:spPr>
        <p:txBody>
          <a:bodyPr wrap="square">
            <a:spAutoFit/>
          </a:bodyPr>
          <a:lstStyle/>
          <a:p>
            <a:r>
              <a:rPr lang="es-ES" sz="1200" dirty="0" smtClean="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Cost Groups are created in the Project Template (exclusive access to application </a:t>
            </a:r>
            <a:r>
              <a:rPr lang="en-US" sz="1200" dirty="0" smtClean="0">
                <a:latin typeface="Arial" panose="020B0604020202020204" pitchFamily="34" charset="0"/>
                <a:cs typeface="Arial" panose="020B0604020202020204" pitchFamily="34" charset="0"/>
              </a:rPr>
              <a:t>administrators).</a:t>
            </a:r>
            <a:endParaRPr lang="es-E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4478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p:txBody>
          <a:bodyPr/>
          <a:lstStyle/>
          <a:p>
            <a:endParaRPr lang="es-ES"/>
          </a:p>
        </p:txBody>
      </p:sp>
      <p:sp>
        <p:nvSpPr>
          <p:cNvPr id="2" name="1 Marcador de número de diapositiva"/>
          <p:cNvSpPr>
            <a:spLocks noGrp="1"/>
          </p:cNvSpPr>
          <p:nvPr>
            <p:ph type="sldNum" sz="quarter" idx="12"/>
          </p:nvPr>
        </p:nvSpPr>
        <p:spPr/>
        <p:txBody>
          <a:bodyPr/>
          <a:lstStyle/>
          <a:p>
            <a:fld id="{6C159591-2568-4DE8-9BFD-2ABD54E1DEC4}" type="slidenum">
              <a:rPr lang="es-ES" smtClean="0"/>
              <a:pPr/>
              <a:t>8</a:t>
            </a:fld>
            <a:endParaRPr lang="es-ES" dirty="0"/>
          </a:p>
        </p:txBody>
      </p:sp>
      <p:sp>
        <p:nvSpPr>
          <p:cNvPr id="9" name="8 CuadroTexto"/>
          <p:cNvSpPr txBox="1"/>
          <p:nvPr/>
        </p:nvSpPr>
        <p:spPr>
          <a:xfrm>
            <a:off x="267321" y="980728"/>
            <a:ext cx="8193112" cy="369332"/>
          </a:xfrm>
          <a:prstGeom prst="rect">
            <a:avLst/>
          </a:prstGeom>
          <a:noFill/>
        </p:spPr>
        <p:txBody>
          <a:bodyPr wrap="square" rtlCol="0">
            <a:spAutoFit/>
          </a:bodyPr>
          <a:lstStyle/>
          <a:p>
            <a:r>
              <a:rPr lang="es-ES" b="1" dirty="0" smtClean="0">
                <a:solidFill>
                  <a:srgbClr val="254061"/>
                </a:solidFill>
              </a:rPr>
              <a:t>EDIT REQUEST - TABLE STRUCTURE - II</a:t>
            </a:r>
            <a:endParaRPr lang="en-US" b="1" dirty="0">
              <a:solidFill>
                <a:srgbClr val="254061"/>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82" y="1448780"/>
            <a:ext cx="8429658" cy="2664296"/>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6 Rectángulo"/>
          <p:cNvSpPr/>
          <p:nvPr/>
        </p:nvSpPr>
        <p:spPr>
          <a:xfrm>
            <a:off x="271587" y="3284984"/>
            <a:ext cx="6532662" cy="1199102"/>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Arial" panose="020B0604020202020204" pitchFamily="34" charset="0"/>
              <a:buChar char="•"/>
            </a:pPr>
            <a:r>
              <a:rPr lang="es-ES" sz="1000" b="1" dirty="0" err="1">
                <a:solidFill>
                  <a:schemeClr val="tx1"/>
                </a:solidFill>
                <a:latin typeface="Arial" panose="020B0604020202020204" pitchFamily="34" charset="0"/>
                <a:cs typeface="Arial" panose="020B0604020202020204" pitchFamily="34" charset="0"/>
                <a:sym typeface="Wingdings" panose="05000000000000000000" pitchFamily="2" charset="2"/>
              </a:rPr>
              <a:t>Offer</a:t>
            </a:r>
            <a:r>
              <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Budget: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Awarding</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offer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budget</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Expenses: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Amount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expected to be spent in the indicated quarter. The "Budget Approved" column is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the summation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of its values and is the amount requested for that step.</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Incomes</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The payment expected to receive in the indicated quarter. The column "Paid by customer" is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the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summation of its values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pPr marL="171450" indent="-171450">
              <a:buFont typeface="Arial" panose="020B0604020202020204" pitchFamily="34" charset="0"/>
              <a:buChar char="•"/>
            </a:pP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Target: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Automatic depending on the type of step / expense</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8" name="7 Rectángulo"/>
          <p:cNvSpPr/>
          <p:nvPr/>
        </p:nvSpPr>
        <p:spPr>
          <a:xfrm>
            <a:off x="2987824" y="5013176"/>
            <a:ext cx="2304256" cy="43204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Margin</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relative</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to</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Sales)</a:t>
            </a: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415408"/>
            <a:ext cx="1323071" cy="244259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331749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9</a:t>
            </a:fld>
            <a:endParaRPr lang="es-ES" dirty="0"/>
          </a:p>
        </p:txBody>
      </p:sp>
      <p:sp>
        <p:nvSpPr>
          <p:cNvPr id="9" name="8 CuadroTexto"/>
          <p:cNvSpPr txBox="1"/>
          <p:nvPr/>
        </p:nvSpPr>
        <p:spPr>
          <a:xfrm>
            <a:off x="267321" y="980728"/>
            <a:ext cx="7473031" cy="369332"/>
          </a:xfrm>
          <a:prstGeom prst="rect">
            <a:avLst/>
          </a:prstGeom>
          <a:noFill/>
        </p:spPr>
        <p:txBody>
          <a:bodyPr wrap="square" rtlCol="0">
            <a:spAutoFit/>
          </a:bodyPr>
          <a:lstStyle/>
          <a:p>
            <a:r>
              <a:rPr lang="es-ES" b="1" dirty="0" smtClean="0">
                <a:solidFill>
                  <a:srgbClr val="254061"/>
                </a:solidFill>
              </a:rPr>
              <a:t>TO CREATE NEW STEPS</a:t>
            </a:r>
            <a:r>
              <a:rPr lang="es-ES" b="1" dirty="0" smtClean="0">
                <a:solidFill>
                  <a:srgbClr val="254061"/>
                </a:solidFill>
                <a:sym typeface="Wingdings" panose="05000000000000000000" pitchFamily="2" charset="2"/>
              </a:rPr>
              <a:t></a:t>
            </a:r>
            <a:r>
              <a:rPr lang="es-ES" b="1" dirty="0" smtClean="0">
                <a:solidFill>
                  <a:srgbClr val="254061"/>
                </a:solidFill>
              </a:rPr>
              <a:t> 1. TYPE A1: TIMECARDS</a:t>
            </a:r>
            <a:endParaRPr lang="en-US" b="1" dirty="0">
              <a:solidFill>
                <a:srgbClr val="254061"/>
              </a:solidFill>
            </a:endParaRPr>
          </a:p>
        </p:txBody>
      </p:sp>
      <p:sp>
        <p:nvSpPr>
          <p:cNvPr id="12" name="11 Rectángulo"/>
          <p:cNvSpPr/>
          <p:nvPr/>
        </p:nvSpPr>
        <p:spPr>
          <a:xfrm>
            <a:off x="179511" y="1556792"/>
            <a:ext cx="8856985" cy="518457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type</a:t>
            </a:r>
            <a:r>
              <a:rPr lang="es-ES" sz="1000" dirty="0" smtClean="0">
                <a:solidFill>
                  <a:schemeClr val="tx1"/>
                </a:solidFill>
                <a:latin typeface="Arial" panose="020B0604020202020204" pitchFamily="34" charset="0"/>
                <a:cs typeface="Arial" panose="020B0604020202020204" pitchFamily="34" charset="0"/>
              </a:rPr>
              <a:t> of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steps</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is</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recognized</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by</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its</a:t>
            </a:r>
            <a:r>
              <a:rPr lang="es-ES" sz="1000" dirty="0" smtClean="0">
                <a:solidFill>
                  <a:schemeClr val="tx1"/>
                </a:solidFill>
                <a:latin typeface="Arial" panose="020B0604020202020204" pitchFamily="34" charset="0"/>
                <a:cs typeface="Arial" panose="020B0604020202020204" pitchFamily="34" charset="0"/>
              </a:rPr>
              <a:t> color</a:t>
            </a:r>
          </a:p>
          <a:p>
            <a:endParaRPr lang="es-ES" sz="1000" dirty="0" smtClean="0">
              <a:solidFill>
                <a:srgbClr val="0000FF"/>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000" b="1" dirty="0" smtClean="0">
                <a:solidFill>
                  <a:schemeClr val="tx1"/>
                </a:solidFill>
                <a:latin typeface="Arial" panose="020B0604020202020204" pitchFamily="34" charset="0"/>
                <a:cs typeface="Arial" panose="020B0604020202020204" pitchFamily="34" charset="0"/>
              </a:rPr>
              <a:t>A</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b="1" dirty="0" smtClean="0">
                <a:solidFill>
                  <a:schemeClr val="tx1"/>
                </a:solidFill>
                <a:latin typeface="Arial" panose="020B0604020202020204" pitchFamily="34" charset="0"/>
                <a:cs typeface="Arial" panose="020B0604020202020204" pitchFamily="34" charset="0"/>
              </a:rPr>
              <a:t> Black</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The step has been created </a:t>
            </a:r>
            <a:r>
              <a:rPr lang="en-US" sz="1000" dirty="0" smtClean="0">
                <a:solidFill>
                  <a:schemeClr val="tx1"/>
                </a:solidFill>
                <a:latin typeface="Arial" panose="020B0604020202020204" pitchFamily="34" charset="0"/>
                <a:cs typeface="Arial" panose="020B0604020202020204" pitchFamily="34" charset="0"/>
              </a:rPr>
              <a:t>AUTOMATICALLY, </a:t>
            </a:r>
            <a:r>
              <a:rPr lang="en-US" sz="1000" dirty="0">
                <a:solidFill>
                  <a:schemeClr val="tx1"/>
                </a:solidFill>
                <a:latin typeface="Arial" panose="020B0604020202020204" pitchFamily="34" charset="0"/>
                <a:cs typeface="Arial" panose="020B0604020202020204" pitchFamily="34" charset="0"/>
              </a:rPr>
              <a:t>the </a:t>
            </a:r>
            <a:r>
              <a:rPr lang="en-US" sz="1000" dirty="0" smtClean="0">
                <a:solidFill>
                  <a:schemeClr val="tx1"/>
                </a:solidFill>
                <a:latin typeface="Arial" panose="020B0604020202020204" pitchFamily="34" charset="0"/>
                <a:cs typeface="Arial" panose="020B0604020202020204" pitchFamily="34" charset="0"/>
              </a:rPr>
              <a:t>origin of the information automatically filled in is </a:t>
            </a:r>
            <a:r>
              <a:rPr lang="en-US" sz="1000" dirty="0">
                <a:solidFill>
                  <a:schemeClr val="tx1"/>
                </a:solidFill>
                <a:latin typeface="Arial" panose="020B0604020202020204" pitchFamily="34" charset="0"/>
                <a:cs typeface="Arial" panose="020B0604020202020204" pitchFamily="34" charset="0"/>
              </a:rPr>
              <a:t>in </a:t>
            </a:r>
            <a:r>
              <a:rPr lang="en-US" sz="1000" dirty="0" smtClean="0">
                <a:solidFill>
                  <a:schemeClr val="tx1"/>
                </a:solidFill>
                <a:latin typeface="Arial" panose="020B0604020202020204" pitchFamily="34" charset="0"/>
                <a:cs typeface="Arial" panose="020B0604020202020204" pitchFamily="34" charset="0"/>
              </a:rPr>
              <a:t>ANOTHER APPLICATION.</a:t>
            </a:r>
          </a:p>
          <a:p>
            <a:pPr marL="171450"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85800" lvl="1" indent="-228600">
              <a:buFont typeface="+mj-lt"/>
              <a:buAutoNum type="arabicPeriod"/>
            </a:pPr>
            <a:r>
              <a:rPr lang="es-ES" sz="1000" dirty="0" smtClean="0">
                <a:solidFill>
                  <a:schemeClr val="tx1"/>
                </a:solidFill>
                <a:latin typeface="Arial" panose="020B0604020202020204" pitchFamily="34" charset="0"/>
                <a:cs typeface="Arial" panose="020B0604020202020204" pitchFamily="34" charset="0"/>
              </a:rPr>
              <a:t>TYPE A1</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dirty="0" smtClean="0">
                <a:solidFill>
                  <a:schemeClr val="tx1"/>
                </a:solidFill>
                <a:latin typeface="Arial" panose="020B0604020202020204" pitchFamily="34" charset="0"/>
                <a:cs typeface="Arial" panose="020B0604020202020204" pitchFamily="34" charset="0"/>
              </a:rPr>
              <a:t> TIMECARDS </a:t>
            </a:r>
            <a:r>
              <a:rPr lang="es-ES" sz="1000" dirty="0" err="1" smtClean="0">
                <a:solidFill>
                  <a:schemeClr val="tx1"/>
                </a:solidFill>
                <a:latin typeface="Arial" panose="020B0604020202020204" pitchFamily="34" charset="0"/>
                <a:cs typeface="Arial" panose="020B0604020202020204" pitchFamily="34" charset="0"/>
              </a:rPr>
              <a:t>type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step</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Step’s</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name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contains</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text</a:t>
            </a:r>
            <a:r>
              <a:rPr lang="es-ES" sz="1000" dirty="0" smtClean="0">
                <a:solidFill>
                  <a:schemeClr val="tx1"/>
                </a:solidFill>
                <a:latin typeface="Arial" panose="020B0604020202020204" pitchFamily="34" charset="0"/>
                <a:cs typeface="Arial" panose="020B0604020202020204" pitchFamily="34" charset="0"/>
              </a:rPr>
              <a:t> HR (</a:t>
            </a:r>
            <a:r>
              <a:rPr lang="en-US" sz="1000" dirty="0" smtClean="0">
                <a:solidFill>
                  <a:schemeClr val="tx1"/>
                </a:solidFill>
                <a:latin typeface="Arial" panose="020B0604020202020204" pitchFamily="34" charset="0"/>
                <a:cs typeface="Arial" panose="020B0604020202020204" pitchFamily="34" charset="0"/>
              </a:rPr>
              <a:t>Human Resources) or HR-MR (</a:t>
            </a:r>
            <a:r>
              <a:rPr lang="es-ES" sz="1000" dirty="0" smtClean="0">
                <a:solidFill>
                  <a:schemeClr val="tx1"/>
                </a:solidFill>
                <a:latin typeface="Arial" panose="020B0604020202020204" pitchFamily="34" charset="0"/>
                <a:cs typeface="Arial" panose="020B0604020202020204" pitchFamily="34" charset="0"/>
              </a:rPr>
              <a:t>Human </a:t>
            </a:r>
            <a:r>
              <a:rPr lang="es-ES" sz="1000" dirty="0">
                <a:solidFill>
                  <a:schemeClr val="tx1"/>
                </a:solidFill>
                <a:latin typeface="Arial" panose="020B0604020202020204" pitchFamily="34" charset="0"/>
                <a:cs typeface="Arial" panose="020B0604020202020204" pitchFamily="34" charset="0"/>
              </a:rPr>
              <a:t>and Machine </a:t>
            </a:r>
            <a:r>
              <a:rPr lang="es-ES" sz="1000" dirty="0" err="1">
                <a:solidFill>
                  <a:schemeClr val="tx1"/>
                </a:solidFill>
                <a:latin typeface="Arial" panose="020B0604020202020204" pitchFamily="34" charset="0"/>
                <a:cs typeface="Arial" panose="020B0604020202020204" pitchFamily="34" charset="0"/>
              </a:rPr>
              <a:t>resources</a:t>
            </a:r>
            <a:r>
              <a:rPr lang="es-ES" sz="1000" dirty="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For</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these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steps</a:t>
            </a:r>
            <a:r>
              <a:rPr lang="es-ES" sz="1000" dirty="0" smtClean="0">
                <a:solidFill>
                  <a:schemeClr val="tx1"/>
                </a:solidFill>
                <a:latin typeface="Arial" panose="020B0604020202020204" pitchFamily="34" charset="0"/>
                <a:cs typeface="Arial" panose="020B0604020202020204" pitchFamily="34" charset="0"/>
              </a:rPr>
              <a:t>, </a:t>
            </a:r>
            <a:r>
              <a:rPr lang="en-US" sz="1000" b="1" dirty="0" smtClean="0">
                <a:solidFill>
                  <a:schemeClr val="tx1"/>
                </a:solidFill>
                <a:latin typeface="Arial" panose="020B0604020202020204" pitchFamily="34" charset="0"/>
                <a:cs typeface="Arial" panose="020B0604020202020204" pitchFamily="34" charset="0"/>
              </a:rPr>
              <a:t>Offer Budget </a:t>
            </a:r>
            <a:r>
              <a:rPr lang="en-US" sz="1000" dirty="0" smtClean="0">
                <a:solidFill>
                  <a:schemeClr val="tx1"/>
                </a:solidFill>
                <a:latin typeface="Arial" panose="020B0604020202020204" pitchFamily="34" charset="0"/>
                <a:cs typeface="Arial" panose="020B0604020202020204" pitchFamily="34" charset="0"/>
              </a:rPr>
              <a:t>and </a:t>
            </a:r>
            <a:r>
              <a:rPr lang="en-US" sz="1000" b="1" dirty="0" smtClean="0">
                <a:solidFill>
                  <a:schemeClr val="tx1"/>
                </a:solidFill>
                <a:latin typeface="Arial" panose="020B0604020202020204" pitchFamily="34" charset="0"/>
                <a:cs typeface="Arial" panose="020B0604020202020204" pitchFamily="34" charset="0"/>
              </a:rPr>
              <a:t>Expenses</a:t>
            </a:r>
            <a:r>
              <a:rPr lang="en-US" sz="1000" dirty="0" smtClean="0">
                <a:solidFill>
                  <a:schemeClr val="tx1"/>
                </a:solidFill>
                <a:latin typeface="Arial" panose="020B0604020202020204" pitchFamily="34" charset="0"/>
                <a:cs typeface="Arial" panose="020B0604020202020204" pitchFamily="34" charset="0"/>
              </a:rPr>
              <a:t> columns must be updated from TIMECARDS APPLICATION. </a:t>
            </a:r>
            <a:r>
              <a:rPr lang="en-US" sz="1000" b="1" dirty="0" smtClean="0">
                <a:solidFill>
                  <a:srgbClr val="FF0000"/>
                </a:solidFill>
                <a:latin typeface="Arial" panose="020B0604020202020204" pitchFamily="34" charset="0"/>
                <a:cs typeface="Arial" panose="020B0604020202020204" pitchFamily="34" charset="0"/>
              </a:rPr>
              <a:t>Incomes</a:t>
            </a:r>
            <a:r>
              <a:rPr lang="en-US" sz="1000" b="1"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on the other hand, </a:t>
            </a:r>
            <a:r>
              <a:rPr lang="en-US" sz="1000" dirty="0" smtClean="0">
                <a:solidFill>
                  <a:schemeClr val="tx1"/>
                </a:solidFill>
                <a:latin typeface="Arial" panose="020B0604020202020204" pitchFamily="34" charset="0"/>
                <a:cs typeface="Arial" panose="020B0604020202020204" pitchFamily="34" charset="0"/>
              </a:rPr>
              <a:t>should be updated from here in case the customer pays in CASH </a:t>
            </a:r>
            <a:r>
              <a:rPr lang="en-US" sz="1000" dirty="0">
                <a:solidFill>
                  <a:schemeClr val="tx1"/>
                </a:solidFill>
                <a:latin typeface="Arial" panose="020B0604020202020204" pitchFamily="34" charset="0"/>
                <a:cs typeface="Arial" panose="020B0604020202020204" pitchFamily="34" charset="0"/>
              </a:rPr>
              <a:t>for </a:t>
            </a:r>
            <a:r>
              <a:rPr lang="en-US" sz="1000" dirty="0" smtClean="0">
                <a:solidFill>
                  <a:schemeClr val="tx1"/>
                </a:solidFill>
                <a:latin typeface="Arial" panose="020B0604020202020204" pitchFamily="34" charset="0"/>
                <a:cs typeface="Arial" panose="020B0604020202020204" pitchFamily="34" charset="0"/>
              </a:rPr>
              <a:t>these concepts.</a:t>
            </a:r>
          </a:p>
          <a:p>
            <a:pPr marL="628650" lvl="1" indent="-171450">
              <a:buFont typeface="Arial" panose="020B0604020202020204" pitchFamily="34" charset="0"/>
              <a:buChar char="•"/>
            </a:pPr>
            <a:endParaRPr lang="en-U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p:txBody>
      </p:sp>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332" y="2848520"/>
            <a:ext cx="8765142" cy="3172768"/>
          </a:xfrm>
          <a:prstGeom prst="rect">
            <a:avLst/>
          </a:prstGeom>
          <a:noFill/>
          <a:ln w="9525">
            <a:solidFill>
              <a:schemeClr val="tx1"/>
            </a:solidFill>
          </a:ln>
          <a:extLst>
            <a:ext uri="{909E8E84-426E-40DD-AFC4-6F175D3DCCD1}">
              <a14:hiddenFill xmlns:a14="http://schemas.microsoft.com/office/drawing/2010/main">
                <a:solidFill>
                  <a:schemeClr val="accent1"/>
                </a:solidFill>
              </a14:hiddenFill>
            </a:ext>
          </a:extLst>
        </p:spPr>
      </p:pic>
      <p:sp>
        <p:nvSpPr>
          <p:cNvPr id="11" name="Rectángulo 10"/>
          <p:cNvSpPr/>
          <p:nvPr/>
        </p:nvSpPr>
        <p:spPr>
          <a:xfrm>
            <a:off x="4499992" y="3118341"/>
            <a:ext cx="2453208" cy="4320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Rectángulo 12"/>
          <p:cNvSpPr/>
          <p:nvPr/>
        </p:nvSpPr>
        <p:spPr>
          <a:xfrm>
            <a:off x="3131841" y="3118340"/>
            <a:ext cx="576064" cy="37825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4" name="Rectángulo 13"/>
          <p:cNvSpPr/>
          <p:nvPr/>
        </p:nvSpPr>
        <p:spPr>
          <a:xfrm>
            <a:off x="6953200" y="3118340"/>
            <a:ext cx="2015274" cy="4237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Elipse 14"/>
          <p:cNvSpPr/>
          <p:nvPr/>
        </p:nvSpPr>
        <p:spPr>
          <a:xfrm>
            <a:off x="2667528" y="4306008"/>
            <a:ext cx="3162334" cy="934999"/>
          </a:xfrm>
          <a:prstGeom prst="ellipse">
            <a:avLst/>
          </a:pr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00"/>
                </a:solidFill>
                <a:latin typeface="Roboto"/>
              </a:rPr>
              <a:t>UNEDITABLE. ORIGIN APPLICATION TECHNICAL OFFER- BUDGET</a:t>
            </a:r>
            <a:endParaRPr lang="es-ES" sz="1400" dirty="0">
              <a:solidFill>
                <a:schemeClr val="tx1"/>
              </a:solidFill>
              <a:latin typeface="Arial" panose="020B0604020202020204" pitchFamily="34" charset="0"/>
              <a:cs typeface="Arial" panose="020B0604020202020204" pitchFamily="34" charset="0"/>
            </a:endParaRPr>
          </a:p>
        </p:txBody>
      </p:sp>
      <p:cxnSp>
        <p:nvCxnSpPr>
          <p:cNvPr id="16" name="Conector angular 15"/>
          <p:cNvCxnSpPr>
            <a:stCxn id="15" idx="2"/>
            <a:endCxn id="13" idx="2"/>
          </p:cNvCxnSpPr>
          <p:nvPr/>
        </p:nvCxnSpPr>
        <p:spPr>
          <a:xfrm rot="10800000" flipH="1">
            <a:off x="2667527" y="3496592"/>
            <a:ext cx="752345" cy="1276917"/>
          </a:xfrm>
          <a:prstGeom prst="bentConnector4">
            <a:avLst>
              <a:gd name="adj1" fmla="val -30385"/>
              <a:gd name="adj2" fmla="val 6830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6"/>
          <p:cNvCxnSpPr>
            <a:stCxn id="15" idx="6"/>
          </p:cNvCxnSpPr>
          <p:nvPr/>
        </p:nvCxnSpPr>
        <p:spPr>
          <a:xfrm flipH="1" flipV="1">
            <a:off x="5331824" y="3585930"/>
            <a:ext cx="498038" cy="1187578"/>
          </a:xfrm>
          <a:prstGeom prst="bentConnector4">
            <a:avLst>
              <a:gd name="adj1" fmla="val -45900"/>
              <a:gd name="adj2" fmla="val 6968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Elipse 17"/>
          <p:cNvSpPr/>
          <p:nvPr/>
        </p:nvSpPr>
        <p:spPr>
          <a:xfrm>
            <a:off x="6037919" y="4557397"/>
            <a:ext cx="3018318" cy="648072"/>
          </a:xfrm>
          <a:prstGeom prst="ellipse">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EDITABLE </a:t>
            </a:r>
          </a:p>
        </p:txBody>
      </p:sp>
      <p:cxnSp>
        <p:nvCxnSpPr>
          <p:cNvPr id="19" name="Conector angular 18"/>
          <p:cNvCxnSpPr/>
          <p:nvPr/>
        </p:nvCxnSpPr>
        <p:spPr>
          <a:xfrm rot="16200000" flipV="1">
            <a:off x="7454313" y="3948426"/>
            <a:ext cx="1044116" cy="248042"/>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Elipse 19"/>
          <p:cNvSpPr/>
          <p:nvPr/>
        </p:nvSpPr>
        <p:spPr>
          <a:xfrm>
            <a:off x="650263" y="4198461"/>
            <a:ext cx="864096"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1" name="Elipse 20"/>
          <p:cNvSpPr/>
          <p:nvPr/>
        </p:nvSpPr>
        <p:spPr>
          <a:xfrm>
            <a:off x="535812" y="4876633"/>
            <a:ext cx="1092999"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26" name="Elipse 25"/>
          <p:cNvSpPr/>
          <p:nvPr/>
        </p:nvSpPr>
        <p:spPr>
          <a:xfrm>
            <a:off x="535812" y="5304720"/>
            <a:ext cx="1092999"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27" name="Elipse 26"/>
          <p:cNvSpPr/>
          <p:nvPr/>
        </p:nvSpPr>
        <p:spPr>
          <a:xfrm>
            <a:off x="535812" y="5773033"/>
            <a:ext cx="1092999"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28" name="13 Llamada rectangular"/>
          <p:cNvSpPr/>
          <p:nvPr/>
        </p:nvSpPr>
        <p:spPr>
          <a:xfrm>
            <a:off x="2299011" y="6014886"/>
            <a:ext cx="6645913" cy="706589"/>
          </a:xfrm>
          <a:prstGeom prst="wedgeRectCallout">
            <a:avLst>
              <a:gd name="adj1" fmla="val -60546"/>
              <a:gd name="adj2" fmla="val -110005"/>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en-US" sz="1000" dirty="0" smtClean="0">
                <a:solidFill>
                  <a:schemeClr val="tx1"/>
                </a:solidFill>
                <a:latin typeface="Arial" panose="020B0604020202020204" pitchFamily="34" charset="0"/>
                <a:cs typeface="Arial" panose="020B0604020202020204" pitchFamily="34" charset="0"/>
              </a:rPr>
              <a:t>Some </a:t>
            </a:r>
            <a:r>
              <a:rPr lang="en-US" sz="1000" dirty="0">
                <a:solidFill>
                  <a:schemeClr val="tx1"/>
                </a:solidFill>
                <a:latin typeface="Arial" panose="020B0604020202020204" pitchFamily="34" charset="0"/>
                <a:cs typeface="Arial" panose="020B0604020202020204" pitchFamily="34" charset="0"/>
              </a:rPr>
              <a:t>cost groups are divided in two (</a:t>
            </a:r>
            <a:r>
              <a:rPr lang="en-US" sz="1000" dirty="0" err="1">
                <a:solidFill>
                  <a:schemeClr val="tx1"/>
                </a:solidFill>
                <a:latin typeface="Arial" panose="020B0604020202020204" pitchFamily="34" charset="0"/>
                <a:cs typeface="Arial" panose="020B0604020202020204" pitchFamily="34" charset="0"/>
              </a:rPr>
              <a:t>Batz</a:t>
            </a:r>
            <a:r>
              <a:rPr lang="en-US" sz="1000" dirty="0">
                <a:solidFill>
                  <a:schemeClr val="tx1"/>
                </a:solidFill>
                <a:latin typeface="Arial" panose="020B0604020202020204" pitchFamily="34" charset="0"/>
                <a:cs typeface="Arial" panose="020B0604020202020204" pitchFamily="34" charset="0"/>
              </a:rPr>
              <a:t> property or Customer property), they are timecards related to tooling set-up and design. The budget of these activities is carried out globally and not divided by tooling </a:t>
            </a:r>
            <a:r>
              <a:rPr lang="en-US" sz="1000" dirty="0" smtClean="0">
                <a:solidFill>
                  <a:schemeClr val="tx1"/>
                </a:solidFill>
                <a:latin typeface="Arial" panose="020B0604020202020204" pitchFamily="34" charset="0"/>
                <a:cs typeface="Arial" panose="020B0604020202020204" pitchFamily="34" charset="0"/>
              </a:rPr>
              <a:t>owner, that’s </a:t>
            </a:r>
            <a:r>
              <a:rPr lang="en-US" sz="1000" dirty="0">
                <a:solidFill>
                  <a:schemeClr val="tx1"/>
                </a:solidFill>
                <a:latin typeface="Arial" panose="020B0604020202020204" pitchFamily="34" charset="0"/>
                <a:cs typeface="Arial" panose="020B0604020202020204" pitchFamily="34" charset="0"/>
              </a:rPr>
              <a:t>why it must be the user who, depending on the costs of  </a:t>
            </a:r>
            <a:r>
              <a:rPr lang="en-US" sz="1000" dirty="0" err="1">
                <a:solidFill>
                  <a:schemeClr val="tx1"/>
                </a:solidFill>
                <a:latin typeface="Arial" panose="020B0604020202020204" pitchFamily="34" charset="0"/>
                <a:cs typeface="Arial" panose="020B0604020202020204" pitchFamily="34" charset="0"/>
              </a:rPr>
              <a:t>Batz</a:t>
            </a:r>
            <a:r>
              <a:rPr lang="en-US" sz="1000" dirty="0">
                <a:solidFill>
                  <a:schemeClr val="tx1"/>
                </a:solidFill>
                <a:latin typeface="Arial" panose="020B0604020202020204" pitchFamily="34" charset="0"/>
                <a:cs typeface="Arial" panose="020B0604020202020204" pitchFamily="34" charset="0"/>
              </a:rPr>
              <a:t> tooling and Customer tooling, applies a percentage and divides timecards budget between these two cost groups</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98850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10</a:t>
            </a:fld>
            <a:endParaRPr lang="es-ES" dirty="0"/>
          </a:p>
        </p:txBody>
      </p:sp>
      <p:sp>
        <p:nvSpPr>
          <p:cNvPr id="3" name="8 CuadroTexto"/>
          <p:cNvSpPr txBox="1"/>
          <p:nvPr/>
        </p:nvSpPr>
        <p:spPr>
          <a:xfrm>
            <a:off x="267321" y="980728"/>
            <a:ext cx="7761064" cy="369332"/>
          </a:xfrm>
          <a:prstGeom prst="rect">
            <a:avLst/>
          </a:prstGeom>
          <a:noFill/>
        </p:spPr>
        <p:txBody>
          <a:bodyPr wrap="square" rtlCol="0">
            <a:spAutoFit/>
          </a:bodyPr>
          <a:lstStyle/>
          <a:p>
            <a:r>
              <a:rPr lang="es-ES" b="1" dirty="0">
                <a:solidFill>
                  <a:srgbClr val="254061"/>
                </a:solidFill>
              </a:rPr>
              <a:t>TO CREATE NEW STEPS</a:t>
            </a:r>
            <a:r>
              <a:rPr lang="es-ES" b="1" dirty="0">
                <a:solidFill>
                  <a:srgbClr val="254061"/>
                </a:solidFill>
                <a:sym typeface="Wingdings" panose="05000000000000000000" pitchFamily="2" charset="2"/>
              </a:rPr>
              <a:t></a:t>
            </a:r>
            <a:r>
              <a:rPr lang="es-ES" b="1" dirty="0">
                <a:solidFill>
                  <a:srgbClr val="254061"/>
                </a:solidFill>
              </a:rPr>
              <a:t> 1. </a:t>
            </a:r>
            <a:r>
              <a:rPr lang="es-ES" b="1" dirty="0" smtClean="0">
                <a:solidFill>
                  <a:srgbClr val="254061"/>
                </a:solidFill>
              </a:rPr>
              <a:t>TYPE A1: TIMECARDS</a:t>
            </a:r>
            <a:r>
              <a:rPr lang="en-US" b="1" dirty="0" smtClean="0">
                <a:solidFill>
                  <a:srgbClr val="254061"/>
                </a:solidFill>
              </a:rPr>
              <a:t> </a:t>
            </a:r>
            <a:r>
              <a:rPr lang="es-ES" b="1" dirty="0" smtClean="0">
                <a:solidFill>
                  <a:srgbClr val="254061"/>
                </a:solidFill>
              </a:rPr>
              <a:t>II</a:t>
            </a:r>
            <a:endParaRPr lang="en-US" b="1" dirty="0">
              <a:solidFill>
                <a:srgbClr val="254061"/>
              </a:solidFill>
            </a:endParaRPr>
          </a:p>
        </p:txBody>
      </p:sp>
      <p:pic>
        <p:nvPicPr>
          <p:cNvPr id="4" name="Imagen 3"/>
          <p:cNvPicPr>
            <a:picLocks noChangeAspect="1"/>
          </p:cNvPicPr>
          <p:nvPr/>
        </p:nvPicPr>
        <p:blipFill>
          <a:blip r:embed="rId3"/>
          <a:stretch>
            <a:fillRect/>
          </a:stretch>
        </p:blipFill>
        <p:spPr>
          <a:xfrm>
            <a:off x="35496" y="3792757"/>
            <a:ext cx="5320491" cy="3092627"/>
          </a:xfrm>
          <a:prstGeom prst="rect">
            <a:avLst/>
          </a:prstGeom>
          <a:ln>
            <a:noFill/>
          </a:ln>
          <a:effectLst>
            <a:outerShdw blurRad="190500" algn="tl" rotWithShape="0">
              <a:srgbClr val="000000">
                <a:alpha val="70000"/>
              </a:srgbClr>
            </a:outerShdw>
          </a:effectLst>
        </p:spPr>
      </p:pic>
      <p:pic>
        <p:nvPicPr>
          <p:cNvPr id="5" name="Imagen 4"/>
          <p:cNvPicPr>
            <a:picLocks noChangeAspect="1"/>
          </p:cNvPicPr>
          <p:nvPr/>
        </p:nvPicPr>
        <p:blipFill>
          <a:blip r:embed="rId4"/>
          <a:stretch>
            <a:fillRect/>
          </a:stretch>
        </p:blipFill>
        <p:spPr>
          <a:xfrm>
            <a:off x="-40927" y="1626468"/>
            <a:ext cx="5626435" cy="2018556"/>
          </a:xfrm>
          <a:prstGeom prst="rect">
            <a:avLst/>
          </a:prstGeom>
          <a:ln>
            <a:noFill/>
          </a:ln>
          <a:effectLst>
            <a:outerShdw blurRad="190500" algn="tl" rotWithShape="0">
              <a:srgbClr val="000000">
                <a:alpha val="70000"/>
              </a:srgbClr>
            </a:outerShdw>
          </a:effectLst>
        </p:spPr>
      </p:pic>
      <p:sp>
        <p:nvSpPr>
          <p:cNvPr id="6" name="Rectángulo 5"/>
          <p:cNvSpPr/>
          <p:nvPr/>
        </p:nvSpPr>
        <p:spPr>
          <a:xfrm>
            <a:off x="2944684" y="3249207"/>
            <a:ext cx="1411292" cy="208688"/>
          </a:xfrm>
          <a:prstGeom prst="rect">
            <a:avLst/>
          </a:prstGeom>
          <a:no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8" name="Elipse 7"/>
          <p:cNvSpPr/>
          <p:nvPr/>
        </p:nvSpPr>
        <p:spPr>
          <a:xfrm>
            <a:off x="46025" y="4743834"/>
            <a:ext cx="996625" cy="32955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9" name="Elipse 8"/>
          <p:cNvSpPr/>
          <p:nvPr/>
        </p:nvSpPr>
        <p:spPr>
          <a:xfrm>
            <a:off x="152718" y="2827152"/>
            <a:ext cx="1008487" cy="36150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10 Rectángulo"/>
          <p:cNvSpPr/>
          <p:nvPr/>
        </p:nvSpPr>
        <p:spPr>
          <a:xfrm>
            <a:off x="6534836" y="1456387"/>
            <a:ext cx="1584176" cy="1356608"/>
          </a:xfrm>
          <a:prstGeom prst="rect">
            <a:avLst/>
          </a:prstGeom>
          <a:solidFill>
            <a:schemeClr val="accent6">
              <a:lumMod val="60000"/>
              <a:lumOff val="40000"/>
            </a:schemeClr>
          </a:soli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rPr>
              <a:t>Budget Approved and Expenses, display by cost group what is established in the LAST TIMECARDS PLANNING, grouped by quarter.</a:t>
            </a:r>
          </a:p>
        </p:txBody>
      </p:sp>
      <p:sp>
        <p:nvSpPr>
          <p:cNvPr id="16" name="Elipse 15"/>
          <p:cNvSpPr/>
          <p:nvPr/>
        </p:nvSpPr>
        <p:spPr>
          <a:xfrm>
            <a:off x="73946" y="4005063"/>
            <a:ext cx="753638" cy="255193"/>
          </a:xfrm>
          <a:prstGeom prst="ellipse">
            <a:avLst/>
          </a:prstGeom>
          <a:noFill/>
          <a:ln w="127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7" name="10 Rectángulo"/>
          <p:cNvSpPr/>
          <p:nvPr/>
        </p:nvSpPr>
        <p:spPr>
          <a:xfrm>
            <a:off x="5063419" y="5376449"/>
            <a:ext cx="4123627" cy="1411852"/>
          </a:xfrm>
          <a:prstGeom prst="rect">
            <a:avLst/>
          </a:prstGeom>
          <a:solidFill>
            <a:schemeClr val="bg1"/>
          </a:solidFill>
          <a:ln w="158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rPr>
              <a:t>Within the OTHERS cost group there is one step for which budget is NOT requested, “HR-MR WITHOUT GROUP”. This step is necessary to be able to track the real cost through the CC report, since there are </a:t>
            </a:r>
          </a:p>
          <a:p>
            <a:r>
              <a:rPr lang="en-US" sz="1000" dirty="0" smtClean="0">
                <a:solidFill>
                  <a:schemeClr val="tx1"/>
                </a:solidFill>
                <a:latin typeface="Arial" panose="020B0604020202020204" pitchFamily="34" charset="0"/>
                <a:cs typeface="Arial" panose="020B0604020202020204" pitchFamily="34" charset="0"/>
              </a:rPr>
              <a:t>Activity/Role combinations that do not exist in the planning and when the team members enter Timecards they stay “Without group”</a:t>
            </a:r>
            <a:endParaRPr lang="en-US" sz="1000" dirty="0">
              <a:solidFill>
                <a:schemeClr val="tx1"/>
              </a:solidFill>
              <a:latin typeface="Arial" panose="020B0604020202020204" pitchFamily="34" charset="0"/>
              <a:cs typeface="Arial" panose="020B0604020202020204" pitchFamily="34" charset="0"/>
            </a:endParaRPr>
          </a:p>
          <a:p>
            <a:endParaRPr lang="en-US" sz="1000" dirty="0" smtClean="0">
              <a:solidFill>
                <a:schemeClr val="tx1"/>
              </a:solidFill>
              <a:latin typeface="Arial" panose="020B0604020202020204" pitchFamily="34" charset="0"/>
              <a:cs typeface="Arial" panose="020B0604020202020204" pitchFamily="34" charset="0"/>
            </a:endParaRPr>
          </a:p>
          <a:p>
            <a:r>
              <a:rPr lang="en-US" sz="1000" dirty="0" smtClean="0">
                <a:solidFill>
                  <a:schemeClr val="tx1"/>
                </a:solidFill>
                <a:latin typeface="Arial" panose="020B0604020202020204" pitchFamily="34" charset="0"/>
                <a:cs typeface="Arial" panose="020B0604020202020204" pitchFamily="34" charset="0"/>
              </a:rPr>
              <a:t>The project lead should update the planning ordering these lines within existing cost groups. </a:t>
            </a:r>
            <a:endParaRPr lang="en-US" sz="1000" dirty="0">
              <a:solidFill>
                <a:schemeClr val="tx1"/>
              </a:solidFill>
              <a:latin typeface="Arial" panose="020B0604020202020204" pitchFamily="34" charset="0"/>
              <a:cs typeface="Arial" panose="020B0604020202020204" pitchFamily="34" charset="0"/>
            </a:endParaRPr>
          </a:p>
          <a:p>
            <a:endParaRPr lang="en-US" sz="1000" dirty="0">
              <a:solidFill>
                <a:schemeClr val="tx1"/>
              </a:solidFill>
              <a:latin typeface="Arial" panose="020B0604020202020204" pitchFamily="34" charset="0"/>
              <a:cs typeface="Arial" panose="020B0604020202020204" pitchFamily="34" charset="0"/>
            </a:endParaRPr>
          </a:p>
          <a:p>
            <a:endParaRPr lang="en-US" sz="1000" dirty="0" smtClean="0">
              <a:solidFill>
                <a:schemeClr val="tx1"/>
              </a:solidFill>
              <a:latin typeface="Arial" panose="020B0604020202020204" pitchFamily="34" charset="0"/>
              <a:cs typeface="Arial" panose="020B0604020202020204" pitchFamily="34" charset="0"/>
            </a:endParaRPr>
          </a:p>
          <a:p>
            <a:endParaRPr lang="en-US" sz="1000" dirty="0">
              <a:solidFill>
                <a:schemeClr val="tx1"/>
              </a:solidFill>
              <a:latin typeface="Arial" panose="020B0604020202020204" pitchFamily="34" charset="0"/>
              <a:cs typeface="Arial" panose="020B0604020202020204" pitchFamily="34" charset="0"/>
            </a:endParaRPr>
          </a:p>
        </p:txBody>
      </p:sp>
      <p:sp>
        <p:nvSpPr>
          <p:cNvPr id="24" name="Rectángulo redondeado 23"/>
          <p:cNvSpPr/>
          <p:nvPr/>
        </p:nvSpPr>
        <p:spPr>
          <a:xfrm>
            <a:off x="107504" y="5376449"/>
            <a:ext cx="1368152" cy="432048"/>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BONOS</a:t>
            </a:r>
            <a:endParaRPr lang="es-ES" sz="1400" dirty="0" smtClean="0">
              <a:solidFill>
                <a:schemeClr val="tx1"/>
              </a:solidFill>
              <a:latin typeface="Arial" panose="020B0604020202020204" pitchFamily="34" charset="0"/>
              <a:cs typeface="Arial" panose="020B0604020202020204" pitchFamily="34" charset="0"/>
            </a:endParaRPr>
          </a:p>
        </p:txBody>
      </p:sp>
      <p:sp>
        <p:nvSpPr>
          <p:cNvPr id="25" name="Rectángulo redondeado 24"/>
          <p:cNvSpPr/>
          <p:nvPr/>
        </p:nvSpPr>
        <p:spPr>
          <a:xfrm>
            <a:off x="38117" y="1747031"/>
            <a:ext cx="1237691" cy="309796"/>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CC</a:t>
            </a:r>
            <a:endParaRPr lang="es-ES" sz="1400" dirty="0" smtClean="0">
              <a:solidFill>
                <a:schemeClr val="tx1"/>
              </a:solidFill>
              <a:latin typeface="Arial" panose="020B0604020202020204" pitchFamily="34" charset="0"/>
              <a:cs typeface="Arial" panose="020B0604020202020204" pitchFamily="34" charset="0"/>
            </a:endParaRPr>
          </a:p>
        </p:txBody>
      </p:sp>
      <p:pic>
        <p:nvPicPr>
          <p:cNvPr id="45" name="Imagen 44"/>
          <p:cNvPicPr>
            <a:picLocks noChangeAspect="1"/>
          </p:cNvPicPr>
          <p:nvPr/>
        </p:nvPicPr>
        <p:blipFill>
          <a:blip r:embed="rId5"/>
          <a:stretch>
            <a:fillRect/>
          </a:stretch>
        </p:blipFill>
        <p:spPr>
          <a:xfrm>
            <a:off x="6304693" y="3794903"/>
            <a:ext cx="1496482" cy="727036"/>
          </a:xfrm>
          <a:prstGeom prst="rect">
            <a:avLst/>
          </a:prstGeom>
          <a:ln w="25400">
            <a:noFill/>
          </a:ln>
          <a:effectLst>
            <a:outerShdw blurRad="50800" dist="50800" dir="5400000" algn="ctr" rotWithShape="0">
              <a:schemeClr val="tx1"/>
            </a:outerShdw>
          </a:effectLst>
        </p:spPr>
      </p:pic>
      <p:cxnSp>
        <p:nvCxnSpPr>
          <p:cNvPr id="50" name="Conector angular 49"/>
          <p:cNvCxnSpPr>
            <a:stCxn id="9" idx="6"/>
            <a:endCxn id="8" idx="6"/>
          </p:cNvCxnSpPr>
          <p:nvPr/>
        </p:nvCxnSpPr>
        <p:spPr>
          <a:xfrm flipH="1">
            <a:off x="1042650" y="3007904"/>
            <a:ext cx="118555" cy="1900709"/>
          </a:xfrm>
          <a:prstGeom prst="bentConnector3">
            <a:avLst>
              <a:gd name="adj1" fmla="val -19282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ángulo 9"/>
          <p:cNvSpPr/>
          <p:nvPr/>
        </p:nvSpPr>
        <p:spPr>
          <a:xfrm>
            <a:off x="6409349" y="2952474"/>
            <a:ext cx="1925960" cy="707886"/>
          </a:xfrm>
          <a:prstGeom prst="rect">
            <a:avLst/>
          </a:prstGeom>
          <a:solidFill>
            <a:schemeClr val="accent3">
              <a:lumMod val="60000"/>
              <a:lumOff val="40000"/>
            </a:scheme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rPr>
              <a:t>The applicant must fill in Incomes if customer pays IN CASH for these concepts.</a:t>
            </a:r>
            <a:endParaRPr lang="en-US" sz="1000" dirty="0">
              <a:solidFill>
                <a:schemeClr val="tx1"/>
              </a:solidFill>
              <a:latin typeface="Arial" panose="020B0604020202020204" pitchFamily="34" charset="0"/>
              <a:cs typeface="Arial" panose="020B0604020202020204" pitchFamily="34" charset="0"/>
            </a:endParaRPr>
          </a:p>
        </p:txBody>
      </p:sp>
      <p:sp>
        <p:nvSpPr>
          <p:cNvPr id="11" name="Rectángulo 10"/>
          <p:cNvSpPr/>
          <p:nvPr/>
        </p:nvSpPr>
        <p:spPr>
          <a:xfrm>
            <a:off x="1415867" y="1316372"/>
            <a:ext cx="3261123" cy="400110"/>
          </a:xfrm>
          <a:prstGeom prst="rect">
            <a:avLst/>
          </a:prstGeom>
          <a:solidFill>
            <a:schemeClr val="accent1">
              <a:lumMod val="40000"/>
              <a:lumOff val="60000"/>
            </a:schemeClr>
          </a:solidFill>
          <a:ln w="28575">
            <a:solidFill>
              <a:srgbClr val="0070C0"/>
            </a:solidFill>
          </a:ln>
        </p:spPr>
        <p:txBody>
          <a:bodyPr wrap="square">
            <a:spAutoFit/>
          </a:bodyPr>
          <a:lstStyle/>
          <a:p>
            <a:pPr lvl="0"/>
            <a:r>
              <a:rPr lang="en-US" sz="1000" dirty="0" smtClean="0">
                <a:solidFill>
                  <a:prstClr val="black"/>
                </a:solidFill>
                <a:latin typeface="Arial" panose="020B0604020202020204" pitchFamily="34" charset="0"/>
                <a:cs typeface="Arial" panose="020B0604020202020204" pitchFamily="34" charset="0"/>
              </a:rPr>
              <a:t>The Offer Budget column shows what is established in the TIMECARDS BUDGET</a:t>
            </a:r>
            <a:endParaRPr lang="en-US" sz="1000" dirty="0">
              <a:solidFill>
                <a:prstClr val="black"/>
              </a:solidFill>
              <a:latin typeface="Arial" panose="020B0604020202020204" pitchFamily="34" charset="0"/>
              <a:cs typeface="Arial" panose="020B0604020202020204" pitchFamily="34" charset="0"/>
            </a:endParaRPr>
          </a:p>
        </p:txBody>
      </p:sp>
      <p:sp>
        <p:nvSpPr>
          <p:cNvPr id="12" name="Rectángulo redondeado 11"/>
          <p:cNvSpPr/>
          <p:nvPr/>
        </p:nvSpPr>
        <p:spPr>
          <a:xfrm>
            <a:off x="1835113" y="3188655"/>
            <a:ext cx="432048" cy="320373"/>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15" name="Conector recto de flecha 14"/>
          <p:cNvCxnSpPr/>
          <p:nvPr/>
        </p:nvCxnSpPr>
        <p:spPr>
          <a:xfrm flipV="1">
            <a:off x="1979712" y="1714960"/>
            <a:ext cx="10780" cy="1473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p:cNvCxnSpPr>
            <a:stCxn id="6" idx="0"/>
            <a:endCxn id="13" idx="1"/>
          </p:cNvCxnSpPr>
          <p:nvPr/>
        </p:nvCxnSpPr>
        <p:spPr>
          <a:xfrm rot="5400000" flipH="1" flipV="1">
            <a:off x="4535325" y="1249696"/>
            <a:ext cx="1114516" cy="2884506"/>
          </a:xfrm>
          <a:prstGeom prst="bentConnector2">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ectángulo redondeado 21"/>
          <p:cNvSpPr/>
          <p:nvPr/>
        </p:nvSpPr>
        <p:spPr>
          <a:xfrm>
            <a:off x="5054752" y="3249207"/>
            <a:ext cx="453352" cy="25982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6" name="Conector recto de flecha 25"/>
          <p:cNvCxnSpPr>
            <a:stCxn id="22" idx="3"/>
            <a:endCxn id="10" idx="1"/>
          </p:cNvCxnSpPr>
          <p:nvPr/>
        </p:nvCxnSpPr>
        <p:spPr>
          <a:xfrm flipV="1">
            <a:off x="5508104" y="3306417"/>
            <a:ext cx="901245" cy="7270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Rectángulo 28"/>
          <p:cNvSpPr/>
          <p:nvPr/>
        </p:nvSpPr>
        <p:spPr>
          <a:xfrm>
            <a:off x="2961076" y="4776960"/>
            <a:ext cx="2405440" cy="208688"/>
          </a:xfrm>
          <a:prstGeom prst="rect">
            <a:avLst/>
          </a:prstGeom>
          <a:no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8" name="Conector recto de flecha 27"/>
          <p:cNvCxnSpPr/>
          <p:nvPr/>
        </p:nvCxnSpPr>
        <p:spPr>
          <a:xfrm flipV="1">
            <a:off x="3851920" y="3457895"/>
            <a:ext cx="0" cy="1319065"/>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r 32"/>
          <p:cNvCxnSpPr>
            <a:stCxn id="16" idx="6"/>
            <a:endCxn id="45" idx="1"/>
          </p:cNvCxnSpPr>
          <p:nvPr/>
        </p:nvCxnSpPr>
        <p:spPr>
          <a:xfrm>
            <a:off x="827584" y="4132660"/>
            <a:ext cx="5477109" cy="25761"/>
          </a:xfrm>
          <a:prstGeom prst="bentConnector3">
            <a:avLst/>
          </a:prstGeom>
          <a:ln w="1270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p:cNvCxnSpPr>
            <a:stCxn id="45" idx="2"/>
            <a:endCxn id="17" idx="0"/>
          </p:cNvCxnSpPr>
          <p:nvPr/>
        </p:nvCxnSpPr>
        <p:spPr>
          <a:xfrm>
            <a:off x="7052934" y="4521939"/>
            <a:ext cx="72299" cy="854510"/>
          </a:xfrm>
          <a:prstGeom prst="straightConnector1">
            <a:avLst/>
          </a:prstGeom>
          <a:ln w="1270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9598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11</a:t>
            </a:fld>
            <a:endParaRPr lang="es-ES" dirty="0"/>
          </a:p>
        </p:txBody>
      </p:sp>
      <p:sp>
        <p:nvSpPr>
          <p:cNvPr id="7" name="6 CuadroTexto"/>
          <p:cNvSpPr txBox="1"/>
          <p:nvPr/>
        </p:nvSpPr>
        <p:spPr>
          <a:xfrm>
            <a:off x="267321" y="980728"/>
            <a:ext cx="7833072" cy="369332"/>
          </a:xfrm>
          <a:prstGeom prst="rect">
            <a:avLst/>
          </a:prstGeom>
          <a:noFill/>
        </p:spPr>
        <p:txBody>
          <a:bodyPr wrap="square" rtlCol="0">
            <a:spAutoFit/>
          </a:bodyPr>
          <a:lstStyle/>
          <a:p>
            <a:r>
              <a:rPr lang="es-ES" b="1" dirty="0">
                <a:solidFill>
                  <a:srgbClr val="254061"/>
                </a:solidFill>
              </a:rPr>
              <a:t> TO CREATE NEW STEPS</a:t>
            </a:r>
            <a:r>
              <a:rPr lang="es-ES" b="1" dirty="0">
                <a:solidFill>
                  <a:srgbClr val="254061"/>
                </a:solidFill>
                <a:sym typeface="Wingdings" panose="05000000000000000000" pitchFamily="2" charset="2"/>
              </a:rPr>
              <a:t></a:t>
            </a:r>
            <a:r>
              <a:rPr lang="es-ES" b="1" dirty="0">
                <a:solidFill>
                  <a:srgbClr val="254061"/>
                </a:solidFill>
              </a:rPr>
              <a:t> 1. </a:t>
            </a:r>
            <a:r>
              <a:rPr lang="es-ES" b="1" dirty="0" smtClean="0">
                <a:solidFill>
                  <a:srgbClr val="254061"/>
                </a:solidFill>
              </a:rPr>
              <a:t>TYPE A2: </a:t>
            </a:r>
            <a:r>
              <a:rPr lang="en-US" b="1" dirty="0" smtClean="0">
                <a:solidFill>
                  <a:srgbClr val="254061"/>
                </a:solidFill>
              </a:rPr>
              <a:t>TECHNICAL OFFER- BUDGET I</a:t>
            </a:r>
            <a:endParaRPr lang="en-US" b="1" dirty="0">
              <a:solidFill>
                <a:srgbClr val="254061"/>
              </a:solidFill>
            </a:endParaRPr>
          </a:p>
        </p:txBody>
      </p:sp>
      <p:sp>
        <p:nvSpPr>
          <p:cNvPr id="8" name="7 Rectángulo"/>
          <p:cNvSpPr/>
          <p:nvPr/>
        </p:nvSpPr>
        <p:spPr>
          <a:xfrm>
            <a:off x="179512" y="1484784"/>
            <a:ext cx="8856984" cy="5328592"/>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type</a:t>
            </a:r>
            <a:r>
              <a:rPr lang="es-ES" sz="1000" dirty="0">
                <a:solidFill>
                  <a:schemeClr val="tx1"/>
                </a:solidFill>
                <a:latin typeface="Arial" panose="020B0604020202020204" pitchFamily="34" charset="0"/>
                <a:cs typeface="Arial" panose="020B0604020202020204" pitchFamily="34" charset="0"/>
              </a:rPr>
              <a:t> of </a:t>
            </a:r>
            <a:r>
              <a:rPr lang="es-ES" sz="1000" dirty="0" err="1">
                <a:solidFill>
                  <a:schemeClr val="tx1"/>
                </a:solidFill>
                <a:latin typeface="Arial" panose="020B0604020202020204" pitchFamily="34" charset="0"/>
                <a:cs typeface="Arial" panose="020B0604020202020204" pitchFamily="34" charset="0"/>
              </a:rPr>
              <a:t>the</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steps</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is</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recognized</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by</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its</a:t>
            </a:r>
            <a:r>
              <a:rPr lang="es-ES" sz="1000" dirty="0">
                <a:solidFill>
                  <a:schemeClr val="tx1"/>
                </a:solidFill>
                <a:latin typeface="Arial" panose="020B0604020202020204" pitchFamily="34" charset="0"/>
                <a:cs typeface="Arial" panose="020B0604020202020204" pitchFamily="34" charset="0"/>
              </a:rPr>
              <a:t> color</a:t>
            </a:r>
          </a:p>
          <a:p>
            <a:endParaRPr lang="es-ES" sz="1000" dirty="0">
              <a:solidFill>
                <a:srgbClr val="0000FF"/>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000" b="1" dirty="0">
                <a:solidFill>
                  <a:schemeClr val="tx1"/>
                </a:solidFill>
                <a:latin typeface="Arial" panose="020B0604020202020204" pitchFamily="34" charset="0"/>
                <a:cs typeface="Arial" panose="020B0604020202020204" pitchFamily="34" charset="0"/>
              </a:rPr>
              <a:t>A</a:t>
            </a:r>
            <a:r>
              <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b="1" dirty="0">
                <a:solidFill>
                  <a:schemeClr val="tx1"/>
                </a:solidFill>
                <a:latin typeface="Arial" panose="020B0604020202020204" pitchFamily="34" charset="0"/>
                <a:cs typeface="Arial" panose="020B0604020202020204" pitchFamily="34" charset="0"/>
              </a:rPr>
              <a:t> Black</a:t>
            </a:r>
            <a:r>
              <a:rPr lang="es-ES" sz="1000" dirty="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The step has been created AUTOMATICALLY, the origin of the information automatically filled in is in ANOTHER </a:t>
            </a:r>
            <a:r>
              <a:rPr lang="en-US" sz="1000" dirty="0" smtClean="0">
                <a:solidFill>
                  <a:schemeClr val="tx1"/>
                </a:solidFill>
                <a:latin typeface="Arial" panose="020B0604020202020204" pitchFamily="34" charset="0"/>
                <a:cs typeface="Arial" panose="020B0604020202020204" pitchFamily="34" charset="0"/>
              </a:rPr>
              <a:t>APPLICATION</a:t>
            </a:r>
          </a:p>
          <a:p>
            <a:endParaRPr lang="es-ES" sz="1000" dirty="0" smtClean="0">
              <a:solidFill>
                <a:schemeClr val="tx1"/>
              </a:solidFill>
              <a:latin typeface="Arial" panose="020B0604020202020204" pitchFamily="34" charset="0"/>
              <a:cs typeface="Arial" panose="020B0604020202020204" pitchFamily="34" charset="0"/>
            </a:endParaRPr>
          </a:p>
          <a:p>
            <a:pPr marL="685800" lvl="1" indent="-228600">
              <a:buFont typeface="+mj-lt"/>
              <a:buAutoNum type="arabicPeriod" startAt="2"/>
            </a:pPr>
            <a:r>
              <a:rPr lang="es-ES" sz="1000" b="1" dirty="0" smtClean="0">
                <a:solidFill>
                  <a:schemeClr val="tx1"/>
                </a:solidFill>
                <a:latin typeface="Arial" panose="020B0604020202020204" pitchFamily="34" charset="0"/>
                <a:cs typeface="Arial" panose="020B0604020202020204" pitchFamily="34" charset="0"/>
              </a:rPr>
              <a:t>A2 TYPE</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smtClean="0">
                <a:solidFill>
                  <a:schemeClr val="tx1"/>
                </a:solidFill>
                <a:latin typeface="Arial" panose="020B0604020202020204" pitchFamily="34" charset="0"/>
                <a:cs typeface="Arial" panose="020B0604020202020204" pitchFamily="34" charset="0"/>
              </a:rPr>
              <a:t>Expenses will </a:t>
            </a:r>
            <a:r>
              <a:rPr lang="en-US" sz="1000" dirty="0">
                <a:solidFill>
                  <a:schemeClr val="tx1"/>
                </a:solidFill>
                <a:latin typeface="Arial" panose="020B0604020202020204" pitchFamily="34" charset="0"/>
                <a:cs typeface="Arial" panose="020B0604020202020204" pitchFamily="34" charset="0"/>
              </a:rPr>
              <a:t>be invoices. </a:t>
            </a:r>
          </a:p>
          <a:p>
            <a:pPr marL="685800" lvl="1" indent="-228600">
              <a:buFont typeface="+mj-lt"/>
              <a:buAutoNum type="alphaLcParenR"/>
            </a:pPr>
            <a:r>
              <a:rPr lang="en-US" sz="1000" dirty="0" smtClean="0">
                <a:solidFill>
                  <a:schemeClr val="tx1"/>
                </a:solidFill>
                <a:latin typeface="Arial" panose="020B0604020202020204" pitchFamily="34" charset="0"/>
                <a:cs typeface="Arial" panose="020B0604020202020204" pitchFamily="34" charset="0"/>
              </a:rPr>
              <a:t>The </a:t>
            </a:r>
            <a:r>
              <a:rPr lang="en-US" sz="1000" dirty="0">
                <a:solidFill>
                  <a:schemeClr val="tx1"/>
                </a:solidFill>
                <a:latin typeface="Arial" panose="020B0604020202020204" pitchFamily="34" charset="0"/>
                <a:cs typeface="Arial" panose="020B0604020202020204" pitchFamily="34" charset="0"/>
              </a:rPr>
              <a:t>origin of the </a:t>
            </a:r>
            <a:r>
              <a:rPr lang="en-US" sz="1000" b="1" dirty="0">
                <a:solidFill>
                  <a:schemeClr val="tx1"/>
                </a:solidFill>
                <a:latin typeface="Arial" panose="020B0604020202020204" pitchFamily="34" charset="0"/>
                <a:cs typeface="Arial" panose="020B0604020202020204" pitchFamily="34" charset="0"/>
              </a:rPr>
              <a:t>Budget approved </a:t>
            </a:r>
            <a:r>
              <a:rPr lang="en-US" sz="1000" dirty="0">
                <a:solidFill>
                  <a:schemeClr val="tx1"/>
                </a:solidFill>
                <a:latin typeface="Arial" panose="020B0604020202020204" pitchFamily="34" charset="0"/>
                <a:cs typeface="Arial" panose="020B0604020202020204" pitchFamily="34" charset="0"/>
              </a:rPr>
              <a:t>and </a:t>
            </a:r>
            <a:r>
              <a:rPr lang="en-US" sz="1000" b="1" dirty="0">
                <a:solidFill>
                  <a:schemeClr val="tx1"/>
                </a:solidFill>
                <a:latin typeface="Arial" panose="020B0604020202020204" pitchFamily="34" charset="0"/>
                <a:cs typeface="Arial" panose="020B0604020202020204" pitchFamily="34" charset="0"/>
              </a:rPr>
              <a:t>P</a:t>
            </a:r>
            <a:r>
              <a:rPr lang="en-US" sz="1000" b="1" dirty="0" smtClean="0">
                <a:solidFill>
                  <a:schemeClr val="tx1"/>
                </a:solidFill>
                <a:latin typeface="Arial" panose="020B0604020202020204" pitchFamily="34" charset="0"/>
                <a:cs typeface="Arial" panose="020B0604020202020204" pitchFamily="34" charset="0"/>
              </a:rPr>
              <a:t>aid </a:t>
            </a:r>
            <a:r>
              <a:rPr lang="en-US" sz="1000" b="1" dirty="0">
                <a:solidFill>
                  <a:schemeClr val="tx1"/>
                </a:solidFill>
                <a:latin typeface="Arial" panose="020B0604020202020204" pitchFamily="34" charset="0"/>
                <a:cs typeface="Arial" panose="020B0604020202020204" pitchFamily="34" charset="0"/>
              </a:rPr>
              <a:t>by customer </a:t>
            </a:r>
            <a:r>
              <a:rPr lang="en-US" sz="1000" dirty="0">
                <a:solidFill>
                  <a:schemeClr val="tx1"/>
                </a:solidFill>
                <a:latin typeface="Arial" panose="020B0604020202020204" pitchFamily="34" charset="0"/>
                <a:cs typeface="Arial" panose="020B0604020202020204" pitchFamily="34" charset="0"/>
              </a:rPr>
              <a:t>columns is the </a:t>
            </a:r>
            <a:r>
              <a:rPr lang="en-US" sz="1000" dirty="0" smtClean="0">
                <a:solidFill>
                  <a:schemeClr val="tx1"/>
                </a:solidFill>
                <a:latin typeface="Arial" panose="020B0604020202020204" pitchFamily="34" charset="0"/>
                <a:cs typeface="Arial" panose="020B0604020202020204" pitchFamily="34" charset="0"/>
              </a:rPr>
              <a:t>TECHNICAL OFFER – BUDGET APPLICATION.</a:t>
            </a:r>
          </a:p>
          <a:p>
            <a:pPr marL="685800" lvl="1" indent="-228600">
              <a:buFont typeface="+mj-lt"/>
              <a:buAutoNum type="alphaLcParenR"/>
            </a:pPr>
            <a:r>
              <a:rPr lang="en-US" sz="1000" dirty="0" smtClean="0">
                <a:solidFill>
                  <a:schemeClr val="tx1"/>
                </a:solidFill>
                <a:latin typeface="Arial" panose="020B0604020202020204" pitchFamily="34" charset="0"/>
                <a:cs typeface="Arial" panose="020B0604020202020204" pitchFamily="34" charset="0"/>
              </a:rPr>
              <a:t>The </a:t>
            </a:r>
            <a:r>
              <a:rPr lang="en-US" sz="1000" dirty="0">
                <a:solidFill>
                  <a:schemeClr val="tx1"/>
                </a:solidFill>
                <a:latin typeface="Arial" panose="020B0604020202020204" pitchFamily="34" charset="0"/>
                <a:cs typeface="Arial" panose="020B0604020202020204" pitchFamily="34" charset="0"/>
              </a:rPr>
              <a:t>applicant must fill in the Cost Carriers Expenses/Incomes app, scheduling the income and expenses established in the technical </a:t>
            </a:r>
            <a:r>
              <a:rPr lang="en-US" sz="1000" dirty="0" smtClean="0">
                <a:solidFill>
                  <a:schemeClr val="tx1"/>
                </a:solidFill>
                <a:latin typeface="Arial" panose="020B0604020202020204" pitchFamily="34" charset="0"/>
                <a:cs typeface="Arial" panose="020B0604020202020204" pitchFamily="34" charset="0"/>
              </a:rPr>
              <a:t>offer/budget</a:t>
            </a:r>
            <a:r>
              <a:rPr lang="en-US" sz="1000" dirty="0" smtClean="0">
                <a:solidFill>
                  <a:schemeClr val="tx1"/>
                </a:solidFill>
              </a:rPr>
              <a:t>.</a:t>
            </a:r>
            <a:endParaRPr lang="es-ES" sz="1000" dirty="0">
              <a:solidFill>
                <a:schemeClr val="tx1"/>
              </a:solidFill>
              <a:latin typeface="Arial" panose="020B0604020202020204" pitchFamily="34" charset="0"/>
              <a:cs typeface="Arial" panose="020B0604020202020204" pitchFamily="34" charset="0"/>
            </a:endParaRPr>
          </a:p>
          <a:p>
            <a:pPr marL="685800" lvl="1" indent="-228600">
              <a:buFont typeface="+mj-lt"/>
              <a:buAutoNum type="alphaLcParenR"/>
            </a:pPr>
            <a:r>
              <a:rPr lang="es-ES" sz="1000" dirty="0" smtClean="0">
                <a:solidFill>
                  <a:schemeClr val="tx1"/>
                </a:solidFill>
                <a:latin typeface="Arial" panose="020B0604020202020204" pitchFamily="34" charset="0"/>
                <a:cs typeface="Arial" panose="020B0604020202020204" pitchFamily="34" charset="0"/>
              </a:rPr>
              <a:t>To </a:t>
            </a:r>
            <a:r>
              <a:rPr lang="es-ES" sz="1000" dirty="0" err="1" smtClean="0">
                <a:solidFill>
                  <a:schemeClr val="tx1"/>
                </a:solidFill>
                <a:latin typeface="Arial" panose="020B0604020202020204" pitchFamily="34" charset="0"/>
                <a:cs typeface="Arial" panose="020B0604020202020204" pitchFamily="34" charset="0"/>
              </a:rPr>
              <a:t>allow</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sending</a:t>
            </a:r>
            <a:r>
              <a:rPr lang="es-ES" sz="1000" dirty="0" smtClean="0">
                <a:solidFill>
                  <a:schemeClr val="tx1"/>
                </a:solidFill>
                <a:latin typeface="Arial" panose="020B0604020202020204" pitchFamily="34" charset="0"/>
                <a:cs typeface="Arial" panose="020B0604020202020204" pitchFamily="34" charset="0"/>
              </a:rPr>
              <a:t> to </a:t>
            </a:r>
            <a:r>
              <a:rPr lang="es-ES" sz="1000" dirty="0" err="1" smtClean="0">
                <a:solidFill>
                  <a:schemeClr val="tx1"/>
                </a:solidFill>
                <a:latin typeface="Arial" panose="020B0604020202020204" pitchFamily="34" charset="0"/>
                <a:cs typeface="Arial" panose="020B0604020202020204" pitchFamily="34" charset="0"/>
              </a:rPr>
              <a:t>validation</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following</a:t>
            </a:r>
            <a:r>
              <a:rPr lang="es-ES" sz="1000" dirty="0" smtClean="0">
                <a:solidFill>
                  <a:schemeClr val="tx1"/>
                </a:solidFill>
                <a:latin typeface="Arial" panose="020B0604020202020204" pitchFamily="34" charset="0"/>
                <a:cs typeface="Arial" panose="020B0604020202020204" pitchFamily="34" charset="0"/>
              </a:rPr>
              <a:t> formula </a:t>
            </a:r>
            <a:r>
              <a:rPr lang="es-ES" sz="1000" dirty="0" err="1" smtClean="0">
                <a:solidFill>
                  <a:schemeClr val="tx1"/>
                </a:solidFill>
                <a:latin typeface="Arial" panose="020B0604020202020204" pitchFamily="34" charset="0"/>
                <a:cs typeface="Arial" panose="020B0604020202020204" pitchFamily="34" charset="0"/>
              </a:rPr>
              <a:t>must</a:t>
            </a:r>
            <a:r>
              <a:rPr lang="es-ES" sz="1000" dirty="0" smtClean="0">
                <a:solidFill>
                  <a:schemeClr val="tx1"/>
                </a:solidFill>
                <a:latin typeface="Arial" panose="020B0604020202020204" pitchFamily="34" charset="0"/>
                <a:cs typeface="Arial" panose="020B0604020202020204" pitchFamily="34" charset="0"/>
              </a:rPr>
              <a:t> be true: </a:t>
            </a:r>
          </a:p>
          <a:p>
            <a:pPr marL="1543050" lvl="3" indent="-171450">
              <a:buFont typeface="Arial" panose="020B0604020202020204" pitchFamily="34" charset="0"/>
              <a:buChar char="•"/>
            </a:pPr>
            <a:r>
              <a:rPr lang="es-ES" sz="1000" dirty="0" smtClean="0">
                <a:solidFill>
                  <a:schemeClr val="tx1"/>
                </a:solidFill>
                <a:latin typeface="Arial" panose="020B0604020202020204" pitchFamily="34" charset="0"/>
                <a:cs typeface="Arial" panose="020B0604020202020204" pitchFamily="34" charset="0"/>
              </a:rPr>
              <a:t>∑</a:t>
            </a:r>
            <a:r>
              <a:rPr lang="es-ES" sz="1000" dirty="0">
                <a:solidFill>
                  <a:schemeClr val="tx1"/>
                </a:solidFill>
                <a:latin typeface="Arial" panose="020B0604020202020204" pitchFamily="34" charset="0"/>
                <a:cs typeface="Arial" panose="020B0604020202020204" pitchFamily="34" charset="0"/>
              </a:rPr>
              <a:t>Expenses = Budget </a:t>
            </a:r>
            <a:r>
              <a:rPr lang="es-ES" sz="1000" dirty="0" err="1">
                <a:solidFill>
                  <a:schemeClr val="tx1"/>
                </a:solidFill>
                <a:latin typeface="Arial" panose="020B0604020202020204" pitchFamily="34" charset="0"/>
                <a:cs typeface="Arial" panose="020B0604020202020204" pitchFamily="34" charset="0"/>
              </a:rPr>
              <a:t>approved</a:t>
            </a:r>
            <a:endParaRPr lang="es-ES" sz="1000" dirty="0">
              <a:solidFill>
                <a:schemeClr val="tx1"/>
              </a:solidFill>
              <a:latin typeface="Arial" panose="020B0604020202020204" pitchFamily="34" charset="0"/>
              <a:cs typeface="Arial" panose="020B0604020202020204" pitchFamily="34" charset="0"/>
            </a:endParaRPr>
          </a:p>
          <a:p>
            <a:pPr marL="1543050" lvl="3" indent="-171450">
              <a:buFont typeface="Arial" panose="020B0604020202020204" pitchFamily="34" charset="0"/>
              <a:buChar char="•"/>
            </a:pPr>
            <a:r>
              <a:rPr lang="es-ES" sz="1000" dirty="0">
                <a:solidFill>
                  <a:schemeClr val="tx1"/>
                </a:solidFill>
                <a:latin typeface="Arial" panose="020B0604020202020204" pitchFamily="34" charset="0"/>
                <a:cs typeface="Arial" panose="020B0604020202020204" pitchFamily="34" charset="0"/>
              </a:rPr>
              <a:t>∑</a:t>
            </a:r>
            <a:r>
              <a:rPr lang="es-ES" sz="1000" dirty="0" err="1">
                <a:solidFill>
                  <a:schemeClr val="tx1"/>
                </a:solidFill>
                <a:latin typeface="Arial" panose="020B0604020202020204" pitchFamily="34" charset="0"/>
                <a:cs typeface="Arial" panose="020B0604020202020204" pitchFamily="34" charset="0"/>
              </a:rPr>
              <a:t>Incomes</a:t>
            </a:r>
            <a:r>
              <a:rPr lang="es-ES" sz="1000" dirty="0">
                <a:solidFill>
                  <a:schemeClr val="tx1"/>
                </a:solidFill>
                <a:latin typeface="Arial" panose="020B0604020202020204" pitchFamily="34" charset="0"/>
                <a:cs typeface="Arial" panose="020B0604020202020204" pitchFamily="34" charset="0"/>
              </a:rPr>
              <a:t> = </a:t>
            </a:r>
            <a:r>
              <a:rPr lang="es-ES" sz="1000" dirty="0" err="1">
                <a:solidFill>
                  <a:schemeClr val="tx1"/>
                </a:solidFill>
                <a:latin typeface="Arial" panose="020B0604020202020204" pitchFamily="34" charset="0"/>
                <a:cs typeface="Arial" panose="020B0604020202020204" pitchFamily="34" charset="0"/>
              </a:rPr>
              <a:t>Paid</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by</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customer</a:t>
            </a: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2"/>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p:txBody>
      </p:sp>
      <p:grpSp>
        <p:nvGrpSpPr>
          <p:cNvPr id="12" name="Grupo 11"/>
          <p:cNvGrpSpPr/>
          <p:nvPr/>
        </p:nvGrpSpPr>
        <p:grpSpPr>
          <a:xfrm>
            <a:off x="610639" y="3429000"/>
            <a:ext cx="7056784" cy="1656751"/>
            <a:chOff x="455204" y="2998668"/>
            <a:chExt cx="7573180" cy="1709566"/>
          </a:xfrm>
        </p:grpSpPr>
        <p:pic>
          <p:nvPicPr>
            <p:cNvPr id="13" name="Imagen 12"/>
            <p:cNvPicPr>
              <a:picLocks noChangeAspect="1"/>
            </p:cNvPicPr>
            <p:nvPr/>
          </p:nvPicPr>
          <p:blipFill>
            <a:blip r:embed="rId2"/>
            <a:stretch>
              <a:fillRect/>
            </a:stretch>
          </p:blipFill>
          <p:spPr>
            <a:xfrm>
              <a:off x="468359" y="3770504"/>
              <a:ext cx="7560000" cy="937730"/>
            </a:xfrm>
            <a:prstGeom prst="rect">
              <a:avLst/>
            </a:prstGeom>
          </p:spPr>
        </p:pic>
        <p:pic>
          <p:nvPicPr>
            <p:cNvPr id="15" name="Imagen 14"/>
            <p:cNvPicPr>
              <a:picLocks noChangeAspect="1"/>
            </p:cNvPicPr>
            <p:nvPr/>
          </p:nvPicPr>
          <p:blipFill>
            <a:blip r:embed="rId3"/>
            <a:stretch>
              <a:fillRect/>
            </a:stretch>
          </p:blipFill>
          <p:spPr>
            <a:xfrm>
              <a:off x="455204" y="2998668"/>
              <a:ext cx="7573180" cy="782695"/>
            </a:xfrm>
            <a:prstGeom prst="rect">
              <a:avLst/>
            </a:prstGeom>
          </p:spPr>
        </p:pic>
      </p:grpSp>
      <p:sp>
        <p:nvSpPr>
          <p:cNvPr id="16" name="Elipse 15"/>
          <p:cNvSpPr/>
          <p:nvPr/>
        </p:nvSpPr>
        <p:spPr>
          <a:xfrm>
            <a:off x="5175657" y="5995629"/>
            <a:ext cx="2655296" cy="543283"/>
          </a:xfrm>
          <a:prstGeom prst="ellipse">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EDITABLE </a:t>
            </a:r>
          </a:p>
        </p:txBody>
      </p:sp>
      <p:sp>
        <p:nvSpPr>
          <p:cNvPr id="17" name="Elipse 16"/>
          <p:cNvSpPr/>
          <p:nvPr/>
        </p:nvSpPr>
        <p:spPr>
          <a:xfrm>
            <a:off x="467544" y="5841268"/>
            <a:ext cx="3899220" cy="697643"/>
          </a:xfrm>
          <a:prstGeom prst="ellipse">
            <a:avLst/>
          </a:prstGeom>
          <a:solidFill>
            <a:schemeClr val="accent4">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rgbClr val="000000"/>
                </a:solidFill>
                <a:latin typeface="Roboto"/>
              </a:rPr>
              <a:t>UNEDITABLE</a:t>
            </a:r>
            <a:r>
              <a:rPr lang="en-US" sz="1400" dirty="0">
                <a:solidFill>
                  <a:srgbClr val="000000"/>
                </a:solidFill>
                <a:latin typeface="Roboto"/>
              </a:rPr>
              <a:t>. ORIGIN APPLICATION TECHNICAL OFFER- BUDGET</a:t>
            </a:r>
            <a:endParaRPr lang="es-ES" sz="1400" dirty="0" smtClean="0">
              <a:solidFill>
                <a:schemeClr val="tx1"/>
              </a:solidFill>
              <a:latin typeface="Arial" panose="020B0604020202020204" pitchFamily="34" charset="0"/>
              <a:cs typeface="Arial" panose="020B0604020202020204" pitchFamily="34" charset="0"/>
            </a:endParaRPr>
          </a:p>
        </p:txBody>
      </p:sp>
      <p:sp>
        <p:nvSpPr>
          <p:cNvPr id="18" name="Rectángulo 17"/>
          <p:cNvSpPr/>
          <p:nvPr/>
        </p:nvSpPr>
        <p:spPr>
          <a:xfrm>
            <a:off x="2555776" y="3717032"/>
            <a:ext cx="1656184" cy="436898"/>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19" name="Conector angular 18"/>
          <p:cNvCxnSpPr>
            <a:stCxn id="17" idx="0"/>
            <a:endCxn id="18" idx="2"/>
          </p:cNvCxnSpPr>
          <p:nvPr/>
        </p:nvCxnSpPr>
        <p:spPr>
          <a:xfrm rot="5400000" flipH="1" flipV="1">
            <a:off x="2056842" y="4514242"/>
            <a:ext cx="1687338" cy="966714"/>
          </a:xfrm>
          <a:prstGeom prst="bentConnector3">
            <a:avLst>
              <a:gd name="adj1" fmla="val 50000"/>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ectángulo 19"/>
          <p:cNvSpPr/>
          <p:nvPr/>
        </p:nvSpPr>
        <p:spPr>
          <a:xfrm>
            <a:off x="4283968" y="3717032"/>
            <a:ext cx="3383432" cy="413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1" name="Conector angular 20"/>
          <p:cNvCxnSpPr/>
          <p:nvPr/>
        </p:nvCxnSpPr>
        <p:spPr>
          <a:xfrm rot="16200000" flipV="1">
            <a:off x="5342526" y="4784955"/>
            <a:ext cx="1810545" cy="610804"/>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379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upo 33"/>
          <p:cNvGrpSpPr/>
          <p:nvPr/>
        </p:nvGrpSpPr>
        <p:grpSpPr>
          <a:xfrm>
            <a:off x="107530" y="1896310"/>
            <a:ext cx="8712942" cy="2468794"/>
            <a:chOff x="107530" y="1939650"/>
            <a:chExt cx="8712942" cy="2468794"/>
          </a:xfrm>
        </p:grpSpPr>
        <p:grpSp>
          <p:nvGrpSpPr>
            <p:cNvPr id="21" name="Grupo 20"/>
            <p:cNvGrpSpPr/>
            <p:nvPr/>
          </p:nvGrpSpPr>
          <p:grpSpPr>
            <a:xfrm>
              <a:off x="107530" y="1939650"/>
              <a:ext cx="8667220" cy="2468794"/>
              <a:chOff x="287454" y="1602521"/>
              <a:chExt cx="8689432" cy="2468794"/>
            </a:xfrm>
          </p:grpSpPr>
          <p:grpSp>
            <p:nvGrpSpPr>
              <p:cNvPr id="14" name="Grupo 13"/>
              <p:cNvGrpSpPr/>
              <p:nvPr/>
            </p:nvGrpSpPr>
            <p:grpSpPr>
              <a:xfrm>
                <a:off x="385867" y="2319470"/>
                <a:ext cx="8591019" cy="1751845"/>
                <a:chOff x="323528" y="1829691"/>
                <a:chExt cx="8591019" cy="1751845"/>
              </a:xfrm>
            </p:grpSpPr>
            <p:pic>
              <p:nvPicPr>
                <p:cNvPr id="12" name="Imagen 11"/>
                <p:cNvPicPr>
                  <a:picLocks noChangeAspect="1"/>
                </p:cNvPicPr>
                <p:nvPr/>
              </p:nvPicPr>
              <p:blipFill>
                <a:blip r:embed="rId2"/>
                <a:stretch>
                  <a:fillRect/>
                </a:stretch>
              </p:blipFill>
              <p:spPr>
                <a:xfrm>
                  <a:off x="323528" y="2269697"/>
                  <a:ext cx="8591018" cy="1311839"/>
                </a:xfrm>
                <a:prstGeom prst="rect">
                  <a:avLst/>
                </a:prstGeom>
              </p:spPr>
            </p:pic>
            <p:pic>
              <p:nvPicPr>
                <p:cNvPr id="13" name="Imagen 12"/>
                <p:cNvPicPr>
                  <a:picLocks noChangeAspect="1"/>
                </p:cNvPicPr>
                <p:nvPr/>
              </p:nvPicPr>
              <p:blipFill>
                <a:blip r:embed="rId3"/>
                <a:stretch>
                  <a:fillRect/>
                </a:stretch>
              </p:blipFill>
              <p:spPr>
                <a:xfrm>
                  <a:off x="323529" y="1829691"/>
                  <a:ext cx="8591018" cy="458924"/>
                </a:xfrm>
                <a:prstGeom prst="rect">
                  <a:avLst/>
                </a:prstGeom>
              </p:spPr>
            </p:pic>
          </p:grpSp>
          <p:pic>
            <p:nvPicPr>
              <p:cNvPr id="20" name="Imagen 19"/>
              <p:cNvPicPr>
                <a:picLocks noChangeAspect="1"/>
              </p:cNvPicPr>
              <p:nvPr/>
            </p:nvPicPr>
            <p:blipFill>
              <a:blip r:embed="rId4"/>
              <a:stretch>
                <a:fillRect/>
              </a:stretch>
            </p:blipFill>
            <p:spPr>
              <a:xfrm>
                <a:off x="287454" y="1602521"/>
                <a:ext cx="5611145" cy="785307"/>
              </a:xfrm>
              <a:prstGeom prst="rect">
                <a:avLst/>
              </a:prstGeom>
            </p:spPr>
          </p:pic>
        </p:grpSp>
        <p:sp>
          <p:nvSpPr>
            <p:cNvPr id="32" name="Rectángulo 31"/>
            <p:cNvSpPr/>
            <p:nvPr/>
          </p:nvSpPr>
          <p:spPr>
            <a:xfrm>
              <a:off x="107530" y="1939650"/>
              <a:ext cx="8712942" cy="2468794"/>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sp>
        <p:nvSpPr>
          <p:cNvPr id="2" name="Marcador de número de diapositiva 1"/>
          <p:cNvSpPr>
            <a:spLocks noGrp="1"/>
          </p:cNvSpPr>
          <p:nvPr>
            <p:ph type="sldNum" sz="quarter" idx="12"/>
          </p:nvPr>
        </p:nvSpPr>
        <p:spPr/>
        <p:txBody>
          <a:bodyPr/>
          <a:lstStyle/>
          <a:p>
            <a:fld id="{6C159591-2568-4DE8-9BFD-2ABD54E1DEC4}" type="slidenum">
              <a:rPr lang="es-ES" smtClean="0"/>
              <a:pPr/>
              <a:t>12</a:t>
            </a:fld>
            <a:endParaRPr lang="es-ES" dirty="0"/>
          </a:p>
        </p:txBody>
      </p:sp>
      <p:sp>
        <p:nvSpPr>
          <p:cNvPr id="5" name="6 CuadroTexto"/>
          <p:cNvSpPr txBox="1"/>
          <p:nvPr/>
        </p:nvSpPr>
        <p:spPr>
          <a:xfrm>
            <a:off x="267321" y="980728"/>
            <a:ext cx="7112992" cy="369332"/>
          </a:xfrm>
          <a:prstGeom prst="rect">
            <a:avLst/>
          </a:prstGeom>
          <a:noFill/>
        </p:spPr>
        <p:txBody>
          <a:bodyPr wrap="square" rtlCol="0">
            <a:spAutoFit/>
          </a:bodyPr>
          <a:lstStyle/>
          <a:p>
            <a:r>
              <a:rPr lang="es-ES" b="1" dirty="0">
                <a:solidFill>
                  <a:srgbClr val="254061"/>
                </a:solidFill>
              </a:rPr>
              <a:t>TO CREATE NEW STEPS</a:t>
            </a:r>
            <a:r>
              <a:rPr lang="es-ES" b="1" dirty="0">
                <a:solidFill>
                  <a:srgbClr val="254061"/>
                </a:solidFill>
                <a:sym typeface="Wingdings" panose="05000000000000000000" pitchFamily="2" charset="2"/>
              </a:rPr>
              <a:t></a:t>
            </a:r>
            <a:r>
              <a:rPr lang="es-ES" b="1" dirty="0">
                <a:solidFill>
                  <a:srgbClr val="254061"/>
                </a:solidFill>
              </a:rPr>
              <a:t> 1. </a:t>
            </a:r>
            <a:r>
              <a:rPr lang="es-ES" b="1" dirty="0" smtClean="0">
                <a:solidFill>
                  <a:srgbClr val="254061"/>
                </a:solidFill>
              </a:rPr>
              <a:t>TYPE A2: </a:t>
            </a:r>
            <a:r>
              <a:rPr lang="en-US" b="1" dirty="0">
                <a:solidFill>
                  <a:srgbClr val="254061"/>
                </a:solidFill>
              </a:rPr>
              <a:t>TECHNICAL OFFER- BUDGET </a:t>
            </a:r>
            <a:r>
              <a:rPr lang="en-US" b="1" dirty="0" smtClean="0">
                <a:solidFill>
                  <a:srgbClr val="254061"/>
                </a:solidFill>
              </a:rPr>
              <a:t>II</a:t>
            </a:r>
            <a:endParaRPr lang="en-US" b="1" dirty="0">
              <a:solidFill>
                <a:srgbClr val="254061"/>
              </a:solidFill>
            </a:endParaRPr>
          </a:p>
        </p:txBody>
      </p:sp>
      <p:sp>
        <p:nvSpPr>
          <p:cNvPr id="22" name="Rectángulo 21"/>
          <p:cNvSpPr/>
          <p:nvPr/>
        </p:nvSpPr>
        <p:spPr>
          <a:xfrm>
            <a:off x="3634471" y="3072183"/>
            <a:ext cx="1513593" cy="293330"/>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3" name="Rectángulo 22"/>
          <p:cNvSpPr/>
          <p:nvPr/>
        </p:nvSpPr>
        <p:spPr>
          <a:xfrm>
            <a:off x="5148064" y="3073400"/>
            <a:ext cx="1368152" cy="264128"/>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4" name="Rectángulo 23"/>
          <p:cNvSpPr/>
          <p:nvPr/>
        </p:nvSpPr>
        <p:spPr>
          <a:xfrm>
            <a:off x="6556467" y="3072183"/>
            <a:ext cx="1399909" cy="306783"/>
          </a:xfrm>
          <a:prstGeom prst="rect">
            <a:avLst/>
          </a:prstGeom>
          <a:no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9" name="10 Rectángulo"/>
          <p:cNvSpPr/>
          <p:nvPr/>
        </p:nvSpPr>
        <p:spPr>
          <a:xfrm>
            <a:off x="3751086" y="1543498"/>
            <a:ext cx="5285410" cy="54254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rgbClr val="000000"/>
                </a:solidFill>
                <a:latin typeface="Roboto"/>
              </a:rPr>
              <a:t>When updating the Budget, all the means will automatically appear in CC, such as the assembly line, </a:t>
            </a:r>
            <a:r>
              <a:rPr lang="en-US" sz="1000" dirty="0" err="1" smtClean="0">
                <a:solidFill>
                  <a:srgbClr val="000000"/>
                </a:solidFill>
                <a:latin typeface="Roboto"/>
              </a:rPr>
              <a:t>toolings</a:t>
            </a:r>
            <a:r>
              <a:rPr lang="en-US" sz="1000" dirty="0" smtClean="0">
                <a:solidFill>
                  <a:srgbClr val="000000"/>
                </a:solidFill>
                <a:latin typeface="Roboto"/>
              </a:rPr>
              <a:t>, </a:t>
            </a:r>
            <a:r>
              <a:rPr lang="en-US" sz="1000" dirty="0">
                <a:solidFill>
                  <a:srgbClr val="000000"/>
                </a:solidFill>
                <a:latin typeface="Roboto"/>
              </a:rPr>
              <a:t>etc. required. The Step Name, Offer Budget, Paid by customer, and Budget approved must be set/modified from within that application.</a:t>
            </a:r>
            <a:endParaRPr lang="en-US" sz="1000" dirty="0" smtClean="0">
              <a:solidFill>
                <a:schemeClr val="tx1"/>
              </a:solidFill>
              <a:latin typeface="Arial" panose="020B0604020202020204" pitchFamily="34" charset="0"/>
              <a:cs typeface="Arial" panose="020B0604020202020204" pitchFamily="34" charset="0"/>
            </a:endParaRPr>
          </a:p>
        </p:txBody>
      </p:sp>
      <p:sp>
        <p:nvSpPr>
          <p:cNvPr id="30" name="Rectángulo redondeado 29"/>
          <p:cNvSpPr/>
          <p:nvPr/>
        </p:nvSpPr>
        <p:spPr>
          <a:xfrm>
            <a:off x="1186199" y="1915866"/>
            <a:ext cx="2448272" cy="432048"/>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BUDGET</a:t>
            </a:r>
            <a:endParaRPr lang="es-ES" sz="1400" dirty="0" smtClean="0">
              <a:solidFill>
                <a:schemeClr val="tx1"/>
              </a:solidFill>
              <a:latin typeface="Arial" panose="020B0604020202020204" pitchFamily="34" charset="0"/>
              <a:cs typeface="Arial" panose="020B0604020202020204" pitchFamily="34" charset="0"/>
            </a:endParaRPr>
          </a:p>
        </p:txBody>
      </p:sp>
      <p:grpSp>
        <p:nvGrpSpPr>
          <p:cNvPr id="49" name="Grupo 48"/>
          <p:cNvGrpSpPr/>
          <p:nvPr/>
        </p:nvGrpSpPr>
        <p:grpSpPr>
          <a:xfrm>
            <a:off x="2505067" y="4408444"/>
            <a:ext cx="6531429" cy="2347637"/>
            <a:chOff x="99146" y="4408444"/>
            <a:chExt cx="6531429" cy="2347637"/>
          </a:xfrm>
        </p:grpSpPr>
        <p:grpSp>
          <p:nvGrpSpPr>
            <p:cNvPr id="38" name="Grupo 37"/>
            <p:cNvGrpSpPr/>
            <p:nvPr/>
          </p:nvGrpSpPr>
          <p:grpSpPr>
            <a:xfrm>
              <a:off x="99146" y="4408444"/>
              <a:ext cx="6531429" cy="2347637"/>
              <a:chOff x="95781" y="4358119"/>
              <a:chExt cx="7068507" cy="2484067"/>
            </a:xfrm>
          </p:grpSpPr>
          <p:grpSp>
            <p:nvGrpSpPr>
              <p:cNvPr id="39" name="Grupo 38"/>
              <p:cNvGrpSpPr/>
              <p:nvPr/>
            </p:nvGrpSpPr>
            <p:grpSpPr>
              <a:xfrm>
                <a:off x="95781" y="4374589"/>
                <a:ext cx="6732211" cy="2467597"/>
                <a:chOff x="648102" y="4005064"/>
                <a:chExt cx="6732211" cy="2467597"/>
              </a:xfrm>
            </p:grpSpPr>
            <p:pic>
              <p:nvPicPr>
                <p:cNvPr id="41" name="Imagen 40"/>
                <p:cNvPicPr>
                  <a:picLocks noChangeAspect="1"/>
                </p:cNvPicPr>
                <p:nvPr/>
              </p:nvPicPr>
              <p:blipFill>
                <a:blip r:embed="rId5"/>
                <a:stretch>
                  <a:fillRect/>
                </a:stretch>
              </p:blipFill>
              <p:spPr>
                <a:xfrm>
                  <a:off x="744722" y="5980198"/>
                  <a:ext cx="6617411" cy="492463"/>
                </a:xfrm>
                <a:prstGeom prst="rect">
                  <a:avLst/>
                </a:prstGeom>
                <a:ln w="9525">
                  <a:noFill/>
                </a:ln>
              </p:spPr>
            </p:pic>
            <p:grpSp>
              <p:nvGrpSpPr>
                <p:cNvPr id="42" name="Grupo 41"/>
                <p:cNvGrpSpPr/>
                <p:nvPr/>
              </p:nvGrpSpPr>
              <p:grpSpPr>
                <a:xfrm>
                  <a:off x="648102" y="4005064"/>
                  <a:ext cx="6732211" cy="2054271"/>
                  <a:chOff x="1259632" y="3262268"/>
                  <a:chExt cx="6732211" cy="2054271"/>
                </a:xfrm>
              </p:grpSpPr>
              <p:pic>
                <p:nvPicPr>
                  <p:cNvPr id="43" name="Imagen 42"/>
                  <p:cNvPicPr>
                    <a:picLocks noChangeAspect="1"/>
                  </p:cNvPicPr>
                  <p:nvPr/>
                </p:nvPicPr>
                <p:blipFill>
                  <a:blip r:embed="rId6"/>
                  <a:stretch>
                    <a:fillRect/>
                  </a:stretch>
                </p:blipFill>
                <p:spPr>
                  <a:xfrm>
                    <a:off x="1368000" y="3694585"/>
                    <a:ext cx="6623843" cy="1621954"/>
                  </a:xfrm>
                  <a:prstGeom prst="rect">
                    <a:avLst/>
                  </a:prstGeom>
                  <a:ln w="9525">
                    <a:noFill/>
                  </a:ln>
                </p:spPr>
              </p:pic>
              <p:pic>
                <p:nvPicPr>
                  <p:cNvPr id="44" name="Imagen 43"/>
                  <p:cNvPicPr>
                    <a:picLocks noChangeAspect="1"/>
                  </p:cNvPicPr>
                  <p:nvPr/>
                </p:nvPicPr>
                <p:blipFill>
                  <a:blip r:embed="rId7"/>
                  <a:stretch>
                    <a:fillRect/>
                  </a:stretch>
                </p:blipFill>
                <p:spPr>
                  <a:xfrm>
                    <a:off x="1259632" y="3262268"/>
                    <a:ext cx="6695851" cy="436930"/>
                  </a:xfrm>
                  <a:prstGeom prst="rect">
                    <a:avLst/>
                  </a:prstGeom>
                  <a:ln w="9525">
                    <a:solidFill>
                      <a:schemeClr val="tx1"/>
                    </a:solidFill>
                  </a:ln>
                </p:spPr>
              </p:pic>
            </p:grpSp>
          </p:grpSp>
          <p:sp>
            <p:nvSpPr>
              <p:cNvPr id="40" name="Rectángulo 39"/>
              <p:cNvSpPr/>
              <p:nvPr/>
            </p:nvSpPr>
            <p:spPr>
              <a:xfrm>
                <a:off x="107530" y="4358119"/>
                <a:ext cx="7056758" cy="2484067"/>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sp>
          <p:nvSpPr>
            <p:cNvPr id="45" name="Rectángulo 44"/>
            <p:cNvSpPr/>
            <p:nvPr/>
          </p:nvSpPr>
          <p:spPr>
            <a:xfrm>
              <a:off x="4542343" y="5133753"/>
              <a:ext cx="1788344" cy="302745"/>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46" name="Rectángulo 45"/>
            <p:cNvSpPr/>
            <p:nvPr/>
          </p:nvSpPr>
          <p:spPr>
            <a:xfrm>
              <a:off x="4542342" y="5557891"/>
              <a:ext cx="1822127" cy="302745"/>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47" name="Rectángulo 46"/>
            <p:cNvSpPr/>
            <p:nvPr/>
          </p:nvSpPr>
          <p:spPr>
            <a:xfrm>
              <a:off x="4542342" y="6328056"/>
              <a:ext cx="1822128" cy="302745"/>
            </a:xfrm>
            <a:prstGeom prst="rect">
              <a:avLst/>
            </a:prstGeom>
            <a:no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sp>
        <p:nvSpPr>
          <p:cNvPr id="48" name="Rectángulo redondeado 47"/>
          <p:cNvSpPr/>
          <p:nvPr/>
        </p:nvSpPr>
        <p:spPr>
          <a:xfrm>
            <a:off x="241888" y="4547702"/>
            <a:ext cx="2117966" cy="338135"/>
          </a:xfrm>
          <a:prstGeom prst="roundRect">
            <a:avLst/>
          </a:prstGeom>
          <a:solidFill>
            <a:schemeClr val="accent3">
              <a:lumMod val="40000"/>
              <a:lumOff val="60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CC</a:t>
            </a: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2952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a:xfrm>
            <a:off x="6553200" y="5083563"/>
            <a:ext cx="2133600" cy="365125"/>
          </a:xfrm>
        </p:spPr>
        <p:txBody>
          <a:bodyPr/>
          <a:lstStyle/>
          <a:p>
            <a:fld id="{6C159591-2568-4DE8-9BFD-2ABD54E1DEC4}" type="slidenum">
              <a:rPr lang="es-ES" smtClean="0"/>
              <a:pPr/>
              <a:t>13</a:t>
            </a:fld>
            <a:endParaRPr lang="es-ES" dirty="0"/>
          </a:p>
        </p:txBody>
      </p:sp>
      <p:sp>
        <p:nvSpPr>
          <p:cNvPr id="7" name="6 CuadroTexto"/>
          <p:cNvSpPr txBox="1"/>
          <p:nvPr/>
        </p:nvSpPr>
        <p:spPr>
          <a:xfrm>
            <a:off x="267321" y="980728"/>
            <a:ext cx="7112992" cy="369332"/>
          </a:xfrm>
          <a:prstGeom prst="rect">
            <a:avLst/>
          </a:prstGeom>
          <a:noFill/>
        </p:spPr>
        <p:txBody>
          <a:bodyPr wrap="square" rtlCol="0">
            <a:spAutoFit/>
          </a:bodyPr>
          <a:lstStyle/>
          <a:p>
            <a:r>
              <a:rPr lang="es-ES" b="1" dirty="0">
                <a:solidFill>
                  <a:srgbClr val="254061"/>
                </a:solidFill>
              </a:rPr>
              <a:t>TO CREATE NEW STEPS </a:t>
            </a:r>
            <a:r>
              <a:rPr lang="es-ES" b="1" dirty="0" smtClean="0">
                <a:solidFill>
                  <a:srgbClr val="254061"/>
                </a:solidFill>
                <a:sym typeface="Wingdings" panose="05000000000000000000" pitchFamily="2" charset="2"/>
              </a:rPr>
              <a:t>3. </a:t>
            </a:r>
            <a:r>
              <a:rPr lang="es-ES" b="1" dirty="0" smtClean="0">
                <a:solidFill>
                  <a:srgbClr val="254061"/>
                </a:solidFill>
              </a:rPr>
              <a:t>TYPE B: MANUAL I</a:t>
            </a:r>
            <a:endParaRPr lang="en-US" b="1" dirty="0">
              <a:solidFill>
                <a:srgbClr val="254061"/>
              </a:solidFill>
            </a:endParaRPr>
          </a:p>
        </p:txBody>
      </p:sp>
      <p:sp>
        <p:nvSpPr>
          <p:cNvPr id="8" name="7 Rectángulo"/>
          <p:cNvSpPr/>
          <p:nvPr/>
        </p:nvSpPr>
        <p:spPr>
          <a:xfrm>
            <a:off x="179512" y="1556792"/>
            <a:ext cx="8964488" cy="5256584"/>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7800" lvl="1" indent="-177800">
              <a:buFont typeface="Arial" panose="020B0604020202020204" pitchFamily="34" charset="0"/>
              <a:buChar char="•"/>
            </a:pPr>
            <a:r>
              <a:rPr lang="es-ES" sz="1200" b="1" dirty="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B</a:t>
            </a:r>
            <a:r>
              <a:rPr lang="es-ES" sz="1000" dirty="0" smtClean="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a:t>
            </a:r>
            <a:r>
              <a:rPr lang="es-ES" sz="1000" b="1" dirty="0" smtClean="0">
                <a:solidFill>
                  <a:schemeClr val="tx2">
                    <a:lumMod val="60000"/>
                    <a:lumOff val="40000"/>
                  </a:schemeClr>
                </a:solidFill>
                <a:latin typeface="Arial" panose="020B0604020202020204" pitchFamily="34" charset="0"/>
                <a:cs typeface="Arial" panose="020B0604020202020204" pitchFamily="34" charset="0"/>
              </a:rPr>
              <a:t> AZUL</a:t>
            </a:r>
            <a:r>
              <a:rPr lang="es-ES" sz="1000" dirty="0" smtClean="0">
                <a:solidFill>
                  <a:schemeClr val="tx2">
                    <a:lumMod val="60000"/>
                    <a:lumOff val="40000"/>
                  </a:schemeClr>
                </a:solidFill>
                <a:latin typeface="Arial" panose="020B0604020202020204" pitchFamily="34" charset="0"/>
                <a:cs typeface="Arial" panose="020B0604020202020204" pitchFamily="34" charset="0"/>
              </a:rPr>
              <a:t>: </a:t>
            </a:r>
            <a:r>
              <a:rPr lang="en-US" sz="1000" dirty="0">
                <a:solidFill>
                  <a:schemeClr val="tx2">
                    <a:lumMod val="60000"/>
                    <a:lumOff val="40000"/>
                  </a:schemeClr>
                </a:solidFill>
                <a:latin typeface="Arial" panose="020B0604020202020204" pitchFamily="34" charset="0"/>
                <a:cs typeface="Arial" panose="020B0604020202020204" pitchFamily="34" charset="0"/>
              </a:rPr>
              <a:t>The step has been created </a:t>
            </a:r>
            <a:r>
              <a:rPr lang="en-US" sz="1000" dirty="0" smtClean="0">
                <a:solidFill>
                  <a:schemeClr val="tx2">
                    <a:lumMod val="60000"/>
                    <a:lumOff val="40000"/>
                  </a:schemeClr>
                </a:solidFill>
                <a:latin typeface="Arial" panose="020B0604020202020204" pitchFamily="34" charset="0"/>
                <a:cs typeface="Arial" panose="020B0604020202020204" pitchFamily="34" charset="0"/>
              </a:rPr>
              <a:t>MANUALLY</a:t>
            </a:r>
          </a:p>
          <a:p>
            <a:pPr marL="685800" lvl="2" indent="-228600">
              <a:buFont typeface="+mj-lt"/>
              <a:buAutoNum type="arabicPeriod" startAt="3"/>
            </a:pPr>
            <a:r>
              <a:rPr lang="es-ES" sz="1200" b="1" dirty="0" smtClean="0">
                <a:solidFill>
                  <a:schemeClr val="tx2">
                    <a:lumMod val="60000"/>
                    <a:lumOff val="40000"/>
                  </a:schemeClr>
                </a:solidFill>
                <a:latin typeface="Arial" panose="020B0604020202020204" pitchFamily="34" charset="0"/>
                <a:cs typeface="Arial" panose="020B0604020202020204" pitchFamily="34" charset="0"/>
              </a:rPr>
              <a:t>TIPO B</a:t>
            </a:r>
            <a:r>
              <a:rPr lang="es-ES" sz="1000" dirty="0" smtClean="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a:t>
            </a:r>
            <a:r>
              <a:rPr lang="es-ES" sz="1000" dirty="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 </a:t>
            </a:r>
            <a:r>
              <a:rPr lang="en-US" sz="1000" dirty="0">
                <a:solidFill>
                  <a:schemeClr val="tx2">
                    <a:lumMod val="60000"/>
                    <a:lumOff val="40000"/>
                  </a:schemeClr>
                </a:solidFill>
                <a:latin typeface="Arial" panose="020B0604020202020204" pitchFamily="34" charset="0"/>
                <a:cs typeface="Arial" panose="020B0604020202020204" pitchFamily="34" charset="0"/>
              </a:rPr>
              <a:t>All the information that is required in the x-axis must be filled in by the requester and is displayed as an editable text box</a:t>
            </a:r>
            <a:r>
              <a:rPr lang="en-US" sz="1000" dirty="0">
                <a:solidFill>
                  <a:srgbClr val="0000FF"/>
                </a:solidFill>
                <a:latin typeface="Arial" panose="020B0604020202020204" pitchFamily="34" charset="0"/>
                <a:cs typeface="Arial" panose="020B0604020202020204" pitchFamily="34" charset="0"/>
              </a:rPr>
              <a:t>.</a:t>
            </a:r>
            <a:endParaRPr lang="es-ES" sz="1000" dirty="0">
              <a:solidFill>
                <a:srgbClr val="0000FF"/>
              </a:solidFill>
              <a:latin typeface="Arial" panose="020B0604020202020204" pitchFamily="34" charset="0"/>
              <a:cs typeface="Arial" panose="020B0604020202020204" pitchFamily="34" charset="0"/>
            </a:endParaRPr>
          </a:p>
          <a:p>
            <a:pPr marL="0" lvl="1"/>
            <a:endParaRPr lang="es-ES" sz="1000" dirty="0" smtClean="0">
              <a:solidFill>
                <a:srgbClr val="0000FF"/>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p:txBody>
      </p:sp>
      <p:grpSp>
        <p:nvGrpSpPr>
          <p:cNvPr id="5" name="Grupo 4"/>
          <p:cNvGrpSpPr/>
          <p:nvPr/>
        </p:nvGrpSpPr>
        <p:grpSpPr>
          <a:xfrm>
            <a:off x="467544" y="2276872"/>
            <a:ext cx="8125092" cy="3308341"/>
            <a:chOff x="467544" y="2520024"/>
            <a:chExt cx="8125092" cy="3308341"/>
          </a:xfrm>
        </p:grpSpPr>
        <p:pic>
          <p:nvPicPr>
            <p:cNvPr id="3" name="Imagen 2"/>
            <p:cNvPicPr>
              <a:picLocks noChangeAspect="1"/>
            </p:cNvPicPr>
            <p:nvPr/>
          </p:nvPicPr>
          <p:blipFill>
            <a:blip r:embed="rId2"/>
            <a:stretch>
              <a:fillRect/>
            </a:stretch>
          </p:blipFill>
          <p:spPr>
            <a:xfrm>
              <a:off x="467544" y="3501008"/>
              <a:ext cx="8125092" cy="2327357"/>
            </a:xfrm>
            <a:prstGeom prst="rect">
              <a:avLst/>
            </a:prstGeom>
          </p:spPr>
        </p:pic>
        <p:pic>
          <p:nvPicPr>
            <p:cNvPr id="4" name="Imagen 3"/>
            <p:cNvPicPr>
              <a:picLocks noChangeAspect="1"/>
            </p:cNvPicPr>
            <p:nvPr/>
          </p:nvPicPr>
          <p:blipFill>
            <a:blip r:embed="rId3"/>
            <a:stretch>
              <a:fillRect/>
            </a:stretch>
          </p:blipFill>
          <p:spPr>
            <a:xfrm>
              <a:off x="490222" y="2520024"/>
              <a:ext cx="8102414" cy="1016462"/>
            </a:xfrm>
            <a:prstGeom prst="rect">
              <a:avLst/>
            </a:prstGeom>
          </p:spPr>
        </p:pic>
      </p:grpSp>
      <p:sp>
        <p:nvSpPr>
          <p:cNvPr id="15" name="Rectángulo 14"/>
          <p:cNvSpPr/>
          <p:nvPr/>
        </p:nvSpPr>
        <p:spPr>
          <a:xfrm>
            <a:off x="4572000" y="2653125"/>
            <a:ext cx="4020636" cy="6205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7" name="Rectángulo 16"/>
          <p:cNvSpPr/>
          <p:nvPr/>
        </p:nvSpPr>
        <p:spPr>
          <a:xfrm>
            <a:off x="2690747" y="2695182"/>
            <a:ext cx="513101" cy="55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8" name="Elipse 17"/>
          <p:cNvSpPr/>
          <p:nvPr/>
        </p:nvSpPr>
        <p:spPr>
          <a:xfrm>
            <a:off x="3545142" y="4503270"/>
            <a:ext cx="2655296" cy="543283"/>
          </a:xfrm>
          <a:prstGeom prst="ellipse">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EDITABLE </a:t>
            </a:r>
          </a:p>
        </p:txBody>
      </p:sp>
      <p:cxnSp>
        <p:nvCxnSpPr>
          <p:cNvPr id="19" name="Conector angular 18"/>
          <p:cNvCxnSpPr>
            <a:stCxn id="18" idx="6"/>
            <a:endCxn id="15" idx="2"/>
          </p:cNvCxnSpPr>
          <p:nvPr/>
        </p:nvCxnSpPr>
        <p:spPr>
          <a:xfrm flipV="1">
            <a:off x="6200438" y="3273694"/>
            <a:ext cx="381880" cy="1501218"/>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p:cNvCxnSpPr>
            <a:stCxn id="18" idx="2"/>
          </p:cNvCxnSpPr>
          <p:nvPr/>
        </p:nvCxnSpPr>
        <p:spPr>
          <a:xfrm rot="10800000">
            <a:off x="2909396" y="3247678"/>
            <a:ext cx="635746" cy="1527235"/>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899077" y="3936020"/>
            <a:ext cx="1080635" cy="50109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4" name="Elipse 13"/>
          <p:cNvSpPr/>
          <p:nvPr/>
        </p:nvSpPr>
        <p:spPr>
          <a:xfrm>
            <a:off x="899077" y="5084121"/>
            <a:ext cx="1080635" cy="50109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19421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14</a:t>
            </a:fld>
            <a:endParaRPr lang="es-ES" dirty="0"/>
          </a:p>
        </p:txBody>
      </p:sp>
      <p:sp>
        <p:nvSpPr>
          <p:cNvPr id="4" name="3 CuadroTexto"/>
          <p:cNvSpPr txBox="1"/>
          <p:nvPr/>
        </p:nvSpPr>
        <p:spPr>
          <a:xfrm>
            <a:off x="267321" y="980728"/>
            <a:ext cx="8049096" cy="369332"/>
          </a:xfrm>
          <a:prstGeom prst="rect">
            <a:avLst/>
          </a:prstGeom>
          <a:noFill/>
        </p:spPr>
        <p:txBody>
          <a:bodyPr wrap="square" rtlCol="0">
            <a:spAutoFit/>
          </a:bodyPr>
          <a:lstStyle/>
          <a:p>
            <a:r>
              <a:rPr lang="es-ES" b="1" dirty="0">
                <a:solidFill>
                  <a:srgbClr val="254061"/>
                </a:solidFill>
              </a:rPr>
              <a:t>TO CREATE NEW STEPS </a:t>
            </a:r>
            <a:r>
              <a:rPr lang="es-ES" b="1" dirty="0">
                <a:solidFill>
                  <a:srgbClr val="254061"/>
                </a:solidFill>
                <a:sym typeface="Wingdings" panose="05000000000000000000" pitchFamily="2" charset="2"/>
              </a:rPr>
              <a:t>3. </a:t>
            </a:r>
            <a:r>
              <a:rPr lang="es-ES" b="1" dirty="0" smtClean="0">
                <a:solidFill>
                  <a:srgbClr val="254061"/>
                </a:solidFill>
              </a:rPr>
              <a:t>TYPE B: </a:t>
            </a:r>
            <a:r>
              <a:rPr lang="es-ES" b="1" dirty="0">
                <a:solidFill>
                  <a:srgbClr val="254061"/>
                </a:solidFill>
              </a:rPr>
              <a:t>MANUAL </a:t>
            </a:r>
            <a:r>
              <a:rPr lang="es-ES" b="1" dirty="0" smtClean="0">
                <a:solidFill>
                  <a:srgbClr val="254061"/>
                </a:solidFill>
              </a:rPr>
              <a:t>II</a:t>
            </a:r>
            <a:endParaRPr lang="en-US" b="1" dirty="0">
              <a:solidFill>
                <a:srgbClr val="254061"/>
              </a:solidFill>
            </a:endParaRPr>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77" y="1697699"/>
            <a:ext cx="2800350" cy="71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5690" y="1609630"/>
            <a:ext cx="3236590" cy="136108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12" y="3711077"/>
            <a:ext cx="2814904" cy="187027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2" name="11 Rectángulo redondeado"/>
          <p:cNvSpPr/>
          <p:nvPr/>
        </p:nvSpPr>
        <p:spPr>
          <a:xfrm>
            <a:off x="2735796" y="1692682"/>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a:t>
            </a:r>
            <a:endParaRPr lang="es-ES" sz="1400" dirty="0">
              <a:solidFill>
                <a:schemeClr val="tx1"/>
              </a:solidFill>
            </a:endParaRPr>
          </a:p>
        </p:txBody>
      </p:sp>
      <p:sp>
        <p:nvSpPr>
          <p:cNvPr id="13" name="12 Rectángulo redondeado"/>
          <p:cNvSpPr/>
          <p:nvPr/>
        </p:nvSpPr>
        <p:spPr>
          <a:xfrm>
            <a:off x="7164288" y="215340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2</a:t>
            </a:r>
            <a:endParaRPr lang="es-ES" sz="1400" dirty="0">
              <a:solidFill>
                <a:schemeClr val="tx1"/>
              </a:solidFill>
            </a:endParaRPr>
          </a:p>
        </p:txBody>
      </p:sp>
      <p:sp>
        <p:nvSpPr>
          <p:cNvPr id="14" name="13 Llamada rectangular"/>
          <p:cNvSpPr/>
          <p:nvPr/>
        </p:nvSpPr>
        <p:spPr>
          <a:xfrm>
            <a:off x="1325553" y="2511052"/>
            <a:ext cx="1941759" cy="295361"/>
          </a:xfrm>
          <a:prstGeom prst="wedgeRectCallout">
            <a:avLst>
              <a:gd name="adj1" fmla="val 12872"/>
              <a:gd name="adj2" fmla="val -22717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smtClean="0">
                <a:solidFill>
                  <a:schemeClr val="tx1"/>
                </a:solidFill>
                <a:latin typeface="Arial" panose="020B0604020202020204" pitchFamily="34" charset="0"/>
                <a:cs typeface="Arial" panose="020B0604020202020204" pitchFamily="34" charset="0"/>
              </a:rPr>
              <a:t>To add </a:t>
            </a:r>
            <a:r>
              <a:rPr lang="en-US" sz="1000" dirty="0">
                <a:solidFill>
                  <a:schemeClr val="tx1"/>
                </a:solidFill>
                <a:latin typeface="Arial" panose="020B0604020202020204" pitchFamily="34" charset="0"/>
                <a:cs typeface="Arial" panose="020B0604020202020204" pitchFamily="34" charset="0"/>
              </a:rPr>
              <a:t>a new step to the cost group</a:t>
            </a:r>
            <a:endParaRPr lang="es-ES" sz="1000" dirty="0">
              <a:solidFill>
                <a:schemeClr val="tx1"/>
              </a:solidFill>
              <a:latin typeface="Arial" panose="020B0604020202020204" pitchFamily="34" charset="0"/>
              <a:cs typeface="Arial" panose="020B0604020202020204" pitchFamily="34" charset="0"/>
            </a:endParaRPr>
          </a:p>
        </p:txBody>
      </p:sp>
      <p:sp>
        <p:nvSpPr>
          <p:cNvPr id="15" name="14 Rectángulo redondeado"/>
          <p:cNvSpPr/>
          <p:nvPr/>
        </p:nvSpPr>
        <p:spPr>
          <a:xfrm>
            <a:off x="2339752" y="1697699"/>
            <a:ext cx="288032" cy="263500"/>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6" name="15 Llamada rectangular"/>
          <p:cNvSpPr/>
          <p:nvPr/>
        </p:nvSpPr>
        <p:spPr>
          <a:xfrm>
            <a:off x="7073730" y="1609630"/>
            <a:ext cx="1561538" cy="504056"/>
          </a:xfrm>
          <a:prstGeom prst="wedgeRectCallout">
            <a:avLst>
              <a:gd name="adj1" fmla="val -57167"/>
              <a:gd name="adj2" fmla="val 4304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To</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create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another</a:t>
            </a:r>
            <a:r>
              <a:rPr lang="es-ES" sz="1000" dirty="0" smtClean="0">
                <a:solidFill>
                  <a:schemeClr val="tx1"/>
                </a:solidFill>
                <a:latin typeface="Arial" panose="020B0604020202020204" pitchFamily="34" charset="0"/>
                <a:cs typeface="Arial" panose="020B0604020202020204" pitchFamily="34" charset="0"/>
              </a:rPr>
              <a:t> line.</a:t>
            </a:r>
            <a:endParaRPr lang="es-ES" sz="1000" dirty="0">
              <a:solidFill>
                <a:schemeClr val="tx1"/>
              </a:solidFill>
              <a:latin typeface="Arial" panose="020B0604020202020204" pitchFamily="34" charset="0"/>
              <a:cs typeface="Arial" panose="020B0604020202020204" pitchFamily="34" charset="0"/>
            </a:endParaRPr>
          </a:p>
        </p:txBody>
      </p:sp>
      <p:sp>
        <p:nvSpPr>
          <p:cNvPr id="17" name="16 Rectángulo redondeado"/>
          <p:cNvSpPr/>
          <p:nvPr/>
        </p:nvSpPr>
        <p:spPr>
          <a:xfrm>
            <a:off x="6516216" y="1983429"/>
            <a:ext cx="412223" cy="263500"/>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1" name="20 Rectángulo redondeado"/>
          <p:cNvSpPr/>
          <p:nvPr/>
        </p:nvSpPr>
        <p:spPr>
          <a:xfrm>
            <a:off x="1377232" y="5823780"/>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3</a:t>
            </a:r>
            <a:endParaRPr lang="es-ES" sz="1400" dirty="0">
              <a:solidFill>
                <a:schemeClr val="tx1"/>
              </a:solidFill>
            </a:endParaRPr>
          </a:p>
        </p:txBody>
      </p:sp>
      <p:sp>
        <p:nvSpPr>
          <p:cNvPr id="22" name="21 Rectángulo redondeado"/>
          <p:cNvSpPr/>
          <p:nvPr/>
        </p:nvSpPr>
        <p:spPr>
          <a:xfrm>
            <a:off x="714440" y="4941168"/>
            <a:ext cx="1867343" cy="344161"/>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3" name="22 Llamada rectangular"/>
          <p:cNvSpPr/>
          <p:nvPr/>
        </p:nvSpPr>
        <p:spPr>
          <a:xfrm>
            <a:off x="1884481" y="5581351"/>
            <a:ext cx="1319368" cy="515962"/>
          </a:xfrm>
          <a:prstGeom prst="wedgeRectCallout">
            <a:avLst>
              <a:gd name="adj1" fmla="val -55236"/>
              <a:gd name="adj2" fmla="val -9750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Add all the steps to the cost group</a:t>
            </a:r>
            <a:endParaRPr lang="es-ES" sz="1000" dirty="0">
              <a:solidFill>
                <a:schemeClr val="tx1"/>
              </a:solidFill>
              <a:latin typeface="Arial" panose="020B0604020202020204" pitchFamily="34" charset="0"/>
              <a:cs typeface="Arial" panose="020B0604020202020204" pitchFamily="34" charset="0"/>
            </a:endParaRPr>
          </a:p>
        </p:txBody>
      </p:sp>
      <p:pic>
        <p:nvPicPr>
          <p:cNvPr id="103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936" y="4797152"/>
            <a:ext cx="4058306" cy="186799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Flecha derecha"/>
          <p:cNvSpPr/>
          <p:nvPr/>
        </p:nvSpPr>
        <p:spPr>
          <a:xfrm>
            <a:off x="3338189" y="5731148"/>
            <a:ext cx="504056" cy="229398"/>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18356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Rectángulo redondeado"/>
          <p:cNvSpPr/>
          <p:nvPr/>
        </p:nvSpPr>
        <p:spPr>
          <a:xfrm>
            <a:off x="4713559" y="1916832"/>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4</a:t>
            </a:r>
            <a:endParaRPr lang="es-ES" sz="1400" dirty="0">
              <a:solidFill>
                <a:schemeClr val="tx1"/>
              </a:solidFill>
            </a:endParaRP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5522325"/>
            <a:ext cx="5638428" cy="642979"/>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Rectángulo"/>
          <p:cNvSpPr/>
          <p:nvPr/>
        </p:nvSpPr>
        <p:spPr>
          <a:xfrm>
            <a:off x="0" y="1556792"/>
            <a:ext cx="4536504" cy="861577"/>
          </a:xfrm>
          <a:prstGeom prst="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Fill</a:t>
            </a:r>
            <a:r>
              <a:rPr lang="es-ES" sz="1000" dirty="0" smtClean="0">
                <a:solidFill>
                  <a:schemeClr val="tx1"/>
                </a:solidFill>
                <a:latin typeface="Arial" panose="020B0604020202020204" pitchFamily="34" charset="0"/>
                <a:cs typeface="Arial" panose="020B0604020202020204" pitchFamily="34" charset="0"/>
              </a:rPr>
              <a:t> in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fields</a:t>
            </a:r>
            <a:r>
              <a:rPr lang="es-ES" sz="1000" dirty="0" smtClean="0">
                <a:solidFill>
                  <a:schemeClr val="tx1"/>
                </a:solidFill>
                <a:latin typeface="Arial" panose="020B0604020202020204" pitchFamily="34" charset="0"/>
                <a:cs typeface="Arial" panose="020B0604020202020204" pitchFamily="34" charset="0"/>
              </a:rPr>
              <a:t>: </a:t>
            </a:r>
          </a:p>
          <a:p>
            <a:pPr marL="228600" indent="-228600">
              <a:buFont typeface="+mj-lt"/>
              <a:buAutoNum type="arabicPeriod"/>
            </a:pPr>
            <a:r>
              <a:rPr lang="es-ES" sz="1000" b="1" dirty="0" err="1" smtClean="0">
                <a:solidFill>
                  <a:schemeClr val="tx1"/>
                </a:solidFill>
                <a:latin typeface="Arial" panose="020B0604020202020204" pitchFamily="34" charset="0"/>
                <a:cs typeface="Arial" panose="020B0604020202020204" pitchFamily="34" charset="0"/>
              </a:rPr>
              <a:t>Offer</a:t>
            </a:r>
            <a:r>
              <a:rPr lang="es-ES" sz="1000" b="1" dirty="0" smtClean="0">
                <a:solidFill>
                  <a:schemeClr val="tx1"/>
                </a:solidFill>
                <a:latin typeface="Arial" panose="020B0604020202020204" pitchFamily="34" charset="0"/>
                <a:cs typeface="Arial" panose="020B0604020202020204" pitchFamily="34" charset="0"/>
              </a:rPr>
              <a:t> Budget</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With the budget of the </a:t>
            </a:r>
            <a:r>
              <a:rPr lang="en-US" sz="1000" dirty="0" smtClean="0">
                <a:solidFill>
                  <a:schemeClr val="tx1"/>
                </a:solidFill>
                <a:latin typeface="Arial" panose="020B0604020202020204" pitchFamily="34" charset="0"/>
                <a:cs typeface="Arial" panose="020B0604020202020204" pitchFamily="34" charset="0"/>
              </a:rPr>
              <a:t>awarding offer</a:t>
            </a: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Expenses: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Amount expected to be spent in the indicated quarter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dirty="0" smtClean="0">
                <a:solidFill>
                  <a:schemeClr val="tx1"/>
                </a:solidFill>
                <a:latin typeface="Arial" panose="020B0604020202020204" pitchFamily="34" charset="0"/>
                <a:cs typeface="Arial" panose="020B0604020202020204" pitchFamily="34" charset="0"/>
              </a:rPr>
              <a:t> </a:t>
            </a:r>
          </a:p>
          <a:p>
            <a:pPr marL="228600" indent="-228600">
              <a:buFont typeface="+mj-lt"/>
              <a:buAutoNum type="arabicPeriod"/>
            </a:pPr>
            <a:r>
              <a:rPr lang="es-ES" sz="1000" b="1" dirty="0" err="1" smtClean="0">
                <a:solidFill>
                  <a:schemeClr val="tx1"/>
                </a:solidFill>
                <a:latin typeface="Arial" panose="020B0604020202020204" pitchFamily="34" charset="0"/>
                <a:cs typeface="Arial" panose="020B0604020202020204" pitchFamily="34" charset="0"/>
              </a:rPr>
              <a:t>Incomes</a:t>
            </a:r>
            <a:r>
              <a:rPr lang="es-ES" sz="1000" dirty="0" smtClean="0">
                <a:solidFill>
                  <a:schemeClr val="tx1"/>
                </a:solidFill>
                <a:latin typeface="Arial" panose="020B0604020202020204" pitchFamily="34" charset="0"/>
                <a:cs typeface="Arial" panose="020B0604020202020204" pitchFamily="34" charset="0"/>
              </a:rPr>
              <a:t>: </a:t>
            </a:r>
            <a:r>
              <a:rPr lang="en-US" sz="1000" dirty="0" smtClean="0">
                <a:solidFill>
                  <a:schemeClr val="tx1"/>
                </a:solidFill>
                <a:latin typeface="Arial" panose="020B0604020202020204" pitchFamily="34" charset="0"/>
                <a:cs typeface="Arial" panose="020B0604020202020204" pitchFamily="34" charset="0"/>
              </a:rPr>
              <a:t>Payment expected to receive in </a:t>
            </a:r>
            <a:r>
              <a:rPr lang="en-US" sz="1000" dirty="0">
                <a:solidFill>
                  <a:schemeClr val="tx1"/>
                </a:solidFill>
                <a:latin typeface="Arial" panose="020B0604020202020204" pitchFamily="34" charset="0"/>
                <a:cs typeface="Arial" panose="020B0604020202020204" pitchFamily="34" charset="0"/>
              </a:rPr>
              <a:t>the indicated quarter</a:t>
            </a:r>
            <a:r>
              <a:rPr lang="es-ES" sz="1000" dirty="0" smtClean="0">
                <a:solidFill>
                  <a:schemeClr val="tx1"/>
                </a:solidFill>
                <a:latin typeface="Arial" panose="020B0604020202020204" pitchFamily="34" charset="0"/>
                <a:cs typeface="Arial" panose="020B0604020202020204" pitchFamily="34" charset="0"/>
              </a:rPr>
              <a:t>.</a:t>
            </a:r>
            <a:endParaRPr lang="es-ES" sz="1000" dirty="0">
              <a:solidFill>
                <a:schemeClr val="tx1"/>
              </a:solidFill>
              <a:latin typeface="Arial" panose="020B0604020202020204" pitchFamily="34" charset="0"/>
              <a:cs typeface="Arial" panose="020B0604020202020204" pitchFamily="34" charset="0"/>
            </a:endParaRPr>
          </a:p>
        </p:txBody>
      </p:sp>
      <p:grpSp>
        <p:nvGrpSpPr>
          <p:cNvPr id="2059" name="2058 Grupo"/>
          <p:cNvGrpSpPr/>
          <p:nvPr/>
        </p:nvGrpSpPr>
        <p:grpSpPr>
          <a:xfrm>
            <a:off x="179355" y="2509043"/>
            <a:ext cx="8768036" cy="1424013"/>
            <a:chOff x="179355" y="1932979"/>
            <a:chExt cx="8768036" cy="1424013"/>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55" y="2235499"/>
              <a:ext cx="8768036" cy="1121493"/>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048" name="2047 Rectángulo redondeado"/>
            <p:cNvSpPr/>
            <p:nvPr/>
          </p:nvSpPr>
          <p:spPr>
            <a:xfrm>
              <a:off x="5579043" y="1932979"/>
              <a:ext cx="1296144" cy="226086"/>
            </a:xfrm>
            <a:prstGeom prst="roundRect">
              <a:avLst/>
            </a:prstGeom>
            <a:solidFill>
              <a:schemeClr val="accent6">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smtClean="0">
                  <a:solidFill>
                    <a:schemeClr val="tx1"/>
                  </a:solidFill>
                  <a:latin typeface="Arial" panose="020B0604020202020204" pitchFamily="34" charset="0"/>
                  <a:cs typeface="Arial" panose="020B0604020202020204" pitchFamily="34" charset="0"/>
                </a:rPr>
                <a:t>Expenses</a:t>
              </a:r>
            </a:p>
          </p:txBody>
        </p:sp>
        <p:sp>
          <p:nvSpPr>
            <p:cNvPr id="39" name="38 Rectángulo redondeado"/>
            <p:cNvSpPr/>
            <p:nvPr/>
          </p:nvSpPr>
          <p:spPr>
            <a:xfrm>
              <a:off x="7524328" y="1933485"/>
              <a:ext cx="1296144" cy="226086"/>
            </a:xfrm>
            <a:prstGeom prst="roundRect">
              <a:avLst/>
            </a:prstGeom>
            <a:solidFill>
              <a:schemeClr val="accent3">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err="1" smtClean="0">
                  <a:solidFill>
                    <a:schemeClr val="tx1"/>
                  </a:solidFill>
                  <a:latin typeface="Arial" panose="020B0604020202020204" pitchFamily="34" charset="0"/>
                  <a:cs typeface="Arial" panose="020B0604020202020204" pitchFamily="34" charset="0"/>
                </a:rPr>
                <a:t>Incomes</a:t>
              </a:r>
              <a:endParaRPr lang="es-ES" sz="1000" i="1" dirty="0" smtClean="0">
                <a:solidFill>
                  <a:schemeClr val="tx1"/>
                </a:solidFill>
                <a:latin typeface="Arial" panose="020B0604020202020204" pitchFamily="34" charset="0"/>
                <a:cs typeface="Arial" panose="020B0604020202020204" pitchFamily="34" charset="0"/>
              </a:endParaRPr>
            </a:p>
          </p:txBody>
        </p:sp>
        <p:sp>
          <p:nvSpPr>
            <p:cNvPr id="40" name="39 Rectángulo redondeado"/>
            <p:cNvSpPr/>
            <p:nvPr/>
          </p:nvSpPr>
          <p:spPr>
            <a:xfrm>
              <a:off x="2578095" y="1932979"/>
              <a:ext cx="1083006" cy="226086"/>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err="1" smtClean="0">
                  <a:solidFill>
                    <a:schemeClr val="tx1"/>
                  </a:solidFill>
                  <a:latin typeface="Arial" panose="020B0604020202020204" pitchFamily="34" charset="0"/>
                  <a:cs typeface="Arial" panose="020B0604020202020204" pitchFamily="34" charset="0"/>
                </a:rPr>
                <a:t>Offer</a:t>
              </a:r>
              <a:r>
                <a:rPr lang="es-ES" sz="1000" i="1" dirty="0" smtClean="0">
                  <a:solidFill>
                    <a:schemeClr val="tx1"/>
                  </a:solidFill>
                  <a:latin typeface="Arial" panose="020B0604020202020204" pitchFamily="34" charset="0"/>
                  <a:cs typeface="Arial" panose="020B0604020202020204" pitchFamily="34" charset="0"/>
                </a:rPr>
                <a:t> Budget</a:t>
              </a:r>
            </a:p>
          </p:txBody>
        </p:sp>
      </p:grpSp>
      <p:sp>
        <p:nvSpPr>
          <p:cNvPr id="42" name="41 Rectángulo"/>
          <p:cNvSpPr/>
          <p:nvPr/>
        </p:nvSpPr>
        <p:spPr>
          <a:xfrm>
            <a:off x="4472548" y="4928733"/>
            <a:ext cx="3385618" cy="51935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Columns "expenses" and "incomes" are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collapsed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by default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They become visible when you click on the year.</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
        <p:nvSpPr>
          <p:cNvPr id="2057" name="2056 Flecha derecha"/>
          <p:cNvSpPr/>
          <p:nvPr/>
        </p:nvSpPr>
        <p:spPr>
          <a:xfrm rot="7222199">
            <a:off x="6530551" y="5349951"/>
            <a:ext cx="441744" cy="344746"/>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12 CuadroTexto"/>
          <p:cNvSpPr txBox="1"/>
          <p:nvPr/>
        </p:nvSpPr>
        <p:spPr>
          <a:xfrm>
            <a:off x="267321" y="980728"/>
            <a:ext cx="7689056" cy="369332"/>
          </a:xfrm>
          <a:prstGeom prst="rect">
            <a:avLst/>
          </a:prstGeom>
          <a:noFill/>
        </p:spPr>
        <p:txBody>
          <a:bodyPr wrap="square" rtlCol="0">
            <a:spAutoFit/>
          </a:bodyPr>
          <a:lstStyle/>
          <a:p>
            <a:r>
              <a:rPr lang="es-ES" b="1" dirty="0">
                <a:solidFill>
                  <a:srgbClr val="254061"/>
                </a:solidFill>
              </a:rPr>
              <a:t>TO CREATE NEW STEPS </a:t>
            </a:r>
            <a:r>
              <a:rPr lang="es-ES" b="1" dirty="0">
                <a:solidFill>
                  <a:srgbClr val="254061"/>
                </a:solidFill>
                <a:sym typeface="Wingdings" panose="05000000000000000000" pitchFamily="2" charset="2"/>
              </a:rPr>
              <a:t>3. </a:t>
            </a:r>
            <a:r>
              <a:rPr lang="es-ES" b="1" dirty="0" smtClean="0">
                <a:solidFill>
                  <a:srgbClr val="254061"/>
                </a:solidFill>
              </a:rPr>
              <a:t>TYPE B: </a:t>
            </a:r>
            <a:r>
              <a:rPr lang="es-ES" b="1" dirty="0">
                <a:solidFill>
                  <a:srgbClr val="254061"/>
                </a:solidFill>
              </a:rPr>
              <a:t>MANUAL </a:t>
            </a:r>
            <a:r>
              <a:rPr lang="es-ES" b="1" dirty="0" smtClean="0">
                <a:solidFill>
                  <a:srgbClr val="254061"/>
                </a:solidFill>
              </a:rPr>
              <a:t>III</a:t>
            </a:r>
            <a:endParaRPr lang="en-US" b="1" dirty="0">
              <a:solidFill>
                <a:srgbClr val="254061"/>
              </a:solidFill>
            </a:endParaRPr>
          </a:p>
        </p:txBody>
      </p:sp>
    </p:spTree>
    <p:extLst>
      <p:ext uri="{BB962C8B-B14F-4D97-AF65-F5344CB8AC3E}">
        <p14:creationId xmlns:p14="http://schemas.microsoft.com/office/powerpoint/2010/main" val="7796411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16</a:t>
            </a:fld>
            <a:endParaRPr lang="es-ES" dirty="0"/>
          </a:p>
        </p:txBody>
      </p:sp>
      <p:sp>
        <p:nvSpPr>
          <p:cNvPr id="4" name="1 Marcador de número de diapositiva"/>
          <p:cNvSpPr txBox="1">
            <a:spLocks/>
          </p:cNvSpPr>
          <p:nvPr/>
        </p:nvSpPr>
        <p:spPr>
          <a:xfrm>
            <a:off x="6553200" y="6356350"/>
            <a:ext cx="21336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159591-2568-4DE8-9BFD-2ABD54E1DEC4}" type="slidenum">
              <a:rPr lang="es-ES" smtClean="0"/>
              <a:pPr/>
              <a:t>16</a:t>
            </a:fld>
            <a:endParaRPr lang="es-ES" dirty="0"/>
          </a:p>
        </p:txBody>
      </p:sp>
      <p:sp>
        <p:nvSpPr>
          <p:cNvPr id="5" name="4 Rectángulo redondeado"/>
          <p:cNvSpPr/>
          <p:nvPr/>
        </p:nvSpPr>
        <p:spPr>
          <a:xfrm>
            <a:off x="2699792" y="2241586"/>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5</a:t>
            </a:r>
            <a:endParaRPr lang="es-ES" sz="1400" dirty="0">
              <a:solidFill>
                <a:schemeClr val="tx1"/>
              </a:solidFill>
            </a:endParaRPr>
          </a:p>
        </p:txBody>
      </p:sp>
      <p:pic>
        <p:nvPicPr>
          <p:cNvPr id="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591" y="4509120"/>
            <a:ext cx="7014386" cy="1045021"/>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8" name="7 Rectángulo redondeado"/>
          <p:cNvSpPr/>
          <p:nvPr/>
        </p:nvSpPr>
        <p:spPr>
          <a:xfrm>
            <a:off x="6732240" y="5585103"/>
            <a:ext cx="1300768" cy="22076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a:solidFill>
                  <a:schemeClr val="tx1"/>
                </a:solidFill>
                <a:latin typeface="Arial" panose="020B0604020202020204" pitchFamily="34" charset="0"/>
                <a:cs typeface="Arial" panose="020B0604020202020204" pitchFamily="34" charset="0"/>
              </a:rPr>
              <a:t>Budget </a:t>
            </a:r>
            <a:r>
              <a:rPr lang="es-ES" sz="1000" i="1" dirty="0" err="1">
                <a:solidFill>
                  <a:schemeClr val="tx1"/>
                </a:solidFill>
                <a:latin typeface="Arial" panose="020B0604020202020204" pitchFamily="34" charset="0"/>
                <a:cs typeface="Arial" panose="020B0604020202020204" pitchFamily="34" charset="0"/>
              </a:rPr>
              <a:t>Approved</a:t>
            </a:r>
            <a:endParaRPr lang="es-ES" sz="1000" i="1" dirty="0">
              <a:solidFill>
                <a:schemeClr val="tx1"/>
              </a:solidFill>
              <a:latin typeface="Arial" panose="020B0604020202020204" pitchFamily="34" charset="0"/>
              <a:cs typeface="Arial" panose="020B0604020202020204" pitchFamily="34" charset="0"/>
            </a:endParaRPr>
          </a:p>
        </p:txBody>
      </p:sp>
      <p:sp>
        <p:nvSpPr>
          <p:cNvPr id="9" name="8 Rectángulo redondeado"/>
          <p:cNvSpPr/>
          <p:nvPr/>
        </p:nvSpPr>
        <p:spPr>
          <a:xfrm>
            <a:off x="4970356" y="5616388"/>
            <a:ext cx="1202414" cy="189482"/>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err="1" smtClean="0">
                <a:solidFill>
                  <a:schemeClr val="tx1"/>
                </a:solidFill>
                <a:latin typeface="Arial" panose="020B0604020202020204" pitchFamily="34" charset="0"/>
                <a:cs typeface="Arial" panose="020B0604020202020204" pitchFamily="34" charset="0"/>
              </a:rPr>
              <a:t>Paid</a:t>
            </a:r>
            <a:r>
              <a:rPr lang="es-ES" sz="1000" i="1" dirty="0" smtClean="0">
                <a:solidFill>
                  <a:schemeClr val="tx1"/>
                </a:solidFill>
                <a:latin typeface="Arial" panose="020B0604020202020204" pitchFamily="34" charset="0"/>
                <a:cs typeface="Arial" panose="020B0604020202020204" pitchFamily="34" charset="0"/>
              </a:rPr>
              <a:t> </a:t>
            </a:r>
            <a:r>
              <a:rPr lang="es-ES" sz="1000" i="1" dirty="0" err="1" smtClean="0">
                <a:solidFill>
                  <a:schemeClr val="tx1"/>
                </a:solidFill>
                <a:latin typeface="Arial" panose="020B0604020202020204" pitchFamily="34" charset="0"/>
                <a:cs typeface="Arial" panose="020B0604020202020204" pitchFamily="34" charset="0"/>
              </a:rPr>
              <a:t>by</a:t>
            </a:r>
            <a:r>
              <a:rPr lang="es-ES" sz="1000" i="1" dirty="0" smtClean="0">
                <a:solidFill>
                  <a:schemeClr val="tx1"/>
                </a:solidFill>
                <a:latin typeface="Arial" panose="020B0604020202020204" pitchFamily="34" charset="0"/>
                <a:cs typeface="Arial" panose="020B0604020202020204" pitchFamily="34" charset="0"/>
              </a:rPr>
              <a:t> </a:t>
            </a:r>
            <a:r>
              <a:rPr lang="es-ES" sz="1000" i="1" dirty="0" err="1" smtClean="0">
                <a:solidFill>
                  <a:schemeClr val="tx1"/>
                </a:solidFill>
                <a:latin typeface="Arial" panose="020B0604020202020204" pitchFamily="34" charset="0"/>
                <a:cs typeface="Arial" panose="020B0604020202020204" pitchFamily="34" charset="0"/>
              </a:rPr>
              <a:t>customer</a:t>
            </a:r>
            <a:endParaRPr lang="es-ES" sz="1000" i="1" dirty="0">
              <a:solidFill>
                <a:schemeClr val="tx1"/>
              </a:solidFill>
              <a:latin typeface="Arial" panose="020B0604020202020204" pitchFamily="34" charset="0"/>
              <a:cs typeface="Arial" panose="020B0604020202020204" pitchFamily="34" charset="0"/>
            </a:endParaRPr>
          </a:p>
        </p:txBody>
      </p:sp>
      <p:sp>
        <p:nvSpPr>
          <p:cNvPr id="10" name="9 Rectángulo redondeado"/>
          <p:cNvSpPr/>
          <p:nvPr/>
        </p:nvSpPr>
        <p:spPr>
          <a:xfrm>
            <a:off x="5881739" y="4149080"/>
            <a:ext cx="641363" cy="229299"/>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smtClean="0">
                <a:solidFill>
                  <a:schemeClr val="tx1"/>
                </a:solidFill>
                <a:latin typeface="Arial" panose="020B0604020202020204" pitchFamily="34" charset="0"/>
                <a:cs typeface="Arial" panose="020B0604020202020204" pitchFamily="34" charset="0"/>
              </a:rPr>
              <a:t>Target</a:t>
            </a:r>
            <a:endParaRPr lang="es-ES" sz="1000" i="1" dirty="0">
              <a:solidFill>
                <a:schemeClr val="tx1"/>
              </a:solidFill>
              <a:latin typeface="Arial" panose="020B0604020202020204" pitchFamily="34" charset="0"/>
              <a:cs typeface="Arial" panose="020B0604020202020204" pitchFamily="34" charset="0"/>
            </a:endParaRPr>
          </a:p>
        </p:txBody>
      </p:sp>
      <p:sp>
        <p:nvSpPr>
          <p:cNvPr id="11" name="10 Rectángulo"/>
          <p:cNvSpPr/>
          <p:nvPr/>
        </p:nvSpPr>
        <p:spPr>
          <a:xfrm>
            <a:off x="3203849" y="2850345"/>
            <a:ext cx="5482952" cy="108271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When saving,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these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fields are automatically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filled in:</a:t>
            </a:r>
          </a:p>
          <a:p>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Paid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by</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customer</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summation of the incomes of all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years</a:t>
            </a:r>
          </a:p>
          <a:p>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Budget </a:t>
            </a:r>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Approved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 summation of the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expenses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of all years </a:t>
            </a:r>
            <a:endPar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Target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applies a formula depending on the type of cost: hours, tooling, investment</a:t>
            </a:r>
            <a:endParaRPr lang="es-ES" sz="1000" dirty="0">
              <a:solidFill>
                <a:schemeClr val="tx1"/>
              </a:solidFill>
              <a:latin typeface="Arial" panose="020B0604020202020204" pitchFamily="34" charset="0"/>
              <a:cs typeface="Arial" panose="020B0604020202020204" pitchFamily="34" charset="0"/>
            </a:endParaRPr>
          </a:p>
        </p:txBody>
      </p:sp>
      <p:pic>
        <p:nvPicPr>
          <p:cNvPr id="1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844823"/>
            <a:ext cx="2088232" cy="1340593"/>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3" name="12 Llamada rectangular"/>
          <p:cNvSpPr/>
          <p:nvPr/>
        </p:nvSpPr>
        <p:spPr>
          <a:xfrm>
            <a:off x="1043608" y="3284984"/>
            <a:ext cx="780252" cy="504056"/>
          </a:xfrm>
          <a:prstGeom prst="wedgeRectCallout">
            <a:avLst>
              <a:gd name="adj1" fmla="val -64620"/>
              <a:gd name="adj2" fmla="val -123525"/>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Save</a:t>
            </a:r>
            <a:r>
              <a:rPr lang="es-ES" sz="1000" dirty="0" smtClean="0">
                <a:solidFill>
                  <a:schemeClr val="tx1"/>
                </a:solidFill>
                <a:latin typeface="Arial" panose="020B0604020202020204" pitchFamily="34" charset="0"/>
                <a:cs typeface="Arial" panose="020B0604020202020204" pitchFamily="34" charset="0"/>
              </a:rPr>
              <a:t> data</a:t>
            </a:r>
            <a:endParaRPr lang="es-ES" sz="1000" dirty="0">
              <a:solidFill>
                <a:schemeClr val="tx1"/>
              </a:solidFill>
              <a:latin typeface="Arial" panose="020B0604020202020204" pitchFamily="34" charset="0"/>
              <a:cs typeface="Arial" panose="020B0604020202020204" pitchFamily="34" charset="0"/>
            </a:endParaRPr>
          </a:p>
        </p:txBody>
      </p:sp>
      <p:sp>
        <p:nvSpPr>
          <p:cNvPr id="14" name="13 CuadroTexto"/>
          <p:cNvSpPr txBox="1"/>
          <p:nvPr/>
        </p:nvSpPr>
        <p:spPr>
          <a:xfrm>
            <a:off x="267321" y="980728"/>
            <a:ext cx="7352680" cy="369332"/>
          </a:xfrm>
          <a:prstGeom prst="rect">
            <a:avLst/>
          </a:prstGeom>
          <a:noFill/>
        </p:spPr>
        <p:txBody>
          <a:bodyPr wrap="square" rtlCol="0">
            <a:spAutoFit/>
          </a:bodyPr>
          <a:lstStyle/>
          <a:p>
            <a:r>
              <a:rPr lang="es-ES" b="1" dirty="0">
                <a:solidFill>
                  <a:srgbClr val="254061"/>
                </a:solidFill>
              </a:rPr>
              <a:t>TO CREATE NEW STEPS </a:t>
            </a:r>
            <a:r>
              <a:rPr lang="es-ES" b="1" dirty="0">
                <a:solidFill>
                  <a:srgbClr val="254061"/>
                </a:solidFill>
                <a:sym typeface="Wingdings" panose="05000000000000000000" pitchFamily="2" charset="2"/>
              </a:rPr>
              <a:t>3. </a:t>
            </a:r>
            <a:r>
              <a:rPr lang="es-ES" b="1" dirty="0" smtClean="0">
                <a:solidFill>
                  <a:srgbClr val="254061"/>
                </a:solidFill>
              </a:rPr>
              <a:t>TYPE B: </a:t>
            </a:r>
            <a:r>
              <a:rPr lang="es-ES" b="1" dirty="0">
                <a:solidFill>
                  <a:srgbClr val="254061"/>
                </a:solidFill>
              </a:rPr>
              <a:t>MANUAL </a:t>
            </a:r>
            <a:r>
              <a:rPr lang="es-ES" b="1" dirty="0" smtClean="0">
                <a:solidFill>
                  <a:srgbClr val="254061"/>
                </a:solidFill>
              </a:rPr>
              <a:t>VI</a:t>
            </a:r>
            <a:endParaRPr lang="en-US" b="1" dirty="0">
              <a:solidFill>
                <a:srgbClr val="254061"/>
              </a:solidFill>
            </a:endParaRPr>
          </a:p>
        </p:txBody>
      </p:sp>
    </p:spTree>
    <p:extLst>
      <p:ext uri="{BB962C8B-B14F-4D97-AF65-F5344CB8AC3E}">
        <p14:creationId xmlns:p14="http://schemas.microsoft.com/office/powerpoint/2010/main" val="25411135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17</a:t>
            </a:fld>
            <a:endParaRPr lang="es-E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411" y="2488570"/>
            <a:ext cx="5144666" cy="167165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CuadroTexto"/>
          <p:cNvSpPr txBox="1"/>
          <p:nvPr/>
        </p:nvSpPr>
        <p:spPr>
          <a:xfrm>
            <a:off x="267321" y="980728"/>
            <a:ext cx="8049096" cy="369332"/>
          </a:xfrm>
          <a:prstGeom prst="rect">
            <a:avLst/>
          </a:prstGeom>
          <a:noFill/>
        </p:spPr>
        <p:txBody>
          <a:bodyPr wrap="square" rtlCol="0">
            <a:spAutoFit/>
          </a:bodyPr>
          <a:lstStyle/>
          <a:p>
            <a:r>
              <a:rPr lang="es-ES" b="1" dirty="0">
                <a:solidFill>
                  <a:srgbClr val="254061"/>
                </a:solidFill>
              </a:rPr>
              <a:t>EDIT </a:t>
            </a:r>
            <a:r>
              <a:rPr lang="es-ES" b="1" dirty="0" smtClean="0">
                <a:solidFill>
                  <a:srgbClr val="254061"/>
                </a:solidFill>
              </a:rPr>
              <a:t>REQUEST - PROJECT SHORT NAME</a:t>
            </a:r>
            <a:endParaRPr lang="en-US" b="1" dirty="0">
              <a:solidFill>
                <a:srgbClr val="254061"/>
              </a:solidFill>
            </a:endParaRPr>
          </a:p>
        </p:txBody>
      </p:sp>
      <p:sp>
        <p:nvSpPr>
          <p:cNvPr id="6" name="5 Rectángulo"/>
          <p:cNvSpPr/>
          <p:nvPr/>
        </p:nvSpPr>
        <p:spPr>
          <a:xfrm>
            <a:off x="179512" y="1505611"/>
            <a:ext cx="8424935" cy="650572"/>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The abbreviation of the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project (short name)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is the name that will precede all the steps in XPERT. The limitation of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Xpert</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to name a step is 40 characters in which the code and this abbreviation of the project must be included.</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
        <p:nvSpPr>
          <p:cNvPr id="7" name="6 Rectángulo redondeado"/>
          <p:cNvSpPr/>
          <p:nvPr/>
        </p:nvSpPr>
        <p:spPr>
          <a:xfrm>
            <a:off x="5004048" y="2780928"/>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10</a:t>
            </a:r>
            <a:endParaRPr lang="es-ES" sz="1400" dirty="0">
              <a:solidFill>
                <a:schemeClr val="tx1"/>
              </a:solidFill>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4149080"/>
            <a:ext cx="4280942" cy="1994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8 Llamada rectangular"/>
          <p:cNvSpPr/>
          <p:nvPr/>
        </p:nvSpPr>
        <p:spPr>
          <a:xfrm>
            <a:off x="5767917" y="2405097"/>
            <a:ext cx="1561538" cy="504056"/>
          </a:xfrm>
          <a:prstGeom prst="wedgeRectCallout">
            <a:avLst>
              <a:gd name="adj1" fmla="val -57167"/>
              <a:gd name="adj2" fmla="val 4304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a:solidFill>
                  <a:schemeClr val="tx1"/>
                </a:solidFill>
                <a:latin typeface="Arial" panose="020B0604020202020204" pitchFamily="34" charset="0"/>
                <a:cs typeface="Arial" panose="020B0604020202020204" pitchFamily="34" charset="0"/>
              </a:rPr>
              <a:t>Edit</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project</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abbreviation</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16250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18</a:t>
            </a:fld>
            <a:endParaRPr lang="es-ES" dirty="0"/>
          </a:p>
        </p:txBody>
      </p:sp>
      <p:sp>
        <p:nvSpPr>
          <p:cNvPr id="4" name="3 CuadroTexto"/>
          <p:cNvSpPr txBox="1"/>
          <p:nvPr/>
        </p:nvSpPr>
        <p:spPr>
          <a:xfrm>
            <a:off x="267321" y="980728"/>
            <a:ext cx="8049096" cy="369332"/>
          </a:xfrm>
          <a:prstGeom prst="rect">
            <a:avLst/>
          </a:prstGeom>
          <a:noFill/>
        </p:spPr>
        <p:txBody>
          <a:bodyPr wrap="square" rtlCol="0">
            <a:spAutoFit/>
          </a:bodyPr>
          <a:lstStyle/>
          <a:p>
            <a:r>
              <a:rPr lang="es-ES" b="1" dirty="0">
                <a:solidFill>
                  <a:srgbClr val="254061"/>
                </a:solidFill>
              </a:rPr>
              <a:t>SENDING TO </a:t>
            </a:r>
            <a:r>
              <a:rPr lang="es-ES" b="1" dirty="0" smtClean="0">
                <a:solidFill>
                  <a:srgbClr val="254061"/>
                </a:solidFill>
              </a:rPr>
              <a:t>VALIDATION (STEPS) - SELECT STEPS</a:t>
            </a:r>
            <a:endParaRPr lang="en-US" b="1" dirty="0">
              <a:solidFill>
                <a:srgbClr val="254061"/>
              </a:solidFill>
            </a:endParaRPr>
          </a:p>
        </p:txBody>
      </p:sp>
      <p:sp>
        <p:nvSpPr>
          <p:cNvPr id="8" name="7 Rectángulo redondeado"/>
          <p:cNvSpPr/>
          <p:nvPr/>
        </p:nvSpPr>
        <p:spPr>
          <a:xfrm>
            <a:off x="464419" y="3592803"/>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11</a:t>
            </a:r>
            <a:endParaRPr lang="es-ES" sz="1400" dirty="0">
              <a:solidFill>
                <a:schemeClr val="tx1"/>
              </a:solidFill>
            </a:endParaRP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43861"/>
            <a:ext cx="7172604" cy="4235252"/>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2771" y="1943861"/>
            <a:ext cx="2001788" cy="278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11 Rectángulo"/>
          <p:cNvSpPr/>
          <p:nvPr/>
        </p:nvSpPr>
        <p:spPr>
          <a:xfrm>
            <a:off x="1331641" y="4221088"/>
            <a:ext cx="216024" cy="19309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p:cNvSpPr/>
          <p:nvPr/>
        </p:nvSpPr>
        <p:spPr>
          <a:xfrm>
            <a:off x="1347686" y="3475939"/>
            <a:ext cx="216024" cy="152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Llamada rectangular"/>
          <p:cNvSpPr/>
          <p:nvPr/>
        </p:nvSpPr>
        <p:spPr>
          <a:xfrm>
            <a:off x="2267744" y="3264107"/>
            <a:ext cx="1377390" cy="576064"/>
          </a:xfrm>
          <a:prstGeom prst="wedgeRectCallout">
            <a:avLst>
              <a:gd name="adj1" fmla="val -96910"/>
              <a:gd name="adj2" fmla="val 4610"/>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Select all the steps that are requested in this validation</a:t>
            </a:r>
            <a:endParaRPr lang="es-ES" sz="1000" dirty="0">
              <a:solidFill>
                <a:schemeClr val="tx1"/>
              </a:solidFill>
              <a:latin typeface="Arial" panose="020B0604020202020204" pitchFamily="34" charset="0"/>
              <a:cs typeface="Arial" panose="020B0604020202020204" pitchFamily="34" charset="0"/>
            </a:endParaRPr>
          </a:p>
        </p:txBody>
      </p:sp>
      <p:sp>
        <p:nvSpPr>
          <p:cNvPr id="15" name="14 Rectángulo"/>
          <p:cNvSpPr/>
          <p:nvPr/>
        </p:nvSpPr>
        <p:spPr>
          <a:xfrm>
            <a:off x="1314777" y="2296038"/>
            <a:ext cx="664935" cy="2590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Rectángulo redondeado"/>
          <p:cNvSpPr/>
          <p:nvPr/>
        </p:nvSpPr>
        <p:spPr>
          <a:xfrm>
            <a:off x="1979360" y="2550990"/>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12</a:t>
            </a:r>
            <a:endParaRPr lang="es-ES" sz="1400" dirty="0">
              <a:solidFill>
                <a:schemeClr val="tx1"/>
              </a:solidFill>
            </a:endParaRPr>
          </a:p>
        </p:txBody>
      </p:sp>
      <p:sp>
        <p:nvSpPr>
          <p:cNvPr id="17" name="16 Llamada rectangular"/>
          <p:cNvSpPr/>
          <p:nvPr/>
        </p:nvSpPr>
        <p:spPr>
          <a:xfrm>
            <a:off x="3232046" y="2531435"/>
            <a:ext cx="1239747" cy="312642"/>
          </a:xfrm>
          <a:prstGeom prst="wedgeRectCallout">
            <a:avLst>
              <a:gd name="adj1" fmla="val -115985"/>
              <a:gd name="adj2" fmla="val 8972"/>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Send</a:t>
            </a:r>
            <a:r>
              <a:rPr lang="es-ES" sz="1000" dirty="0" smtClean="0">
                <a:solidFill>
                  <a:schemeClr val="tx1"/>
                </a:solidFill>
                <a:latin typeface="Arial" panose="020B0604020202020204" pitchFamily="34" charset="0"/>
                <a:cs typeface="Arial" panose="020B0604020202020204" pitchFamily="34" charset="0"/>
              </a:rPr>
              <a:t> to </a:t>
            </a:r>
            <a:r>
              <a:rPr lang="es-ES" sz="1000" dirty="0" err="1" smtClean="0">
                <a:solidFill>
                  <a:schemeClr val="tx1"/>
                </a:solidFill>
                <a:latin typeface="Arial" panose="020B0604020202020204" pitchFamily="34" charset="0"/>
                <a:cs typeface="Arial" panose="020B0604020202020204" pitchFamily="34" charset="0"/>
              </a:rPr>
              <a:t>validate</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56869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12"/>
          </p:nvPr>
        </p:nvSpPr>
        <p:spPr/>
        <p:txBody>
          <a:bodyPr/>
          <a:lstStyle/>
          <a:p>
            <a:fld id="{132FADFE-3B8F-471C-ABF0-DBC7717ECBBC}" type="slidenum">
              <a:rPr lang="es-ES" smtClean="0"/>
              <a:pPr/>
              <a:t>19</a:t>
            </a:fld>
            <a:endParaRPr lang="es-E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8209259" cy="390342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CuadroTexto"/>
          <p:cNvSpPr txBox="1"/>
          <p:nvPr/>
        </p:nvSpPr>
        <p:spPr>
          <a:xfrm>
            <a:off x="267321" y="980728"/>
            <a:ext cx="7977088" cy="369332"/>
          </a:xfrm>
          <a:prstGeom prst="rect">
            <a:avLst/>
          </a:prstGeom>
          <a:noFill/>
        </p:spPr>
        <p:txBody>
          <a:bodyPr wrap="square" rtlCol="0">
            <a:spAutoFit/>
          </a:bodyPr>
          <a:lstStyle/>
          <a:p>
            <a:r>
              <a:rPr lang="es-ES" b="1" dirty="0">
                <a:solidFill>
                  <a:srgbClr val="254061"/>
                </a:solidFill>
              </a:rPr>
              <a:t>SENDING TO </a:t>
            </a:r>
            <a:r>
              <a:rPr lang="es-ES" b="1" dirty="0" smtClean="0">
                <a:solidFill>
                  <a:srgbClr val="254061"/>
                </a:solidFill>
              </a:rPr>
              <a:t>VALIDATION (STEPS) - STEPS VALIDATION SENDING PAGE - I</a:t>
            </a:r>
            <a:endParaRPr lang="en-US" b="1" dirty="0">
              <a:solidFill>
                <a:srgbClr val="254061"/>
              </a:solidFill>
            </a:endParaRPr>
          </a:p>
        </p:txBody>
      </p:sp>
      <p:sp>
        <p:nvSpPr>
          <p:cNvPr id="6" name="5 Rectángulo redondeado"/>
          <p:cNvSpPr/>
          <p:nvPr/>
        </p:nvSpPr>
        <p:spPr>
          <a:xfrm>
            <a:off x="2908908" y="1969052"/>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13</a:t>
            </a:r>
            <a:endParaRPr lang="es-ES" sz="1400" dirty="0">
              <a:solidFill>
                <a:schemeClr val="tx1"/>
              </a:solidFill>
            </a:endParaRPr>
          </a:p>
        </p:txBody>
      </p:sp>
      <p:sp>
        <p:nvSpPr>
          <p:cNvPr id="7" name="6 Llamada rectangular"/>
          <p:cNvSpPr/>
          <p:nvPr/>
        </p:nvSpPr>
        <p:spPr>
          <a:xfrm>
            <a:off x="4139952" y="1556792"/>
            <a:ext cx="3240360" cy="864096"/>
          </a:xfrm>
          <a:prstGeom prst="wedgeRectCallout">
            <a:avLst>
              <a:gd name="adj1" fmla="val -73971"/>
              <a:gd name="adj2" fmla="val 16453"/>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Fields</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to</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fill</a:t>
            </a:r>
            <a:r>
              <a:rPr lang="es-ES" sz="1000" dirty="0">
                <a:solidFill>
                  <a:schemeClr val="tx1"/>
                </a:solidFill>
                <a:latin typeface="Arial" panose="020B0604020202020204" pitchFamily="34" charset="0"/>
                <a:cs typeface="Arial" panose="020B0604020202020204" pitchFamily="34" charset="0"/>
              </a:rPr>
              <a:t>:</a:t>
            </a:r>
            <a:endParaRPr lang="es-ES" sz="1000" dirty="0" smtClean="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dirty="0" smtClean="0">
                <a:solidFill>
                  <a:schemeClr val="tx1"/>
                </a:solidFill>
                <a:latin typeface="Arial" panose="020B0604020202020204" pitchFamily="34" charset="0"/>
                <a:cs typeface="Arial" panose="020B0604020202020204" pitchFamily="34" charset="0"/>
              </a:rPr>
              <a:t>Budget </a:t>
            </a:r>
            <a:r>
              <a:rPr lang="es-ES" sz="1000" dirty="0" err="1" smtClean="0">
                <a:solidFill>
                  <a:schemeClr val="tx1"/>
                </a:solidFill>
                <a:latin typeface="Arial" panose="020B0604020202020204" pitchFamily="34" charset="0"/>
                <a:cs typeface="Arial" panose="020B0604020202020204" pitchFamily="34" charset="0"/>
              </a:rPr>
              <a:t>Denomination</a:t>
            </a:r>
            <a:endParaRPr lang="es-ES" sz="1000" dirty="0" smtClean="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dirty="0" smtClean="0">
                <a:solidFill>
                  <a:schemeClr val="tx1"/>
                </a:solidFill>
                <a:latin typeface="Arial" panose="020B0604020202020204" pitchFamily="34" charset="0"/>
                <a:cs typeface="Arial" panose="020B0604020202020204" pitchFamily="34" charset="0"/>
              </a:rPr>
              <a:t>Budget </a:t>
            </a:r>
            <a:r>
              <a:rPr lang="es-ES" sz="1000" dirty="0" err="1" smtClean="0">
                <a:solidFill>
                  <a:schemeClr val="tx1"/>
                </a:solidFill>
                <a:latin typeface="Arial" panose="020B0604020202020204" pitchFamily="34" charset="0"/>
                <a:cs typeface="Arial" panose="020B0604020202020204" pitchFamily="34" charset="0"/>
              </a:rPr>
              <a:t>Description</a:t>
            </a:r>
            <a:endParaRPr lang="es-ES" sz="1000" dirty="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dirty="0">
                <a:solidFill>
                  <a:schemeClr val="tx1"/>
                </a:solidFill>
                <a:latin typeface="Arial" panose="020B0604020202020204" pitchFamily="34" charset="0"/>
                <a:cs typeface="Arial" panose="020B0604020202020204" pitchFamily="34" charset="0"/>
              </a:rPr>
              <a:t>General </a:t>
            </a:r>
            <a:r>
              <a:rPr lang="es-ES" sz="1000" dirty="0" err="1">
                <a:solidFill>
                  <a:schemeClr val="tx1"/>
                </a:solidFill>
                <a:latin typeface="Arial" panose="020B0604020202020204" pitchFamily="34" charset="0"/>
                <a:cs typeface="Arial" panose="020B0604020202020204" pitchFamily="34" charset="0"/>
              </a:rPr>
              <a:t>Info</a:t>
            </a:r>
            <a:r>
              <a:rPr lang="es-ES" sz="1000" dirty="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a:t>
            </a:r>
            <a:r>
              <a:rPr lang="es-ES" sz="1000" dirty="0" err="1" smtClean="0">
                <a:solidFill>
                  <a:schemeClr val="tx1"/>
                </a:solidFill>
                <a:latin typeface="Arial" panose="020B0604020202020204" pitchFamily="34" charset="0"/>
                <a:cs typeface="Arial" panose="020B0604020202020204" pitchFamily="34" charset="0"/>
              </a:rPr>
              <a:t>only</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for</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industrialization</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or</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modification</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projects</a:t>
            </a:r>
            <a:r>
              <a:rPr lang="es-ES" sz="1000" dirty="0" smtClean="0">
                <a:solidFill>
                  <a:schemeClr val="tx1"/>
                </a:solidFill>
                <a:latin typeface="Arial" panose="020B0604020202020204" pitchFamily="34" charset="0"/>
                <a:cs typeface="Arial" panose="020B0604020202020204" pitchFamily="34" charset="0"/>
              </a:rPr>
              <a:t>)</a:t>
            </a:r>
          </a:p>
        </p:txBody>
      </p:sp>
      <p:sp>
        <p:nvSpPr>
          <p:cNvPr id="10" name="9 Rectángulo"/>
          <p:cNvSpPr/>
          <p:nvPr/>
        </p:nvSpPr>
        <p:spPr>
          <a:xfrm>
            <a:off x="267320" y="3720122"/>
            <a:ext cx="1640384" cy="1653094"/>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Summary</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of Budget: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Amount requested per cost group and its margin</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
        <p:nvSpPr>
          <p:cNvPr id="11" name="10 Rectángulo"/>
          <p:cNvSpPr/>
          <p:nvPr/>
        </p:nvSpPr>
        <p:spPr>
          <a:xfrm>
            <a:off x="2483768" y="2762480"/>
            <a:ext cx="5400600" cy="39720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Included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in Management plan</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The field is filled in automatically depending on whether or not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project has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a planning with the label PG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CURRENT YEAR in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the </a:t>
            </a:r>
            <a:r>
              <a:rPr lang="en-US" sz="1000"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tImecards</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app</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891426"/>
            <a:ext cx="1800200" cy="152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12 Rectángulo"/>
          <p:cNvSpPr/>
          <p:nvPr/>
        </p:nvSpPr>
        <p:spPr>
          <a:xfrm>
            <a:off x="622057" y="5661248"/>
            <a:ext cx="7900232" cy="94460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Denomination</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Label or name with which this request will be saved (the name of the project should not be </a:t>
            </a:r>
            <a:r>
              <a:rPr lang="en-US" sz="1000" dirty="0" smtClean="0">
                <a:solidFill>
                  <a:schemeClr val="tx1"/>
                </a:solidFill>
                <a:latin typeface="Arial" panose="020B0604020202020204" pitchFamily="34" charset="0"/>
                <a:cs typeface="Arial" panose="020B0604020202020204" pitchFamily="34" charset="0"/>
              </a:rPr>
              <a:t>included)</a:t>
            </a:r>
          </a:p>
          <a:p>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Description</a:t>
            </a:r>
            <a:r>
              <a:rPr lang="es-ES" sz="1000" b="1" dirty="0" smtClean="0">
                <a:solidFill>
                  <a:schemeClr val="tx1"/>
                </a:solidFill>
                <a:latin typeface="Arial" panose="020B0604020202020204" pitchFamily="34" charset="0"/>
                <a:cs typeface="Arial" panose="020B0604020202020204" pitchFamily="34" charset="0"/>
              </a:rPr>
              <a:t>: </a:t>
            </a:r>
            <a:r>
              <a:rPr lang="en-US" sz="1000" dirty="0" smtClean="0">
                <a:solidFill>
                  <a:schemeClr val="tx1"/>
                </a:solidFill>
                <a:latin typeface="Arial" panose="020B0604020202020204" pitchFamily="34" charset="0"/>
                <a:cs typeface="Arial" panose="020B0604020202020204" pitchFamily="34" charset="0"/>
              </a:rPr>
              <a:t>In industrialization projects it is used to explain the deviations of the economic concepts collected in General info table of the previous validation (if it is the first validation, it would be the Awarding offer) </a:t>
            </a:r>
            <a:r>
              <a:rPr lang="es-ES" sz="1000" dirty="0" smtClean="0">
                <a:solidFill>
                  <a:schemeClr val="tx1"/>
                </a:solidFill>
                <a:latin typeface="Arial" panose="020B0604020202020204" pitchFamily="34" charset="0"/>
                <a:cs typeface="Arial" panose="020B0604020202020204" pitchFamily="34" charset="0"/>
              </a:rPr>
              <a:t>and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current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request</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In the other </a:t>
            </a:r>
            <a:r>
              <a:rPr lang="en-US" sz="1000" dirty="0" smtClean="0">
                <a:solidFill>
                  <a:schemeClr val="tx1"/>
                </a:solidFill>
                <a:latin typeface="Arial" panose="020B0604020202020204" pitchFamily="34" charset="0"/>
                <a:cs typeface="Arial" panose="020B0604020202020204" pitchFamily="34" charset="0"/>
              </a:rPr>
              <a:t>types of projects it is used to describe projects.</a:t>
            </a: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pic>
        <p:nvPicPr>
          <p:cNvPr id="14" name="Imagen 13"/>
          <p:cNvPicPr>
            <a:picLocks noChangeAspect="1"/>
          </p:cNvPicPr>
          <p:nvPr/>
        </p:nvPicPr>
        <p:blipFill>
          <a:blip r:embed="rId4"/>
          <a:stretch>
            <a:fillRect/>
          </a:stretch>
        </p:blipFill>
        <p:spPr>
          <a:xfrm>
            <a:off x="6285504" y="3563971"/>
            <a:ext cx="535392" cy="169428"/>
          </a:xfrm>
          <a:prstGeom prst="rect">
            <a:avLst/>
          </a:prstGeom>
        </p:spPr>
      </p:pic>
      <p:sp>
        <p:nvSpPr>
          <p:cNvPr id="15" name="12 Llamada rectangular"/>
          <p:cNvSpPr/>
          <p:nvPr/>
        </p:nvSpPr>
        <p:spPr>
          <a:xfrm>
            <a:off x="6724472" y="4114670"/>
            <a:ext cx="1519936" cy="970514"/>
          </a:xfrm>
          <a:prstGeom prst="wedgeRectCallout">
            <a:avLst>
              <a:gd name="adj1" fmla="val -46572"/>
              <a:gd name="adj2" fmla="val -90549"/>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Put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the mouse over new quantity in order to see how much has been already validated</a:t>
            </a:r>
            <a:endParaRPr lang="es-ES" sz="1000" i="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3882695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p:cNvPicPr>
            <a:picLocks noChangeAspect="1"/>
          </p:cNvPicPr>
          <p:nvPr/>
        </p:nvPicPr>
        <p:blipFill>
          <a:blip r:embed="rId2"/>
          <a:stretch>
            <a:fillRect/>
          </a:stretch>
        </p:blipFill>
        <p:spPr>
          <a:xfrm>
            <a:off x="2183674" y="5011492"/>
            <a:ext cx="5916719" cy="1824281"/>
          </a:xfrm>
          <a:prstGeom prst="rect">
            <a:avLst/>
          </a:prstGeom>
        </p:spPr>
      </p:pic>
      <p:sp>
        <p:nvSpPr>
          <p:cNvPr id="2" name="1 Marcador de número de diapositiva"/>
          <p:cNvSpPr>
            <a:spLocks noGrp="1"/>
          </p:cNvSpPr>
          <p:nvPr>
            <p:ph type="sldNum" sz="quarter" idx="12"/>
          </p:nvPr>
        </p:nvSpPr>
        <p:spPr/>
        <p:txBody>
          <a:bodyPr/>
          <a:lstStyle/>
          <a:p>
            <a:fld id="{6C159591-2568-4DE8-9BFD-2ABD54E1DEC4}" type="slidenum">
              <a:rPr lang="es-ES" smtClean="0"/>
              <a:pPr/>
              <a:t>20</a:t>
            </a:fld>
            <a:endParaRPr lang="es-ES" dirty="0"/>
          </a:p>
        </p:txBody>
      </p:sp>
      <p:sp>
        <p:nvSpPr>
          <p:cNvPr id="5" name="4 Rectángulo"/>
          <p:cNvSpPr/>
          <p:nvPr/>
        </p:nvSpPr>
        <p:spPr>
          <a:xfrm>
            <a:off x="0" y="1464034"/>
            <a:ext cx="9108504" cy="50405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General </a:t>
            </a:r>
            <a:r>
              <a:rPr lang="es-ES" sz="1000" b="1" dirty="0" err="1" smtClean="0">
                <a:solidFill>
                  <a:schemeClr val="tx1"/>
                </a:solidFill>
                <a:latin typeface="Arial" panose="020B0604020202020204" pitchFamily="34" charset="0"/>
                <a:cs typeface="Arial" panose="020B0604020202020204" pitchFamily="34" charset="0"/>
              </a:rPr>
              <a:t>Info</a:t>
            </a:r>
            <a:r>
              <a:rPr lang="es-ES" sz="1000" b="1" dirty="0" smtClean="0">
                <a:solidFill>
                  <a:schemeClr val="tx1"/>
                </a:solidFill>
                <a:latin typeface="Arial" panose="020B0604020202020204" pitchFamily="34" charset="0"/>
                <a:cs typeface="Arial" panose="020B0604020202020204" pitchFamily="34" charset="0"/>
              </a:rPr>
              <a:t>: “</a:t>
            </a:r>
            <a:r>
              <a:rPr lang="en-US" sz="1000" dirty="0" smtClean="0">
                <a:solidFill>
                  <a:schemeClr val="tx1"/>
                </a:solidFill>
                <a:latin typeface="Arial" panose="020B0604020202020204" pitchFamily="34" charset="0"/>
                <a:cs typeface="Arial" panose="020B0604020202020204" pitchFamily="34" charset="0"/>
              </a:rPr>
              <a:t>Awarding offer” and “Current” columns must be filled in</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In the </a:t>
            </a:r>
            <a:r>
              <a:rPr lang="en-US" sz="1000" dirty="0" smtClean="0">
                <a:solidFill>
                  <a:schemeClr val="tx1"/>
                </a:solidFill>
                <a:latin typeface="Arial" panose="020B0604020202020204" pitchFamily="34" charset="0"/>
                <a:cs typeface="Arial" panose="020B0604020202020204" pitchFamily="34" charset="0"/>
              </a:rPr>
              <a:t>next sending to validation you </a:t>
            </a:r>
            <a:r>
              <a:rPr lang="en-US" sz="1000" dirty="0">
                <a:solidFill>
                  <a:schemeClr val="tx1"/>
                </a:solidFill>
                <a:latin typeface="Arial" panose="020B0604020202020204" pitchFamily="34" charset="0"/>
                <a:cs typeface="Arial" panose="020B0604020202020204" pitchFamily="34" charset="0"/>
              </a:rPr>
              <a:t>only have to fill in </a:t>
            </a:r>
            <a:r>
              <a:rPr lang="en-US" sz="1000" dirty="0" smtClean="0">
                <a:solidFill>
                  <a:schemeClr val="tx1"/>
                </a:solidFill>
                <a:latin typeface="Arial" panose="020B0604020202020204" pitchFamily="34" charset="0"/>
                <a:cs typeface="Arial" panose="020B0604020202020204" pitchFamily="34" charset="0"/>
              </a:rPr>
              <a:t>one column</a:t>
            </a:r>
            <a:r>
              <a:rPr lang="en-US" sz="1000" dirty="0">
                <a:solidFill>
                  <a:schemeClr val="tx1"/>
                </a:solidFill>
                <a:latin typeface="Arial" panose="020B0604020202020204" pitchFamily="34" charset="0"/>
                <a:cs typeface="Arial" panose="020B0604020202020204" pitchFamily="34" charset="0"/>
              </a:rPr>
              <a:t>, the "Current", but in the first </a:t>
            </a:r>
            <a:r>
              <a:rPr lang="en-US" sz="1000" dirty="0" smtClean="0">
                <a:solidFill>
                  <a:schemeClr val="tx1"/>
                </a:solidFill>
                <a:latin typeface="Arial" panose="020B0604020202020204" pitchFamily="34" charset="0"/>
                <a:cs typeface="Arial" panose="020B0604020202020204" pitchFamily="34" charset="0"/>
              </a:rPr>
              <a:t>one you must fill in </a:t>
            </a:r>
            <a:r>
              <a:rPr lang="en-US" sz="1000" dirty="0">
                <a:solidFill>
                  <a:schemeClr val="tx1"/>
                </a:solidFill>
                <a:latin typeface="Arial" panose="020B0604020202020204" pitchFamily="34" charset="0"/>
                <a:cs typeface="Arial" panose="020B0604020202020204" pitchFamily="34" charset="0"/>
              </a:rPr>
              <a:t>both</a:t>
            </a:r>
            <a:r>
              <a:rPr lang="en-US" sz="1000" dirty="0" smtClean="0">
                <a:solidFill>
                  <a:schemeClr val="tx1"/>
                </a:solidFill>
                <a:latin typeface="Arial" panose="020B0604020202020204" pitchFamily="34" charset="0"/>
                <a:cs typeface="Arial" panose="020B0604020202020204" pitchFamily="34" charset="0"/>
              </a:rPr>
              <a:t>.</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6" name="5 CuadroTexto"/>
          <p:cNvSpPr txBox="1"/>
          <p:nvPr/>
        </p:nvSpPr>
        <p:spPr>
          <a:xfrm>
            <a:off x="267321" y="980728"/>
            <a:ext cx="7833072" cy="369332"/>
          </a:xfrm>
          <a:prstGeom prst="rect">
            <a:avLst/>
          </a:prstGeom>
          <a:noFill/>
        </p:spPr>
        <p:txBody>
          <a:bodyPr wrap="square" rtlCol="0">
            <a:spAutoFit/>
          </a:bodyPr>
          <a:lstStyle/>
          <a:p>
            <a:r>
              <a:rPr lang="es-ES" b="1" dirty="0">
                <a:solidFill>
                  <a:srgbClr val="254061"/>
                </a:solidFill>
              </a:rPr>
              <a:t>SENDING TO </a:t>
            </a:r>
            <a:r>
              <a:rPr lang="es-ES" b="1" dirty="0" smtClean="0">
                <a:solidFill>
                  <a:srgbClr val="254061"/>
                </a:solidFill>
              </a:rPr>
              <a:t>VALIDATION (STEPS) - STEPS VALIDATION SENDING PAGE - II</a:t>
            </a:r>
            <a:endParaRPr lang="en-US" b="1" dirty="0">
              <a:solidFill>
                <a:srgbClr val="254061"/>
              </a:solidFill>
            </a:endParaRPr>
          </a:p>
        </p:txBody>
      </p:sp>
      <p:sp>
        <p:nvSpPr>
          <p:cNvPr id="9" name="8 Rectángulo"/>
          <p:cNvSpPr/>
          <p:nvPr/>
        </p:nvSpPr>
        <p:spPr>
          <a:xfrm>
            <a:off x="8444" y="5227515"/>
            <a:ext cx="3483436" cy="149396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STEPS TO VALIDATE: </a:t>
            </a:r>
            <a:r>
              <a:rPr lang="es-ES" sz="1000" dirty="0" err="1" smtClean="0">
                <a:solidFill>
                  <a:schemeClr val="tx1"/>
                </a:solidFill>
                <a:latin typeface="Arial" panose="020B0604020202020204" pitchFamily="34" charset="0"/>
                <a:cs typeface="Arial" panose="020B0604020202020204" pitchFamily="34" charset="0"/>
              </a:rPr>
              <a:t>Those</a:t>
            </a:r>
            <a:r>
              <a:rPr lang="es-ES" sz="1000" dirty="0" smtClean="0">
                <a:solidFill>
                  <a:schemeClr val="tx1"/>
                </a:solidFill>
                <a:latin typeface="Arial" panose="020B0604020202020204" pitchFamily="34" charset="0"/>
                <a:cs typeface="Arial" panose="020B0604020202020204" pitchFamily="34" charset="0"/>
              </a:rPr>
              <a:t> are </a:t>
            </a:r>
            <a:r>
              <a:rPr lang="en-US" sz="1000" dirty="0">
                <a:solidFill>
                  <a:schemeClr val="tx1"/>
                </a:solidFill>
                <a:latin typeface="Arial" panose="020B0604020202020204" pitchFamily="34" charset="0"/>
                <a:cs typeface="Arial" panose="020B0604020202020204" pitchFamily="34" charset="0"/>
              </a:rPr>
              <a:t>a</a:t>
            </a:r>
            <a:r>
              <a:rPr lang="en-US" sz="1000" dirty="0" smtClean="0">
                <a:solidFill>
                  <a:schemeClr val="tx1"/>
                </a:solidFill>
                <a:latin typeface="Arial" panose="020B0604020202020204" pitchFamily="34" charset="0"/>
                <a:cs typeface="Arial" panose="020B0604020202020204" pitchFamily="34" charset="0"/>
              </a:rPr>
              <a:t>ll the steps requested in this validation</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The Name </a:t>
            </a:r>
            <a:r>
              <a:rPr lang="en-US" sz="1000" dirty="0" smtClean="0">
                <a:solidFill>
                  <a:schemeClr val="tx1"/>
                </a:solidFill>
                <a:latin typeface="Arial" panose="020B0604020202020204" pitchFamily="34" charset="0"/>
                <a:cs typeface="Arial" panose="020B0604020202020204" pitchFamily="34" charset="0"/>
              </a:rPr>
              <a:t>column will be the name given in </a:t>
            </a:r>
            <a:r>
              <a:rPr lang="en-US" sz="1000" dirty="0" err="1" smtClean="0">
                <a:solidFill>
                  <a:schemeClr val="tx1"/>
                </a:solidFill>
                <a:latin typeface="Arial" panose="020B0604020202020204" pitchFamily="34" charset="0"/>
                <a:cs typeface="Arial" panose="020B0604020202020204" pitchFamily="34" charset="0"/>
              </a:rPr>
              <a:t>Xpert</a:t>
            </a:r>
            <a:r>
              <a:rPr lang="en-US" sz="1000" dirty="0" smtClean="0">
                <a:solidFill>
                  <a:schemeClr val="tx1"/>
                </a:solidFill>
                <a:latin typeface="Arial" panose="020B0604020202020204" pitchFamily="34" charset="0"/>
                <a:cs typeface="Arial" panose="020B0604020202020204" pitchFamily="34" charset="0"/>
              </a:rPr>
              <a:t> application </a:t>
            </a:r>
            <a:r>
              <a:rPr lang="en-US" sz="1000" dirty="0">
                <a:solidFill>
                  <a:schemeClr val="tx1"/>
                </a:solidFill>
                <a:latin typeface="Arial" panose="020B0604020202020204" pitchFamily="34" charset="0"/>
                <a:cs typeface="Arial" panose="020B0604020202020204" pitchFamily="34" charset="0"/>
              </a:rPr>
              <a:t>(preceded by code and project abbreviation). If the name given to the step in the "Edit cost carrier" table </a:t>
            </a:r>
            <a:r>
              <a:rPr lang="en-US" sz="1000" dirty="0" smtClean="0">
                <a:solidFill>
                  <a:schemeClr val="tx1"/>
                </a:solidFill>
                <a:latin typeface="Arial" panose="020B0604020202020204" pitchFamily="34" charset="0"/>
                <a:cs typeface="Arial" panose="020B0604020202020204" pitchFamily="34" charset="0"/>
              </a:rPr>
              <a:t>is too long</a:t>
            </a:r>
            <a:r>
              <a:rPr lang="en-US" sz="1000" dirty="0">
                <a:solidFill>
                  <a:schemeClr val="tx1"/>
                </a:solidFill>
                <a:latin typeface="Arial" panose="020B0604020202020204" pitchFamily="34" charset="0"/>
                <a:cs typeface="Arial" panose="020B0604020202020204" pitchFamily="34" charset="0"/>
              </a:rPr>
              <a:t>, </a:t>
            </a:r>
            <a:r>
              <a:rPr lang="en-US" sz="1000" dirty="0">
                <a:solidFill>
                  <a:srgbClr val="000000"/>
                </a:solidFill>
                <a:latin typeface="Roboto"/>
              </a:rPr>
              <a:t>here it is shortened automatically</a:t>
            </a:r>
            <a:r>
              <a:rPr lang="en-US" sz="1000" dirty="0" smtClean="0">
                <a:solidFill>
                  <a:schemeClr val="tx1"/>
                </a:solidFill>
                <a:latin typeface="Arial" panose="020B0604020202020204" pitchFamily="34" charset="0"/>
                <a:cs typeface="Arial" panose="020B0604020202020204" pitchFamily="34" charset="0"/>
              </a:rPr>
              <a:t>. Name column must be edited if </a:t>
            </a:r>
            <a:r>
              <a:rPr lang="en-US" sz="1000" dirty="0">
                <a:solidFill>
                  <a:schemeClr val="tx1"/>
                </a:solidFill>
                <a:latin typeface="Arial" panose="020B0604020202020204" pitchFamily="34" charset="0"/>
                <a:cs typeface="Arial" panose="020B0604020202020204" pitchFamily="34" charset="0"/>
              </a:rPr>
              <a:t>the concept is not </a:t>
            </a:r>
            <a:r>
              <a:rPr lang="en-US" sz="1000" dirty="0" smtClean="0">
                <a:solidFill>
                  <a:schemeClr val="tx1"/>
                </a:solidFill>
                <a:latin typeface="Arial" panose="020B0604020202020204" pitchFamily="34" charset="0"/>
                <a:cs typeface="Arial" panose="020B0604020202020204" pitchFamily="34" charset="0"/>
              </a:rPr>
              <a:t>well understood after automatic shorting.</a:t>
            </a:r>
            <a:r>
              <a:rPr lang="es-ES" sz="1000" dirty="0" smtClean="0">
                <a:solidFill>
                  <a:schemeClr val="tx1"/>
                </a:solidFill>
                <a:latin typeface="Arial" panose="020B0604020202020204" pitchFamily="34" charset="0"/>
                <a:cs typeface="Arial" panose="020B0604020202020204" pitchFamily="34" charset="0"/>
              </a:rPr>
              <a:t> </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13" name="11 Rectángulo"/>
          <p:cNvSpPr/>
          <p:nvPr/>
        </p:nvSpPr>
        <p:spPr>
          <a:xfrm>
            <a:off x="8444" y="1844824"/>
            <a:ext cx="2889684" cy="1359768"/>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b="1" dirty="0" smtClean="0">
                <a:solidFill>
                  <a:schemeClr val="tx1"/>
                </a:solidFill>
                <a:latin typeface="Arial" panose="020B0604020202020204" pitchFamily="34" charset="0"/>
                <a:cs typeface="Arial" panose="020B0604020202020204" pitchFamily="34" charset="0"/>
              </a:rPr>
              <a:t>General Info fields for Industrialization: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Net margin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ales (Total project)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property tooling benefit%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plants</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Series years</a:t>
            </a:r>
            <a:endPar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4" name="10 Rectángulo"/>
          <p:cNvSpPr/>
          <p:nvPr/>
        </p:nvSpPr>
        <p:spPr>
          <a:xfrm>
            <a:off x="2898128" y="1844824"/>
            <a:ext cx="6084168" cy="1800200"/>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General </a:t>
            </a:r>
            <a:r>
              <a:rPr lang="es-ES" sz="1000" b="1" dirty="0" err="1" smtClean="0">
                <a:solidFill>
                  <a:schemeClr val="tx1"/>
                </a:solidFill>
                <a:latin typeface="Arial" panose="020B0604020202020204" pitchFamily="34" charset="0"/>
                <a:cs typeface="Arial" panose="020B0604020202020204" pitchFamily="34" charset="0"/>
              </a:rPr>
              <a:t>Info</a:t>
            </a:r>
            <a:r>
              <a:rPr lang="es-ES" sz="1000" b="1" dirty="0" smtClean="0">
                <a:solidFill>
                  <a:schemeClr val="tx1"/>
                </a:solidFill>
                <a:latin typeface="Arial" panose="020B0604020202020204" pitchFamily="34" charset="0"/>
                <a:cs typeface="Arial" panose="020B0604020202020204" pitchFamily="34" charset="0"/>
              </a:rPr>
              <a:t> </a:t>
            </a:r>
            <a:r>
              <a:rPr lang="es-ES" sz="1000" b="1" dirty="0" err="1" smtClean="0">
                <a:solidFill>
                  <a:schemeClr val="tx1"/>
                </a:solidFill>
                <a:latin typeface="Arial" panose="020B0604020202020204" pitchFamily="34" charset="0"/>
                <a:cs typeface="Arial" panose="020B0604020202020204" pitchFamily="34" charset="0"/>
              </a:rPr>
              <a:t>fields</a:t>
            </a:r>
            <a:r>
              <a:rPr lang="es-ES" sz="1000" b="1" dirty="0" smtClean="0">
                <a:solidFill>
                  <a:schemeClr val="tx1"/>
                </a:solidFill>
                <a:latin typeface="Arial" panose="020B0604020202020204" pitchFamily="34" charset="0"/>
                <a:cs typeface="Arial" panose="020B0604020202020204" pitchFamily="34" charset="0"/>
              </a:rPr>
              <a:t> </a:t>
            </a:r>
            <a:r>
              <a:rPr lang="es-ES" sz="1000" b="1" dirty="0" err="1" smtClean="0">
                <a:solidFill>
                  <a:schemeClr val="tx1"/>
                </a:solidFill>
                <a:latin typeface="Arial" panose="020B0604020202020204" pitchFamily="34" charset="0"/>
                <a:cs typeface="Arial" panose="020B0604020202020204" pitchFamily="34" charset="0"/>
              </a:rPr>
              <a:t>for</a:t>
            </a:r>
            <a:r>
              <a:rPr lang="es-ES" sz="1000" b="1" dirty="0" smtClean="0">
                <a:solidFill>
                  <a:schemeClr val="tx1"/>
                </a:solidFill>
                <a:latin typeface="Arial" panose="020B0604020202020204" pitchFamily="34" charset="0"/>
                <a:cs typeface="Arial" panose="020B0604020202020204" pitchFamily="34" charset="0"/>
              </a:rPr>
              <a:t> ECO: </a:t>
            </a:r>
            <a:endParaRPr lang="es-ES" sz="10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Δ Piece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price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b</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enefit %,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F</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ormula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1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Δ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Costs/Δ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a:t>
            </a:r>
          </a:p>
          <a:p>
            <a:pPr lvl="1"/>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Where	Δ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Costs:  ΔCosts_PN1*Total Volume_PN1 + ΔCosts_PN2*Total Volume_PN2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pPr lvl="1"/>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Sales: Δ Sale price_PN1*Total Volume_PN1 +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Sale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price_PN2*Total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Volume_PN2+…</a:t>
            </a:r>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 (Total project)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property tooling benefit %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Series y</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ears</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pic>
        <p:nvPicPr>
          <p:cNvPr id="15" name="Imagen 14"/>
          <p:cNvPicPr>
            <a:picLocks noChangeAspect="1"/>
          </p:cNvPicPr>
          <p:nvPr/>
        </p:nvPicPr>
        <p:blipFill>
          <a:blip r:embed="rId3"/>
          <a:stretch>
            <a:fillRect/>
          </a:stretch>
        </p:blipFill>
        <p:spPr>
          <a:xfrm>
            <a:off x="3647690" y="3441113"/>
            <a:ext cx="4956758" cy="1570379"/>
          </a:xfrm>
          <a:prstGeom prst="rect">
            <a:avLst/>
          </a:prstGeom>
        </p:spPr>
      </p:pic>
      <p:sp>
        <p:nvSpPr>
          <p:cNvPr id="16" name="7 Llamada rectangular"/>
          <p:cNvSpPr/>
          <p:nvPr/>
        </p:nvSpPr>
        <p:spPr>
          <a:xfrm>
            <a:off x="4139952" y="5484304"/>
            <a:ext cx="1872208" cy="684076"/>
          </a:xfrm>
          <a:prstGeom prst="wedgeRectCallout">
            <a:avLst>
              <a:gd name="adj1" fmla="val -40755"/>
              <a:gd name="adj2" fmla="val -6196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000" dirty="0" smtClean="0">
              <a:solidFill>
                <a:schemeClr val="tx1"/>
              </a:solidFill>
              <a:latin typeface="Arial" panose="020B0604020202020204" pitchFamily="34" charset="0"/>
              <a:cs typeface="Arial" panose="020B0604020202020204" pitchFamily="34" charset="0"/>
            </a:endParaRPr>
          </a:p>
          <a:p>
            <a:endParaRPr lang="es-ES" sz="1000" dirty="0">
              <a:solidFill>
                <a:schemeClr val="tx1"/>
              </a:solidFill>
              <a:latin typeface="Arial" panose="020B0604020202020204" pitchFamily="34" charset="0"/>
              <a:cs typeface="Arial" panose="020B0604020202020204" pitchFamily="34" charset="0"/>
            </a:endParaRPr>
          </a:p>
          <a:p>
            <a:r>
              <a:rPr lang="es-ES" sz="1000" dirty="0" smtClean="0">
                <a:solidFill>
                  <a:schemeClr val="tx1"/>
                </a:solidFill>
                <a:latin typeface="Arial" panose="020B0604020202020204" pitchFamily="34" charset="0"/>
                <a:cs typeface="Arial" panose="020B0604020202020204" pitchFamily="34" charset="0"/>
              </a:rPr>
              <a:t>Revise and </a:t>
            </a:r>
            <a:r>
              <a:rPr lang="es-ES" sz="1000" dirty="0" err="1" smtClean="0">
                <a:solidFill>
                  <a:schemeClr val="tx1"/>
                </a:solidFill>
                <a:latin typeface="Arial" panose="020B0604020202020204" pitchFamily="34" charset="0"/>
                <a:cs typeface="Arial" panose="020B0604020202020204" pitchFamily="34" charset="0"/>
              </a:rPr>
              <a:t>modify</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name</a:t>
            </a:r>
            <a:r>
              <a:rPr lang="es-ES" sz="1000" dirty="0" smtClean="0">
                <a:solidFill>
                  <a:schemeClr val="tx1"/>
                </a:solidFill>
                <a:latin typeface="Arial" panose="020B0604020202020204" pitchFamily="34" charset="0"/>
                <a:cs typeface="Arial" panose="020B0604020202020204" pitchFamily="34" charset="0"/>
              </a:rPr>
              <a:t> in case of </a:t>
            </a:r>
            <a:r>
              <a:rPr lang="es-ES" sz="1000" dirty="0" err="1" smtClean="0">
                <a:solidFill>
                  <a:schemeClr val="tx1"/>
                </a:solidFill>
                <a:latin typeface="Arial" panose="020B0604020202020204" pitchFamily="34" charset="0"/>
                <a:cs typeface="Arial" panose="020B0604020202020204" pitchFamily="34" charset="0"/>
              </a:rPr>
              <a:t>being</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necessary</a:t>
            </a:r>
            <a:endParaRPr lang="es-ES" sz="1000" dirty="0" smtClean="0">
              <a:solidFill>
                <a:schemeClr val="tx1"/>
              </a:solidFill>
              <a:latin typeface="Arial" panose="020B0604020202020204" pitchFamily="34" charset="0"/>
              <a:cs typeface="Arial" panose="020B0604020202020204" pitchFamily="34" charset="0"/>
            </a:endParaRPr>
          </a:p>
          <a:p>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sp>
        <p:nvSpPr>
          <p:cNvPr id="7" name="6 Rectángulo redondeado"/>
          <p:cNvSpPr/>
          <p:nvPr/>
        </p:nvSpPr>
        <p:spPr>
          <a:xfrm>
            <a:off x="5639030" y="3981069"/>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14</a:t>
            </a:r>
            <a:endParaRPr lang="es-ES" sz="1400" dirty="0">
              <a:solidFill>
                <a:schemeClr val="tx1"/>
              </a:solidFill>
            </a:endParaRPr>
          </a:p>
        </p:txBody>
      </p:sp>
      <p:sp>
        <p:nvSpPr>
          <p:cNvPr id="17" name="14 Rectángulo"/>
          <p:cNvSpPr/>
          <p:nvPr/>
        </p:nvSpPr>
        <p:spPr>
          <a:xfrm>
            <a:off x="2034032" y="4956758"/>
            <a:ext cx="864096" cy="2160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75624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21</a:t>
            </a:fld>
            <a:endParaRPr lang="es-ES"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501008"/>
            <a:ext cx="7158039" cy="285273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556792"/>
            <a:ext cx="2019436" cy="165618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6 CuadroTexto"/>
          <p:cNvSpPr txBox="1"/>
          <p:nvPr/>
        </p:nvSpPr>
        <p:spPr>
          <a:xfrm>
            <a:off x="267321" y="980728"/>
            <a:ext cx="7977088" cy="369332"/>
          </a:xfrm>
          <a:prstGeom prst="rect">
            <a:avLst/>
          </a:prstGeom>
          <a:noFill/>
        </p:spPr>
        <p:txBody>
          <a:bodyPr wrap="square" rtlCol="0">
            <a:spAutoFit/>
          </a:bodyPr>
          <a:lstStyle/>
          <a:p>
            <a:r>
              <a:rPr lang="es-ES" b="1" dirty="0">
                <a:solidFill>
                  <a:srgbClr val="254061"/>
                </a:solidFill>
              </a:rPr>
              <a:t>SENDING TO </a:t>
            </a:r>
            <a:r>
              <a:rPr lang="es-ES" b="1" dirty="0" smtClean="0">
                <a:solidFill>
                  <a:srgbClr val="254061"/>
                </a:solidFill>
              </a:rPr>
              <a:t>VALIDATION (STEPS) - STEPS VALIDATION SENDING PAGE - III</a:t>
            </a:r>
            <a:endParaRPr lang="en-US" b="1" dirty="0">
              <a:solidFill>
                <a:srgbClr val="254061"/>
              </a:solidFill>
            </a:endParaRPr>
          </a:p>
        </p:txBody>
      </p:sp>
      <p:sp>
        <p:nvSpPr>
          <p:cNvPr id="8" name="7 Rectángulo redondeado"/>
          <p:cNvSpPr/>
          <p:nvPr/>
        </p:nvSpPr>
        <p:spPr>
          <a:xfrm>
            <a:off x="1208006" y="1916832"/>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15</a:t>
            </a:r>
            <a:endParaRPr lang="es-ES" sz="1400" dirty="0">
              <a:solidFill>
                <a:schemeClr val="tx1"/>
              </a:solidFill>
            </a:endParaRPr>
          </a:p>
        </p:txBody>
      </p:sp>
      <p:sp>
        <p:nvSpPr>
          <p:cNvPr id="9" name="8 Llamada rectangular"/>
          <p:cNvSpPr/>
          <p:nvPr/>
        </p:nvSpPr>
        <p:spPr>
          <a:xfrm>
            <a:off x="2337098" y="1805228"/>
            <a:ext cx="1728192" cy="496739"/>
          </a:xfrm>
          <a:prstGeom prst="wedgeRectCallout">
            <a:avLst>
              <a:gd name="adj1" fmla="val -84297"/>
              <a:gd name="adj2" fmla="val -6360"/>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000" dirty="0" smtClean="0">
              <a:solidFill>
                <a:schemeClr val="tx1"/>
              </a:solidFill>
              <a:latin typeface="Arial" panose="020B0604020202020204" pitchFamily="34" charset="0"/>
              <a:cs typeface="Arial" panose="020B0604020202020204" pitchFamily="34" charset="0"/>
            </a:endParaRPr>
          </a:p>
          <a:p>
            <a:r>
              <a:rPr lang="en-US" sz="1000" dirty="0" smtClean="0">
                <a:solidFill>
                  <a:schemeClr val="tx1"/>
                </a:solidFill>
                <a:latin typeface="Arial" panose="020B0604020202020204" pitchFamily="34" charset="0"/>
                <a:cs typeface="Arial" panose="020B0604020202020204" pitchFamily="34" charset="0"/>
              </a:rPr>
              <a:t>Send </a:t>
            </a:r>
            <a:r>
              <a:rPr lang="en-US" sz="1000" dirty="0">
                <a:solidFill>
                  <a:schemeClr val="tx1"/>
                </a:solidFill>
                <a:latin typeface="Arial" panose="020B0604020202020204" pitchFamily="34" charset="0"/>
                <a:cs typeface="Arial" panose="020B0604020202020204" pitchFamily="34" charset="0"/>
              </a:rPr>
              <a:t>to validate the request</a:t>
            </a:r>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sp>
        <p:nvSpPr>
          <p:cNvPr id="13" name="12 Rectángulo"/>
          <p:cNvSpPr/>
          <p:nvPr/>
        </p:nvSpPr>
        <p:spPr>
          <a:xfrm>
            <a:off x="2483768" y="4927377"/>
            <a:ext cx="6543701" cy="72008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The steps that have been sent to validate can not be modified until the request has a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response ( approved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or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rejected)</a:t>
            </a:r>
            <a:endParaRPr lang="es-ES" sz="1000" dirty="0">
              <a:solidFill>
                <a:schemeClr val="tx1"/>
              </a:solidFill>
              <a:latin typeface="Arial" panose="020B0604020202020204" pitchFamily="34" charset="0"/>
              <a:cs typeface="Arial" panose="020B0604020202020204" pitchFamily="34" charset="0"/>
            </a:endParaRPr>
          </a:p>
        </p:txBody>
      </p:sp>
      <p:sp>
        <p:nvSpPr>
          <p:cNvPr id="14" name="13 Rectángulo"/>
          <p:cNvSpPr/>
          <p:nvPr/>
        </p:nvSpPr>
        <p:spPr>
          <a:xfrm>
            <a:off x="2625327" y="2479948"/>
            <a:ext cx="2088232" cy="72008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If the request is not sent to validate, what is written on this page is not saved</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80560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a:xfrm>
            <a:off x="6510603" y="6311105"/>
            <a:ext cx="2133600" cy="365125"/>
          </a:xfrm>
        </p:spPr>
        <p:txBody>
          <a:bodyPr/>
          <a:lstStyle/>
          <a:p>
            <a:fld id="{6C159591-2568-4DE8-9BFD-2ABD54E1DEC4}" type="slidenum">
              <a:rPr lang="es-ES" smtClean="0"/>
              <a:pPr/>
              <a:t>22</a:t>
            </a:fld>
            <a:endParaRPr lang="es-ES" dirty="0"/>
          </a:p>
        </p:txBody>
      </p:sp>
      <p:sp>
        <p:nvSpPr>
          <p:cNvPr id="4" name="3 CuadroTexto"/>
          <p:cNvSpPr txBox="1"/>
          <p:nvPr/>
        </p:nvSpPr>
        <p:spPr>
          <a:xfrm>
            <a:off x="267321" y="980728"/>
            <a:ext cx="7185000" cy="369332"/>
          </a:xfrm>
          <a:prstGeom prst="rect">
            <a:avLst/>
          </a:prstGeom>
          <a:noFill/>
        </p:spPr>
        <p:txBody>
          <a:bodyPr wrap="square" rtlCol="0">
            <a:spAutoFit/>
          </a:bodyPr>
          <a:lstStyle/>
          <a:p>
            <a:r>
              <a:rPr lang="es-ES" b="1" dirty="0" smtClean="0">
                <a:solidFill>
                  <a:srgbClr val="254061"/>
                </a:solidFill>
              </a:rPr>
              <a:t>SENDING TO VALIDATION - FLOW </a:t>
            </a:r>
            <a:endParaRPr lang="en-US" b="1" dirty="0">
              <a:solidFill>
                <a:srgbClr val="254061"/>
              </a:solidFill>
            </a:endParaRPr>
          </a:p>
        </p:txBody>
      </p:sp>
      <p:sp>
        <p:nvSpPr>
          <p:cNvPr id="5" name="4 Rectángulo"/>
          <p:cNvSpPr/>
          <p:nvPr/>
        </p:nvSpPr>
        <p:spPr>
          <a:xfrm>
            <a:off x="0" y="1434209"/>
            <a:ext cx="9143999" cy="3323987"/>
          </a:xfrm>
          <a:prstGeom prst="rect">
            <a:avLst/>
          </a:prstGeom>
          <a:ln w="12700">
            <a:solidFill>
              <a:schemeClr val="tx1"/>
            </a:solidFill>
          </a:ln>
        </p:spPr>
        <p:txBody>
          <a:bodyPr wrap="square">
            <a:spAutoFit/>
          </a:bodyPr>
          <a:lstStyle/>
          <a:p>
            <a:pPr algn="just"/>
            <a:r>
              <a:rPr lang="en-US" sz="1000" dirty="0">
                <a:latin typeface="Arial" panose="020B0604020202020204" pitchFamily="34" charset="0"/>
                <a:cs typeface="Arial" panose="020B0604020202020204" pitchFamily="34" charset="0"/>
                <a:sym typeface="Wingdings" panose="05000000000000000000" pitchFamily="2" charset="2"/>
              </a:rPr>
              <a:t>Validation flow depends on the project type. 4 Flows:</a:t>
            </a:r>
            <a:endParaRPr lang="es-ES" sz="1000" dirty="0">
              <a:latin typeface="Arial" panose="020B0604020202020204" pitchFamily="34" charset="0"/>
              <a:cs typeface="Arial" panose="020B0604020202020204" pitchFamily="34" charset="0"/>
            </a:endParaRPr>
          </a:p>
          <a:p>
            <a:pPr lvl="0" algn="just">
              <a:spcAft>
                <a:spcPts val="0"/>
              </a:spcAft>
            </a:pPr>
            <a:endParaRPr lang="en-GB" sz="1000" b="1" dirty="0" smtClean="0">
              <a:ea typeface="Calibri"/>
            </a:endParaRPr>
          </a:p>
          <a:p>
            <a:pPr marL="342900" lvl="0" indent="-342900" algn="just">
              <a:spcAft>
                <a:spcPts val="0"/>
              </a:spcAft>
              <a:buFont typeface="+mj-lt"/>
              <a:buAutoNum type="alphaUcPeriod"/>
            </a:pPr>
            <a:r>
              <a:rPr lang="en-GB" sz="1000" b="1" dirty="0" smtClean="0">
                <a:ea typeface="Calibri"/>
              </a:rPr>
              <a:t>INDUSTRIALIZATION PROJECTS:</a:t>
            </a:r>
            <a:endParaRPr lang="es-ES" sz="1000" dirty="0" smtClean="0">
              <a:ea typeface="Calibri"/>
            </a:endParaRPr>
          </a:p>
          <a:p>
            <a:pPr algn="just"/>
            <a:r>
              <a:rPr lang="en-GB" sz="1000" dirty="0">
                <a:ea typeface="Calibri"/>
              </a:rPr>
              <a:t>Project Owner creates &amp; sends to validate </a:t>
            </a:r>
            <a:r>
              <a:rPr lang="en-GB" sz="1000" dirty="0" smtClean="0">
                <a:ea typeface="Calibri"/>
              </a:rPr>
              <a:t>&gt;  </a:t>
            </a:r>
            <a:r>
              <a:rPr lang="en-GB" sz="1000" b="1" dirty="0" smtClean="0">
                <a:ea typeface="Calibri"/>
              </a:rPr>
              <a:t>Project Manager </a:t>
            </a:r>
            <a:r>
              <a:rPr lang="en-GB" sz="1000" dirty="0" smtClean="0">
                <a:solidFill>
                  <a:srgbClr val="00B050"/>
                </a:solidFill>
                <a:ea typeface="Calibri"/>
              </a:rPr>
              <a:t>validation </a:t>
            </a:r>
            <a:r>
              <a:rPr lang="en-GB" sz="1000" dirty="0" smtClean="0">
                <a:ea typeface="Calibri"/>
              </a:rPr>
              <a:t>&gt; </a:t>
            </a:r>
            <a:r>
              <a:rPr lang="en-GB" sz="1000" b="1" dirty="0">
                <a:ea typeface="Calibri"/>
              </a:rPr>
              <a:t>Internacional</a:t>
            </a:r>
            <a:r>
              <a:rPr lang="en-GB" sz="1000" b="1" baseline="30000" dirty="0">
                <a:ea typeface="Calibri"/>
              </a:rPr>
              <a:t>1</a:t>
            </a:r>
            <a:r>
              <a:rPr lang="en-GB" sz="1000" dirty="0">
                <a:ea typeface="Calibri"/>
              </a:rPr>
              <a:t> Or </a:t>
            </a:r>
            <a:r>
              <a:rPr lang="en-GB" sz="1000" b="1" dirty="0">
                <a:ea typeface="Calibri"/>
              </a:rPr>
              <a:t>National</a:t>
            </a:r>
            <a:r>
              <a:rPr lang="en-GB" sz="1000" b="1" baseline="30000" dirty="0">
                <a:ea typeface="Calibri"/>
              </a:rPr>
              <a:t>2</a:t>
            </a:r>
            <a:r>
              <a:rPr lang="en-GB" sz="1000" dirty="0" smtClean="0">
                <a:ea typeface="Calibri"/>
              </a:rPr>
              <a:t> </a:t>
            </a:r>
            <a:r>
              <a:rPr lang="en-GB" sz="1000" b="1" dirty="0" smtClean="0">
                <a:ea typeface="Calibri"/>
              </a:rPr>
              <a:t>Operations Director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Technical Director </a:t>
            </a:r>
            <a:r>
              <a:rPr lang="en-GB" sz="1000" dirty="0" smtClean="0">
                <a:solidFill>
                  <a:srgbClr val="00B050"/>
                </a:solidFill>
                <a:ea typeface="Calibri"/>
              </a:rPr>
              <a:t>validation </a:t>
            </a:r>
            <a:r>
              <a:rPr lang="en-GB" sz="1000" dirty="0" smtClean="0">
                <a:ea typeface="Calibri"/>
              </a:rPr>
              <a:t>&gt; </a:t>
            </a:r>
            <a:r>
              <a:rPr lang="en-GB" sz="1000" b="1" dirty="0">
                <a:ea typeface="Calibri"/>
              </a:rPr>
              <a:t>Plant General Manager</a:t>
            </a:r>
            <a:r>
              <a:rPr lang="en-GB" sz="1000" b="1" baseline="30000" dirty="0">
                <a:ea typeface="Calibri"/>
              </a:rPr>
              <a:t>3</a:t>
            </a:r>
            <a:r>
              <a:rPr lang="en-GB" sz="1000" dirty="0">
                <a:solidFill>
                  <a:srgbClr val="00B050"/>
                </a:solidFill>
                <a:ea typeface="Calibri"/>
              </a:rPr>
              <a:t> validation </a:t>
            </a:r>
            <a:r>
              <a:rPr lang="en-GB" sz="1000" dirty="0" smtClean="0">
                <a:ea typeface="Calibri"/>
              </a:rPr>
              <a:t>&gt; </a:t>
            </a:r>
            <a:r>
              <a:rPr lang="en-GB" sz="1000" b="1" dirty="0" smtClean="0">
                <a:ea typeface="Calibri"/>
              </a:rPr>
              <a:t>Corp. and Plant Financial Resp. </a:t>
            </a:r>
            <a:r>
              <a:rPr lang="en-GB" sz="1000" dirty="0" smtClean="0">
                <a:solidFill>
                  <a:srgbClr val="376092"/>
                </a:solidFill>
                <a:ea typeface="Calibri"/>
              </a:rPr>
              <a:t>CC code creation in the </a:t>
            </a:r>
            <a:r>
              <a:rPr lang="en-GB" sz="1000" dirty="0">
                <a:solidFill>
                  <a:srgbClr val="376092"/>
                </a:solidFill>
                <a:ea typeface="Calibri"/>
              </a:rPr>
              <a:t>system. </a:t>
            </a:r>
            <a:r>
              <a:rPr lang="en-GB" sz="1000" baseline="30000" dirty="0" smtClean="0">
                <a:ea typeface="Calibri"/>
              </a:rPr>
              <a:t>4</a:t>
            </a:r>
            <a:endParaRPr lang="en-GB" sz="1000" dirty="0" smtClean="0">
              <a:solidFill>
                <a:srgbClr val="376092"/>
              </a:solidFill>
              <a:ea typeface="Calibri"/>
            </a:endParaRPr>
          </a:p>
          <a:p>
            <a:pPr algn="just"/>
            <a:endParaRPr lang="es-ES" sz="1000" i="1" dirty="0">
              <a:ea typeface="Calibri"/>
            </a:endParaRPr>
          </a:p>
          <a:p>
            <a:pPr marL="342900" lvl="0" indent="-342900" algn="just">
              <a:spcAft>
                <a:spcPts val="0"/>
              </a:spcAft>
              <a:buFont typeface="+mj-lt"/>
              <a:buAutoNum type="alphaUcPeriod" startAt="2"/>
            </a:pPr>
            <a:r>
              <a:rPr lang="en-GB" sz="1000" dirty="0" smtClean="0">
                <a:ea typeface="Calibri"/>
              </a:rPr>
              <a:t> </a:t>
            </a:r>
            <a:r>
              <a:rPr lang="es-ES" sz="1000" b="1" dirty="0" smtClean="0">
                <a:ea typeface="Calibri"/>
              </a:rPr>
              <a:t>ECO INDUSTRIALIZATION PROJECTS:</a:t>
            </a:r>
          </a:p>
          <a:p>
            <a:pPr algn="just">
              <a:spcAft>
                <a:spcPts val="0"/>
              </a:spcAft>
            </a:pPr>
            <a:r>
              <a:rPr lang="en-US" sz="1000" dirty="0" smtClean="0">
                <a:ea typeface="Calibri"/>
              </a:rPr>
              <a:t>Project Owner creates </a:t>
            </a:r>
            <a:r>
              <a:rPr lang="es-ES" sz="1000" dirty="0" smtClean="0">
                <a:ea typeface="Calibri"/>
              </a:rPr>
              <a:t>&amp; </a:t>
            </a:r>
            <a:r>
              <a:rPr lang="en-GB" sz="1000" dirty="0">
                <a:ea typeface="Calibri"/>
              </a:rPr>
              <a:t>sends  to </a:t>
            </a:r>
            <a:r>
              <a:rPr lang="en-GB" sz="1000" dirty="0" smtClean="0">
                <a:ea typeface="Calibri"/>
              </a:rPr>
              <a:t>validate</a:t>
            </a:r>
            <a:r>
              <a:rPr lang="en-GB" sz="1000" baseline="30000" dirty="0" smtClean="0">
                <a:ea typeface="Calibri"/>
              </a:rPr>
              <a:t>5,6</a:t>
            </a:r>
            <a:r>
              <a:rPr lang="en-GB" sz="1000" dirty="0" smtClean="0">
                <a:ea typeface="Calibri"/>
              </a:rPr>
              <a:t> </a:t>
            </a:r>
            <a:r>
              <a:rPr lang="en-GB" sz="1000" dirty="0">
                <a:ea typeface="Calibri"/>
              </a:rPr>
              <a:t>&gt; </a:t>
            </a:r>
            <a:r>
              <a:rPr lang="en-GB" sz="1000" dirty="0" smtClean="0">
                <a:ea typeface="Calibri"/>
              </a:rPr>
              <a:t> </a:t>
            </a:r>
            <a:r>
              <a:rPr lang="en-GB" sz="1000" b="1" dirty="0" smtClean="0">
                <a:ea typeface="Calibri"/>
              </a:rPr>
              <a:t>Plant Engineering Resp.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Plant General Manager</a:t>
            </a:r>
            <a:r>
              <a:rPr lang="en-GB" sz="1000" dirty="0" smtClean="0">
                <a:solidFill>
                  <a:srgbClr val="00B050"/>
                </a:solidFill>
                <a:ea typeface="Calibri"/>
              </a:rPr>
              <a:t> validation </a:t>
            </a:r>
            <a:r>
              <a:rPr lang="en-GB" sz="1000" dirty="0" smtClean="0">
                <a:ea typeface="Calibri"/>
              </a:rPr>
              <a:t>&gt; </a:t>
            </a:r>
            <a:r>
              <a:rPr lang="en-GB" sz="1000" b="1" dirty="0" smtClean="0">
                <a:ea typeface="Calibri"/>
              </a:rPr>
              <a:t>Plant Financial Resp. </a:t>
            </a:r>
            <a:r>
              <a:rPr lang="en-GB" sz="1000" dirty="0" smtClean="0">
                <a:solidFill>
                  <a:srgbClr val="376092"/>
                </a:solidFill>
                <a:ea typeface="Calibri"/>
              </a:rPr>
              <a:t>CC code creation in the system.</a:t>
            </a:r>
          </a:p>
          <a:p>
            <a:pPr algn="just">
              <a:spcAft>
                <a:spcPts val="0"/>
              </a:spcAft>
            </a:pPr>
            <a:r>
              <a:rPr lang="es-ES" sz="1000" dirty="0" smtClean="0">
                <a:ea typeface="Calibri"/>
              </a:rPr>
              <a:t> </a:t>
            </a:r>
          </a:p>
          <a:p>
            <a:pPr marL="342900" lvl="0" indent="-342900" algn="just">
              <a:spcAft>
                <a:spcPts val="0"/>
              </a:spcAft>
              <a:buFont typeface="+mj-lt"/>
              <a:buAutoNum type="alphaUcPeriod" startAt="3"/>
            </a:pPr>
            <a:r>
              <a:rPr lang="es-ES" sz="1000" b="1" dirty="0" smtClean="0">
                <a:ea typeface="Calibri"/>
              </a:rPr>
              <a:t>PREDEVELOPMENT PROJECTS:</a:t>
            </a:r>
            <a:endParaRPr lang="es-ES" sz="1000" dirty="0" smtClean="0">
              <a:ea typeface="Calibri"/>
            </a:endParaRPr>
          </a:p>
          <a:p>
            <a:pPr algn="just">
              <a:spcAft>
                <a:spcPts val="0"/>
              </a:spcAft>
            </a:pPr>
            <a:r>
              <a:rPr lang="es-ES" sz="1000" dirty="0" smtClean="0">
                <a:ea typeface="Calibri"/>
              </a:rPr>
              <a:t>Project </a:t>
            </a:r>
            <a:r>
              <a:rPr lang="en-US" sz="1000" dirty="0" smtClean="0">
                <a:ea typeface="Calibri"/>
              </a:rPr>
              <a:t>Owner creates  </a:t>
            </a:r>
            <a:r>
              <a:rPr lang="es-ES" sz="1000" dirty="0" smtClean="0">
                <a:ea typeface="Calibri"/>
              </a:rPr>
              <a:t>&amp; </a:t>
            </a:r>
            <a:r>
              <a:rPr lang="en-GB" sz="1000" dirty="0" smtClean="0">
                <a:ea typeface="Calibri"/>
              </a:rPr>
              <a:t>sends  to validate </a:t>
            </a:r>
            <a:r>
              <a:rPr lang="en-US" sz="1000" dirty="0" smtClean="0">
                <a:ea typeface="Calibri"/>
              </a:rPr>
              <a:t>&gt; </a:t>
            </a:r>
            <a:r>
              <a:rPr lang="en-GB" sz="1000" b="1" dirty="0" smtClean="0">
                <a:ea typeface="Calibri"/>
              </a:rPr>
              <a:t>Product Manager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Technical Director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Corp. Financial Resp. </a:t>
            </a:r>
            <a:r>
              <a:rPr lang="en-GB" sz="1000" dirty="0" smtClean="0">
                <a:solidFill>
                  <a:srgbClr val="376092"/>
                </a:solidFill>
                <a:ea typeface="Calibri"/>
              </a:rPr>
              <a:t>CC code creation in the system. </a:t>
            </a:r>
            <a:endParaRPr lang="es-ES" sz="1000" dirty="0" smtClean="0">
              <a:ea typeface="Calibri"/>
            </a:endParaRPr>
          </a:p>
          <a:p>
            <a:pPr algn="just">
              <a:spcAft>
                <a:spcPts val="0"/>
              </a:spcAft>
            </a:pPr>
            <a:endParaRPr lang="es-ES" sz="1000" dirty="0" smtClean="0">
              <a:ea typeface="Calibri"/>
            </a:endParaRPr>
          </a:p>
          <a:p>
            <a:pPr marL="342900" lvl="0" indent="-342900" algn="just">
              <a:spcAft>
                <a:spcPts val="0"/>
              </a:spcAft>
              <a:buFont typeface="+mj-lt"/>
              <a:buAutoNum type="alphaUcPeriod" startAt="4"/>
            </a:pPr>
            <a:r>
              <a:rPr lang="en-GB" sz="1000" b="1" dirty="0" smtClean="0">
                <a:ea typeface="Calibri"/>
              </a:rPr>
              <a:t>R_D PROJECTS:</a:t>
            </a:r>
            <a:endParaRPr lang="es-ES" sz="1000" dirty="0" smtClean="0">
              <a:ea typeface="Calibri"/>
            </a:endParaRPr>
          </a:p>
          <a:p>
            <a:pPr algn="just">
              <a:spcAft>
                <a:spcPts val="0"/>
              </a:spcAft>
            </a:pPr>
            <a:r>
              <a:rPr lang="es-ES" sz="1000" dirty="0">
                <a:ea typeface="Calibri"/>
              </a:rPr>
              <a:t>Project </a:t>
            </a:r>
            <a:r>
              <a:rPr lang="en-US" sz="1000" dirty="0" smtClean="0">
                <a:ea typeface="Calibri"/>
              </a:rPr>
              <a:t>Owner creates  </a:t>
            </a:r>
            <a:r>
              <a:rPr lang="es-ES" sz="1000" dirty="0" smtClean="0">
                <a:ea typeface="Calibri"/>
              </a:rPr>
              <a:t>&amp; </a:t>
            </a:r>
            <a:r>
              <a:rPr lang="en-GB" sz="1000" dirty="0">
                <a:ea typeface="Calibri"/>
              </a:rPr>
              <a:t>sends  to validate </a:t>
            </a:r>
            <a:r>
              <a:rPr lang="en-US" sz="1000" dirty="0" smtClean="0">
                <a:ea typeface="Calibri"/>
              </a:rPr>
              <a:t>&gt; </a:t>
            </a:r>
            <a:r>
              <a:rPr lang="en-GB" sz="1000" b="1" dirty="0" smtClean="0">
                <a:ea typeface="Calibri"/>
              </a:rPr>
              <a:t>Advance Manager </a:t>
            </a:r>
            <a:r>
              <a:rPr lang="en-GB" sz="1000" dirty="0" smtClean="0">
                <a:solidFill>
                  <a:srgbClr val="00B050"/>
                </a:solidFill>
                <a:ea typeface="Calibri"/>
              </a:rPr>
              <a:t>validation </a:t>
            </a:r>
            <a:r>
              <a:rPr lang="en-GB" sz="1000" dirty="0" smtClean="0">
                <a:ea typeface="Calibri"/>
              </a:rPr>
              <a:t>&gt; </a:t>
            </a:r>
            <a:r>
              <a:rPr lang="en-GB" sz="1000" b="1" dirty="0">
                <a:ea typeface="Calibri"/>
              </a:rPr>
              <a:t>Technical Director </a:t>
            </a:r>
            <a:r>
              <a:rPr lang="en-GB" sz="1000" dirty="0">
                <a:solidFill>
                  <a:srgbClr val="00B050"/>
                </a:solidFill>
                <a:ea typeface="Calibri"/>
              </a:rPr>
              <a:t>validation </a:t>
            </a:r>
            <a:r>
              <a:rPr lang="en-GB" sz="1000" dirty="0" smtClean="0">
                <a:ea typeface="Calibri"/>
              </a:rPr>
              <a:t>&gt; </a:t>
            </a:r>
            <a:r>
              <a:rPr lang="en-GB" sz="1000" b="1" dirty="0" smtClean="0">
                <a:ea typeface="Calibri"/>
              </a:rPr>
              <a:t>Corp. Financial Resp. </a:t>
            </a:r>
            <a:r>
              <a:rPr lang="en-GB" sz="1000" dirty="0" smtClean="0">
                <a:solidFill>
                  <a:srgbClr val="376092"/>
                </a:solidFill>
                <a:ea typeface="Calibri"/>
              </a:rPr>
              <a:t>CC code creation in the system.</a:t>
            </a:r>
          </a:p>
          <a:p>
            <a:pPr algn="just">
              <a:spcAft>
                <a:spcPts val="0"/>
              </a:spcAft>
            </a:pPr>
            <a:endParaRPr lang="en-GB" sz="1000" dirty="0">
              <a:solidFill>
                <a:srgbClr val="376092"/>
              </a:solidFill>
              <a:ea typeface="Calibri"/>
            </a:endParaRPr>
          </a:p>
          <a:p>
            <a:pPr algn="just">
              <a:spcAft>
                <a:spcPts val="0"/>
              </a:spcAft>
            </a:pPr>
            <a:endParaRPr lang="en-GB" sz="1000" dirty="0" smtClean="0">
              <a:solidFill>
                <a:srgbClr val="376092"/>
              </a:solidFill>
              <a:ea typeface="Calibri"/>
            </a:endParaRPr>
          </a:p>
          <a:p>
            <a:pPr algn="just">
              <a:spcAft>
                <a:spcPts val="0"/>
              </a:spcAft>
            </a:pPr>
            <a:endParaRPr lang="en-GB" sz="1000" dirty="0">
              <a:solidFill>
                <a:srgbClr val="376092"/>
              </a:solidFill>
              <a:ea typeface="Calibri"/>
            </a:endParaRPr>
          </a:p>
          <a:p>
            <a:pPr algn="just">
              <a:spcAft>
                <a:spcPts val="0"/>
              </a:spcAft>
            </a:pPr>
            <a:endParaRPr lang="en-GB" sz="1000" dirty="0" smtClean="0">
              <a:solidFill>
                <a:srgbClr val="376092"/>
              </a:solidFill>
              <a:ea typeface="Calibri"/>
            </a:endParaRPr>
          </a:p>
          <a:p>
            <a:pPr algn="just">
              <a:spcAft>
                <a:spcPts val="0"/>
              </a:spcAft>
            </a:pPr>
            <a:endParaRPr lang="en-GB" sz="1000" dirty="0">
              <a:solidFill>
                <a:srgbClr val="376092"/>
              </a:solidFill>
              <a:ea typeface="Calibri"/>
            </a:endParaRPr>
          </a:p>
          <a:p>
            <a:pPr algn="just">
              <a:spcAft>
                <a:spcPts val="0"/>
              </a:spcAft>
            </a:pPr>
            <a:endParaRPr lang="en-GB" sz="1000" dirty="0" smtClean="0">
              <a:solidFill>
                <a:srgbClr val="376092"/>
              </a:solidFill>
              <a:ea typeface="Calibri"/>
            </a:endParaRPr>
          </a:p>
          <a:p>
            <a:pPr algn="just">
              <a:spcAft>
                <a:spcPts val="0"/>
              </a:spcAft>
            </a:pPr>
            <a:endParaRPr lang="en-GB" sz="1000" dirty="0" smtClean="0">
              <a:solidFill>
                <a:srgbClr val="376092"/>
              </a:solidFill>
              <a:ea typeface="Calibri"/>
            </a:endParaRP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459" y="5052144"/>
            <a:ext cx="3521378" cy="88313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65304"/>
            <a:ext cx="4302533" cy="60312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27" y="5331109"/>
            <a:ext cx="3091052" cy="54616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3" name="12 Rectángulo redondeado"/>
          <p:cNvSpPr/>
          <p:nvPr/>
        </p:nvSpPr>
        <p:spPr>
          <a:xfrm>
            <a:off x="2556669" y="5493713"/>
            <a:ext cx="144016" cy="144016"/>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pic>
        <p:nvPicPr>
          <p:cNvPr id="103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76056" y="5939358"/>
            <a:ext cx="2869095" cy="94602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9" name="8 Flecha derecha"/>
          <p:cNvSpPr/>
          <p:nvPr/>
        </p:nvSpPr>
        <p:spPr>
          <a:xfrm>
            <a:off x="3242783" y="5475620"/>
            <a:ext cx="756362" cy="257140"/>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0" name="9 Flecha abajo"/>
          <p:cNvSpPr/>
          <p:nvPr/>
        </p:nvSpPr>
        <p:spPr>
          <a:xfrm rot="3251902">
            <a:off x="4217028" y="5755146"/>
            <a:ext cx="324447" cy="530540"/>
          </a:xfrm>
          <a:prstGeom prst="down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10 Flecha derecha"/>
          <p:cNvSpPr/>
          <p:nvPr/>
        </p:nvSpPr>
        <p:spPr>
          <a:xfrm>
            <a:off x="4535585" y="6269913"/>
            <a:ext cx="396455" cy="301563"/>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8 Llamada rectangular"/>
          <p:cNvSpPr/>
          <p:nvPr/>
        </p:nvSpPr>
        <p:spPr>
          <a:xfrm>
            <a:off x="119563" y="4777748"/>
            <a:ext cx="3172719" cy="379444"/>
          </a:xfrm>
          <a:prstGeom prst="wedgeRectCallout">
            <a:avLst>
              <a:gd name="adj1" fmla="val 27458"/>
              <a:gd name="adj2" fmla="val 1329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smtClean="0">
                <a:solidFill>
                  <a:schemeClr val="tx1"/>
                </a:solidFill>
                <a:latin typeface="Arial" panose="020B0604020202020204" pitchFamily="34" charset="0"/>
                <a:cs typeface="Arial" panose="020B0604020202020204" pitchFamily="34" charset="0"/>
              </a:rPr>
              <a:t>In </a:t>
            </a:r>
            <a:r>
              <a:rPr lang="en-US" sz="1000" dirty="0">
                <a:solidFill>
                  <a:schemeClr val="tx1"/>
                </a:solidFill>
                <a:latin typeface="Arial" panose="020B0604020202020204" pitchFamily="34" charset="0"/>
                <a:cs typeface="Arial" panose="020B0604020202020204" pitchFamily="34" charset="0"/>
              </a:rPr>
              <a:t>order to see where the validation is within this flow</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t>
            </a:r>
          </a:p>
          <a:p>
            <a:r>
              <a:rPr lang="en-US" sz="1000" dirty="0">
                <a:solidFill>
                  <a:schemeClr val="tx1"/>
                </a:solidFill>
                <a:latin typeface="Arial" panose="020B0604020202020204" pitchFamily="34" charset="0"/>
                <a:cs typeface="Arial" panose="020B0604020202020204" pitchFamily="34" charset="0"/>
              </a:rPr>
              <a:t>Actual Status and history</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n-US" sz="1000" dirty="0">
                <a:solidFill>
                  <a:schemeClr val="tx1"/>
                </a:solidFill>
                <a:latin typeface="Arial" panose="020B0604020202020204" pitchFamily="34" charset="0"/>
                <a:cs typeface="Arial" panose="020B0604020202020204" pitchFamily="34" charset="0"/>
              </a:rPr>
              <a:t> Last </a:t>
            </a:r>
            <a:r>
              <a:rPr lang="en-US" sz="1000" dirty="0" smtClean="0">
                <a:solidFill>
                  <a:schemeClr val="tx1"/>
                </a:solidFill>
                <a:latin typeface="Arial" panose="020B0604020202020204" pitchFamily="34" charset="0"/>
                <a:cs typeface="Arial" panose="020B0604020202020204" pitchFamily="34" charset="0"/>
              </a:rPr>
              <a:t>validation</a:t>
            </a:r>
            <a:endParaRPr lang="en-US" sz="1000" dirty="0">
              <a:solidFill>
                <a:schemeClr val="tx1"/>
              </a:solidFill>
              <a:latin typeface="Arial" panose="020B0604020202020204" pitchFamily="34" charset="0"/>
              <a:cs typeface="Arial" panose="020B0604020202020204" pitchFamily="34" charset="0"/>
            </a:endParaRPr>
          </a:p>
        </p:txBody>
      </p:sp>
      <p:sp>
        <p:nvSpPr>
          <p:cNvPr id="3" name="CuadroTexto 2"/>
          <p:cNvSpPr txBox="1"/>
          <p:nvPr/>
        </p:nvSpPr>
        <p:spPr>
          <a:xfrm>
            <a:off x="119563" y="3671465"/>
            <a:ext cx="8700909" cy="1131079"/>
          </a:xfrm>
          <a:prstGeom prst="rect">
            <a:avLst/>
          </a:prstGeom>
          <a:noFill/>
          <a:ln>
            <a:solidFill>
              <a:schemeClr val="tx1"/>
            </a:solidFill>
            <a:prstDash val="sysDot"/>
          </a:ln>
        </p:spPr>
        <p:txBody>
          <a:bodyPr wrap="square" rtlCol="0">
            <a:spAutoFit/>
          </a:bodyPr>
          <a:lstStyle/>
          <a:p>
            <a:pPr lvl="0"/>
            <a:r>
              <a:rPr lang="en-GB" sz="900" i="1" baseline="30000" dirty="0">
                <a:solidFill>
                  <a:prstClr val="black"/>
                </a:solidFill>
                <a:ea typeface="Calibri"/>
              </a:rPr>
              <a:t>1</a:t>
            </a:r>
            <a:r>
              <a:rPr lang="en-GB" sz="900" i="1" dirty="0">
                <a:solidFill>
                  <a:prstClr val="black"/>
                </a:solidFill>
                <a:ea typeface="Calibri"/>
              </a:rPr>
              <a:t>Projects for: CZ-KU-GU-MX</a:t>
            </a:r>
          </a:p>
          <a:p>
            <a:pPr lvl="0"/>
            <a:r>
              <a:rPr lang="en-GB" sz="900" i="1" baseline="30000" dirty="0">
                <a:solidFill>
                  <a:prstClr val="black"/>
                </a:solidFill>
                <a:ea typeface="Calibri"/>
              </a:rPr>
              <a:t>2</a:t>
            </a:r>
            <a:r>
              <a:rPr lang="en-GB" sz="900" i="1" dirty="0">
                <a:solidFill>
                  <a:prstClr val="black"/>
                </a:solidFill>
                <a:ea typeface="Calibri"/>
              </a:rPr>
              <a:t>Projects for: ZA-IG</a:t>
            </a:r>
            <a:endParaRPr lang="en-GB" sz="900" i="1" baseline="-25000" dirty="0">
              <a:solidFill>
                <a:prstClr val="black"/>
              </a:solidFill>
              <a:ea typeface="Calibri"/>
            </a:endParaRPr>
          </a:p>
          <a:p>
            <a:pPr lvl="0"/>
            <a:r>
              <a:rPr lang="en-GB" sz="900" i="1" baseline="30000" dirty="0">
                <a:solidFill>
                  <a:prstClr val="black"/>
                </a:solidFill>
                <a:ea typeface="Calibri"/>
              </a:rPr>
              <a:t>3</a:t>
            </a:r>
            <a:r>
              <a:rPr lang="en-US" sz="900" i="1" dirty="0">
                <a:solidFill>
                  <a:prstClr val="black"/>
                </a:solidFill>
                <a:ea typeface="Calibri"/>
              </a:rPr>
              <a:t>Not required if there is a previous validation of the same person</a:t>
            </a:r>
          </a:p>
          <a:p>
            <a:pPr lvl="0"/>
            <a:r>
              <a:rPr lang="en-GB" sz="1000" i="1" baseline="30000" dirty="0">
                <a:solidFill>
                  <a:prstClr val="black"/>
                </a:solidFill>
                <a:ea typeface="Calibri"/>
              </a:rPr>
              <a:t>4 </a:t>
            </a:r>
            <a:r>
              <a:rPr lang="en-GB" sz="1000" i="1" dirty="0">
                <a:solidFill>
                  <a:prstClr val="black"/>
                </a:solidFill>
                <a:ea typeface="Calibri"/>
              </a:rPr>
              <a:t>In case of being </a:t>
            </a:r>
            <a:r>
              <a:rPr lang="en-GB" sz="1000" i="1" dirty="0" err="1">
                <a:solidFill>
                  <a:prstClr val="black"/>
                </a:solidFill>
                <a:ea typeface="Calibri"/>
              </a:rPr>
              <a:t>Batz</a:t>
            </a:r>
            <a:r>
              <a:rPr lang="en-GB" sz="1000" i="1" dirty="0">
                <a:solidFill>
                  <a:prstClr val="black"/>
                </a:solidFill>
                <a:ea typeface="Calibri"/>
              </a:rPr>
              <a:t> Corporative the productive plant of the project, the flow changes to</a:t>
            </a:r>
            <a:r>
              <a:rPr lang="es-ES" sz="1000" i="1" dirty="0">
                <a:solidFill>
                  <a:prstClr val="black"/>
                </a:solidFill>
                <a:ea typeface="Calibri"/>
              </a:rPr>
              <a:t>: Project </a:t>
            </a:r>
            <a:r>
              <a:rPr lang="es-ES" sz="1000" i="1" dirty="0" err="1">
                <a:solidFill>
                  <a:prstClr val="black"/>
                </a:solidFill>
                <a:ea typeface="Calibri"/>
              </a:rPr>
              <a:t>Owner</a:t>
            </a:r>
            <a:r>
              <a:rPr lang="es-ES" sz="1000" i="1" dirty="0">
                <a:solidFill>
                  <a:prstClr val="black"/>
                </a:solidFill>
                <a:ea typeface="Calibri"/>
              </a:rPr>
              <a:t> </a:t>
            </a:r>
            <a:r>
              <a:rPr lang="es-ES" sz="1000" i="1" dirty="0" err="1">
                <a:solidFill>
                  <a:prstClr val="black"/>
                </a:solidFill>
                <a:ea typeface="Calibri"/>
              </a:rPr>
              <a:t>creates</a:t>
            </a:r>
            <a:r>
              <a:rPr lang="es-ES" sz="1000" i="1" dirty="0">
                <a:solidFill>
                  <a:prstClr val="black"/>
                </a:solidFill>
                <a:ea typeface="Calibri"/>
              </a:rPr>
              <a:t>  &amp; </a:t>
            </a:r>
            <a:r>
              <a:rPr lang="en-GB" sz="1000" i="1" dirty="0">
                <a:solidFill>
                  <a:prstClr val="black"/>
                </a:solidFill>
                <a:ea typeface="Calibri"/>
              </a:rPr>
              <a:t>sends  to validate </a:t>
            </a:r>
            <a:r>
              <a:rPr lang="en-US" sz="1000" i="1" dirty="0">
                <a:solidFill>
                  <a:prstClr val="black"/>
                </a:solidFill>
                <a:ea typeface="Calibri"/>
              </a:rPr>
              <a:t>&gt; </a:t>
            </a:r>
            <a:r>
              <a:rPr lang="en-GB" sz="1000" b="1" i="1" dirty="0">
                <a:solidFill>
                  <a:prstClr val="black"/>
                </a:solidFill>
                <a:ea typeface="Calibri"/>
              </a:rPr>
              <a:t>Project manager </a:t>
            </a:r>
            <a:r>
              <a:rPr lang="en-GB" sz="1000" dirty="0">
                <a:solidFill>
                  <a:srgbClr val="00B050"/>
                </a:solidFill>
                <a:ea typeface="Calibri"/>
              </a:rPr>
              <a:t>validation</a:t>
            </a:r>
            <a:r>
              <a:rPr lang="en-GB" sz="1050" dirty="0">
                <a:solidFill>
                  <a:srgbClr val="00B050"/>
                </a:solidFill>
                <a:ea typeface="Calibri"/>
              </a:rPr>
              <a:t> </a:t>
            </a:r>
            <a:r>
              <a:rPr lang="en-GB" sz="1000" i="1" dirty="0">
                <a:solidFill>
                  <a:prstClr val="black"/>
                </a:solidFill>
                <a:ea typeface="Calibri"/>
              </a:rPr>
              <a:t>&gt;   </a:t>
            </a:r>
            <a:r>
              <a:rPr lang="en-GB" sz="1000" b="1" i="1" dirty="0">
                <a:solidFill>
                  <a:prstClr val="black"/>
                </a:solidFill>
                <a:ea typeface="Calibri"/>
              </a:rPr>
              <a:t>Technical Director </a:t>
            </a:r>
            <a:r>
              <a:rPr lang="en-GB" sz="1000" dirty="0">
                <a:solidFill>
                  <a:srgbClr val="00B050"/>
                </a:solidFill>
                <a:ea typeface="Calibri"/>
              </a:rPr>
              <a:t>validation </a:t>
            </a:r>
            <a:r>
              <a:rPr lang="en-GB" sz="1000" i="1" dirty="0">
                <a:solidFill>
                  <a:prstClr val="black"/>
                </a:solidFill>
                <a:ea typeface="Calibri"/>
              </a:rPr>
              <a:t>&gt; </a:t>
            </a:r>
            <a:r>
              <a:rPr lang="en-GB" sz="1000" b="1" i="1" dirty="0">
                <a:solidFill>
                  <a:prstClr val="black"/>
                </a:solidFill>
                <a:ea typeface="Calibri"/>
              </a:rPr>
              <a:t>Corp. Financial Resp. </a:t>
            </a:r>
            <a:r>
              <a:rPr lang="en-GB" sz="1000" dirty="0">
                <a:solidFill>
                  <a:srgbClr val="376092"/>
                </a:solidFill>
                <a:ea typeface="Calibri"/>
              </a:rPr>
              <a:t>CC code creation in the system</a:t>
            </a:r>
          </a:p>
          <a:p>
            <a:pPr lvl="0"/>
            <a:r>
              <a:rPr lang="en-US" sz="1000" baseline="30000" dirty="0">
                <a:solidFill>
                  <a:prstClr val="black"/>
                </a:solidFill>
              </a:rPr>
              <a:t>5</a:t>
            </a:r>
            <a:r>
              <a:rPr lang="en-US" sz="1000" dirty="0">
                <a:solidFill>
                  <a:prstClr val="black"/>
                </a:solidFill>
              </a:rPr>
              <a:t>If  they belong to Corporative , follows the flow </a:t>
            </a:r>
            <a:r>
              <a:rPr lang="en-US" sz="1000" dirty="0">
                <a:solidFill>
                  <a:prstClr val="black"/>
                </a:solidFill>
                <a:sym typeface="Wingdings" panose="05000000000000000000" pitchFamily="2" charset="2"/>
              </a:rPr>
              <a:t>A. </a:t>
            </a:r>
            <a:r>
              <a:rPr lang="en-US" sz="1000" dirty="0">
                <a:solidFill>
                  <a:prstClr val="black"/>
                </a:solidFill>
              </a:rPr>
              <a:t>INDUSTRIALIZATION PROJECTS</a:t>
            </a:r>
            <a:r>
              <a:rPr lang="en-GB" sz="1000" i="1" dirty="0">
                <a:solidFill>
                  <a:prstClr val="black"/>
                </a:solidFill>
                <a:ea typeface="Calibri"/>
              </a:rPr>
              <a:t> </a:t>
            </a:r>
            <a:endParaRPr lang="en-GB" sz="1000" i="1" dirty="0" smtClean="0">
              <a:solidFill>
                <a:prstClr val="black"/>
              </a:solidFill>
              <a:ea typeface="Calibri"/>
            </a:endParaRPr>
          </a:p>
          <a:p>
            <a:r>
              <a:rPr lang="en-US" sz="1000" baseline="30000" dirty="0">
                <a:solidFill>
                  <a:prstClr val="black"/>
                </a:solidFill>
              </a:rPr>
              <a:t>6</a:t>
            </a:r>
            <a:r>
              <a:rPr lang="en-US" sz="1000" baseline="30000" dirty="0" smtClean="0">
                <a:solidFill>
                  <a:prstClr val="black"/>
                </a:solidFill>
              </a:rPr>
              <a:t> </a:t>
            </a:r>
            <a:r>
              <a:rPr lang="en-US" sz="1000" dirty="0" smtClean="0">
                <a:solidFill>
                  <a:prstClr val="black"/>
                </a:solidFill>
              </a:rPr>
              <a:t>If the </a:t>
            </a:r>
            <a:r>
              <a:rPr lang="en-US" sz="1000" dirty="0">
                <a:solidFill>
                  <a:prstClr val="black"/>
                </a:solidFill>
              </a:rPr>
              <a:t>Project has </a:t>
            </a:r>
            <a:r>
              <a:rPr lang="en-US" sz="1000" dirty="0" smtClean="0">
                <a:solidFill>
                  <a:prstClr val="black"/>
                </a:solidFill>
              </a:rPr>
              <a:t>PTKSIS attribute “Indicators” with Yes value, will </a:t>
            </a:r>
            <a:r>
              <a:rPr lang="en-US" sz="1000" dirty="0" err="1" smtClean="0">
                <a:solidFill>
                  <a:prstClr val="black"/>
                </a:solidFill>
              </a:rPr>
              <a:t>follow</a:t>
            </a:r>
            <a:r>
              <a:rPr lang="en-US" sz="1000" dirty="0" err="1" smtClean="0">
                <a:solidFill>
                  <a:prstClr val="black"/>
                </a:solidFill>
                <a:sym typeface="Wingdings" panose="05000000000000000000" pitchFamily="2" charset="2"/>
              </a:rPr>
              <a:t>A</a:t>
            </a:r>
            <a:r>
              <a:rPr lang="en-US" sz="1000" dirty="0" smtClean="0">
                <a:solidFill>
                  <a:prstClr val="black"/>
                </a:solidFill>
                <a:sym typeface="Wingdings" panose="05000000000000000000" pitchFamily="2" charset="2"/>
              </a:rPr>
              <a:t>. </a:t>
            </a:r>
            <a:r>
              <a:rPr lang="en-US" sz="1000" dirty="0" smtClean="0">
                <a:solidFill>
                  <a:prstClr val="black"/>
                </a:solidFill>
              </a:rPr>
              <a:t>INDUSTRIALIZATION PROJECTS flow</a:t>
            </a:r>
            <a:endParaRPr lang="en-GB" sz="1000" dirty="0">
              <a:solidFill>
                <a:prstClr val="black"/>
              </a:solidFill>
            </a:endParaRPr>
          </a:p>
        </p:txBody>
      </p:sp>
    </p:spTree>
    <p:extLst>
      <p:ext uri="{BB962C8B-B14F-4D97-AF65-F5344CB8AC3E}">
        <p14:creationId xmlns:p14="http://schemas.microsoft.com/office/powerpoint/2010/main" val="15474701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23</a:t>
            </a:fld>
            <a:endParaRPr lang="es-ES" dirty="0"/>
          </a:p>
        </p:txBody>
      </p:sp>
      <p:pic>
        <p:nvPicPr>
          <p:cNvPr id="3" name="Imagen 2"/>
          <p:cNvPicPr>
            <a:picLocks noChangeAspect="1"/>
          </p:cNvPicPr>
          <p:nvPr/>
        </p:nvPicPr>
        <p:blipFill>
          <a:blip r:embed="rId2"/>
          <a:stretch>
            <a:fillRect/>
          </a:stretch>
        </p:blipFill>
        <p:spPr>
          <a:xfrm>
            <a:off x="1115616" y="2720526"/>
            <a:ext cx="5760640" cy="1884244"/>
          </a:xfrm>
          <a:prstGeom prst="rect">
            <a:avLst/>
          </a:prstGeom>
        </p:spPr>
      </p:pic>
      <p:sp>
        <p:nvSpPr>
          <p:cNvPr id="4" name="6 CuadroTexto"/>
          <p:cNvSpPr txBox="1"/>
          <p:nvPr/>
        </p:nvSpPr>
        <p:spPr>
          <a:xfrm>
            <a:off x="267320" y="980728"/>
            <a:ext cx="8337127" cy="646331"/>
          </a:xfrm>
          <a:prstGeom prst="rect">
            <a:avLst/>
          </a:prstGeom>
          <a:noFill/>
        </p:spPr>
        <p:txBody>
          <a:bodyPr wrap="square" rtlCol="0">
            <a:spAutoFit/>
          </a:bodyPr>
          <a:lstStyle>
            <a:defPPr>
              <a:defRPr lang="es-ES"/>
            </a:defPPr>
            <a:lvl1pPr>
              <a:defRPr b="1">
                <a:solidFill>
                  <a:srgbClr val="254061"/>
                </a:solidFill>
              </a:defRPr>
            </a:lvl1pPr>
          </a:lstStyle>
          <a:p>
            <a:pPr marL="0" lvl="2"/>
            <a:r>
              <a:rPr lang="en-US" b="1" dirty="0">
                <a:solidFill>
                  <a:srgbClr val="254061"/>
                </a:solidFill>
              </a:rPr>
              <a:t>MESSAGES WHEN SENDING TO VALIDATE: YOU MUST REPORT THE AFFECTED PROJECT </a:t>
            </a:r>
            <a:r>
              <a:rPr lang="en-US" b="1" dirty="0" smtClean="0">
                <a:solidFill>
                  <a:srgbClr val="254061"/>
                </a:solidFill>
              </a:rPr>
              <a:t>(FOR </a:t>
            </a:r>
            <a:r>
              <a:rPr lang="en-US" b="1" dirty="0">
                <a:solidFill>
                  <a:srgbClr val="254061"/>
                </a:solidFill>
              </a:rPr>
              <a:t>ECO'S)</a:t>
            </a:r>
          </a:p>
        </p:txBody>
      </p:sp>
      <p:sp>
        <p:nvSpPr>
          <p:cNvPr id="5" name="12 Rectángulo"/>
          <p:cNvSpPr/>
          <p:nvPr/>
        </p:nvSpPr>
        <p:spPr>
          <a:xfrm>
            <a:off x="75324" y="1767299"/>
            <a:ext cx="9068676" cy="81298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rgbClr val="000000"/>
                </a:solidFill>
                <a:latin typeface="Roboto"/>
              </a:rPr>
              <a:t>Whenever possible, in cost carriers, the modification Project will be assigned the same code of the Project that is being modified, continuing correlatively with the numbering with which the </a:t>
            </a:r>
            <a:r>
              <a:rPr lang="en-US" sz="1000" dirty="0" smtClean="0">
                <a:solidFill>
                  <a:srgbClr val="000000"/>
                </a:solidFill>
                <a:latin typeface="Roboto"/>
              </a:rPr>
              <a:t>Project that has to be modified ended</a:t>
            </a:r>
            <a:r>
              <a:rPr lang="en-US" sz="1000" dirty="0">
                <a:solidFill>
                  <a:srgbClr val="000000"/>
                </a:solidFill>
                <a:latin typeface="Roboto"/>
              </a:rPr>
              <a:t>. </a:t>
            </a:r>
            <a:r>
              <a:rPr lang="en-US" sz="1000" dirty="0" smtClean="0">
                <a:solidFill>
                  <a:srgbClr val="000000"/>
                </a:solidFill>
                <a:latin typeface="Roboto"/>
              </a:rPr>
              <a:t>Thus </a:t>
            </a:r>
            <a:r>
              <a:rPr lang="en-US" sz="1000" dirty="0">
                <a:solidFill>
                  <a:srgbClr val="000000"/>
                </a:solidFill>
                <a:latin typeface="Roboto"/>
              </a:rPr>
              <a:t>will </a:t>
            </a:r>
            <a:r>
              <a:rPr lang="en-US" sz="1000" dirty="0" smtClean="0">
                <a:solidFill>
                  <a:srgbClr val="000000"/>
                </a:solidFill>
                <a:latin typeface="Roboto"/>
              </a:rPr>
              <a:t>be possible </a:t>
            </a:r>
            <a:r>
              <a:rPr lang="en-US" sz="1000" dirty="0">
                <a:solidFill>
                  <a:srgbClr val="000000"/>
                </a:solidFill>
                <a:latin typeface="Roboto"/>
              </a:rPr>
              <a:t>to have a total cost reading. </a:t>
            </a:r>
            <a:endParaRPr lang="en-US" sz="1000" dirty="0" smtClean="0">
              <a:solidFill>
                <a:srgbClr val="000000"/>
              </a:solidFill>
              <a:latin typeface="Roboto"/>
            </a:endParaRPr>
          </a:p>
          <a:p>
            <a:endParaRPr lang="en-US" sz="1000" dirty="0" smtClean="0">
              <a:solidFill>
                <a:srgbClr val="000000"/>
              </a:solidFill>
              <a:latin typeface="Roboto"/>
            </a:endParaRPr>
          </a:p>
          <a:p>
            <a:r>
              <a:rPr lang="en-US" sz="1000" dirty="0" smtClean="0">
                <a:solidFill>
                  <a:srgbClr val="000000"/>
                </a:solidFill>
                <a:latin typeface="Roboto"/>
              </a:rPr>
              <a:t>So it is necessary to inform in PTKSIS about which is the project that has to be modified by the ECO.</a:t>
            </a:r>
            <a:endParaRPr lang="es-ES" sz="1000" dirty="0">
              <a:solidFill>
                <a:schemeClr val="tx1"/>
              </a:solidFill>
              <a:latin typeface="Arial" panose="020B0604020202020204" pitchFamily="34" charset="0"/>
              <a:cs typeface="Arial" panose="020B0604020202020204" pitchFamily="34" charset="0"/>
            </a:endParaRPr>
          </a:p>
        </p:txBody>
      </p:sp>
      <p:sp>
        <p:nvSpPr>
          <p:cNvPr id="6" name="Elipse 5"/>
          <p:cNvSpPr/>
          <p:nvPr/>
        </p:nvSpPr>
        <p:spPr>
          <a:xfrm>
            <a:off x="2555776" y="3140968"/>
            <a:ext cx="1008112" cy="288032"/>
          </a:xfrm>
          <a:prstGeom prst="ellipse">
            <a:avLst/>
          </a:prstGeom>
          <a:noFill/>
          <a:ln w="31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6559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24</a:t>
            </a:fld>
            <a:endParaRPr lang="es-ES" dirty="0"/>
          </a:p>
        </p:txBody>
      </p:sp>
      <p:sp>
        <p:nvSpPr>
          <p:cNvPr id="5" name="12 Rectángulo"/>
          <p:cNvSpPr/>
          <p:nvPr/>
        </p:nvSpPr>
        <p:spPr>
          <a:xfrm>
            <a:off x="7390" y="1627059"/>
            <a:ext cx="9136609" cy="81298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rgbClr val="000000"/>
                </a:solidFill>
                <a:latin typeface="Roboto"/>
              </a:rPr>
              <a:t>If we have not written an abbreviation for the name of the project, we will get this message when sending to validate so that we can do it at that moment (by clicking OK, it will take us to the menu to edit the name). We can enter a maximum of 10 characters. After filling it out we can return to Send to validate</a:t>
            </a:r>
            <a:endParaRPr lang="es-ES" sz="1000" dirty="0">
              <a:solidFill>
                <a:schemeClr val="tx1"/>
              </a:solidFill>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tretch>
            <a:fillRect/>
          </a:stretch>
        </p:blipFill>
        <p:spPr>
          <a:xfrm>
            <a:off x="2339752" y="2192254"/>
            <a:ext cx="3254896" cy="902494"/>
          </a:xfrm>
          <a:prstGeom prst="rect">
            <a:avLst/>
          </a:prstGeom>
          <a:ln w="6350">
            <a:solidFill>
              <a:schemeClr val="tx1"/>
            </a:solidFill>
          </a:ln>
        </p:spPr>
      </p:pic>
      <p:sp>
        <p:nvSpPr>
          <p:cNvPr id="8" name="3 CuadroTexto"/>
          <p:cNvSpPr txBox="1"/>
          <p:nvPr/>
        </p:nvSpPr>
        <p:spPr>
          <a:xfrm>
            <a:off x="267320" y="980728"/>
            <a:ext cx="8337127" cy="646331"/>
          </a:xfrm>
          <a:prstGeom prst="rect">
            <a:avLst/>
          </a:prstGeom>
          <a:noFill/>
        </p:spPr>
        <p:txBody>
          <a:bodyPr wrap="square" rtlCol="0">
            <a:spAutoFit/>
          </a:bodyPr>
          <a:lstStyle/>
          <a:p>
            <a:pPr marL="0" lvl="2"/>
            <a:r>
              <a:rPr lang="en-US" b="1" dirty="0">
                <a:solidFill>
                  <a:srgbClr val="254061"/>
                </a:solidFill>
              </a:rPr>
              <a:t>MESSAGES WHEN SENDING TO VALIDATE: THE PROJECT DOES NOT CONTAIN ABBREVIATION</a:t>
            </a:r>
          </a:p>
        </p:txBody>
      </p:sp>
      <p:pic>
        <p:nvPicPr>
          <p:cNvPr id="9" name="Imagen 8">
            <a:hlinkClick r:id="rId3" action="ppaction://hlinksldjump"/>
          </p:cNvPr>
          <p:cNvPicPr>
            <a:picLocks noChangeAspect="1"/>
          </p:cNvPicPr>
          <p:nvPr/>
        </p:nvPicPr>
        <p:blipFill>
          <a:blip r:embed="rId4"/>
          <a:stretch>
            <a:fillRect/>
          </a:stretch>
        </p:blipFill>
        <p:spPr>
          <a:xfrm>
            <a:off x="306455" y="3636609"/>
            <a:ext cx="4857493" cy="3221391"/>
          </a:xfrm>
          <a:prstGeom prst="rect">
            <a:avLst/>
          </a:prstGeom>
        </p:spPr>
      </p:pic>
      <p:sp>
        <p:nvSpPr>
          <p:cNvPr id="10" name="12 Rectángulo"/>
          <p:cNvSpPr/>
          <p:nvPr/>
        </p:nvSpPr>
        <p:spPr>
          <a:xfrm>
            <a:off x="159957" y="3216887"/>
            <a:ext cx="3187907" cy="41542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a:solidFill>
                  <a:srgbClr val="000000"/>
                </a:solidFill>
                <a:latin typeface="Roboto"/>
              </a:rPr>
              <a:t>More about the project abbreviation on slide:</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01785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25</a:t>
            </a:fld>
            <a:endParaRPr lang="es-ES" dirty="0"/>
          </a:p>
        </p:txBody>
      </p:sp>
      <p:grpSp>
        <p:nvGrpSpPr>
          <p:cNvPr id="6" name="Grupo 5"/>
          <p:cNvGrpSpPr/>
          <p:nvPr/>
        </p:nvGrpSpPr>
        <p:grpSpPr>
          <a:xfrm>
            <a:off x="186039" y="1700808"/>
            <a:ext cx="8274562" cy="802032"/>
            <a:chOff x="186039" y="3224348"/>
            <a:chExt cx="8274562" cy="802032"/>
          </a:xfrm>
        </p:grpSpPr>
        <p:pic>
          <p:nvPicPr>
            <p:cNvPr id="4" name="Imagen 3"/>
            <p:cNvPicPr>
              <a:picLocks noChangeAspect="1"/>
            </p:cNvPicPr>
            <p:nvPr/>
          </p:nvPicPr>
          <p:blipFill>
            <a:blip r:embed="rId3"/>
            <a:stretch>
              <a:fillRect/>
            </a:stretch>
          </p:blipFill>
          <p:spPr>
            <a:xfrm>
              <a:off x="539552" y="3789040"/>
              <a:ext cx="7920880" cy="237340"/>
            </a:xfrm>
            <a:prstGeom prst="rect">
              <a:avLst/>
            </a:prstGeom>
          </p:spPr>
        </p:pic>
        <p:pic>
          <p:nvPicPr>
            <p:cNvPr id="5" name="Imagen 4"/>
            <p:cNvPicPr>
              <a:picLocks noChangeAspect="1"/>
            </p:cNvPicPr>
            <p:nvPr/>
          </p:nvPicPr>
          <p:blipFill>
            <a:blip r:embed="rId4"/>
            <a:stretch>
              <a:fillRect/>
            </a:stretch>
          </p:blipFill>
          <p:spPr>
            <a:xfrm>
              <a:off x="186039" y="3224348"/>
              <a:ext cx="8274562" cy="564692"/>
            </a:xfrm>
            <a:prstGeom prst="rect">
              <a:avLst/>
            </a:prstGeom>
          </p:spPr>
        </p:pic>
      </p:grpSp>
      <p:sp>
        <p:nvSpPr>
          <p:cNvPr id="7" name="6 CuadroTexto"/>
          <p:cNvSpPr txBox="1"/>
          <p:nvPr/>
        </p:nvSpPr>
        <p:spPr>
          <a:xfrm>
            <a:off x="267320" y="980728"/>
            <a:ext cx="8337127" cy="646331"/>
          </a:xfrm>
          <a:prstGeom prst="rect">
            <a:avLst/>
          </a:prstGeom>
          <a:noFill/>
        </p:spPr>
        <p:txBody>
          <a:bodyPr wrap="square" rtlCol="0">
            <a:spAutoFit/>
          </a:bodyPr>
          <a:lstStyle>
            <a:defPPr>
              <a:defRPr lang="es-ES"/>
            </a:defPPr>
            <a:lvl1pPr>
              <a:defRPr b="1">
                <a:solidFill>
                  <a:srgbClr val="254061"/>
                </a:solidFill>
              </a:defRPr>
            </a:lvl1pPr>
          </a:lstStyle>
          <a:p>
            <a:pPr marL="0" lvl="2"/>
            <a:r>
              <a:rPr lang="en-US" b="1" dirty="0">
                <a:solidFill>
                  <a:srgbClr val="254061"/>
                </a:solidFill>
              </a:rPr>
              <a:t>MESSAGES WHEN SENDING TO VALIDATE: BUDGET APPROVED DIFFERS FROM THE SUMMATION OF EXPENSES</a:t>
            </a:r>
          </a:p>
        </p:txBody>
      </p:sp>
      <p:sp>
        <p:nvSpPr>
          <p:cNvPr id="9" name="Rectángulo 8"/>
          <p:cNvSpPr/>
          <p:nvPr/>
        </p:nvSpPr>
        <p:spPr>
          <a:xfrm>
            <a:off x="2411760" y="2265500"/>
            <a:ext cx="360040" cy="23734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0" name="Rectángulo 9"/>
          <p:cNvSpPr/>
          <p:nvPr/>
        </p:nvSpPr>
        <p:spPr>
          <a:xfrm>
            <a:off x="3059832" y="2236827"/>
            <a:ext cx="1368152" cy="23734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Rectángulo 10"/>
          <p:cNvSpPr/>
          <p:nvPr/>
        </p:nvSpPr>
        <p:spPr>
          <a:xfrm>
            <a:off x="5759967" y="2250147"/>
            <a:ext cx="1339053" cy="23734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2" name="Rectángulo 11"/>
          <p:cNvSpPr/>
          <p:nvPr/>
        </p:nvSpPr>
        <p:spPr>
          <a:xfrm>
            <a:off x="4464153" y="2236827"/>
            <a:ext cx="1259975" cy="23734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Rectángulo 12"/>
          <p:cNvSpPr/>
          <p:nvPr/>
        </p:nvSpPr>
        <p:spPr>
          <a:xfrm>
            <a:off x="7149823" y="2236827"/>
            <a:ext cx="1259975" cy="23734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4" name="Rectángulo 13"/>
          <p:cNvSpPr/>
          <p:nvPr/>
        </p:nvSpPr>
        <p:spPr>
          <a:xfrm>
            <a:off x="1835696" y="2255000"/>
            <a:ext cx="288032" cy="23734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8" name="12 Rectángulo"/>
          <p:cNvSpPr/>
          <p:nvPr/>
        </p:nvSpPr>
        <p:spPr>
          <a:xfrm>
            <a:off x="107504" y="4024529"/>
            <a:ext cx="8856984" cy="1276679"/>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lvl="2"/>
            <a:r>
              <a:rPr lang="en-US" sz="1000" dirty="0">
                <a:solidFill>
                  <a:srgbClr val="000000"/>
                </a:solidFill>
                <a:latin typeface="Roboto"/>
              </a:rPr>
              <a:t>When the step is of type A2 (Origin technical offer or budget), this is the message that is output if this condition is not </a:t>
            </a:r>
            <a:r>
              <a:rPr lang="en-US" sz="1000" dirty="0" smtClean="0">
                <a:solidFill>
                  <a:srgbClr val="000000"/>
                </a:solidFill>
                <a:latin typeface="Roboto"/>
              </a:rPr>
              <a:t>met</a:t>
            </a:r>
          </a:p>
          <a:p>
            <a:pPr marL="0" lvl="2"/>
            <a:r>
              <a:rPr lang="es-ES" sz="1000" dirty="0" smtClean="0">
                <a:solidFill>
                  <a:schemeClr val="tx1"/>
                </a:solidFill>
                <a:latin typeface="Arial" panose="020B0604020202020204" pitchFamily="34" charset="0"/>
                <a:cs typeface="Arial" panose="020B0604020202020204" pitchFamily="34" charset="0"/>
              </a:rPr>
              <a:t>. </a:t>
            </a:r>
          </a:p>
          <a:p>
            <a:pPr marL="177800" lvl="3" indent="-177800">
              <a:buFont typeface="Arial" panose="020B0604020202020204" pitchFamily="34" charset="0"/>
              <a:buChar char="•"/>
            </a:pPr>
            <a:r>
              <a:rPr lang="es-ES" sz="1000" b="1" dirty="0" smtClean="0">
                <a:solidFill>
                  <a:srgbClr val="0000FF"/>
                </a:solidFill>
                <a:latin typeface="Arial" panose="020B0604020202020204" pitchFamily="34" charset="0"/>
                <a:cs typeface="Arial" panose="020B0604020202020204" pitchFamily="34" charset="0"/>
              </a:rPr>
              <a:t>∑</a:t>
            </a:r>
            <a:r>
              <a:rPr lang="es-ES" sz="1000" b="1" dirty="0">
                <a:solidFill>
                  <a:srgbClr val="0000FF"/>
                </a:solidFill>
                <a:latin typeface="Arial" panose="020B0604020202020204" pitchFamily="34" charset="0"/>
                <a:cs typeface="Arial" panose="020B0604020202020204" pitchFamily="34" charset="0"/>
              </a:rPr>
              <a:t>Expenses = Budget </a:t>
            </a:r>
            <a:r>
              <a:rPr lang="es-ES" sz="1000" b="1" dirty="0" err="1">
                <a:solidFill>
                  <a:srgbClr val="0000FF"/>
                </a:solidFill>
                <a:latin typeface="Arial" panose="020B0604020202020204" pitchFamily="34" charset="0"/>
                <a:cs typeface="Arial" panose="020B0604020202020204" pitchFamily="34" charset="0"/>
              </a:rPr>
              <a:t>approved</a:t>
            </a:r>
            <a:endParaRPr lang="es-ES" sz="1000" b="1" dirty="0">
              <a:solidFill>
                <a:srgbClr val="0000FF"/>
              </a:solidFill>
              <a:latin typeface="Arial" panose="020B0604020202020204" pitchFamily="34" charset="0"/>
              <a:cs typeface="Arial" panose="020B0604020202020204" pitchFamily="34" charset="0"/>
            </a:endParaRPr>
          </a:p>
          <a:p>
            <a:pPr marL="177800" lvl="3" indent="-177800">
              <a:buFont typeface="Arial" panose="020B0604020202020204" pitchFamily="34" charset="0"/>
              <a:buChar char="•"/>
            </a:pPr>
            <a:r>
              <a:rPr lang="es-ES" sz="1000" b="1" dirty="0">
                <a:solidFill>
                  <a:srgbClr val="0000FF"/>
                </a:solidFill>
                <a:latin typeface="Arial" panose="020B0604020202020204" pitchFamily="34" charset="0"/>
                <a:cs typeface="Arial" panose="020B0604020202020204" pitchFamily="34" charset="0"/>
              </a:rPr>
              <a:t>∑</a:t>
            </a:r>
            <a:r>
              <a:rPr lang="es-ES" sz="1000" b="1" dirty="0" err="1">
                <a:solidFill>
                  <a:srgbClr val="0000FF"/>
                </a:solidFill>
                <a:latin typeface="Arial" panose="020B0604020202020204" pitchFamily="34" charset="0"/>
                <a:cs typeface="Arial" panose="020B0604020202020204" pitchFamily="34" charset="0"/>
              </a:rPr>
              <a:t>Incomes</a:t>
            </a:r>
            <a:r>
              <a:rPr lang="es-ES" sz="1000" b="1" dirty="0">
                <a:solidFill>
                  <a:srgbClr val="0000FF"/>
                </a:solidFill>
                <a:latin typeface="Arial" panose="020B0604020202020204" pitchFamily="34" charset="0"/>
                <a:cs typeface="Arial" panose="020B0604020202020204" pitchFamily="34" charset="0"/>
              </a:rPr>
              <a:t> = </a:t>
            </a:r>
            <a:r>
              <a:rPr lang="es-ES" sz="1000" b="1" dirty="0" err="1">
                <a:solidFill>
                  <a:srgbClr val="0000FF"/>
                </a:solidFill>
                <a:latin typeface="Arial" panose="020B0604020202020204" pitchFamily="34" charset="0"/>
                <a:cs typeface="Arial" panose="020B0604020202020204" pitchFamily="34" charset="0"/>
              </a:rPr>
              <a:t>Paid</a:t>
            </a:r>
            <a:r>
              <a:rPr lang="es-ES" sz="1000" b="1" dirty="0">
                <a:solidFill>
                  <a:srgbClr val="0000FF"/>
                </a:solidFill>
                <a:latin typeface="Arial" panose="020B0604020202020204" pitchFamily="34" charset="0"/>
                <a:cs typeface="Arial" panose="020B0604020202020204" pitchFamily="34" charset="0"/>
              </a:rPr>
              <a:t> </a:t>
            </a:r>
            <a:r>
              <a:rPr lang="es-ES" sz="1000" b="1" dirty="0" err="1">
                <a:solidFill>
                  <a:srgbClr val="0000FF"/>
                </a:solidFill>
                <a:latin typeface="Arial" panose="020B0604020202020204" pitchFamily="34" charset="0"/>
                <a:cs typeface="Arial" panose="020B0604020202020204" pitchFamily="34" charset="0"/>
              </a:rPr>
              <a:t>by</a:t>
            </a:r>
            <a:r>
              <a:rPr lang="es-ES" sz="1000" b="1" dirty="0">
                <a:solidFill>
                  <a:srgbClr val="0000FF"/>
                </a:solidFill>
                <a:latin typeface="Arial" panose="020B0604020202020204" pitchFamily="34" charset="0"/>
                <a:cs typeface="Arial" panose="020B0604020202020204" pitchFamily="34" charset="0"/>
              </a:rPr>
              <a:t> </a:t>
            </a:r>
            <a:r>
              <a:rPr lang="es-ES" sz="1000" b="1" dirty="0" err="1" smtClean="0">
                <a:solidFill>
                  <a:srgbClr val="0000FF"/>
                </a:solidFill>
                <a:latin typeface="Arial" panose="020B0604020202020204" pitchFamily="34" charset="0"/>
                <a:cs typeface="Arial" panose="020B0604020202020204" pitchFamily="34" charset="0"/>
              </a:rPr>
              <a:t>customer</a:t>
            </a:r>
            <a:endParaRPr lang="es-ES" sz="1000" b="1" dirty="0" smtClean="0">
              <a:solidFill>
                <a:srgbClr val="0000FF"/>
              </a:solidFill>
              <a:latin typeface="Arial" panose="020B0604020202020204" pitchFamily="34" charset="0"/>
              <a:cs typeface="Arial" panose="020B0604020202020204" pitchFamily="34" charset="0"/>
            </a:endParaRPr>
          </a:p>
          <a:p>
            <a:pPr marL="177800" lvl="3" indent="-177800">
              <a:buFont typeface="Arial" panose="020B0604020202020204" pitchFamily="34" charset="0"/>
              <a:buChar char="•"/>
            </a:pPr>
            <a:endParaRPr lang="en-US" sz="1000" dirty="0">
              <a:solidFill>
                <a:schemeClr val="tx1"/>
              </a:solidFill>
              <a:latin typeface="Arial" panose="020B0604020202020204" pitchFamily="34" charset="0"/>
              <a:cs typeface="Arial" panose="020B0604020202020204" pitchFamily="34" charset="0"/>
            </a:endParaRPr>
          </a:p>
          <a:p>
            <a:pPr marL="0" lvl="3"/>
            <a:r>
              <a:rPr lang="en-US" sz="1000" dirty="0" smtClean="0">
                <a:solidFill>
                  <a:schemeClr val="tx1"/>
                </a:solidFill>
                <a:latin typeface="Arial" panose="020B0604020202020204" pitchFamily="34" charset="0"/>
                <a:cs typeface="Arial" panose="020B0604020202020204" pitchFamily="34" charset="0"/>
                <a:hlinkClick r:id="rId5" action="ppaction://hlinksldjump"/>
              </a:rPr>
              <a:t>See slide</a:t>
            </a:r>
            <a:endParaRPr lang="es-ES" sz="1000" dirty="0">
              <a:solidFill>
                <a:schemeClr val="tx1"/>
              </a:solidFill>
              <a:latin typeface="Arial" panose="020B0604020202020204" pitchFamily="34" charset="0"/>
              <a:cs typeface="Arial" panose="020B0604020202020204" pitchFamily="34" charset="0"/>
            </a:endParaRPr>
          </a:p>
        </p:txBody>
      </p:sp>
      <p:grpSp>
        <p:nvGrpSpPr>
          <p:cNvPr id="25" name="Grupo 24"/>
          <p:cNvGrpSpPr/>
          <p:nvPr/>
        </p:nvGrpSpPr>
        <p:grpSpPr>
          <a:xfrm>
            <a:off x="2423923" y="2780559"/>
            <a:ext cx="3823121" cy="1201552"/>
            <a:chOff x="2423923" y="2780559"/>
            <a:chExt cx="3823121" cy="1201552"/>
          </a:xfrm>
        </p:grpSpPr>
        <p:pic>
          <p:nvPicPr>
            <p:cNvPr id="3" name="Imagen 2"/>
            <p:cNvPicPr>
              <a:picLocks noChangeAspect="1"/>
            </p:cNvPicPr>
            <p:nvPr/>
          </p:nvPicPr>
          <p:blipFill>
            <a:blip r:embed="rId6"/>
            <a:stretch>
              <a:fillRect/>
            </a:stretch>
          </p:blipFill>
          <p:spPr>
            <a:xfrm>
              <a:off x="2423923" y="2780559"/>
              <a:ext cx="3823121" cy="1201552"/>
            </a:xfrm>
            <a:prstGeom prst="rect">
              <a:avLst/>
            </a:prstGeom>
          </p:spPr>
        </p:pic>
        <p:pic>
          <p:nvPicPr>
            <p:cNvPr id="22" name="Imagen 21"/>
            <p:cNvPicPr>
              <a:picLocks noChangeAspect="1"/>
            </p:cNvPicPr>
            <p:nvPr/>
          </p:nvPicPr>
          <p:blipFill>
            <a:blip r:embed="rId7"/>
            <a:stretch>
              <a:fillRect/>
            </a:stretch>
          </p:blipFill>
          <p:spPr>
            <a:xfrm>
              <a:off x="5148064" y="3212976"/>
              <a:ext cx="234000" cy="257941"/>
            </a:xfrm>
            <a:prstGeom prst="rect">
              <a:avLst/>
            </a:prstGeom>
          </p:spPr>
        </p:pic>
        <p:pic>
          <p:nvPicPr>
            <p:cNvPr id="23" name="Imagen 22"/>
            <p:cNvPicPr>
              <a:picLocks noChangeAspect="1"/>
            </p:cNvPicPr>
            <p:nvPr/>
          </p:nvPicPr>
          <p:blipFill>
            <a:blip r:embed="rId8"/>
            <a:stretch>
              <a:fillRect/>
            </a:stretch>
          </p:blipFill>
          <p:spPr>
            <a:xfrm flipH="1">
              <a:off x="5148064" y="3304800"/>
              <a:ext cx="102226" cy="126000"/>
            </a:xfrm>
            <a:prstGeom prst="rect">
              <a:avLst/>
            </a:prstGeom>
          </p:spPr>
        </p:pic>
        <p:pic>
          <p:nvPicPr>
            <p:cNvPr id="24" name="Imagen 23"/>
            <p:cNvPicPr>
              <a:picLocks noChangeAspect="1"/>
            </p:cNvPicPr>
            <p:nvPr/>
          </p:nvPicPr>
          <p:blipFill>
            <a:blip r:embed="rId9"/>
            <a:stretch>
              <a:fillRect/>
            </a:stretch>
          </p:blipFill>
          <p:spPr>
            <a:xfrm>
              <a:off x="5290789" y="3238460"/>
              <a:ext cx="314325" cy="285750"/>
            </a:xfrm>
            <a:prstGeom prst="rect">
              <a:avLst/>
            </a:prstGeom>
          </p:spPr>
        </p:pic>
      </p:grpSp>
    </p:spTree>
    <p:extLst>
      <p:ext uri="{BB962C8B-B14F-4D97-AF65-F5344CB8AC3E}">
        <p14:creationId xmlns:p14="http://schemas.microsoft.com/office/powerpoint/2010/main" val="32457115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84" y="2071393"/>
            <a:ext cx="6334316" cy="709535"/>
          </a:xfrm>
          <a:prstGeom prst="rect">
            <a:avLst/>
          </a:prstGeom>
          <a:ln w="6350">
            <a:solidFill>
              <a:schemeClr val="tx1"/>
            </a:solidFill>
          </a:ln>
          <a:effectLst/>
          <a:extLst>
            <a:ext uri="{909E8E84-426E-40DD-AFC4-6F175D3DCCD1}">
              <a14:hiddenFill xmlns:a14="http://schemas.microsoft.com/office/drawing/2010/main">
                <a:solidFill>
                  <a:schemeClr val="accent1"/>
                </a:solidFill>
              </a14:hiddenFill>
            </a:ext>
          </a:extLst>
        </p:spPr>
      </p:pic>
      <p:pic>
        <p:nvPicPr>
          <p:cNvPr id="13" name="Imagen 12"/>
          <p:cNvPicPr>
            <a:picLocks noChangeAspect="1"/>
          </p:cNvPicPr>
          <p:nvPr/>
        </p:nvPicPr>
        <p:blipFill>
          <a:blip r:embed="rId3"/>
          <a:stretch>
            <a:fillRect/>
          </a:stretch>
        </p:blipFill>
        <p:spPr>
          <a:xfrm>
            <a:off x="537451" y="2754095"/>
            <a:ext cx="8390262" cy="4022652"/>
          </a:xfrm>
          <a:prstGeom prst="rect">
            <a:avLst/>
          </a:prstGeom>
          <a:ln w="6350">
            <a:solidFill>
              <a:schemeClr val="tx1"/>
            </a:solidFill>
          </a:ln>
          <a:effectLst/>
        </p:spPr>
      </p:pic>
      <p:sp>
        <p:nvSpPr>
          <p:cNvPr id="2" name="1 Marcador de número de diapositiva"/>
          <p:cNvSpPr>
            <a:spLocks noGrp="1"/>
          </p:cNvSpPr>
          <p:nvPr>
            <p:ph type="sldNum" sz="quarter" idx="12"/>
          </p:nvPr>
        </p:nvSpPr>
        <p:spPr/>
        <p:txBody>
          <a:bodyPr/>
          <a:lstStyle/>
          <a:p>
            <a:fld id="{6C159591-2568-4DE8-9BFD-2ABD54E1DEC4}" type="slidenum">
              <a:rPr lang="es-ES" smtClean="0"/>
              <a:pPr/>
              <a:t>26</a:t>
            </a:fld>
            <a:endParaRPr lang="es-ES" dirty="0"/>
          </a:p>
        </p:txBody>
      </p:sp>
      <p:sp>
        <p:nvSpPr>
          <p:cNvPr id="7" name="6 CuadroTexto"/>
          <p:cNvSpPr txBox="1"/>
          <p:nvPr/>
        </p:nvSpPr>
        <p:spPr>
          <a:xfrm>
            <a:off x="267320" y="980728"/>
            <a:ext cx="7329015" cy="369332"/>
          </a:xfrm>
          <a:prstGeom prst="rect">
            <a:avLst/>
          </a:prstGeom>
          <a:noFill/>
        </p:spPr>
        <p:txBody>
          <a:bodyPr wrap="square" rtlCol="0">
            <a:spAutoFit/>
          </a:bodyPr>
          <a:lstStyle/>
          <a:p>
            <a:r>
              <a:rPr lang="es-ES" b="1" dirty="0">
                <a:solidFill>
                  <a:srgbClr val="254061"/>
                </a:solidFill>
              </a:rPr>
              <a:t>SENDING TO </a:t>
            </a:r>
            <a:r>
              <a:rPr lang="es-ES" b="1" dirty="0" smtClean="0">
                <a:solidFill>
                  <a:srgbClr val="254061"/>
                </a:solidFill>
              </a:rPr>
              <a:t>VALIDATION (GENERAL INFO) – UPDATING I</a:t>
            </a:r>
            <a:endParaRPr lang="es-ES" b="1" dirty="0">
              <a:solidFill>
                <a:srgbClr val="254061"/>
              </a:solidFill>
            </a:endParaRPr>
          </a:p>
        </p:txBody>
      </p:sp>
      <p:sp>
        <p:nvSpPr>
          <p:cNvPr id="15" name="14 Llamada rectangular"/>
          <p:cNvSpPr/>
          <p:nvPr/>
        </p:nvSpPr>
        <p:spPr>
          <a:xfrm>
            <a:off x="3917356" y="2532430"/>
            <a:ext cx="4824536" cy="1171484"/>
          </a:xfrm>
          <a:prstGeom prst="wedgeRectCallout">
            <a:avLst>
              <a:gd name="adj1" fmla="val -70160"/>
              <a:gd name="adj2" fmla="val 3212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Fill</a:t>
            </a:r>
            <a:r>
              <a:rPr lang="es-ES" sz="1000" dirty="0" smtClean="0">
                <a:solidFill>
                  <a:schemeClr val="tx1"/>
                </a:solidFill>
                <a:latin typeface="Arial" panose="020B0604020202020204" pitchFamily="34" charset="0"/>
                <a:cs typeface="Arial" panose="020B0604020202020204" pitchFamily="34" charset="0"/>
              </a:rPr>
              <a:t> in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following</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fields</a:t>
            </a:r>
            <a:r>
              <a:rPr lang="es-ES" sz="1000" dirty="0" smtClean="0">
                <a:solidFill>
                  <a:schemeClr val="tx1"/>
                </a:solidFill>
                <a:latin typeface="Arial" panose="020B0604020202020204" pitchFamily="34" charset="0"/>
                <a:cs typeface="Arial" panose="020B0604020202020204" pitchFamily="34" charset="0"/>
              </a:rPr>
              <a:t>:</a:t>
            </a: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Denomination</a:t>
            </a:r>
            <a:r>
              <a:rPr lang="es-ES" sz="1000" b="1"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Label or name with which this request will be saved (the name of the project should not be included</a:t>
            </a:r>
            <a:r>
              <a:rPr lang="en-US" sz="1000" dirty="0" smtClean="0">
                <a:solidFill>
                  <a:schemeClr val="tx1"/>
                </a:solidFill>
                <a:latin typeface="Arial" panose="020B0604020202020204" pitchFamily="34" charset="0"/>
                <a:cs typeface="Arial" panose="020B0604020202020204" pitchFamily="34" charset="0"/>
              </a:rPr>
              <a:t>).</a:t>
            </a: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Description</a:t>
            </a:r>
            <a:r>
              <a:rPr lang="es-ES" sz="1000" b="1"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We</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usually</a:t>
            </a:r>
            <a:r>
              <a:rPr lang="es-ES" sz="1000" dirty="0">
                <a:solidFill>
                  <a:schemeClr val="tx1"/>
                </a:solidFill>
                <a:latin typeface="Arial" panose="020B0604020202020204" pitchFamily="34" charset="0"/>
                <a:cs typeface="Arial" panose="020B0604020202020204" pitchFamily="34" charset="0"/>
              </a:rPr>
              <a:t> use to </a:t>
            </a:r>
            <a:r>
              <a:rPr lang="es-ES" sz="1000" dirty="0" err="1">
                <a:solidFill>
                  <a:schemeClr val="tx1"/>
                </a:solidFill>
                <a:latin typeface="Arial" panose="020B0604020202020204" pitchFamily="34" charset="0"/>
                <a:cs typeface="Arial" panose="020B0604020202020204" pitchFamily="34" charset="0"/>
              </a:rPr>
              <a:t>explain</a:t>
            </a:r>
            <a:r>
              <a:rPr lang="es-ES" sz="1000" dirty="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deviations of the economic concepts </a:t>
            </a:r>
            <a:r>
              <a:rPr lang="en-US" sz="1000" dirty="0" smtClean="0">
                <a:solidFill>
                  <a:schemeClr val="tx1"/>
                </a:solidFill>
                <a:latin typeface="Arial" panose="020B0604020202020204" pitchFamily="34" charset="0"/>
                <a:cs typeface="Arial" panose="020B0604020202020204" pitchFamily="34" charset="0"/>
              </a:rPr>
              <a:t>of General </a:t>
            </a:r>
            <a:r>
              <a:rPr lang="en-US" sz="1000" dirty="0">
                <a:solidFill>
                  <a:schemeClr val="tx1"/>
                </a:solidFill>
                <a:latin typeface="Arial" panose="020B0604020202020204" pitchFamily="34" charset="0"/>
                <a:cs typeface="Arial" panose="020B0604020202020204" pitchFamily="34" charset="0"/>
              </a:rPr>
              <a:t>info table of the previous validation (if it is the first validation, it would be the Awarding offer) </a:t>
            </a:r>
            <a:endParaRPr lang="es-ES" sz="1000" dirty="0" smtClean="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General </a:t>
            </a:r>
            <a:r>
              <a:rPr lang="es-ES" sz="1000" b="1" dirty="0" err="1" smtClean="0">
                <a:solidFill>
                  <a:schemeClr val="tx1"/>
                </a:solidFill>
                <a:latin typeface="Arial" panose="020B0604020202020204" pitchFamily="34" charset="0"/>
                <a:cs typeface="Arial" panose="020B0604020202020204" pitchFamily="34" charset="0"/>
              </a:rPr>
              <a:t>Info</a:t>
            </a:r>
            <a:endParaRPr lang="es-ES" sz="1000" b="1" dirty="0">
              <a:solidFill>
                <a:schemeClr val="tx1"/>
              </a:solidFill>
              <a:latin typeface="Arial" panose="020B0604020202020204" pitchFamily="34" charset="0"/>
              <a:cs typeface="Arial" panose="020B0604020202020204" pitchFamily="34" charset="0"/>
            </a:endParaRPr>
          </a:p>
        </p:txBody>
      </p:sp>
      <p:sp>
        <p:nvSpPr>
          <p:cNvPr id="19" name="18 Rectángulo redondeado"/>
          <p:cNvSpPr/>
          <p:nvPr/>
        </p:nvSpPr>
        <p:spPr>
          <a:xfrm>
            <a:off x="7616099" y="2240856"/>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a:t>
            </a:r>
            <a:endParaRPr lang="es-ES" sz="1400" dirty="0">
              <a:solidFill>
                <a:schemeClr val="tx1"/>
              </a:solidFill>
            </a:endParaRPr>
          </a:p>
        </p:txBody>
      </p:sp>
      <p:sp>
        <p:nvSpPr>
          <p:cNvPr id="21" name="20 Rectángulo"/>
          <p:cNvSpPr/>
          <p:nvPr/>
        </p:nvSpPr>
        <p:spPr>
          <a:xfrm>
            <a:off x="0" y="1484784"/>
            <a:ext cx="8964487" cy="461665"/>
          </a:xfrm>
          <a:prstGeom prst="rect">
            <a:avLst/>
          </a:prstGeom>
        </p:spPr>
        <p:txBody>
          <a:bodyPr wrap="square">
            <a:spAutoFit/>
          </a:bodyPr>
          <a:lstStyle/>
          <a:p>
            <a:r>
              <a:rPr lang="en-US" sz="1200" dirty="0">
                <a:latin typeface="Arial" panose="020B0604020202020204" pitchFamily="34" charset="0"/>
                <a:cs typeface="Arial" panose="020B0604020202020204" pitchFamily="34" charset="0"/>
                <a:sym typeface="Wingdings" panose="05000000000000000000" pitchFamily="2" charset="2"/>
              </a:rPr>
              <a:t>This validation request does not contain steps, only the data collected in the General Info box </a:t>
            </a:r>
            <a:r>
              <a:rPr lang="en-US" sz="1200" dirty="0" smtClean="0">
                <a:latin typeface="Arial" panose="020B0604020202020204" pitchFamily="34" charset="0"/>
                <a:cs typeface="Arial" panose="020B0604020202020204" pitchFamily="34" charset="0"/>
                <a:sym typeface="Wingdings" panose="05000000000000000000" pitchFamily="2" charset="2"/>
              </a:rPr>
              <a:t>(for industrialization projects, as the net </a:t>
            </a:r>
            <a:r>
              <a:rPr lang="en-US" sz="1200" dirty="0">
                <a:latin typeface="Arial" panose="020B0604020202020204" pitchFamily="34" charset="0"/>
                <a:cs typeface="Arial" panose="020B0604020202020204" pitchFamily="34" charset="0"/>
                <a:sym typeface="Wingdings" panose="05000000000000000000" pitchFamily="2" charset="2"/>
              </a:rPr>
              <a:t>margin, effective </a:t>
            </a:r>
            <a:r>
              <a:rPr lang="en-US" sz="1200" dirty="0" smtClean="0">
                <a:latin typeface="Arial" panose="020B0604020202020204" pitchFamily="34" charset="0"/>
                <a:cs typeface="Arial" panose="020B0604020202020204" pitchFamily="34" charset="0"/>
                <a:sym typeface="Wingdings" panose="05000000000000000000" pitchFamily="2" charset="2"/>
              </a:rPr>
              <a:t>sales, etc. and </a:t>
            </a:r>
            <a:r>
              <a:rPr lang="es-ES" sz="1200" dirty="0" err="1">
                <a:latin typeface="Arial" panose="020B0604020202020204" pitchFamily="34" charset="0"/>
                <a:cs typeface="Arial" panose="020B0604020202020204" pitchFamily="34" charset="0"/>
                <a:sym typeface="Wingdings" panose="05000000000000000000" pitchFamily="2" charset="2"/>
              </a:rPr>
              <a:t>for</a:t>
            </a:r>
            <a:r>
              <a:rPr lang="es-ES" sz="1200" dirty="0">
                <a:latin typeface="Arial" panose="020B0604020202020204" pitchFamily="34" charset="0"/>
                <a:cs typeface="Arial" panose="020B0604020202020204" pitchFamily="34" charset="0"/>
                <a:sym typeface="Wingdings" panose="05000000000000000000" pitchFamily="2" charset="2"/>
              </a:rPr>
              <a:t> </a:t>
            </a:r>
            <a:r>
              <a:rPr lang="es-ES" sz="1200" dirty="0" err="1">
                <a:latin typeface="Arial" panose="020B0604020202020204" pitchFamily="34" charset="0"/>
                <a:cs typeface="Arial" panose="020B0604020202020204" pitchFamily="34" charset="0"/>
                <a:sym typeface="Wingdings" panose="05000000000000000000" pitchFamily="2" charset="2"/>
              </a:rPr>
              <a:t>modification</a:t>
            </a:r>
            <a:r>
              <a:rPr lang="es-ES" sz="1200" dirty="0">
                <a:latin typeface="Arial" panose="020B0604020202020204" pitchFamily="34" charset="0"/>
                <a:cs typeface="Arial" panose="020B0604020202020204" pitchFamily="34" charset="0"/>
                <a:sym typeface="Wingdings" panose="05000000000000000000" pitchFamily="2" charset="2"/>
              </a:rPr>
              <a:t> </a:t>
            </a:r>
            <a:r>
              <a:rPr lang="es-ES" sz="1200" dirty="0" err="1" smtClean="0">
                <a:latin typeface="Arial" panose="020B0604020202020204" pitchFamily="34" charset="0"/>
                <a:cs typeface="Arial" panose="020B0604020202020204" pitchFamily="34" charset="0"/>
                <a:sym typeface="Wingdings" panose="05000000000000000000" pitchFamily="2" charset="2"/>
              </a:rPr>
              <a:t>projects</a:t>
            </a:r>
            <a:r>
              <a:rPr lang="es-ES" sz="1200" dirty="0" smtClean="0">
                <a:latin typeface="Arial" panose="020B0604020202020204" pitchFamily="34" charset="0"/>
                <a:cs typeface="Arial" panose="020B0604020202020204" pitchFamily="34" charset="0"/>
                <a:sym typeface="Wingdings" panose="05000000000000000000" pitchFamily="2" charset="2"/>
              </a:rPr>
              <a:t>, as </a:t>
            </a:r>
            <a:r>
              <a:rPr lang="el-GR" sz="1200" dirty="0" smtClean="0">
                <a:latin typeface="Arial" panose="020B0604020202020204" pitchFamily="34" charset="0"/>
                <a:cs typeface="Arial" panose="020B0604020202020204" pitchFamily="34" charset="0"/>
                <a:sym typeface="Wingdings" panose="05000000000000000000" pitchFamily="2" charset="2"/>
              </a:rPr>
              <a:t>Δ</a:t>
            </a:r>
            <a:r>
              <a:rPr lang="es-ES" sz="1200" dirty="0" smtClean="0">
                <a:latin typeface="Arial" panose="020B0604020202020204" pitchFamily="34" charset="0"/>
                <a:cs typeface="Arial" panose="020B0604020202020204" pitchFamily="34" charset="0"/>
                <a:sym typeface="Wingdings" panose="05000000000000000000" pitchFamily="2" charset="2"/>
              </a:rPr>
              <a:t> </a:t>
            </a:r>
            <a:r>
              <a:rPr lang="es-ES" sz="1200" dirty="0" err="1" smtClean="0">
                <a:latin typeface="Arial" panose="020B0604020202020204" pitchFamily="34" charset="0"/>
                <a:cs typeface="Arial" panose="020B0604020202020204" pitchFamily="34" charset="0"/>
                <a:sym typeface="Wingdings" panose="05000000000000000000" pitchFamily="2" charset="2"/>
              </a:rPr>
              <a:t>piece</a:t>
            </a:r>
            <a:r>
              <a:rPr lang="es-ES" sz="1200" dirty="0" smtClean="0">
                <a:latin typeface="Arial" panose="020B0604020202020204" pitchFamily="34" charset="0"/>
                <a:cs typeface="Arial" panose="020B0604020202020204" pitchFamily="34" charset="0"/>
                <a:sym typeface="Wingdings" panose="05000000000000000000" pitchFamily="2" charset="2"/>
              </a:rPr>
              <a:t> </a:t>
            </a:r>
            <a:r>
              <a:rPr lang="es-ES" sz="1200" dirty="0" err="1" smtClean="0">
                <a:latin typeface="Arial" panose="020B0604020202020204" pitchFamily="34" charset="0"/>
                <a:cs typeface="Arial" panose="020B0604020202020204" pitchFamily="34" charset="0"/>
                <a:sym typeface="Wingdings" panose="05000000000000000000" pitchFamily="2" charset="2"/>
              </a:rPr>
              <a:t>price</a:t>
            </a:r>
            <a:r>
              <a:rPr lang="es-ES" sz="1200" dirty="0" smtClean="0">
                <a:latin typeface="Arial" panose="020B0604020202020204" pitchFamily="34" charset="0"/>
                <a:cs typeface="Arial" panose="020B0604020202020204" pitchFamily="34" charset="0"/>
                <a:sym typeface="Wingdings" panose="05000000000000000000" pitchFamily="2" charset="2"/>
              </a:rPr>
              <a:t> </a:t>
            </a:r>
            <a:r>
              <a:rPr lang="es-ES" sz="1200" dirty="0" err="1" smtClean="0">
                <a:latin typeface="Arial" panose="020B0604020202020204" pitchFamily="34" charset="0"/>
                <a:cs typeface="Arial" panose="020B0604020202020204" pitchFamily="34" charset="0"/>
                <a:sym typeface="Wingdings" panose="05000000000000000000" pitchFamily="2" charset="2"/>
              </a:rPr>
              <a:t>benefit</a:t>
            </a:r>
            <a:r>
              <a:rPr lang="es-ES" sz="1200" dirty="0" smtClean="0">
                <a:latin typeface="Arial" panose="020B0604020202020204" pitchFamily="34" charset="0"/>
                <a:cs typeface="Arial" panose="020B0604020202020204" pitchFamily="34" charset="0"/>
                <a:sym typeface="Wingdings" panose="05000000000000000000" pitchFamily="2" charset="2"/>
              </a:rPr>
              <a:t>, </a:t>
            </a:r>
            <a:r>
              <a:rPr lang="el-GR" sz="1200" dirty="0" smtClean="0">
                <a:latin typeface="Arial" panose="020B0604020202020204" pitchFamily="34" charset="0"/>
                <a:cs typeface="Arial" panose="020B0604020202020204" pitchFamily="34" charset="0"/>
                <a:sym typeface="Wingdings" panose="05000000000000000000" pitchFamily="2" charset="2"/>
              </a:rPr>
              <a:t>Δ</a:t>
            </a:r>
            <a:r>
              <a:rPr lang="es-ES" sz="1200" dirty="0" err="1" smtClean="0">
                <a:latin typeface="Arial" panose="020B0604020202020204" pitchFamily="34" charset="0"/>
                <a:cs typeface="Arial" panose="020B0604020202020204" pitchFamily="34" charset="0"/>
                <a:sym typeface="Wingdings" panose="05000000000000000000" pitchFamily="2" charset="2"/>
              </a:rPr>
              <a:t>effective</a:t>
            </a:r>
            <a:r>
              <a:rPr lang="es-ES" sz="1200" dirty="0" smtClean="0">
                <a:latin typeface="Arial" panose="020B0604020202020204" pitchFamily="34" charset="0"/>
                <a:cs typeface="Arial" panose="020B0604020202020204" pitchFamily="34" charset="0"/>
                <a:sym typeface="Wingdings" panose="05000000000000000000" pitchFamily="2" charset="2"/>
              </a:rPr>
              <a:t> sales, etc.</a:t>
            </a:r>
            <a:r>
              <a:rPr lang="en-US" sz="1200" dirty="0" smtClean="0">
                <a:latin typeface="Arial" panose="020B0604020202020204" pitchFamily="34" charset="0"/>
                <a:cs typeface="Arial" panose="020B0604020202020204" pitchFamily="34" charset="0"/>
                <a:sym typeface="Wingdings" panose="05000000000000000000" pitchFamily="2" charset="2"/>
              </a:rPr>
              <a:t>) </a:t>
            </a:r>
            <a:r>
              <a:rPr lang="en-US" sz="1200" dirty="0">
                <a:latin typeface="Arial" panose="020B0604020202020204" pitchFamily="34" charset="0"/>
                <a:cs typeface="Arial" panose="020B0604020202020204" pitchFamily="34" charset="0"/>
                <a:sym typeface="Wingdings" panose="05000000000000000000" pitchFamily="2" charset="2"/>
              </a:rPr>
              <a:t>is sent to validate.</a:t>
            </a:r>
            <a:endParaRPr lang="es-ES" sz="1200" dirty="0">
              <a:solidFill>
                <a:schemeClr val="tx1"/>
              </a:solidFill>
              <a:latin typeface="Arial" panose="020B0604020202020204" pitchFamily="34" charset="0"/>
              <a:cs typeface="Arial" panose="020B0604020202020204" pitchFamily="34" charset="0"/>
            </a:endParaRPr>
          </a:p>
        </p:txBody>
      </p:sp>
      <p:sp>
        <p:nvSpPr>
          <p:cNvPr id="22" name="21 Rectángulo"/>
          <p:cNvSpPr/>
          <p:nvPr/>
        </p:nvSpPr>
        <p:spPr>
          <a:xfrm>
            <a:off x="4563870" y="2045225"/>
            <a:ext cx="2139185" cy="3809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22 Rectángulo redondeado"/>
          <p:cNvSpPr/>
          <p:nvPr/>
        </p:nvSpPr>
        <p:spPr>
          <a:xfrm>
            <a:off x="2483768" y="3347123"/>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2</a:t>
            </a:r>
            <a:endParaRPr lang="es-ES" sz="1400" dirty="0">
              <a:solidFill>
                <a:schemeClr val="tx1"/>
              </a:solidFill>
            </a:endParaRPr>
          </a:p>
        </p:txBody>
      </p:sp>
      <p:sp>
        <p:nvSpPr>
          <p:cNvPr id="12" name="11 Rectángulo"/>
          <p:cNvSpPr/>
          <p:nvPr/>
        </p:nvSpPr>
        <p:spPr>
          <a:xfrm>
            <a:off x="2195736" y="3961772"/>
            <a:ext cx="6546156" cy="39720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Included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in Management plan</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The field is filled in automatically depending on whether or not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project has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a planning with the label PG </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CURRENT YEAR in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the </a:t>
            </a:r>
            <a:r>
              <a:rPr lang="en-US" sz="1000"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tImecards</a:t>
            </a:r>
            <a:r>
              <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i="1" dirty="0">
                <a:solidFill>
                  <a:schemeClr val="tx1"/>
                </a:solidFill>
                <a:latin typeface="Arial" panose="020B0604020202020204" pitchFamily="34" charset="0"/>
                <a:cs typeface="Arial" panose="020B0604020202020204" pitchFamily="34" charset="0"/>
                <a:sym typeface="Wingdings" panose="05000000000000000000" pitchFamily="2" charset="2"/>
              </a:rPr>
              <a:t>app</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1979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27</a:t>
            </a:fld>
            <a:endParaRPr lang="es-ES" dirty="0"/>
          </a:p>
        </p:txBody>
      </p:sp>
      <p:sp>
        <p:nvSpPr>
          <p:cNvPr id="5" name="4 Rectángulo"/>
          <p:cNvSpPr/>
          <p:nvPr/>
        </p:nvSpPr>
        <p:spPr>
          <a:xfrm>
            <a:off x="1" y="1350060"/>
            <a:ext cx="9144000" cy="186291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GENERAL INFO: </a:t>
            </a:r>
            <a:r>
              <a:rPr lang="en-US" sz="1000" dirty="0">
                <a:solidFill>
                  <a:schemeClr val="tx1"/>
                </a:solidFill>
                <a:latin typeface="Arial" panose="020B0604020202020204" pitchFamily="34" charset="0"/>
                <a:cs typeface="Arial" panose="020B0604020202020204" pitchFamily="34" charset="0"/>
              </a:rPr>
              <a:t>The Awarding offer and Current value of the different fields must be filled in. In the </a:t>
            </a:r>
            <a:r>
              <a:rPr lang="en-US" sz="1000" dirty="0" smtClean="0">
                <a:solidFill>
                  <a:schemeClr val="tx1"/>
                </a:solidFill>
                <a:latin typeface="Arial" panose="020B0604020202020204" pitchFamily="34" charset="0"/>
                <a:cs typeface="Arial" panose="020B0604020202020204" pitchFamily="34" charset="0"/>
              </a:rPr>
              <a:t>next sending, </a:t>
            </a:r>
            <a:r>
              <a:rPr lang="en-US" sz="1000" dirty="0">
                <a:solidFill>
                  <a:schemeClr val="tx1"/>
                </a:solidFill>
                <a:latin typeface="Arial" panose="020B0604020202020204" pitchFamily="34" charset="0"/>
                <a:cs typeface="Arial" panose="020B0604020202020204" pitchFamily="34" charset="0"/>
              </a:rPr>
              <a:t>only the </a:t>
            </a:r>
            <a:r>
              <a:rPr lang="en-US" sz="1000" dirty="0" smtClean="0">
                <a:solidFill>
                  <a:schemeClr val="tx1"/>
                </a:solidFill>
                <a:latin typeface="Arial" panose="020B0604020202020204" pitchFamily="34" charset="0"/>
                <a:cs typeface="Arial" panose="020B0604020202020204" pitchFamily="34" charset="0"/>
              </a:rPr>
              <a:t>current </a:t>
            </a:r>
            <a:r>
              <a:rPr lang="en-US" sz="1000" dirty="0">
                <a:solidFill>
                  <a:schemeClr val="tx1"/>
                </a:solidFill>
                <a:latin typeface="Arial" panose="020B0604020202020204" pitchFamily="34" charset="0"/>
                <a:cs typeface="Arial" panose="020B0604020202020204" pitchFamily="34" charset="0"/>
              </a:rPr>
              <a:t>column will have to be filled </a:t>
            </a:r>
            <a:r>
              <a:rPr lang="en-US" sz="1000" dirty="0" smtClean="0">
                <a:solidFill>
                  <a:schemeClr val="tx1"/>
                </a:solidFill>
                <a:latin typeface="Arial" panose="020B0604020202020204" pitchFamily="34" charset="0"/>
                <a:cs typeface="Arial" panose="020B0604020202020204" pitchFamily="34" charset="0"/>
              </a:rPr>
              <a:t>in</a:t>
            </a:r>
            <a:r>
              <a:rPr lang="en-US" sz="1000" dirty="0">
                <a:solidFill>
                  <a:schemeClr val="tx1"/>
                </a:solidFill>
                <a:latin typeface="Arial" panose="020B0604020202020204" pitchFamily="34" charset="0"/>
                <a:cs typeface="Arial" panose="020B0604020202020204" pitchFamily="34" charset="0"/>
              </a:rPr>
              <a:t>.</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11" name="10 Rectángulo"/>
          <p:cNvSpPr/>
          <p:nvPr/>
        </p:nvSpPr>
        <p:spPr>
          <a:xfrm>
            <a:off x="3059832" y="1772816"/>
            <a:ext cx="6084168" cy="1800200"/>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Campos General </a:t>
            </a:r>
            <a:r>
              <a:rPr lang="es-ES" sz="1000" b="1" dirty="0" err="1" smtClean="0">
                <a:solidFill>
                  <a:schemeClr val="tx1"/>
                </a:solidFill>
                <a:latin typeface="Arial" panose="020B0604020202020204" pitchFamily="34" charset="0"/>
                <a:cs typeface="Arial" panose="020B0604020202020204" pitchFamily="34" charset="0"/>
              </a:rPr>
              <a:t>Info</a:t>
            </a:r>
            <a:r>
              <a:rPr lang="es-ES" sz="1000" b="1" dirty="0" smtClean="0">
                <a:solidFill>
                  <a:schemeClr val="tx1"/>
                </a:solidFill>
                <a:latin typeface="Arial" panose="020B0604020202020204" pitchFamily="34" charset="0"/>
                <a:cs typeface="Arial" panose="020B0604020202020204" pitchFamily="34" charset="0"/>
              </a:rPr>
              <a:t> para ECO: </a:t>
            </a:r>
          </a:p>
          <a:p>
            <a:endParaRPr lang="es-ES" sz="10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Δ Piece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price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b</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enefit %, Formula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1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Δ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Costs/Δ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a:t>
            </a:r>
          </a:p>
          <a:p>
            <a:pPr lvl="1"/>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Donde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Costs:  ΔCosts_PN1*Total Volume_PN1 + ΔCosts_PN2*Total Volume_PN2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pPr lvl="1"/>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Sales: Δ Sale price_PN1*Total Volume_PN1 +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Sale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price_PN2*Total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Volume_PN2+…</a:t>
            </a:r>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 (Total project)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property tooling benefit %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Series y</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ears</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2" name="11 Rectángulo"/>
          <p:cNvSpPr/>
          <p:nvPr/>
        </p:nvSpPr>
        <p:spPr>
          <a:xfrm>
            <a:off x="-9500" y="1772816"/>
            <a:ext cx="2889684" cy="1359768"/>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b="1" dirty="0" smtClean="0">
                <a:solidFill>
                  <a:schemeClr val="tx1"/>
                </a:solidFill>
                <a:latin typeface="Arial" panose="020B0604020202020204" pitchFamily="34" charset="0"/>
                <a:cs typeface="Arial" panose="020B0604020202020204" pitchFamily="34" charset="0"/>
              </a:rPr>
              <a:t>Campos General Info para Industrialization: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Net margin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Effective sales (Total project)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property tooling benefit%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plants</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Series years</a:t>
            </a:r>
            <a:endPar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3" name="12 CuadroTexto"/>
          <p:cNvSpPr txBox="1"/>
          <p:nvPr/>
        </p:nvSpPr>
        <p:spPr>
          <a:xfrm>
            <a:off x="267320" y="980728"/>
            <a:ext cx="7329015" cy="369332"/>
          </a:xfrm>
          <a:prstGeom prst="rect">
            <a:avLst/>
          </a:prstGeom>
          <a:noFill/>
        </p:spPr>
        <p:txBody>
          <a:bodyPr wrap="square" rtlCol="0">
            <a:spAutoFit/>
          </a:bodyPr>
          <a:lstStyle/>
          <a:p>
            <a:r>
              <a:rPr lang="es-ES" b="1" dirty="0">
                <a:solidFill>
                  <a:srgbClr val="254061"/>
                </a:solidFill>
              </a:rPr>
              <a:t>SENDING TO VALIDATION (GENERAL INFO) </a:t>
            </a:r>
            <a:r>
              <a:rPr lang="es-ES" b="1" dirty="0" smtClean="0">
                <a:solidFill>
                  <a:srgbClr val="254061"/>
                </a:solidFill>
              </a:rPr>
              <a:t>– UPDATING II</a:t>
            </a:r>
            <a:endParaRPr lang="es-ES" b="1" dirty="0">
              <a:solidFill>
                <a:srgbClr val="254061"/>
              </a:solidFill>
            </a:endParaRPr>
          </a:p>
        </p:txBody>
      </p:sp>
      <p:pic>
        <p:nvPicPr>
          <p:cNvPr id="3" name="Imagen 2"/>
          <p:cNvPicPr>
            <a:picLocks noChangeAspect="1"/>
          </p:cNvPicPr>
          <p:nvPr/>
        </p:nvPicPr>
        <p:blipFill>
          <a:blip r:embed="rId2"/>
          <a:stretch>
            <a:fillRect/>
          </a:stretch>
        </p:blipFill>
        <p:spPr>
          <a:xfrm>
            <a:off x="179512" y="3611562"/>
            <a:ext cx="8250401" cy="29273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407039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a:xfrm>
            <a:off x="6974904" y="6525344"/>
            <a:ext cx="2133600" cy="365125"/>
          </a:xfrm>
        </p:spPr>
        <p:txBody>
          <a:bodyPr/>
          <a:lstStyle/>
          <a:p>
            <a:fld id="{6C159591-2568-4DE8-9BFD-2ABD54E1DEC4}" type="slidenum">
              <a:rPr lang="es-ES" smtClean="0"/>
              <a:pPr/>
              <a:t>28</a:t>
            </a:fld>
            <a:endParaRPr lang="es-ES" dirty="0"/>
          </a:p>
        </p:txBody>
      </p:sp>
      <p:sp>
        <p:nvSpPr>
          <p:cNvPr id="7" name="6 CuadroTexto"/>
          <p:cNvSpPr txBox="1"/>
          <p:nvPr/>
        </p:nvSpPr>
        <p:spPr>
          <a:xfrm>
            <a:off x="267320" y="980728"/>
            <a:ext cx="7329015" cy="369332"/>
          </a:xfrm>
          <a:prstGeom prst="rect">
            <a:avLst/>
          </a:prstGeom>
          <a:noFill/>
        </p:spPr>
        <p:txBody>
          <a:bodyPr wrap="square" rtlCol="0">
            <a:spAutoFit/>
          </a:bodyPr>
          <a:lstStyle/>
          <a:p>
            <a:r>
              <a:rPr lang="es-ES" b="1" dirty="0">
                <a:solidFill>
                  <a:srgbClr val="254061"/>
                </a:solidFill>
              </a:rPr>
              <a:t>SENDING TO VALIDATION (GENERAL INFO</a:t>
            </a:r>
            <a:r>
              <a:rPr lang="es-ES" b="1" dirty="0" smtClean="0">
                <a:solidFill>
                  <a:srgbClr val="254061"/>
                </a:solidFill>
              </a:rPr>
              <a:t>) - FLOW</a:t>
            </a:r>
            <a:endParaRPr lang="es-ES" b="1" dirty="0">
              <a:solidFill>
                <a:srgbClr val="254061"/>
              </a:solidFill>
            </a:endParaRPr>
          </a:p>
        </p:txBody>
      </p:sp>
      <p:sp>
        <p:nvSpPr>
          <p:cNvPr id="12" name="11 Rectángulo"/>
          <p:cNvSpPr/>
          <p:nvPr/>
        </p:nvSpPr>
        <p:spPr>
          <a:xfrm>
            <a:off x="46368" y="1837273"/>
            <a:ext cx="9097631" cy="1718419"/>
          </a:xfrm>
          <a:prstGeom prst="rect">
            <a:avLst/>
          </a:prstGeom>
        </p:spPr>
        <p:txBody>
          <a:bodyPr wrap="square">
            <a:spAutoFit/>
          </a:bodyPr>
          <a:lstStyle/>
          <a:p>
            <a:pPr marL="342900" lvl="0" indent="-342900" algn="just">
              <a:spcAft>
                <a:spcPts val="0"/>
              </a:spcAft>
              <a:buFont typeface="+mj-lt"/>
              <a:buAutoNum type="alphaUcPeriod"/>
            </a:pPr>
            <a:r>
              <a:rPr lang="en-GB" sz="1000" b="1" dirty="0">
                <a:ea typeface="Calibri"/>
              </a:rPr>
              <a:t>INDUSTRIALIZATION PROJECTS:</a:t>
            </a:r>
            <a:endParaRPr lang="es-ES" sz="1000" dirty="0">
              <a:ea typeface="Calibri"/>
            </a:endParaRPr>
          </a:p>
          <a:p>
            <a:pPr algn="just">
              <a:spcAft>
                <a:spcPts val="0"/>
              </a:spcAft>
            </a:pPr>
            <a:r>
              <a:rPr lang="en-GB" sz="1000" dirty="0">
                <a:ea typeface="Calibri"/>
              </a:rPr>
              <a:t>Project Owner creates &amp; sends to validate &gt;  </a:t>
            </a:r>
            <a:r>
              <a:rPr lang="en-GB" sz="1000" b="1" dirty="0">
                <a:ea typeface="Calibri"/>
              </a:rPr>
              <a:t>Project Manager </a:t>
            </a:r>
            <a:r>
              <a:rPr lang="en-GB" sz="1000" dirty="0">
                <a:solidFill>
                  <a:srgbClr val="00B050"/>
                </a:solidFill>
                <a:ea typeface="Calibri"/>
              </a:rPr>
              <a:t>validation </a:t>
            </a:r>
            <a:r>
              <a:rPr lang="en-GB" sz="1000" dirty="0">
                <a:ea typeface="Calibri"/>
              </a:rPr>
              <a:t>&gt; </a:t>
            </a:r>
            <a:r>
              <a:rPr lang="en-GB" sz="1000" b="1" dirty="0" smtClean="0">
                <a:ea typeface="Calibri"/>
              </a:rPr>
              <a:t>Internacional</a:t>
            </a:r>
            <a:r>
              <a:rPr lang="en-GB" sz="1000" b="1" baseline="30000" dirty="0" smtClean="0">
                <a:ea typeface="Calibri"/>
              </a:rPr>
              <a:t>1</a:t>
            </a:r>
            <a:r>
              <a:rPr lang="en-GB" sz="1000" dirty="0" smtClean="0">
                <a:ea typeface="Calibri"/>
              </a:rPr>
              <a:t> </a:t>
            </a:r>
            <a:r>
              <a:rPr lang="en-GB" sz="1000" dirty="0">
                <a:ea typeface="Calibri"/>
              </a:rPr>
              <a:t>Or </a:t>
            </a:r>
            <a:r>
              <a:rPr lang="en-GB" sz="1000" b="1" dirty="0" smtClean="0">
                <a:ea typeface="Calibri"/>
              </a:rPr>
              <a:t>National</a:t>
            </a:r>
            <a:r>
              <a:rPr lang="en-GB" sz="1000" b="1" baseline="30000" dirty="0" smtClean="0">
                <a:ea typeface="Calibri"/>
              </a:rPr>
              <a:t>2</a:t>
            </a:r>
            <a:r>
              <a:rPr lang="en-GB" sz="1000" dirty="0" smtClean="0">
                <a:ea typeface="Calibri"/>
              </a:rPr>
              <a:t> </a:t>
            </a:r>
            <a:r>
              <a:rPr lang="en-GB" sz="1000" b="1" dirty="0">
                <a:ea typeface="Calibri"/>
              </a:rPr>
              <a:t>Operations Director </a:t>
            </a:r>
            <a:r>
              <a:rPr lang="en-GB" sz="1000" dirty="0">
                <a:solidFill>
                  <a:srgbClr val="00B050"/>
                </a:solidFill>
                <a:ea typeface="Calibri"/>
              </a:rPr>
              <a:t>validation </a:t>
            </a:r>
            <a:r>
              <a:rPr lang="en-GB" sz="1000" dirty="0">
                <a:ea typeface="Calibri"/>
              </a:rPr>
              <a:t>&gt; </a:t>
            </a:r>
            <a:r>
              <a:rPr lang="en-GB" sz="1000" b="1" dirty="0">
                <a:ea typeface="Calibri"/>
              </a:rPr>
              <a:t>Technical Director </a:t>
            </a:r>
            <a:r>
              <a:rPr lang="en-GB" sz="1000" dirty="0">
                <a:solidFill>
                  <a:srgbClr val="00B050"/>
                </a:solidFill>
                <a:ea typeface="Calibri"/>
              </a:rPr>
              <a:t>validation </a:t>
            </a:r>
            <a:r>
              <a:rPr lang="en-GB" sz="1000" dirty="0">
                <a:ea typeface="Calibri"/>
              </a:rPr>
              <a:t>&gt; </a:t>
            </a:r>
            <a:r>
              <a:rPr lang="en-GB" sz="1000" b="1" dirty="0">
                <a:ea typeface="Calibri"/>
              </a:rPr>
              <a:t>Plant General </a:t>
            </a:r>
            <a:r>
              <a:rPr lang="en-GB" sz="1000" b="1" dirty="0" smtClean="0">
                <a:ea typeface="Calibri"/>
              </a:rPr>
              <a:t>Manager</a:t>
            </a:r>
            <a:r>
              <a:rPr lang="en-GB" sz="1000" b="1" baseline="30000" dirty="0" smtClean="0">
                <a:ea typeface="Calibri"/>
              </a:rPr>
              <a:t>3</a:t>
            </a:r>
            <a:r>
              <a:rPr lang="en-GB" sz="1000" dirty="0" smtClean="0">
                <a:solidFill>
                  <a:srgbClr val="00B050"/>
                </a:solidFill>
                <a:ea typeface="Calibri"/>
              </a:rPr>
              <a:t> validation. </a:t>
            </a:r>
            <a:r>
              <a:rPr lang="en-GB" sz="1000" baseline="30000" dirty="0" smtClean="0">
                <a:ea typeface="Calibri"/>
              </a:rPr>
              <a:t>4</a:t>
            </a:r>
            <a:endParaRPr lang="en-GB" sz="1000" dirty="0">
              <a:ea typeface="Calibri"/>
            </a:endParaRPr>
          </a:p>
          <a:p>
            <a:pPr algn="just"/>
            <a:endParaRPr lang="es-ES" sz="1000" i="1" dirty="0">
              <a:ea typeface="Calibri"/>
            </a:endParaRPr>
          </a:p>
          <a:p>
            <a:pPr marL="342900" lvl="0" indent="-342900" algn="just">
              <a:spcAft>
                <a:spcPts val="0"/>
              </a:spcAft>
              <a:buFont typeface="+mj-lt"/>
              <a:buAutoNum type="alphaUcPeriod" startAt="2"/>
            </a:pPr>
            <a:r>
              <a:rPr lang="en-GB" sz="1000" dirty="0">
                <a:ea typeface="Calibri"/>
              </a:rPr>
              <a:t> </a:t>
            </a:r>
            <a:r>
              <a:rPr lang="es-ES" sz="1000" b="1" dirty="0">
                <a:ea typeface="Calibri"/>
              </a:rPr>
              <a:t>ECO INDUSTRIALIZATION PROJECTS:</a:t>
            </a:r>
          </a:p>
          <a:p>
            <a:pPr algn="just">
              <a:spcAft>
                <a:spcPts val="0"/>
              </a:spcAft>
            </a:pPr>
            <a:r>
              <a:rPr lang="en-US" sz="1000" dirty="0">
                <a:ea typeface="Calibri"/>
              </a:rPr>
              <a:t>Project Owner creates </a:t>
            </a:r>
            <a:r>
              <a:rPr lang="es-ES" sz="1000" dirty="0">
                <a:ea typeface="Calibri"/>
              </a:rPr>
              <a:t>&amp; </a:t>
            </a:r>
            <a:r>
              <a:rPr lang="en-GB" sz="1000" dirty="0">
                <a:ea typeface="Calibri"/>
              </a:rPr>
              <a:t>sends  to </a:t>
            </a:r>
            <a:r>
              <a:rPr lang="en-GB" sz="1000" dirty="0" smtClean="0">
                <a:ea typeface="Calibri"/>
              </a:rPr>
              <a:t>validate</a:t>
            </a:r>
            <a:r>
              <a:rPr lang="en-GB" sz="1000" baseline="30000" dirty="0">
                <a:ea typeface="Calibri"/>
              </a:rPr>
              <a:t>5</a:t>
            </a:r>
            <a:r>
              <a:rPr lang="en-GB" sz="1000" dirty="0" smtClean="0">
                <a:ea typeface="Calibri"/>
              </a:rPr>
              <a:t> </a:t>
            </a:r>
            <a:r>
              <a:rPr lang="en-GB" sz="1000" dirty="0">
                <a:ea typeface="Calibri"/>
              </a:rPr>
              <a:t>&gt;  </a:t>
            </a:r>
            <a:r>
              <a:rPr lang="en-GB" sz="1000" b="1" dirty="0">
                <a:ea typeface="Calibri"/>
              </a:rPr>
              <a:t>Plant Engineering Resp. </a:t>
            </a:r>
            <a:r>
              <a:rPr lang="en-GB" sz="1000" dirty="0">
                <a:solidFill>
                  <a:srgbClr val="00B050"/>
                </a:solidFill>
                <a:ea typeface="Calibri"/>
              </a:rPr>
              <a:t>validation </a:t>
            </a:r>
            <a:r>
              <a:rPr lang="en-GB" sz="1000" dirty="0">
                <a:ea typeface="Calibri"/>
              </a:rPr>
              <a:t>&gt; </a:t>
            </a:r>
            <a:r>
              <a:rPr lang="en-GB" sz="1000" b="1" dirty="0">
                <a:ea typeface="Calibri"/>
              </a:rPr>
              <a:t>Plant General Manager</a:t>
            </a:r>
            <a:r>
              <a:rPr lang="en-GB" sz="1000" dirty="0">
                <a:solidFill>
                  <a:srgbClr val="00B050"/>
                </a:solidFill>
                <a:ea typeface="Calibri"/>
              </a:rPr>
              <a:t> </a:t>
            </a:r>
            <a:r>
              <a:rPr lang="en-GB" sz="1000" dirty="0" smtClean="0">
                <a:solidFill>
                  <a:srgbClr val="00B050"/>
                </a:solidFill>
                <a:ea typeface="Calibri"/>
              </a:rPr>
              <a:t>validation</a:t>
            </a:r>
            <a:r>
              <a:rPr lang="en-GB" sz="1000" dirty="0" smtClean="0">
                <a:solidFill>
                  <a:srgbClr val="376092"/>
                </a:solidFill>
                <a:ea typeface="Calibri"/>
              </a:rPr>
              <a:t>.</a:t>
            </a:r>
            <a:endParaRPr lang="en-GB" sz="1000" dirty="0">
              <a:solidFill>
                <a:srgbClr val="376092"/>
              </a:solidFill>
              <a:ea typeface="Calibri"/>
            </a:endParaRPr>
          </a:p>
          <a:p>
            <a:pPr algn="just">
              <a:spcAft>
                <a:spcPts val="0"/>
              </a:spcAft>
            </a:pPr>
            <a:endParaRPr lang="en-GB" sz="1000" i="1" baseline="30000" dirty="0">
              <a:ea typeface="Calibri"/>
            </a:endParaRPr>
          </a:p>
          <a:p>
            <a:pPr algn="just">
              <a:spcAft>
                <a:spcPts val="0"/>
              </a:spcAft>
            </a:pPr>
            <a:r>
              <a:rPr lang="en-GB" sz="1000" i="1" baseline="30000" dirty="0">
                <a:ea typeface="Calibri"/>
              </a:rPr>
              <a:t>1</a:t>
            </a:r>
            <a:r>
              <a:rPr lang="en-GB" sz="1000" i="1" dirty="0">
                <a:ea typeface="Calibri"/>
              </a:rPr>
              <a:t>Projects for: </a:t>
            </a:r>
            <a:r>
              <a:rPr lang="en-GB" sz="1000" i="1" dirty="0" smtClean="0">
                <a:ea typeface="Calibri"/>
              </a:rPr>
              <a:t>CZ-KU-GU-MX; </a:t>
            </a:r>
            <a:r>
              <a:rPr lang="en-GB" sz="1000" i="1" baseline="30000" dirty="0" smtClean="0">
                <a:ea typeface="Calibri"/>
              </a:rPr>
              <a:t>2</a:t>
            </a:r>
            <a:r>
              <a:rPr lang="en-GB" sz="1000" i="1" dirty="0" smtClean="0">
                <a:ea typeface="Calibri"/>
              </a:rPr>
              <a:t>Projects </a:t>
            </a:r>
            <a:r>
              <a:rPr lang="en-GB" sz="1000" i="1" dirty="0">
                <a:ea typeface="Calibri"/>
              </a:rPr>
              <a:t>for: </a:t>
            </a:r>
            <a:r>
              <a:rPr lang="en-GB" sz="1000" i="1" dirty="0" smtClean="0">
                <a:ea typeface="Calibri"/>
              </a:rPr>
              <a:t>ZA-IG</a:t>
            </a:r>
            <a:r>
              <a:rPr lang="en-GB" sz="1000" i="1" baseline="-25000" dirty="0" smtClean="0">
                <a:ea typeface="Calibri"/>
              </a:rPr>
              <a:t>;</a:t>
            </a:r>
            <a:r>
              <a:rPr lang="en-GB" sz="1000" i="1" dirty="0" smtClean="0">
                <a:ea typeface="Calibri"/>
              </a:rPr>
              <a:t> </a:t>
            </a:r>
            <a:r>
              <a:rPr lang="en-GB" sz="1000" i="1" baseline="30000" dirty="0" smtClean="0">
                <a:ea typeface="Calibri"/>
              </a:rPr>
              <a:t>3</a:t>
            </a:r>
            <a:r>
              <a:rPr lang="en-US" sz="1000" i="1" dirty="0">
                <a:ea typeface="Calibri"/>
              </a:rPr>
              <a:t>Not required if there is a previous validation of the same </a:t>
            </a:r>
            <a:r>
              <a:rPr lang="en-US" sz="1000" i="1" dirty="0" smtClean="0">
                <a:ea typeface="Calibri"/>
              </a:rPr>
              <a:t>person;</a:t>
            </a:r>
            <a:r>
              <a:rPr lang="en-GB" sz="1000" i="1" dirty="0">
                <a:ea typeface="Calibri"/>
              </a:rPr>
              <a:t> </a:t>
            </a:r>
            <a:r>
              <a:rPr lang="en-US" sz="1000" dirty="0" smtClean="0"/>
              <a:t> </a:t>
            </a:r>
            <a:r>
              <a:rPr lang="en-GB" sz="1000" i="1" baseline="30000" dirty="0" smtClean="0">
                <a:ea typeface="Calibri"/>
              </a:rPr>
              <a:t>4 </a:t>
            </a:r>
            <a:r>
              <a:rPr lang="en-GB" sz="1000" i="1" dirty="0" smtClean="0">
                <a:ea typeface="Calibri"/>
              </a:rPr>
              <a:t>In case of being </a:t>
            </a:r>
            <a:r>
              <a:rPr lang="en-GB" sz="1000" i="1" dirty="0" err="1" smtClean="0">
                <a:ea typeface="Calibri"/>
              </a:rPr>
              <a:t>Batz</a:t>
            </a:r>
            <a:r>
              <a:rPr lang="en-GB" sz="1000" i="1" dirty="0" smtClean="0">
                <a:ea typeface="Calibri"/>
              </a:rPr>
              <a:t> Corporative the productive plant of the project, </a:t>
            </a:r>
            <a:r>
              <a:rPr lang="en-GB" sz="1000" i="1" dirty="0">
                <a:ea typeface="Calibri"/>
              </a:rPr>
              <a:t>the flow changes to</a:t>
            </a:r>
            <a:r>
              <a:rPr lang="es-ES" sz="1000" i="1" dirty="0">
                <a:ea typeface="Calibri"/>
              </a:rPr>
              <a:t>: Project </a:t>
            </a:r>
            <a:r>
              <a:rPr lang="es-ES" sz="1000" i="1" dirty="0" err="1">
                <a:ea typeface="Calibri"/>
              </a:rPr>
              <a:t>Owner</a:t>
            </a:r>
            <a:r>
              <a:rPr lang="es-ES" sz="1000" i="1" dirty="0">
                <a:ea typeface="Calibri"/>
              </a:rPr>
              <a:t> </a:t>
            </a:r>
            <a:r>
              <a:rPr lang="es-ES" sz="1000" i="1" dirty="0" err="1">
                <a:ea typeface="Calibri"/>
              </a:rPr>
              <a:t>creates</a:t>
            </a:r>
            <a:r>
              <a:rPr lang="es-ES" sz="1000" i="1" dirty="0">
                <a:ea typeface="Calibri"/>
              </a:rPr>
              <a:t>  &amp; </a:t>
            </a:r>
            <a:r>
              <a:rPr lang="en-GB" sz="1000" i="1" dirty="0">
                <a:ea typeface="Calibri"/>
              </a:rPr>
              <a:t>sends  to validate </a:t>
            </a:r>
            <a:r>
              <a:rPr lang="en-US" sz="1000" i="1" dirty="0">
                <a:ea typeface="Calibri"/>
              </a:rPr>
              <a:t>&gt; </a:t>
            </a:r>
            <a:r>
              <a:rPr lang="en-GB" sz="1000" b="1" i="1" dirty="0">
                <a:ea typeface="Calibri"/>
              </a:rPr>
              <a:t>Project manager </a:t>
            </a:r>
            <a:r>
              <a:rPr lang="en-GB" sz="1000" dirty="0">
                <a:solidFill>
                  <a:srgbClr val="00B050"/>
                </a:solidFill>
                <a:ea typeface="Calibri"/>
              </a:rPr>
              <a:t>validation </a:t>
            </a:r>
            <a:r>
              <a:rPr lang="en-GB" sz="1000" i="1" dirty="0">
                <a:ea typeface="Calibri"/>
              </a:rPr>
              <a:t>&gt;   </a:t>
            </a:r>
            <a:r>
              <a:rPr lang="en-GB" sz="1000" b="1" i="1" dirty="0">
                <a:ea typeface="Calibri"/>
              </a:rPr>
              <a:t>Technical Director </a:t>
            </a:r>
            <a:r>
              <a:rPr lang="en-GB" sz="1000" dirty="0">
                <a:solidFill>
                  <a:srgbClr val="00B050"/>
                </a:solidFill>
                <a:ea typeface="Calibri"/>
              </a:rPr>
              <a:t>validation </a:t>
            </a:r>
            <a:r>
              <a:rPr lang="en-GB" sz="1000" dirty="0" smtClean="0">
                <a:solidFill>
                  <a:srgbClr val="00B050"/>
                </a:solidFill>
                <a:ea typeface="Calibri"/>
              </a:rPr>
              <a:t>; </a:t>
            </a:r>
            <a:r>
              <a:rPr lang="en-US" sz="1000" baseline="30000" dirty="0" smtClean="0"/>
              <a:t>5</a:t>
            </a:r>
            <a:r>
              <a:rPr lang="en-US" sz="1000" dirty="0" smtClean="0"/>
              <a:t>If project owner belongs </a:t>
            </a:r>
            <a:r>
              <a:rPr lang="en-US" sz="1000" dirty="0"/>
              <a:t>to Corporative , follows the flow </a:t>
            </a:r>
            <a:r>
              <a:rPr lang="en-US" sz="1000" dirty="0">
                <a:sym typeface="Wingdings" panose="05000000000000000000" pitchFamily="2" charset="2"/>
              </a:rPr>
              <a:t>A. </a:t>
            </a:r>
            <a:r>
              <a:rPr lang="en-US" sz="1000" dirty="0"/>
              <a:t>INDUSTRIALIZATION PROJECTS;</a:t>
            </a:r>
            <a:endParaRPr lang="es-ES" sz="1000" dirty="0">
              <a:ea typeface="Calibri"/>
            </a:endParaRPr>
          </a:p>
          <a:p>
            <a:pPr algn="just">
              <a:spcAft>
                <a:spcPts val="0"/>
              </a:spcAft>
            </a:pPr>
            <a:r>
              <a:rPr lang="es-ES" sz="1000" dirty="0">
                <a:ea typeface="Calibri"/>
              </a:rPr>
              <a:t> </a:t>
            </a:r>
          </a:p>
        </p:txBody>
      </p:sp>
      <p:sp>
        <p:nvSpPr>
          <p:cNvPr id="13" name="12 Rectángulo"/>
          <p:cNvSpPr/>
          <p:nvPr/>
        </p:nvSpPr>
        <p:spPr>
          <a:xfrm>
            <a:off x="42815" y="1427142"/>
            <a:ext cx="9101183" cy="461665"/>
          </a:xfrm>
          <a:prstGeom prst="rect">
            <a:avLst/>
          </a:prstGeom>
        </p:spPr>
        <p:txBody>
          <a:bodyPr wrap="square">
            <a:spAutoFit/>
          </a:bodyPr>
          <a:lstStyle/>
          <a:p>
            <a:r>
              <a:rPr lang="en-US" sz="1200" dirty="0">
                <a:latin typeface="Arial" panose="020B0604020202020204" pitchFamily="34" charset="0"/>
                <a:cs typeface="Arial" panose="020B0604020202020204" pitchFamily="34" charset="0"/>
                <a:sym typeface="Wingdings" panose="05000000000000000000" pitchFamily="2" charset="2"/>
              </a:rPr>
              <a:t>This validation </a:t>
            </a:r>
            <a:r>
              <a:rPr lang="en-US" sz="1200" dirty="0" smtClean="0">
                <a:latin typeface="Arial" panose="020B0604020202020204" pitchFamily="34" charset="0"/>
                <a:cs typeface="Arial" panose="020B0604020202020204" pitchFamily="34" charset="0"/>
                <a:sym typeface="Wingdings" panose="05000000000000000000" pitchFamily="2" charset="2"/>
              </a:rPr>
              <a:t>applies only to industrialization and to ECO projects. The validation flow is </a:t>
            </a:r>
            <a:r>
              <a:rPr lang="en-US" sz="1200" dirty="0">
                <a:latin typeface="Arial" panose="020B0604020202020204" pitchFamily="34" charset="0"/>
                <a:cs typeface="Arial" panose="020B0604020202020204" pitchFamily="34" charset="0"/>
                <a:sym typeface="Wingdings" panose="05000000000000000000" pitchFamily="2" charset="2"/>
              </a:rPr>
              <a:t>the same but does not </a:t>
            </a:r>
            <a:r>
              <a:rPr lang="en-US" sz="1200" dirty="0" smtClean="0">
                <a:latin typeface="Arial" panose="020B0604020202020204" pitchFamily="34" charset="0"/>
                <a:cs typeface="Arial" panose="020B0604020202020204" pitchFamily="34" charset="0"/>
                <a:sym typeface="Wingdings" panose="05000000000000000000" pitchFamily="2" charset="2"/>
              </a:rPr>
              <a:t>arrive to finance department:</a:t>
            </a:r>
            <a:endPar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33" name="32 Rectángulo"/>
          <p:cNvSpPr/>
          <p:nvPr/>
        </p:nvSpPr>
        <p:spPr>
          <a:xfrm>
            <a:off x="6355101" y="5130271"/>
            <a:ext cx="2482468" cy="1015663"/>
          </a:xfrm>
          <a:prstGeom prst="rect">
            <a:avLst/>
          </a:prstGeom>
        </p:spPr>
        <p:txBody>
          <a:bodyPr wrap="square">
            <a:spAutoFit/>
          </a:bodyPr>
          <a:lstStyle/>
          <a:p>
            <a:r>
              <a:rPr lang="en-US" sz="1200" dirty="0">
                <a:latin typeface="Arial" panose="020B0604020202020204" pitchFamily="34" charset="0"/>
                <a:cs typeface="Arial" panose="020B0604020202020204" pitchFamily="34" charset="0"/>
                <a:sym typeface="Wingdings" panose="05000000000000000000" pitchFamily="2" charset="2"/>
              </a:rPr>
              <a:t>The general info, internally is managed as another step </a:t>
            </a:r>
            <a:r>
              <a:rPr lang="en-US" sz="1200" dirty="0" smtClean="0">
                <a:latin typeface="Arial" panose="020B0604020202020204" pitchFamily="34" charset="0"/>
                <a:cs typeface="Arial" panose="020B0604020202020204" pitchFamily="34" charset="0"/>
                <a:sym typeface="Wingdings" panose="05000000000000000000" pitchFamily="2" charset="2"/>
              </a:rPr>
              <a:t>within OTHERS </a:t>
            </a:r>
            <a:r>
              <a:rPr lang="en-US" sz="1200" dirty="0">
                <a:latin typeface="Arial" panose="020B0604020202020204" pitchFamily="34" charset="0"/>
                <a:cs typeface="Arial" panose="020B0604020202020204" pitchFamily="34" charset="0"/>
                <a:sym typeface="Wingdings" panose="05000000000000000000" pitchFamily="2" charset="2"/>
              </a:rPr>
              <a:t>DEV cost group and thus you can see where it is in the validation flow.</a:t>
            </a:r>
            <a:endPar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pic>
        <p:nvPicPr>
          <p:cNvPr id="16" name="Imagen 15"/>
          <p:cNvPicPr>
            <a:picLocks noChangeAspect="1"/>
          </p:cNvPicPr>
          <p:nvPr/>
        </p:nvPicPr>
        <p:blipFill>
          <a:blip r:embed="rId2"/>
          <a:stretch>
            <a:fillRect/>
          </a:stretch>
        </p:blipFill>
        <p:spPr>
          <a:xfrm>
            <a:off x="0" y="4091447"/>
            <a:ext cx="6038112" cy="1629524"/>
          </a:xfrm>
          <a:prstGeom prst="rect">
            <a:avLst/>
          </a:prstGeom>
          <a:ln w="9525">
            <a:solidFill>
              <a:schemeClr val="tx1"/>
            </a:solidFill>
          </a:ln>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8366" y="3541817"/>
            <a:ext cx="2619214" cy="751279"/>
          </a:xfrm>
          <a:prstGeom prst="rect">
            <a:avLst/>
          </a:prstGeom>
          <a:ln w="9525">
            <a:solidFill>
              <a:schemeClr val="tx1"/>
            </a:solidFill>
          </a:ln>
          <a:extLst>
            <a:ext uri="{909E8E84-426E-40DD-AFC4-6F175D3DCCD1}">
              <a14:hiddenFill xmlns:a14="http://schemas.microsoft.com/office/drawing/2010/main">
                <a:solidFill>
                  <a:schemeClr val="accent1"/>
                </a:solidFill>
              </a14:hiddenFill>
            </a:ext>
          </a:extLst>
        </p:spPr>
      </p:pic>
      <p:sp>
        <p:nvSpPr>
          <p:cNvPr id="18" name="27 Rectángulo redondeado"/>
          <p:cNvSpPr/>
          <p:nvPr/>
        </p:nvSpPr>
        <p:spPr>
          <a:xfrm>
            <a:off x="3931827" y="3850473"/>
            <a:ext cx="100112" cy="10294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9" name="31 Rectángulo redondeado"/>
          <p:cNvSpPr/>
          <p:nvPr/>
        </p:nvSpPr>
        <p:spPr>
          <a:xfrm>
            <a:off x="5626256" y="5490275"/>
            <a:ext cx="466172" cy="23069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nvGrpSpPr>
          <p:cNvPr id="20" name="Grupo 19"/>
          <p:cNvGrpSpPr/>
          <p:nvPr/>
        </p:nvGrpSpPr>
        <p:grpSpPr>
          <a:xfrm>
            <a:off x="826991" y="5817570"/>
            <a:ext cx="4799265" cy="982977"/>
            <a:chOff x="187786" y="4175612"/>
            <a:chExt cx="7886698" cy="1922816"/>
          </a:xfrm>
        </p:grpSpPr>
        <p:pic>
          <p:nvPicPr>
            <p:cNvPr id="2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7786" y="4175612"/>
              <a:ext cx="7886698" cy="192281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2" name="Imagen 21"/>
            <p:cNvPicPr>
              <a:picLocks noChangeAspect="1"/>
            </p:cNvPicPr>
            <p:nvPr/>
          </p:nvPicPr>
          <p:blipFill rotWithShape="1">
            <a:blip r:embed="rId5"/>
            <a:srcRect b="29217"/>
            <a:stretch/>
          </p:blipFill>
          <p:spPr>
            <a:xfrm>
              <a:off x="196508" y="4963083"/>
              <a:ext cx="2874856" cy="1008529"/>
            </a:xfrm>
            <a:prstGeom prst="rect">
              <a:avLst/>
            </a:prstGeom>
          </p:spPr>
        </p:pic>
      </p:grpSp>
      <p:pic>
        <p:nvPicPr>
          <p:cNvPr id="23" name="Imagen 22"/>
          <p:cNvPicPr>
            <a:picLocks noChangeAspect="1"/>
          </p:cNvPicPr>
          <p:nvPr/>
        </p:nvPicPr>
        <p:blipFill>
          <a:blip r:embed="rId6"/>
          <a:stretch>
            <a:fillRect/>
          </a:stretch>
        </p:blipFill>
        <p:spPr>
          <a:xfrm>
            <a:off x="4766753" y="3493041"/>
            <a:ext cx="3197687" cy="1232103"/>
          </a:xfrm>
          <a:prstGeom prst="rect">
            <a:avLst/>
          </a:prstGeom>
          <a:ln w="9525">
            <a:solidFill>
              <a:schemeClr val="tx1"/>
            </a:solidFill>
          </a:ln>
        </p:spPr>
      </p:pic>
      <p:sp>
        <p:nvSpPr>
          <p:cNvPr id="24" name="28 Flecha derecha"/>
          <p:cNvSpPr/>
          <p:nvPr/>
        </p:nvSpPr>
        <p:spPr>
          <a:xfrm>
            <a:off x="4343296" y="3668465"/>
            <a:ext cx="569523" cy="257140"/>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5" name="30 Flecha derecha"/>
          <p:cNvSpPr/>
          <p:nvPr/>
        </p:nvSpPr>
        <p:spPr>
          <a:xfrm rot="8180456">
            <a:off x="5285941" y="5708223"/>
            <a:ext cx="396455" cy="301563"/>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6" name="29 Flecha abajo"/>
          <p:cNvSpPr/>
          <p:nvPr/>
        </p:nvSpPr>
        <p:spPr>
          <a:xfrm rot="1062493">
            <a:off x="4675648" y="4400802"/>
            <a:ext cx="394269" cy="913750"/>
          </a:xfrm>
          <a:prstGeom prst="down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994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29</a:t>
            </a:fld>
            <a:endParaRPr lang="es-ES" dirty="0"/>
          </a:p>
        </p:txBody>
      </p:sp>
      <p:sp>
        <p:nvSpPr>
          <p:cNvPr id="4" name="3 CuadroTexto"/>
          <p:cNvSpPr txBox="1"/>
          <p:nvPr/>
        </p:nvSpPr>
        <p:spPr>
          <a:xfrm>
            <a:off x="267321" y="980728"/>
            <a:ext cx="7185000" cy="369332"/>
          </a:xfrm>
          <a:prstGeom prst="rect">
            <a:avLst/>
          </a:prstGeom>
          <a:noFill/>
        </p:spPr>
        <p:txBody>
          <a:bodyPr wrap="square" rtlCol="0">
            <a:spAutoFit/>
          </a:bodyPr>
          <a:lstStyle/>
          <a:p>
            <a:r>
              <a:rPr lang="es-ES" b="1" dirty="0">
                <a:solidFill>
                  <a:srgbClr val="254061"/>
                </a:solidFill>
              </a:rPr>
              <a:t>STATES OF THE </a:t>
            </a:r>
            <a:r>
              <a:rPr lang="es-ES" b="1" dirty="0" smtClean="0">
                <a:solidFill>
                  <a:srgbClr val="254061"/>
                </a:solidFill>
              </a:rPr>
              <a:t>STEP</a:t>
            </a:r>
            <a:endParaRPr lang="en-US" b="1" dirty="0">
              <a:solidFill>
                <a:srgbClr val="254061"/>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132856"/>
            <a:ext cx="2581275" cy="35433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Rectángulo"/>
          <p:cNvSpPr/>
          <p:nvPr/>
        </p:nvSpPr>
        <p:spPr>
          <a:xfrm>
            <a:off x="1115616" y="2852936"/>
            <a:ext cx="288032" cy="2823220"/>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0" name="9 Rectángulo"/>
          <p:cNvSpPr/>
          <p:nvPr/>
        </p:nvSpPr>
        <p:spPr>
          <a:xfrm>
            <a:off x="4290788" y="1708447"/>
            <a:ext cx="4745708" cy="3304729"/>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Pending</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Approval</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Request</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waiting</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for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validator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response</a:t>
            </a: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Approved</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The validator has approved this step. The step has been</a:t>
            </a:r>
          </a:p>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sent to financial to open it in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Xpert</a:t>
            </a:r>
            <a:endPar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Rejected</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The validator has rejected this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step</a:t>
            </a:r>
          </a:p>
          <a:p>
            <a:r>
              <a:rPr lang="en-US" sz="1000" dirty="0" smtClean="0">
                <a:solidFill>
                  <a:schemeClr val="tx1"/>
                </a:solidFill>
                <a:latin typeface="Arial" panose="020B0604020202020204" pitchFamily="34" charset="0"/>
                <a:cs typeface="Arial" panose="020B0604020202020204" pitchFamily="34" charset="0"/>
              </a:rPr>
              <a:t>Put </a:t>
            </a:r>
            <a:r>
              <a:rPr lang="en-US" sz="1000" dirty="0">
                <a:solidFill>
                  <a:schemeClr val="tx1"/>
                </a:solidFill>
                <a:latin typeface="Arial" panose="020B0604020202020204" pitchFamily="34" charset="0"/>
                <a:cs typeface="Arial" panose="020B0604020202020204" pitchFamily="34" charset="0"/>
              </a:rPr>
              <a:t>the mouse </a:t>
            </a:r>
            <a:r>
              <a:rPr lang="en-US" sz="1000" dirty="0" smtClean="0">
                <a:solidFill>
                  <a:schemeClr val="tx1"/>
                </a:solidFill>
                <a:latin typeface="Arial" panose="020B0604020202020204" pitchFamily="34" charset="0"/>
                <a:cs typeface="Arial" panose="020B0604020202020204" pitchFamily="34" charset="0"/>
              </a:rPr>
              <a:t>over the icon to </a:t>
            </a:r>
            <a:r>
              <a:rPr lang="en-US" sz="1000" dirty="0">
                <a:solidFill>
                  <a:schemeClr val="tx1"/>
                </a:solidFill>
                <a:latin typeface="Arial" panose="020B0604020202020204" pitchFamily="34" charset="0"/>
                <a:cs typeface="Arial" panose="020B0604020202020204" pitchFamily="34" charset="0"/>
              </a:rPr>
              <a:t>see the </a:t>
            </a:r>
            <a:r>
              <a:rPr lang="en-US" sz="1000" dirty="0" smtClean="0">
                <a:solidFill>
                  <a:schemeClr val="tx1"/>
                </a:solidFill>
                <a:latin typeface="Arial" panose="020B0604020202020204" pitchFamily="34" charset="0"/>
                <a:cs typeface="Arial" panose="020B0604020202020204" pitchFamily="34" charset="0"/>
              </a:rPr>
              <a:t>reason</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Opened</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Cost</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carrier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opened</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by</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Financial</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department</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T   .The code is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automatically added to the step name</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endParaRPr>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6376" y="1708447"/>
            <a:ext cx="276225"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3569" y="2351172"/>
            <a:ext cx="295275"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5602" y="2617872"/>
            <a:ext cx="314325" cy="25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8719" y="3117923"/>
            <a:ext cx="1409700" cy="4857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20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4609" y="3861081"/>
            <a:ext cx="333375"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1042" y="4509120"/>
            <a:ext cx="3505200" cy="2571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712470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30</a:t>
            </a:fld>
            <a:endParaRPr lang="es-ES" dirty="0"/>
          </a:p>
        </p:txBody>
      </p:sp>
      <p:sp>
        <p:nvSpPr>
          <p:cNvPr id="5" name="4 CuadroTexto"/>
          <p:cNvSpPr txBox="1"/>
          <p:nvPr/>
        </p:nvSpPr>
        <p:spPr>
          <a:xfrm>
            <a:off x="267321" y="980728"/>
            <a:ext cx="7833072" cy="369332"/>
          </a:xfrm>
          <a:prstGeom prst="rect">
            <a:avLst/>
          </a:prstGeom>
          <a:noFill/>
        </p:spPr>
        <p:txBody>
          <a:bodyPr wrap="square" rtlCol="0">
            <a:spAutoFit/>
          </a:bodyPr>
          <a:lstStyle/>
          <a:p>
            <a:r>
              <a:rPr lang="es-ES" b="1" dirty="0" smtClean="0">
                <a:solidFill>
                  <a:srgbClr val="254061"/>
                </a:solidFill>
              </a:rPr>
              <a:t>REAL DATA  </a:t>
            </a:r>
            <a:endParaRPr lang="en-US" b="1" dirty="0">
              <a:solidFill>
                <a:srgbClr val="254061"/>
              </a:solidFill>
            </a:endParaRPr>
          </a:p>
        </p:txBody>
      </p:sp>
      <p:sp>
        <p:nvSpPr>
          <p:cNvPr id="3" name="Rectángulo 2"/>
          <p:cNvSpPr/>
          <p:nvPr/>
        </p:nvSpPr>
        <p:spPr>
          <a:xfrm>
            <a:off x="175642" y="1925379"/>
            <a:ext cx="2906636" cy="369332"/>
          </a:xfrm>
          <a:prstGeom prst="rect">
            <a:avLst/>
          </a:prstGeom>
        </p:spPr>
        <p:txBody>
          <a:bodyPr wrap="square">
            <a:spAutoFit/>
          </a:bodyPr>
          <a:lstStyle/>
          <a:p>
            <a:r>
              <a:rPr lang="es-ES" dirty="0" err="1">
                <a:hlinkClick r:id="rId2"/>
              </a:rPr>
              <a:t>Cost</a:t>
            </a:r>
            <a:r>
              <a:rPr lang="es-ES" dirty="0">
                <a:hlinkClick r:id="rId2"/>
              </a:rPr>
              <a:t> </a:t>
            </a:r>
            <a:r>
              <a:rPr lang="es-ES" dirty="0" err="1">
                <a:hlinkClick r:id="rId2"/>
              </a:rPr>
              <a:t>Carriers</a:t>
            </a:r>
            <a:r>
              <a:rPr lang="es-ES" dirty="0">
                <a:hlinkClick r:id="rId2"/>
              </a:rPr>
              <a:t> </a:t>
            </a:r>
            <a:r>
              <a:rPr lang="es-ES" dirty="0" err="1">
                <a:hlinkClick r:id="rId2"/>
              </a:rPr>
              <a:t>report</a:t>
            </a:r>
            <a:r>
              <a:rPr lang="es-ES" dirty="0">
                <a:hlinkClick r:id="rId2"/>
              </a:rPr>
              <a:t> (batz.es)</a:t>
            </a:r>
            <a:endParaRPr lang="es-ES" dirty="0"/>
          </a:p>
        </p:txBody>
      </p:sp>
      <p:pic>
        <p:nvPicPr>
          <p:cNvPr id="4" name="Imagen 3"/>
          <p:cNvPicPr>
            <a:picLocks noChangeAspect="1"/>
          </p:cNvPicPr>
          <p:nvPr/>
        </p:nvPicPr>
        <p:blipFill>
          <a:blip r:embed="rId3"/>
          <a:stretch>
            <a:fillRect/>
          </a:stretch>
        </p:blipFill>
        <p:spPr>
          <a:xfrm>
            <a:off x="153196" y="2611387"/>
            <a:ext cx="5977579" cy="2385069"/>
          </a:xfrm>
          <a:prstGeom prst="rect">
            <a:avLst/>
          </a:prstGeom>
          <a:ln>
            <a:noFill/>
          </a:ln>
          <a:effectLst>
            <a:outerShdw blurRad="292100" dist="139700" dir="2700000" algn="tl" rotWithShape="0">
              <a:srgbClr val="333333">
                <a:alpha val="65000"/>
              </a:srgbClr>
            </a:outerShdw>
          </a:effectLst>
        </p:spPr>
      </p:pic>
      <p:pic>
        <p:nvPicPr>
          <p:cNvPr id="7" name="Imagen 6"/>
          <p:cNvPicPr>
            <a:picLocks noChangeAspect="1"/>
          </p:cNvPicPr>
          <p:nvPr/>
        </p:nvPicPr>
        <p:blipFill>
          <a:blip r:embed="rId4"/>
          <a:stretch>
            <a:fillRect/>
          </a:stretch>
        </p:blipFill>
        <p:spPr>
          <a:xfrm>
            <a:off x="4139952" y="5080438"/>
            <a:ext cx="4193843" cy="1671870"/>
          </a:xfrm>
          <a:prstGeom prst="rect">
            <a:avLst/>
          </a:prstGeom>
          <a:ln>
            <a:noFill/>
          </a:ln>
          <a:effectLst>
            <a:outerShdw blurRad="292100" dist="139700" dir="2700000" algn="tl" rotWithShape="0">
              <a:srgbClr val="333333">
                <a:alpha val="65000"/>
              </a:srgbClr>
            </a:outerShdw>
          </a:effectLst>
        </p:spPr>
      </p:pic>
      <p:sp>
        <p:nvSpPr>
          <p:cNvPr id="8" name="Rectángulo 7"/>
          <p:cNvSpPr/>
          <p:nvPr/>
        </p:nvSpPr>
        <p:spPr>
          <a:xfrm>
            <a:off x="2337373" y="2611387"/>
            <a:ext cx="1152128" cy="74644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Rectángulo 10"/>
          <p:cNvSpPr/>
          <p:nvPr/>
        </p:nvSpPr>
        <p:spPr>
          <a:xfrm>
            <a:off x="3489501" y="2707628"/>
            <a:ext cx="1289686" cy="64807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2" name="Rectángulo 11"/>
          <p:cNvSpPr/>
          <p:nvPr/>
        </p:nvSpPr>
        <p:spPr>
          <a:xfrm>
            <a:off x="3824418" y="1480313"/>
            <a:ext cx="3261123" cy="400110"/>
          </a:xfrm>
          <a:prstGeom prst="rect">
            <a:avLst/>
          </a:prstGeom>
          <a:noFill/>
          <a:ln w="28575">
            <a:solidFill>
              <a:srgbClr val="FF0000"/>
            </a:solidFill>
          </a:ln>
        </p:spPr>
        <p:txBody>
          <a:bodyPr wrap="square">
            <a:spAutoFit/>
          </a:bodyPr>
          <a:lstStyle/>
          <a:p>
            <a:pPr lvl="0"/>
            <a:r>
              <a:rPr lang="en-US" sz="1000" dirty="0" smtClean="0">
                <a:solidFill>
                  <a:prstClr val="black"/>
                </a:solidFill>
                <a:latin typeface="Arial" panose="020B0604020202020204" pitchFamily="34" charset="0"/>
                <a:cs typeface="Arial" panose="020B0604020202020204" pitchFamily="34" charset="0"/>
              </a:rPr>
              <a:t>Amount validated through CC application for Budget and Paid by customer</a:t>
            </a:r>
            <a:endParaRPr lang="en-US" sz="1000" dirty="0">
              <a:solidFill>
                <a:prstClr val="black"/>
              </a:solidFill>
              <a:latin typeface="Arial" panose="020B0604020202020204" pitchFamily="34" charset="0"/>
              <a:cs typeface="Arial" panose="020B0604020202020204" pitchFamily="34" charset="0"/>
            </a:endParaRPr>
          </a:p>
        </p:txBody>
      </p:sp>
      <p:sp>
        <p:nvSpPr>
          <p:cNvPr id="14" name="Rectángulo 13"/>
          <p:cNvSpPr/>
          <p:nvPr/>
        </p:nvSpPr>
        <p:spPr>
          <a:xfrm>
            <a:off x="6227296" y="1806801"/>
            <a:ext cx="2862016" cy="1477328"/>
          </a:xfrm>
          <a:prstGeom prst="rect">
            <a:avLst/>
          </a:prstGeom>
          <a:solidFill>
            <a:schemeClr val="bg1"/>
          </a:solidFill>
          <a:ln w="28575">
            <a:solidFill>
              <a:srgbClr val="00B050"/>
            </a:solidFill>
          </a:ln>
        </p:spPr>
        <p:txBody>
          <a:bodyPr wrap="square">
            <a:spAutoFit/>
          </a:bodyPr>
          <a:lstStyle/>
          <a:p>
            <a:pPr lvl="0" algn="ctr"/>
            <a:r>
              <a:rPr lang="en-US" sz="1000" b="1" dirty="0" smtClean="0">
                <a:solidFill>
                  <a:prstClr val="black"/>
                </a:solidFill>
                <a:latin typeface="Arial" panose="020B0604020202020204" pitchFamily="34" charset="0"/>
                <a:cs typeface="Arial" panose="020B0604020202020204" pitchFamily="34" charset="0"/>
              </a:rPr>
              <a:t>REAL DATA/TOTAL</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XPERT: TOTAL amount of orders </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BONOS: TOTAL amount of Human – Machine Resources</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TOTAL AMOUNT INVOICED: TOTAL Invoices send to customer</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PAID: It takes 1 value when </a:t>
            </a:r>
            <a:r>
              <a:rPr lang="en-US" sz="1000" dirty="0">
                <a:solidFill>
                  <a:prstClr val="black"/>
                </a:solidFill>
                <a:latin typeface="Arial" panose="020B0604020202020204" pitchFamily="34" charset="0"/>
                <a:cs typeface="Arial" panose="020B0604020202020204" pitchFamily="34" charset="0"/>
              </a:rPr>
              <a:t>t</a:t>
            </a:r>
            <a:r>
              <a:rPr lang="en-US" sz="1000" dirty="0" smtClean="0">
                <a:solidFill>
                  <a:prstClr val="black"/>
                </a:solidFill>
                <a:latin typeface="Arial" panose="020B0604020202020204" pitchFamily="34" charset="0"/>
                <a:cs typeface="Arial" panose="020B0604020202020204" pitchFamily="34" charset="0"/>
              </a:rPr>
              <a:t>he invoice is paid.</a:t>
            </a:r>
          </a:p>
          <a:p>
            <a:pPr lvl="0"/>
            <a:endParaRPr lang="en-US" sz="1000" dirty="0">
              <a:solidFill>
                <a:prstClr val="black"/>
              </a:solidFill>
              <a:latin typeface="Arial" panose="020B0604020202020204" pitchFamily="34" charset="0"/>
              <a:cs typeface="Arial" panose="020B0604020202020204" pitchFamily="34" charset="0"/>
            </a:endParaRPr>
          </a:p>
        </p:txBody>
      </p:sp>
      <p:cxnSp>
        <p:nvCxnSpPr>
          <p:cNvPr id="15" name="Conector angular 14"/>
          <p:cNvCxnSpPr>
            <a:stCxn id="11" idx="0"/>
          </p:cNvCxnSpPr>
          <p:nvPr/>
        </p:nvCxnSpPr>
        <p:spPr>
          <a:xfrm rot="5400000" flipH="1" flipV="1">
            <a:off x="5085136" y="1522392"/>
            <a:ext cx="234444" cy="2136029"/>
          </a:xfrm>
          <a:prstGeom prst="bent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6"/>
          <p:cNvCxnSpPr>
            <a:stCxn id="4" idx="0"/>
            <a:endCxn id="12" idx="2"/>
          </p:cNvCxnSpPr>
          <p:nvPr/>
        </p:nvCxnSpPr>
        <p:spPr>
          <a:xfrm rot="5400000" flipH="1" flipV="1">
            <a:off x="3933001" y="1089408"/>
            <a:ext cx="730964" cy="2312994"/>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p:cNvSpPr/>
          <p:nvPr/>
        </p:nvSpPr>
        <p:spPr>
          <a:xfrm>
            <a:off x="2051720" y="4005064"/>
            <a:ext cx="432048" cy="288032"/>
          </a:xfrm>
          <a:prstGeom prst="ellipse">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3" name="Conector angular 22"/>
          <p:cNvCxnSpPr>
            <a:stCxn id="19" idx="5"/>
          </p:cNvCxnSpPr>
          <p:nvPr/>
        </p:nvCxnSpPr>
        <p:spPr>
          <a:xfrm rot="16200000" flipH="1">
            <a:off x="2674328" y="3997082"/>
            <a:ext cx="1255696" cy="1763361"/>
          </a:xfrm>
          <a:prstGeom prst="bentConnector2">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32 Rectángulo"/>
          <p:cNvSpPr/>
          <p:nvPr/>
        </p:nvSpPr>
        <p:spPr>
          <a:xfrm>
            <a:off x="1789225" y="5479471"/>
            <a:ext cx="2482468" cy="400110"/>
          </a:xfrm>
          <a:prstGeom prst="rect">
            <a:avLst/>
          </a:prstGeom>
        </p:spPr>
        <p:txBody>
          <a:bodyPr wrap="square">
            <a:spAutoFit/>
          </a:bodyPr>
          <a:lstStyle/>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You can see cost carrier detail clicking on the number (new window opens)</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24" name="Cerrar llave 23"/>
          <p:cNvSpPr/>
          <p:nvPr/>
        </p:nvSpPr>
        <p:spPr>
          <a:xfrm rot="5400000">
            <a:off x="5235459" y="2965732"/>
            <a:ext cx="439043" cy="1351588"/>
          </a:xfrm>
          <a:prstGeom prst="rightBrace">
            <a:avLst>
              <a:gd name="adj1" fmla="val 8333"/>
              <a:gd name="adj2" fmla="val 5091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7" name="Rectángulo 26"/>
          <p:cNvSpPr/>
          <p:nvPr/>
        </p:nvSpPr>
        <p:spPr>
          <a:xfrm>
            <a:off x="4693155" y="3832067"/>
            <a:ext cx="3336144" cy="1015663"/>
          </a:xfrm>
          <a:prstGeom prst="rect">
            <a:avLst/>
          </a:prstGeom>
          <a:solidFill>
            <a:schemeClr val="bg1"/>
          </a:solidFill>
          <a:ln w="28575">
            <a:solidFill>
              <a:schemeClr val="bg1">
                <a:lumMod val="65000"/>
              </a:schemeClr>
            </a:solidFill>
          </a:ln>
        </p:spPr>
        <p:txBody>
          <a:bodyPr wrap="square">
            <a:spAutoFit/>
          </a:bodyPr>
          <a:lstStyle/>
          <a:p>
            <a:pPr lvl="0" algn="ctr"/>
            <a:r>
              <a:rPr lang="en-US" sz="1000" b="1" dirty="0" smtClean="0">
                <a:solidFill>
                  <a:prstClr val="black"/>
                </a:solidFill>
                <a:latin typeface="Arial" panose="020B0604020202020204" pitchFamily="34" charset="0"/>
                <a:cs typeface="Arial" panose="020B0604020202020204" pitchFamily="34" charset="0"/>
              </a:rPr>
              <a:t>REAL DATA/MONTHLY</a:t>
            </a:r>
          </a:p>
          <a:p>
            <a:pPr marL="171450" lvl="0" indent="-171450">
              <a:buFont typeface="Arial" panose="020B0604020202020204" pitchFamily="34" charset="0"/>
              <a:buChar char="•"/>
            </a:pPr>
            <a:r>
              <a:rPr lang="en-US" sz="1000" dirty="0">
                <a:solidFill>
                  <a:prstClr val="black"/>
                </a:solidFill>
                <a:latin typeface="Arial" panose="020B0604020202020204" pitchFamily="34" charset="0"/>
                <a:cs typeface="Arial" panose="020B0604020202020204" pitchFamily="34" charset="0"/>
              </a:rPr>
              <a:t>XPERT: </a:t>
            </a:r>
            <a:r>
              <a:rPr lang="en-US" sz="1000" dirty="0" smtClean="0">
                <a:solidFill>
                  <a:prstClr val="black"/>
                </a:solidFill>
                <a:latin typeface="Arial" panose="020B0604020202020204" pitchFamily="34" charset="0"/>
                <a:cs typeface="Arial" panose="020B0604020202020204" pitchFamily="34" charset="0"/>
              </a:rPr>
              <a:t>Amount of orders per month </a:t>
            </a:r>
            <a:endParaRPr lang="en-US" sz="1000" dirty="0">
              <a:solidFill>
                <a:prstClr val="black"/>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000" dirty="0">
                <a:solidFill>
                  <a:prstClr val="black"/>
                </a:solidFill>
                <a:latin typeface="Arial" panose="020B0604020202020204" pitchFamily="34" charset="0"/>
                <a:cs typeface="Arial" panose="020B0604020202020204" pitchFamily="34" charset="0"/>
              </a:rPr>
              <a:t>BONOS: </a:t>
            </a:r>
            <a:r>
              <a:rPr lang="en-US" sz="1000" dirty="0" smtClean="0">
                <a:solidFill>
                  <a:prstClr val="black"/>
                </a:solidFill>
                <a:latin typeface="Arial" panose="020B0604020202020204" pitchFamily="34" charset="0"/>
                <a:cs typeface="Arial" panose="020B0604020202020204" pitchFamily="34" charset="0"/>
              </a:rPr>
              <a:t>Amount of </a:t>
            </a:r>
            <a:r>
              <a:rPr lang="en-US" sz="1000" dirty="0">
                <a:solidFill>
                  <a:prstClr val="black"/>
                </a:solidFill>
                <a:latin typeface="Arial" panose="020B0604020202020204" pitchFamily="34" charset="0"/>
                <a:cs typeface="Arial" panose="020B0604020202020204" pitchFamily="34" charset="0"/>
              </a:rPr>
              <a:t>Human – Machine </a:t>
            </a:r>
            <a:r>
              <a:rPr lang="en-US" sz="1000" dirty="0" smtClean="0">
                <a:solidFill>
                  <a:prstClr val="black"/>
                </a:solidFill>
                <a:latin typeface="Arial" panose="020B0604020202020204" pitchFamily="34" charset="0"/>
                <a:cs typeface="Arial" panose="020B0604020202020204" pitchFamily="34" charset="0"/>
              </a:rPr>
              <a:t>Resources per month</a:t>
            </a:r>
            <a:endParaRPr lang="en-US" sz="1000" dirty="0">
              <a:solidFill>
                <a:prstClr val="black"/>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000" dirty="0">
                <a:solidFill>
                  <a:prstClr val="black"/>
                </a:solidFill>
                <a:latin typeface="Arial" panose="020B0604020202020204" pitchFamily="34" charset="0"/>
                <a:cs typeface="Arial" panose="020B0604020202020204" pitchFamily="34" charset="0"/>
              </a:rPr>
              <a:t>TOTAL AMOUNT INVOICED</a:t>
            </a:r>
            <a:r>
              <a:rPr lang="en-US" sz="1000" dirty="0" smtClean="0">
                <a:solidFill>
                  <a:prstClr val="black"/>
                </a:solidFill>
                <a:latin typeface="Arial" panose="020B0604020202020204" pitchFamily="34" charset="0"/>
                <a:cs typeface="Arial" panose="020B0604020202020204" pitchFamily="34" charset="0"/>
              </a:rPr>
              <a:t>: Amount invoices </a:t>
            </a:r>
            <a:r>
              <a:rPr lang="en-US" sz="1000" dirty="0">
                <a:solidFill>
                  <a:prstClr val="black"/>
                </a:solidFill>
                <a:latin typeface="Arial" panose="020B0604020202020204" pitchFamily="34" charset="0"/>
                <a:cs typeface="Arial" panose="020B0604020202020204" pitchFamily="34" charset="0"/>
              </a:rPr>
              <a:t>send to </a:t>
            </a:r>
            <a:r>
              <a:rPr lang="en-US" sz="1000" dirty="0" smtClean="0">
                <a:solidFill>
                  <a:prstClr val="black"/>
                </a:solidFill>
                <a:latin typeface="Arial" panose="020B0604020202020204" pitchFamily="34" charset="0"/>
                <a:cs typeface="Arial" panose="020B0604020202020204" pitchFamily="34" charset="0"/>
              </a:rPr>
              <a:t>customer per month</a:t>
            </a:r>
            <a:endParaRPr lang="en-US" sz="1000" dirty="0">
              <a:solidFill>
                <a:prstClr val="black"/>
              </a:solidFill>
              <a:latin typeface="Arial" panose="020B0604020202020204" pitchFamily="34" charset="0"/>
              <a:cs typeface="Arial" panose="020B0604020202020204" pitchFamily="34" charset="0"/>
            </a:endParaRPr>
          </a:p>
        </p:txBody>
      </p:sp>
      <p:sp>
        <p:nvSpPr>
          <p:cNvPr id="28" name="9 Rectángulo"/>
          <p:cNvSpPr/>
          <p:nvPr/>
        </p:nvSpPr>
        <p:spPr>
          <a:xfrm>
            <a:off x="55811" y="1480314"/>
            <a:ext cx="3508077" cy="51697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We use Cost carrier report to follow up project real expenses</a:t>
            </a: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Link to the report:</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5844015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31</a:t>
            </a:fld>
            <a:endParaRPr lang="es-E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10" y="4149080"/>
            <a:ext cx="9052917" cy="1485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38" y="6129678"/>
            <a:ext cx="9123462" cy="32365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9" name="8 CuadroTexto"/>
          <p:cNvSpPr txBox="1"/>
          <p:nvPr/>
        </p:nvSpPr>
        <p:spPr>
          <a:xfrm>
            <a:off x="267320" y="980728"/>
            <a:ext cx="7572535" cy="369332"/>
          </a:xfrm>
          <a:prstGeom prst="rect">
            <a:avLst/>
          </a:prstGeom>
          <a:noFill/>
        </p:spPr>
        <p:txBody>
          <a:bodyPr wrap="square" rtlCol="0">
            <a:spAutoFit/>
          </a:bodyPr>
          <a:lstStyle/>
          <a:p>
            <a:r>
              <a:rPr lang="es-ES" b="1" dirty="0">
                <a:solidFill>
                  <a:srgbClr val="254061"/>
                </a:solidFill>
              </a:rPr>
              <a:t>MODIFICATION OF </a:t>
            </a:r>
            <a:r>
              <a:rPr lang="es-ES" b="1" dirty="0" smtClean="0">
                <a:solidFill>
                  <a:srgbClr val="254061"/>
                </a:solidFill>
              </a:rPr>
              <a:t>REJECTED STEP</a:t>
            </a:r>
            <a:endParaRPr lang="en-US" b="1" dirty="0">
              <a:solidFill>
                <a:srgbClr val="254061"/>
              </a:solidFill>
            </a:endParaRPr>
          </a:p>
        </p:txBody>
      </p:sp>
      <p:sp>
        <p:nvSpPr>
          <p:cNvPr id="10" name="9 Rectángulo"/>
          <p:cNvSpPr/>
          <p:nvPr/>
        </p:nvSpPr>
        <p:spPr>
          <a:xfrm>
            <a:off x="20537" y="3717032"/>
            <a:ext cx="9088189" cy="18671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In the example the step is type B (blue). We modify Expenses/Incomes and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click on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Save. The Budget Approved and Paid by customer columns are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updated</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1" name="10 Rectángulo redondeado"/>
          <p:cNvSpPr/>
          <p:nvPr/>
        </p:nvSpPr>
        <p:spPr>
          <a:xfrm>
            <a:off x="7596336" y="4623069"/>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15</a:t>
            </a:r>
            <a:endParaRPr lang="es-ES" sz="1400" dirty="0">
              <a:solidFill>
                <a:schemeClr val="tx1"/>
              </a:solidFill>
            </a:endParaRPr>
          </a:p>
        </p:txBody>
      </p:sp>
      <p:sp>
        <p:nvSpPr>
          <p:cNvPr id="12" name="11 Llamada rectangular"/>
          <p:cNvSpPr/>
          <p:nvPr/>
        </p:nvSpPr>
        <p:spPr>
          <a:xfrm>
            <a:off x="6808018" y="5386577"/>
            <a:ext cx="1728192" cy="346679"/>
          </a:xfrm>
          <a:prstGeom prst="wedgeRectCallout">
            <a:avLst>
              <a:gd name="adj1" fmla="val 8297"/>
              <a:gd name="adj2" fmla="val -1309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000" dirty="0" smtClean="0">
              <a:solidFill>
                <a:schemeClr val="tx1"/>
              </a:solidFill>
              <a:latin typeface="Arial" panose="020B0604020202020204" pitchFamily="34" charset="0"/>
              <a:cs typeface="Arial" panose="020B0604020202020204" pitchFamily="34" charset="0"/>
            </a:endParaRPr>
          </a:p>
          <a:p>
            <a:r>
              <a:rPr lang="es-ES" sz="1000" dirty="0" err="1" smtClean="0">
                <a:solidFill>
                  <a:schemeClr val="tx1"/>
                </a:solidFill>
                <a:latin typeface="Arial" panose="020B0604020202020204" pitchFamily="34" charset="0"/>
                <a:cs typeface="Arial" panose="020B0604020202020204" pitchFamily="34" charset="0"/>
              </a:rPr>
              <a:t>Modify</a:t>
            </a:r>
            <a:r>
              <a:rPr lang="es-ES" sz="1000" dirty="0" smtClean="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quantity</a:t>
            </a:r>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sp>
        <p:nvSpPr>
          <p:cNvPr id="13" name="9 Rectángulo"/>
          <p:cNvSpPr/>
          <p:nvPr/>
        </p:nvSpPr>
        <p:spPr>
          <a:xfrm>
            <a:off x="20537" y="1513622"/>
            <a:ext cx="9088189" cy="115262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In rejected state the step can be modified. The status icon will change when it is submitted for validation. To update it, you will have to take into account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which is the step type in order to do it from the proper application.</a:t>
            </a:r>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Step type A1: Modify the planning in Timecards</a:t>
            </a: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Step type A2: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Modify the technical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offer/Budget</a:t>
            </a: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Step type B</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Modify it directly in CC</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0637043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32</a:t>
            </a:fld>
            <a:endParaRPr lang="es-E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41" y="3455301"/>
            <a:ext cx="9052917" cy="148586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40" y="5409431"/>
            <a:ext cx="9002563" cy="28803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9228" y="6017468"/>
            <a:ext cx="1819275" cy="7239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8" name="7 Flecha abajo"/>
          <p:cNvSpPr/>
          <p:nvPr/>
        </p:nvSpPr>
        <p:spPr>
          <a:xfrm>
            <a:off x="8388424" y="5761484"/>
            <a:ext cx="432048" cy="255984"/>
          </a:xfrm>
          <a:prstGeom prst="down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10 CuadroTexto"/>
          <p:cNvSpPr txBox="1"/>
          <p:nvPr/>
        </p:nvSpPr>
        <p:spPr>
          <a:xfrm>
            <a:off x="267321" y="980728"/>
            <a:ext cx="7833072" cy="369332"/>
          </a:xfrm>
          <a:prstGeom prst="rect">
            <a:avLst/>
          </a:prstGeom>
          <a:noFill/>
        </p:spPr>
        <p:txBody>
          <a:bodyPr wrap="square" rtlCol="0">
            <a:spAutoFit/>
          </a:bodyPr>
          <a:lstStyle/>
          <a:p>
            <a:r>
              <a:rPr lang="es-ES" b="1" dirty="0">
                <a:solidFill>
                  <a:srgbClr val="254061"/>
                </a:solidFill>
              </a:rPr>
              <a:t>MODIFICATION OF APPROVED </a:t>
            </a:r>
            <a:r>
              <a:rPr lang="es-ES" b="1" dirty="0" smtClean="0">
                <a:solidFill>
                  <a:srgbClr val="254061"/>
                </a:solidFill>
              </a:rPr>
              <a:t>STEP</a:t>
            </a:r>
            <a:endParaRPr lang="en-US" b="1" dirty="0">
              <a:solidFill>
                <a:srgbClr val="254061"/>
              </a:solidFill>
            </a:endParaRPr>
          </a:p>
        </p:txBody>
      </p:sp>
      <p:sp>
        <p:nvSpPr>
          <p:cNvPr id="10" name="6 Rectángulo"/>
          <p:cNvSpPr/>
          <p:nvPr/>
        </p:nvSpPr>
        <p:spPr>
          <a:xfrm>
            <a:off x="0" y="1556791"/>
            <a:ext cx="9144000" cy="98549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In the open state, the step can be modified, and when it is done, an eye is drawn in the cell that informs of the value that was previously approved. This icon disappears if the modification is accepted. To update it, you will have to take into account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which is the step type and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do it from the corresponding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application</a:t>
            </a: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Step type A1: Modify the planning in Timecards</a:t>
            </a:r>
          </a:p>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Step type A2: Modify the technical offer/Budget</a:t>
            </a:r>
          </a:p>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Step type B: Modify it directly in CC</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2" name="Rectángulo 11"/>
          <p:cNvSpPr/>
          <p:nvPr/>
        </p:nvSpPr>
        <p:spPr>
          <a:xfrm>
            <a:off x="26367" y="3110771"/>
            <a:ext cx="9082136" cy="246221"/>
          </a:xfrm>
          <a:prstGeom prst="rect">
            <a:avLst/>
          </a:prstGeom>
        </p:spPr>
        <p:txBody>
          <a:bodyPr wrap="square">
            <a:spAutoFit/>
          </a:bodyPr>
          <a:lstStyle/>
          <a:p>
            <a:pPr lvl="0"/>
            <a:r>
              <a:rPr lang="en-US" sz="1000" dirty="0">
                <a:solidFill>
                  <a:prstClr val="black"/>
                </a:solidFill>
                <a:latin typeface="Arial" panose="020B0604020202020204" pitchFamily="34" charset="0"/>
                <a:cs typeface="Arial" panose="020B0604020202020204" pitchFamily="34" charset="0"/>
                <a:sym typeface="Wingdings" panose="05000000000000000000" pitchFamily="2" charset="2"/>
              </a:rPr>
              <a:t>In the example the step is type B (blue). We modify Expenses/Incomes and </a:t>
            </a:r>
            <a:r>
              <a:rPr lang="en-US" sz="1000" dirty="0" smtClean="0">
                <a:solidFill>
                  <a:prstClr val="black"/>
                </a:solidFill>
                <a:latin typeface="Arial" panose="020B0604020202020204" pitchFamily="34" charset="0"/>
                <a:cs typeface="Arial" panose="020B0604020202020204" pitchFamily="34" charset="0"/>
                <a:sym typeface="Wingdings" panose="05000000000000000000" pitchFamily="2" charset="2"/>
              </a:rPr>
              <a:t>click on Save</a:t>
            </a:r>
            <a:r>
              <a:rPr lang="en-US" sz="1000" dirty="0">
                <a:solidFill>
                  <a:prstClr val="black"/>
                </a:solidFill>
                <a:latin typeface="Arial" panose="020B0604020202020204" pitchFamily="34" charset="0"/>
                <a:cs typeface="Arial" panose="020B0604020202020204" pitchFamily="34" charset="0"/>
                <a:sym typeface="Wingdings" panose="05000000000000000000" pitchFamily="2" charset="2"/>
              </a:rPr>
              <a:t>. The Budget Approved and Paid by customer columns are updated.</a:t>
            </a:r>
            <a:endPar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765727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33</a:t>
            </a:fld>
            <a:endParaRPr lang="es-ES" dirty="0"/>
          </a:p>
        </p:txBody>
      </p:sp>
      <p:sp>
        <p:nvSpPr>
          <p:cNvPr id="3" name="10 CuadroTexto"/>
          <p:cNvSpPr txBox="1"/>
          <p:nvPr/>
        </p:nvSpPr>
        <p:spPr>
          <a:xfrm>
            <a:off x="267321" y="980728"/>
            <a:ext cx="7257008" cy="369332"/>
          </a:xfrm>
          <a:prstGeom prst="rect">
            <a:avLst/>
          </a:prstGeom>
          <a:noFill/>
        </p:spPr>
        <p:txBody>
          <a:bodyPr wrap="square" rtlCol="0">
            <a:spAutoFit/>
          </a:bodyPr>
          <a:lstStyle/>
          <a:p>
            <a:pPr indent="-285750"/>
            <a:r>
              <a:rPr lang="en-US" b="1" dirty="0">
                <a:solidFill>
                  <a:srgbClr val="254061"/>
                </a:solidFill>
              </a:rPr>
              <a:t>IMMEDIATE SYNCHRONIZATION OF </a:t>
            </a:r>
            <a:r>
              <a:rPr lang="en-US" b="1" dirty="0" smtClean="0">
                <a:solidFill>
                  <a:srgbClr val="254061"/>
                </a:solidFill>
              </a:rPr>
              <a:t>PTKSIS INFO</a:t>
            </a:r>
            <a:endParaRPr lang="en-US" b="1" dirty="0">
              <a:solidFill>
                <a:srgbClr val="254061"/>
              </a:solidFill>
            </a:endParaRPr>
          </a:p>
        </p:txBody>
      </p:sp>
      <p:pic>
        <p:nvPicPr>
          <p:cNvPr id="4" name="Imagen 3"/>
          <p:cNvPicPr>
            <a:picLocks noChangeAspect="1"/>
          </p:cNvPicPr>
          <p:nvPr/>
        </p:nvPicPr>
        <p:blipFill>
          <a:blip r:embed="rId2"/>
          <a:stretch>
            <a:fillRect/>
          </a:stretch>
        </p:blipFill>
        <p:spPr>
          <a:xfrm>
            <a:off x="355177" y="2230867"/>
            <a:ext cx="4431903" cy="2734047"/>
          </a:xfrm>
          <a:prstGeom prst="rect">
            <a:avLst/>
          </a:prstGeom>
          <a:ln>
            <a:noFill/>
          </a:ln>
          <a:effectLst>
            <a:outerShdw blurRad="190500" algn="tl" rotWithShape="0">
              <a:srgbClr val="000000">
                <a:alpha val="70000"/>
              </a:srgbClr>
            </a:outerShdw>
          </a:effectLst>
        </p:spPr>
      </p:pic>
      <p:pic>
        <p:nvPicPr>
          <p:cNvPr id="5" name="Imagen 4"/>
          <p:cNvPicPr>
            <a:picLocks noChangeAspect="1"/>
          </p:cNvPicPr>
          <p:nvPr/>
        </p:nvPicPr>
        <p:blipFill>
          <a:blip r:embed="rId3"/>
          <a:stretch>
            <a:fillRect/>
          </a:stretch>
        </p:blipFill>
        <p:spPr>
          <a:xfrm>
            <a:off x="5436096" y="2852936"/>
            <a:ext cx="3547686" cy="1747068"/>
          </a:xfrm>
          <a:prstGeom prst="rect">
            <a:avLst/>
          </a:prstGeom>
          <a:ln>
            <a:noFill/>
          </a:ln>
          <a:effectLst>
            <a:outerShdw blurRad="190500" algn="tl" rotWithShape="0">
              <a:srgbClr val="000000">
                <a:alpha val="70000"/>
              </a:srgbClr>
            </a:outerShdw>
          </a:effectLst>
        </p:spPr>
      </p:pic>
      <p:sp>
        <p:nvSpPr>
          <p:cNvPr id="6" name="9 Rectángulo"/>
          <p:cNvSpPr/>
          <p:nvPr/>
        </p:nvSpPr>
        <p:spPr>
          <a:xfrm>
            <a:off x="0" y="1587009"/>
            <a:ext cx="9144000" cy="46813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In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Cost carriers, updating the PTKSIS information or other applications (Project owner, affected projects...) is done automatically through a nightly process. If you don't want to wait for the next day, you can force immediate synchronization from the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timecards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app</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7" name="Flecha derecha 6"/>
          <p:cNvSpPr/>
          <p:nvPr/>
        </p:nvSpPr>
        <p:spPr>
          <a:xfrm>
            <a:off x="4572000" y="3501008"/>
            <a:ext cx="648072" cy="432048"/>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97528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2051" name="Picture 3"/>
          <p:cNvPicPr>
            <a:picLocks noChangeAspect="1" noChangeArrowheads="1"/>
          </p:cNvPicPr>
          <p:nvPr/>
        </p:nvPicPr>
        <p:blipFill>
          <a:blip r:embed="rId3" cstate="print"/>
          <a:srcRect b="15360"/>
          <a:stretch>
            <a:fillRect/>
          </a:stretch>
        </p:blipFill>
        <p:spPr bwMode="auto">
          <a:xfrm>
            <a:off x="3260866" y="1268760"/>
            <a:ext cx="5883134" cy="3888432"/>
          </a:xfrm>
          <a:prstGeom prst="rect">
            <a:avLst/>
          </a:prstGeom>
          <a:noFill/>
          <a:ln w="9525">
            <a:noFill/>
            <a:miter lim="800000"/>
            <a:headEnd/>
            <a:tailEnd/>
          </a:ln>
          <a:effectLst/>
        </p:spPr>
      </p:pic>
      <p:sp>
        <p:nvSpPr>
          <p:cNvPr id="9" name="8 Rectángulo"/>
          <p:cNvSpPr/>
          <p:nvPr/>
        </p:nvSpPr>
        <p:spPr>
          <a:xfrm>
            <a:off x="0" y="0"/>
            <a:ext cx="3275856" cy="688613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6" name="Picture 6"/>
          <p:cNvPicPr>
            <a:picLocks noChangeAspect="1" noChangeArrowheads="1"/>
          </p:cNvPicPr>
          <p:nvPr/>
        </p:nvPicPr>
        <p:blipFill>
          <a:blip r:embed="rId4" cstate="print"/>
          <a:srcRect/>
          <a:stretch>
            <a:fillRect/>
          </a:stretch>
        </p:blipFill>
        <p:spPr bwMode="auto">
          <a:xfrm>
            <a:off x="323528" y="476672"/>
            <a:ext cx="2448272" cy="661600"/>
          </a:xfrm>
          <a:prstGeom prst="rect">
            <a:avLst/>
          </a:prstGeom>
          <a:noFill/>
          <a:ln w="9525">
            <a:noFill/>
            <a:miter lim="800000"/>
            <a:headEnd/>
            <a:tailEnd/>
          </a:ln>
          <a:effectLst/>
        </p:spPr>
      </p:pic>
      <p:sp>
        <p:nvSpPr>
          <p:cNvPr id="8" name="7 CuadroTexto"/>
          <p:cNvSpPr txBox="1"/>
          <p:nvPr/>
        </p:nvSpPr>
        <p:spPr>
          <a:xfrm>
            <a:off x="240398" y="1268760"/>
            <a:ext cx="2808312" cy="400110"/>
          </a:xfrm>
          <a:prstGeom prst="rect">
            <a:avLst/>
          </a:prstGeom>
          <a:noFill/>
        </p:spPr>
        <p:txBody>
          <a:bodyPr wrap="square" rtlCol="0">
            <a:spAutoFit/>
          </a:bodyPr>
          <a:lstStyle/>
          <a:p>
            <a:r>
              <a:rPr lang="es-ES" sz="2000" i="1" dirty="0" smtClean="0">
                <a:solidFill>
                  <a:schemeClr val="bg1"/>
                </a:solidFill>
              </a:rPr>
              <a:t>Meeting </a:t>
            </a:r>
            <a:r>
              <a:rPr lang="en-US" sz="2000" i="1" dirty="0" smtClean="0">
                <a:solidFill>
                  <a:schemeClr val="bg1"/>
                </a:solidFill>
              </a:rPr>
              <a:t>your</a:t>
            </a:r>
            <a:r>
              <a:rPr lang="es-ES" sz="2000" i="1" dirty="0" smtClean="0">
                <a:solidFill>
                  <a:schemeClr val="bg1"/>
                </a:solidFill>
              </a:rPr>
              <a:t> </a:t>
            </a:r>
            <a:r>
              <a:rPr lang="en-US" sz="2000" i="1" dirty="0" smtClean="0">
                <a:solidFill>
                  <a:schemeClr val="bg1"/>
                </a:solidFill>
              </a:rPr>
              <a:t>challenges</a:t>
            </a:r>
            <a:endParaRPr lang="en-US" sz="2000" i="1" dirty="0">
              <a:solidFill>
                <a:schemeClr val="bg1"/>
              </a:solidFill>
            </a:endParaRPr>
          </a:p>
        </p:txBody>
      </p:sp>
      <p:sp>
        <p:nvSpPr>
          <p:cNvPr id="12" name="11 CuadroTexto"/>
          <p:cNvSpPr txBox="1"/>
          <p:nvPr/>
        </p:nvSpPr>
        <p:spPr>
          <a:xfrm>
            <a:off x="3203848" y="17329"/>
            <a:ext cx="5674331" cy="1323439"/>
          </a:xfrm>
          <a:prstGeom prst="rect">
            <a:avLst/>
          </a:prstGeom>
          <a:noFill/>
        </p:spPr>
        <p:txBody>
          <a:bodyPr wrap="square">
            <a:spAutoFit/>
          </a:bodyPr>
          <a:lstStyle/>
          <a:p>
            <a:pPr algn="r" fontAlgn="auto">
              <a:spcBef>
                <a:spcPts val="0"/>
              </a:spcBef>
              <a:spcAft>
                <a:spcPts val="0"/>
              </a:spcAft>
              <a:defRPr/>
            </a:pPr>
            <a:r>
              <a:rPr lang="es-ES" sz="4000" b="1" dirty="0" smtClean="0">
                <a:solidFill>
                  <a:schemeClr val="tx2">
                    <a:lumMod val="75000"/>
                  </a:schemeClr>
                </a:solidFill>
              </a:rPr>
              <a:t>BATZ </a:t>
            </a:r>
          </a:p>
          <a:p>
            <a:pPr algn="r" fontAlgn="auto">
              <a:spcBef>
                <a:spcPts val="0"/>
              </a:spcBef>
              <a:spcAft>
                <a:spcPts val="0"/>
              </a:spcAft>
              <a:defRPr/>
            </a:pPr>
            <a:r>
              <a:rPr lang="es-ES" sz="4000" b="1" dirty="0" smtClean="0">
                <a:solidFill>
                  <a:schemeClr val="tx2">
                    <a:lumMod val="75000"/>
                  </a:schemeClr>
                </a:solidFill>
              </a:rPr>
              <a:t>AUTOMOTIVE SYSTEMS</a:t>
            </a:r>
            <a:endParaRPr lang="es-ES" sz="4000" b="1" dirty="0" smtClean="0">
              <a:solidFill>
                <a:schemeClr val="tx2">
                  <a:lumMod val="75000"/>
                </a:schemeClr>
              </a:solidFill>
              <a:latin typeface="+mn-lt"/>
              <a:cs typeface="+mn-cs"/>
            </a:endParaRPr>
          </a:p>
        </p:txBody>
      </p:sp>
      <p:sp>
        <p:nvSpPr>
          <p:cNvPr id="7" name="6 CuadroTexto"/>
          <p:cNvSpPr txBox="1"/>
          <p:nvPr/>
        </p:nvSpPr>
        <p:spPr>
          <a:xfrm>
            <a:off x="539552" y="6405632"/>
            <a:ext cx="2664296" cy="400110"/>
          </a:xfrm>
          <a:prstGeom prst="rect">
            <a:avLst/>
          </a:prstGeom>
          <a:noFill/>
        </p:spPr>
        <p:txBody>
          <a:bodyPr wrap="square" rtlCol="0">
            <a:spAutoFit/>
          </a:bodyPr>
          <a:lstStyle/>
          <a:p>
            <a:r>
              <a:rPr lang="en-US" sz="2000" b="1" dirty="0" smtClean="0">
                <a:solidFill>
                  <a:schemeClr val="bg1"/>
                </a:solidFill>
              </a:rPr>
              <a:t>February</a:t>
            </a:r>
            <a:r>
              <a:rPr lang="es-ES" sz="2000" b="1" dirty="0" smtClean="0">
                <a:solidFill>
                  <a:schemeClr val="bg1"/>
                </a:solidFill>
              </a:rPr>
              <a:t> 2021</a:t>
            </a:r>
            <a:endParaRPr lang="es-ES" sz="2000" b="1" dirty="0">
              <a:solidFill>
                <a:schemeClr val="bg1"/>
              </a:solidFill>
            </a:endParaRPr>
          </a:p>
        </p:txBody>
      </p:sp>
      <p:sp>
        <p:nvSpPr>
          <p:cNvPr id="2" name="1 Marcador de número de diapositiva"/>
          <p:cNvSpPr>
            <a:spLocks noGrp="1"/>
          </p:cNvSpPr>
          <p:nvPr>
            <p:ph type="sldNum" sz="quarter" idx="12"/>
          </p:nvPr>
        </p:nvSpPr>
        <p:spPr/>
        <p:txBody>
          <a:bodyPr/>
          <a:lstStyle/>
          <a:p>
            <a:fld id="{132FADFE-3B8F-471C-ABF0-DBC7717ECBBC}" type="slidenum">
              <a:rPr lang="es-ES" smtClean="0"/>
              <a:pPr/>
              <a:t>34</a:t>
            </a:fld>
            <a:endParaRPr lang="es-ES" dirty="0"/>
          </a:p>
        </p:txBody>
      </p:sp>
      <p:sp>
        <p:nvSpPr>
          <p:cNvPr id="13" name="12 CuadroTexto"/>
          <p:cNvSpPr txBox="1"/>
          <p:nvPr/>
        </p:nvSpPr>
        <p:spPr>
          <a:xfrm>
            <a:off x="3362165" y="5808166"/>
            <a:ext cx="5674331" cy="892552"/>
          </a:xfrm>
          <a:prstGeom prst="rect">
            <a:avLst/>
          </a:prstGeom>
          <a:no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sz="2600" b="1" i="1" cap="all" dirty="0" err="1" smtClean="0">
                <a:ln w="0"/>
                <a:solidFill>
                  <a:schemeClr val="tx2">
                    <a:lumMod val="75000"/>
                  </a:schemeClr>
                </a:solidFill>
                <a:effectLst>
                  <a:reflection blurRad="12700" stA="50000" endPos="50000" dist="5000" dir="5400000" sy="-100000" rotWithShape="0"/>
                </a:effectLst>
              </a:rPr>
              <a:t>Request</a:t>
            </a:r>
            <a:r>
              <a:rPr lang="es-ES" sz="2600" b="1" i="1" cap="all" dirty="0" smtClean="0">
                <a:ln w="0"/>
                <a:solidFill>
                  <a:schemeClr val="tx2">
                    <a:lumMod val="75000"/>
                  </a:schemeClr>
                </a:solidFill>
                <a:effectLst>
                  <a:reflection blurRad="12700" stA="50000" endPos="50000" dist="5000" dir="5400000" sy="-100000" rotWithShape="0"/>
                </a:effectLst>
              </a:rPr>
              <a:t> </a:t>
            </a:r>
            <a:r>
              <a:rPr lang="es-ES" sz="2600" b="1" i="1" cap="all" dirty="0" err="1" smtClean="0">
                <a:ln w="0"/>
                <a:solidFill>
                  <a:schemeClr val="tx2">
                    <a:lumMod val="75000"/>
                  </a:schemeClr>
                </a:solidFill>
                <a:effectLst>
                  <a:reflection blurRad="12700" stA="50000" endPos="50000" dist="5000" dir="5400000" sy="-100000" rotWithShape="0"/>
                </a:effectLst>
              </a:rPr>
              <a:t>for</a:t>
            </a:r>
            <a:endParaRPr lang="es-ES" sz="2600" b="1" i="1" cap="all" dirty="0" smtClean="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r>
              <a:rPr lang="es-ES" sz="2600" b="1" i="1" cap="all" dirty="0" err="1" smtClean="0">
                <a:ln w="0"/>
                <a:solidFill>
                  <a:schemeClr val="accent3">
                    <a:lumMod val="50000"/>
                  </a:schemeClr>
                </a:solidFill>
                <a:effectLst>
                  <a:reflection blurRad="12700" stA="50000" endPos="50000" dist="5000" dir="5400000" sy="-100000" rotWithShape="0"/>
                </a:effectLst>
              </a:rPr>
              <a:t>invoicing</a:t>
            </a:r>
            <a:endParaRPr lang="en-US" sz="2600" b="1" i="1" cap="all" dirty="0" smtClean="0">
              <a:ln w="0"/>
              <a:solidFill>
                <a:schemeClr val="tx2">
                  <a:lumMod val="75000"/>
                </a:schemeClr>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482282098"/>
      </p:ext>
    </p:extLst>
  </p:cSld>
  <p:clrMapOvr>
    <a:masterClrMapping/>
  </p:clrMapOvr>
  <p:transition advClick="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132FADFE-3B8F-471C-ABF0-DBC7717ECBBC}" type="slidenum">
              <a:rPr lang="es-ES" smtClean="0"/>
              <a:pPr/>
              <a:t>35</a:t>
            </a:fld>
            <a:endParaRPr lang="es-ES" dirty="0"/>
          </a:p>
        </p:txBody>
      </p:sp>
      <p:sp>
        <p:nvSpPr>
          <p:cNvPr id="7" name="6 Rectángulo"/>
          <p:cNvSpPr/>
          <p:nvPr/>
        </p:nvSpPr>
        <p:spPr>
          <a:xfrm>
            <a:off x="251521" y="1484784"/>
            <a:ext cx="8496944" cy="461665"/>
          </a:xfrm>
          <a:prstGeom prst="rect">
            <a:avLst/>
          </a:prstGeom>
        </p:spPr>
        <p:txBody>
          <a:bodyPr wrap="square">
            <a:spAutoFit/>
          </a:bodyPr>
          <a:lstStyle/>
          <a:p>
            <a:pPr marL="171450" indent="-171450" algn="just">
              <a:buFont typeface="Arial" panose="020B0604020202020204" pitchFamily="34" charset="0"/>
              <a:buChar char="•"/>
            </a:pPr>
            <a:r>
              <a:rPr lang="es-ES" sz="1200" b="1" dirty="0">
                <a:latin typeface="Arial" panose="020B0604020202020204" pitchFamily="34" charset="0"/>
                <a:cs typeface="Arial" panose="020B0604020202020204" pitchFamily="34" charset="0"/>
              </a:rPr>
              <a:t>OBJETIVE: </a:t>
            </a:r>
            <a:r>
              <a:rPr lang="en-US" sz="1200" dirty="0">
                <a:latin typeface="Arial" panose="020B0604020202020204" pitchFamily="34" charset="0"/>
                <a:cs typeface="Arial" panose="020B0604020202020204" pitchFamily="34" charset="0"/>
              </a:rPr>
              <a:t>Control the invoicing process for customer-property items.</a:t>
            </a:r>
          </a:p>
          <a:p>
            <a:pPr marL="171450" indent="-171450" algn="just">
              <a:buFont typeface="Arial" panose="020B0604020202020204" pitchFamily="34" charset="0"/>
              <a:buChar char="•"/>
            </a:pPr>
            <a:r>
              <a:rPr lang="es-ES" sz="1200" b="1" dirty="0">
                <a:latin typeface="Arial" panose="020B0604020202020204" pitchFamily="34" charset="0"/>
                <a:cs typeface="Arial" panose="020B0604020202020204" pitchFamily="34" charset="0"/>
              </a:rPr>
              <a:t>SCOPE: </a:t>
            </a:r>
            <a:r>
              <a:rPr lang="en-US" sz="1200" dirty="0">
                <a:latin typeface="Arial" panose="020B0604020202020204" pitchFamily="34" charset="0"/>
                <a:cs typeface="Arial" panose="020B0604020202020204" pitchFamily="34" charset="0"/>
              </a:rPr>
              <a:t>For all those concepts owned by the customer (</a:t>
            </a:r>
            <a:r>
              <a:rPr lang="en-US" sz="1200" dirty="0" err="1">
                <a:latin typeface="Arial" panose="020B0604020202020204" pitchFamily="34" charset="0"/>
                <a:cs typeface="Arial" panose="020B0604020202020204" pitchFamily="34" charset="0"/>
              </a:rPr>
              <a:t>toolings</a:t>
            </a:r>
            <a:r>
              <a:rPr lang="en-US" sz="1200" dirty="0">
                <a:latin typeface="Arial" panose="020B0604020202020204" pitchFamily="34" charset="0"/>
                <a:cs typeface="Arial" panose="020B0604020202020204" pitchFamily="34" charset="0"/>
              </a:rPr>
              <a:t>, assembly lines, development costs, </a:t>
            </a:r>
            <a:r>
              <a:rPr lang="en-US" sz="1200" dirty="0" err="1">
                <a:latin typeface="Arial" panose="020B0604020202020204" pitchFamily="34" charset="0"/>
                <a:cs typeface="Arial" panose="020B0604020202020204" pitchFamily="34" charset="0"/>
              </a:rPr>
              <a:t>etc</a:t>
            </a:r>
            <a:endParaRPr lang="es-ES" sz="1200" dirty="0">
              <a:latin typeface="Arial" panose="020B0604020202020204" pitchFamily="34" charset="0"/>
              <a:cs typeface="Arial" panose="020B0604020202020204" pitchFamily="34" charset="0"/>
            </a:endParaRPr>
          </a:p>
        </p:txBody>
      </p:sp>
      <p:sp>
        <p:nvSpPr>
          <p:cNvPr id="3" name="2 Abrir llave"/>
          <p:cNvSpPr/>
          <p:nvPr/>
        </p:nvSpPr>
        <p:spPr>
          <a:xfrm>
            <a:off x="1573550" y="1946449"/>
            <a:ext cx="668854" cy="4758009"/>
          </a:xfrm>
          <a:prstGeom prst="leftBrace">
            <a:avLst>
              <a:gd name="adj1" fmla="val 8333"/>
              <a:gd name="adj2" fmla="val 498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6" name="25 Llamada rectangular"/>
          <p:cNvSpPr/>
          <p:nvPr/>
        </p:nvSpPr>
        <p:spPr>
          <a:xfrm>
            <a:off x="324072" y="4077072"/>
            <a:ext cx="1918332" cy="564121"/>
          </a:xfrm>
          <a:prstGeom prst="wedgeRectCallout">
            <a:avLst>
              <a:gd name="adj1" fmla="val -49861"/>
              <a:gd name="adj2" fmla="val 19889"/>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s-ES" sz="1200" b="1" dirty="0" smtClean="0">
                <a:solidFill>
                  <a:schemeClr val="tx1"/>
                </a:solidFill>
                <a:latin typeface="Arial" panose="020B0604020202020204" pitchFamily="34" charset="0"/>
                <a:cs typeface="Arial" panose="020B0604020202020204" pitchFamily="34" charset="0"/>
              </a:rPr>
              <a:t>ACCESS</a:t>
            </a:r>
            <a:endParaRPr lang="es-ES" sz="1200" b="1" i="1" dirty="0">
              <a:solidFill>
                <a:schemeClr val="tx1"/>
              </a:solidFill>
              <a:latin typeface="Arial" panose="020B0604020202020204" pitchFamily="34" charset="0"/>
              <a:cs typeface="Arial" panose="020B0604020202020204" pitchFamily="34" charset="0"/>
            </a:endParaRPr>
          </a:p>
        </p:txBody>
      </p:sp>
      <p:pic>
        <p:nvPicPr>
          <p:cNvPr id="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054914"/>
            <a:ext cx="4701251" cy="309108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8" name="27 Llamada rectangular"/>
          <p:cNvSpPr/>
          <p:nvPr/>
        </p:nvSpPr>
        <p:spPr>
          <a:xfrm>
            <a:off x="1979712" y="3429001"/>
            <a:ext cx="4608512" cy="504056"/>
          </a:xfrm>
          <a:prstGeom prst="wedgeRectCallout">
            <a:avLst>
              <a:gd name="adj1" fmla="val -16622"/>
              <a:gd name="adj2" fmla="val 123755"/>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An icon in the status column of the step  will show its order lines in </a:t>
            </a:r>
            <a:r>
              <a:rPr lang="en-US" sz="1000" b="1" i="1" dirty="0">
                <a:solidFill>
                  <a:schemeClr val="tx1"/>
                </a:solidFill>
                <a:latin typeface="Arial" panose="020B0604020202020204" pitchFamily="34" charset="0"/>
                <a:cs typeface="Arial" panose="020B0604020202020204" pitchFamily="34" charset="0"/>
              </a:rPr>
              <a:t>Sent to invoice </a:t>
            </a:r>
            <a:r>
              <a:rPr lang="en-US" sz="1000" dirty="0">
                <a:solidFill>
                  <a:schemeClr val="tx1"/>
                </a:solidFill>
                <a:latin typeface="Arial" panose="020B0604020202020204" pitchFamily="34" charset="0"/>
                <a:cs typeface="Arial" panose="020B0604020202020204" pitchFamily="34" charset="0"/>
              </a:rPr>
              <a:t>(black icon) or </a:t>
            </a:r>
            <a:r>
              <a:rPr lang="en-US" sz="1000" b="1" i="1" dirty="0">
                <a:solidFill>
                  <a:schemeClr val="tx1"/>
                </a:solidFill>
                <a:latin typeface="Arial" panose="020B0604020202020204" pitchFamily="34" charset="0"/>
                <a:cs typeface="Arial" panose="020B0604020202020204" pitchFamily="34" charset="0"/>
              </a:rPr>
              <a:t>Invoiced</a:t>
            </a:r>
            <a:r>
              <a:rPr lang="en-US" sz="1000" dirty="0">
                <a:solidFill>
                  <a:schemeClr val="tx1"/>
                </a:solidFill>
                <a:latin typeface="Arial" panose="020B0604020202020204" pitchFamily="34" charset="0"/>
                <a:cs typeface="Arial" panose="020B0604020202020204" pitchFamily="34" charset="0"/>
              </a:rPr>
              <a:t> (green icon) status</a:t>
            </a:r>
            <a:endParaRPr lang="es-ES" sz="1000" dirty="0">
              <a:solidFill>
                <a:schemeClr val="tx1"/>
              </a:solidFill>
              <a:latin typeface="Arial" panose="020B0604020202020204" pitchFamily="34" charset="0"/>
              <a:cs typeface="Arial" panose="020B0604020202020204" pitchFamily="34" charset="0"/>
            </a:endParaRPr>
          </a:p>
        </p:txBody>
      </p:sp>
      <p:sp>
        <p:nvSpPr>
          <p:cNvPr id="2" name="1 Rectángulo"/>
          <p:cNvSpPr/>
          <p:nvPr/>
        </p:nvSpPr>
        <p:spPr>
          <a:xfrm>
            <a:off x="3547025" y="4359132"/>
            <a:ext cx="160879" cy="1499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304" y="5883918"/>
            <a:ext cx="1203060" cy="7200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982" y="5727192"/>
            <a:ext cx="4852483" cy="1135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17 Llamada rectangular"/>
          <p:cNvSpPr/>
          <p:nvPr/>
        </p:nvSpPr>
        <p:spPr>
          <a:xfrm>
            <a:off x="2043288" y="5249172"/>
            <a:ext cx="3168352" cy="468052"/>
          </a:xfrm>
          <a:prstGeom prst="wedgeRectCallout">
            <a:avLst>
              <a:gd name="adj1" fmla="val 101450"/>
              <a:gd name="adj2" fmla="val 117506"/>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a:solidFill>
                  <a:schemeClr val="tx1"/>
                </a:solidFill>
                <a:latin typeface="Arial" panose="020B0604020202020204" pitchFamily="34" charset="0"/>
                <a:cs typeface="Arial" panose="020B0604020202020204" pitchFamily="34" charset="0"/>
              </a:rPr>
              <a:t>Cost</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Carriers</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Report:Amount</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invoiced</a:t>
            </a:r>
            <a:r>
              <a:rPr lang="es-ES" sz="1000" dirty="0">
                <a:solidFill>
                  <a:schemeClr val="tx1"/>
                </a:solidFill>
                <a:latin typeface="Arial" panose="020B0604020202020204" pitchFamily="34" charset="0"/>
                <a:cs typeface="Arial" panose="020B0604020202020204" pitchFamily="34" charset="0"/>
              </a:rPr>
              <a:t> and </a:t>
            </a:r>
            <a:r>
              <a:rPr lang="es-ES" sz="1000" dirty="0" err="1">
                <a:solidFill>
                  <a:schemeClr val="tx1"/>
                </a:solidFill>
                <a:latin typeface="Arial" panose="020B0604020202020204" pitchFamily="34" charset="0"/>
                <a:cs typeface="Arial" panose="020B0604020202020204" pitchFamily="34" charset="0"/>
              </a:rPr>
              <a:t>if</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it</a:t>
            </a:r>
            <a:r>
              <a:rPr lang="es-ES" sz="1000" dirty="0">
                <a:solidFill>
                  <a:schemeClr val="tx1"/>
                </a:solidFill>
                <a:latin typeface="Arial" panose="020B0604020202020204" pitchFamily="34" charset="0"/>
                <a:cs typeface="Arial" panose="020B0604020202020204" pitchFamily="34" charset="0"/>
              </a:rPr>
              <a:t> has </a:t>
            </a:r>
            <a:r>
              <a:rPr lang="es-ES" sz="1000" dirty="0" err="1">
                <a:solidFill>
                  <a:schemeClr val="tx1"/>
                </a:solidFill>
                <a:latin typeface="Arial" panose="020B0604020202020204" pitchFamily="34" charset="0"/>
                <a:cs typeface="Arial" panose="020B0604020202020204" pitchFamily="34" charset="0"/>
              </a:rPr>
              <a:t>been</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paid</a:t>
            </a:r>
            <a:r>
              <a:rPr lang="es-ES" sz="1000" dirty="0">
                <a:solidFill>
                  <a:schemeClr val="tx1"/>
                </a:solidFill>
                <a:latin typeface="Arial" panose="020B0604020202020204" pitchFamily="34" charset="0"/>
                <a:cs typeface="Arial" panose="020B0604020202020204" pitchFamily="34" charset="0"/>
              </a:rPr>
              <a:t>.</a:t>
            </a:r>
          </a:p>
        </p:txBody>
      </p:sp>
      <p:sp>
        <p:nvSpPr>
          <p:cNvPr id="19" name="18 Flecha derecha"/>
          <p:cNvSpPr/>
          <p:nvPr/>
        </p:nvSpPr>
        <p:spPr>
          <a:xfrm>
            <a:off x="3303428" y="6139269"/>
            <a:ext cx="648072" cy="209378"/>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4" name="13 CuadroTexto"/>
          <p:cNvSpPr txBox="1"/>
          <p:nvPr/>
        </p:nvSpPr>
        <p:spPr>
          <a:xfrm>
            <a:off x="251522" y="1043444"/>
            <a:ext cx="8084648" cy="369332"/>
          </a:xfrm>
          <a:prstGeom prst="rect">
            <a:avLst/>
          </a:prstGeom>
          <a:noFill/>
        </p:spPr>
        <p:txBody>
          <a:bodyPr wrap="square" rtlCol="0">
            <a:spAutoFit/>
          </a:bodyPr>
          <a:lstStyle>
            <a:defPPr>
              <a:defRPr lang="es-ES"/>
            </a:defPPr>
            <a:lvl1pPr>
              <a:defRPr b="1">
                <a:solidFill>
                  <a:srgbClr val="254061"/>
                </a:solidFill>
              </a:defRPr>
            </a:lvl1pPr>
          </a:lstStyle>
          <a:p>
            <a:r>
              <a:rPr lang="es-ES" dirty="0" smtClean="0"/>
              <a:t>OBJETIVE, SCOPE AND ACCESS</a:t>
            </a:r>
            <a:endParaRPr lang="en-US" dirty="0"/>
          </a:p>
        </p:txBody>
      </p:sp>
    </p:spTree>
    <p:extLst>
      <p:ext uri="{BB962C8B-B14F-4D97-AF65-F5344CB8AC3E}">
        <p14:creationId xmlns:p14="http://schemas.microsoft.com/office/powerpoint/2010/main" val="17651094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36</a:t>
            </a:fld>
            <a:endParaRPr lang="es-E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270" y="2027484"/>
            <a:ext cx="6826682" cy="202197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64" y="5039246"/>
            <a:ext cx="1628775" cy="6191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CuadroTexto"/>
          <p:cNvSpPr txBox="1"/>
          <p:nvPr/>
        </p:nvSpPr>
        <p:spPr>
          <a:xfrm>
            <a:off x="267321" y="980728"/>
            <a:ext cx="8121104" cy="369332"/>
          </a:xfrm>
          <a:prstGeom prst="rect">
            <a:avLst/>
          </a:prstGeom>
          <a:noFill/>
        </p:spPr>
        <p:txBody>
          <a:bodyPr wrap="square" rtlCol="0">
            <a:spAutoFit/>
          </a:bodyPr>
          <a:lstStyle/>
          <a:p>
            <a:r>
              <a:rPr lang="es-ES" b="1" dirty="0" smtClean="0">
                <a:solidFill>
                  <a:srgbClr val="254061"/>
                </a:solidFill>
              </a:rPr>
              <a:t>SENDING TO INVOICE - I</a:t>
            </a:r>
            <a:endParaRPr lang="en-US" b="1" dirty="0">
              <a:solidFill>
                <a:srgbClr val="254061"/>
              </a:solidFill>
            </a:endParaRPr>
          </a:p>
        </p:txBody>
      </p:sp>
      <p:sp>
        <p:nvSpPr>
          <p:cNvPr id="8" name="7 Rectángulo redondeado"/>
          <p:cNvSpPr/>
          <p:nvPr/>
        </p:nvSpPr>
        <p:spPr>
          <a:xfrm>
            <a:off x="386532" y="2145816"/>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1</a:t>
            </a:r>
            <a:endParaRPr lang="es-ES" sz="1400" dirty="0">
              <a:solidFill>
                <a:schemeClr val="tx1"/>
              </a:solidFill>
              <a:latin typeface="Arial" panose="020B0604020202020204" pitchFamily="34" charset="0"/>
              <a:cs typeface="Arial" panose="020B0604020202020204" pitchFamily="34" charset="0"/>
            </a:endParaRPr>
          </a:p>
        </p:txBody>
      </p:sp>
      <p:sp>
        <p:nvSpPr>
          <p:cNvPr id="9" name="8 Rectángulo"/>
          <p:cNvSpPr/>
          <p:nvPr/>
        </p:nvSpPr>
        <p:spPr>
          <a:xfrm>
            <a:off x="743050" y="2704460"/>
            <a:ext cx="216024" cy="10521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redondeado"/>
          <p:cNvSpPr/>
          <p:nvPr/>
        </p:nvSpPr>
        <p:spPr>
          <a:xfrm>
            <a:off x="693888" y="583283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2</a:t>
            </a:r>
            <a:endParaRPr lang="es-ES" sz="1400" dirty="0">
              <a:solidFill>
                <a:schemeClr val="tx1"/>
              </a:solidFill>
              <a:latin typeface="Arial" panose="020B0604020202020204" pitchFamily="34" charset="0"/>
              <a:cs typeface="Arial" panose="020B0604020202020204" pitchFamily="34" charset="0"/>
            </a:endParaRPr>
          </a:p>
        </p:txBody>
      </p:sp>
      <p:sp>
        <p:nvSpPr>
          <p:cNvPr id="12" name="11 Rectángulo"/>
          <p:cNvSpPr/>
          <p:nvPr/>
        </p:nvSpPr>
        <p:spPr>
          <a:xfrm>
            <a:off x="621881" y="5099658"/>
            <a:ext cx="1387572" cy="5589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Llamada rectangular"/>
          <p:cNvSpPr/>
          <p:nvPr/>
        </p:nvSpPr>
        <p:spPr>
          <a:xfrm>
            <a:off x="132476" y="1484785"/>
            <a:ext cx="5184576" cy="432048"/>
          </a:xfrm>
          <a:prstGeom prst="wedgeRectCallout">
            <a:avLst>
              <a:gd name="adj1" fmla="val -37072"/>
              <a:gd name="adj2" fmla="val 2199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On the "Edit Cost Carriers" page select the steps that can be invoiced</a:t>
            </a:r>
            <a:endParaRPr lang="es-ES" sz="1000" dirty="0">
              <a:solidFill>
                <a:schemeClr val="tx1"/>
              </a:solidFill>
              <a:latin typeface="Arial" panose="020B0604020202020204" pitchFamily="34" charset="0"/>
              <a:cs typeface="Arial" panose="020B0604020202020204" pitchFamily="34" charset="0"/>
            </a:endParaRPr>
          </a:p>
        </p:txBody>
      </p:sp>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4137" y="4295928"/>
            <a:ext cx="2763304" cy="237343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7" name="16 Rectángulo"/>
          <p:cNvSpPr/>
          <p:nvPr/>
        </p:nvSpPr>
        <p:spPr>
          <a:xfrm>
            <a:off x="5474755" y="6357678"/>
            <a:ext cx="1028637" cy="2831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18 Llamada rectangular"/>
          <p:cNvSpPr/>
          <p:nvPr/>
        </p:nvSpPr>
        <p:spPr>
          <a:xfrm>
            <a:off x="6549070" y="5865788"/>
            <a:ext cx="2487426" cy="375102"/>
          </a:xfrm>
          <a:prstGeom prst="wedgeRectCallout">
            <a:avLst>
              <a:gd name="adj1" fmla="val -56556"/>
              <a:gd name="adj2" fmla="val 50250"/>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If the order does not exist, it must be created</a:t>
            </a:r>
            <a:endParaRPr lang="es-ES" sz="1000" dirty="0">
              <a:solidFill>
                <a:schemeClr val="tx1"/>
              </a:solidFill>
              <a:latin typeface="Arial" panose="020B0604020202020204" pitchFamily="34" charset="0"/>
              <a:cs typeface="Arial" panose="020B0604020202020204" pitchFamily="34" charset="0"/>
            </a:endParaRPr>
          </a:p>
        </p:txBody>
      </p:sp>
      <p:sp>
        <p:nvSpPr>
          <p:cNvPr id="20" name="19 Rectángulo redondeado"/>
          <p:cNvSpPr/>
          <p:nvPr/>
        </p:nvSpPr>
        <p:spPr>
          <a:xfrm>
            <a:off x="6702004" y="632138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3</a:t>
            </a:r>
            <a:endParaRPr lang="es-ES" sz="1400" dirty="0">
              <a:solidFill>
                <a:schemeClr val="tx1"/>
              </a:solidFill>
              <a:latin typeface="Arial" panose="020B0604020202020204" pitchFamily="34" charset="0"/>
              <a:cs typeface="Arial" panose="020B0604020202020204" pitchFamily="34" charset="0"/>
            </a:endParaRPr>
          </a:p>
        </p:txBody>
      </p:sp>
      <p:sp>
        <p:nvSpPr>
          <p:cNvPr id="25" name="24 Llamada rectangular"/>
          <p:cNvSpPr/>
          <p:nvPr/>
        </p:nvSpPr>
        <p:spPr>
          <a:xfrm>
            <a:off x="323528" y="6294258"/>
            <a:ext cx="1702054" cy="375102"/>
          </a:xfrm>
          <a:prstGeom prst="wedgeRectCallout">
            <a:avLst>
              <a:gd name="adj1" fmla="val 7342"/>
              <a:gd name="adj2" fmla="val -21993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a:solidFill>
                  <a:schemeClr val="tx1"/>
                </a:solidFill>
                <a:latin typeface="Arial" panose="020B0604020202020204" pitchFamily="34" charset="0"/>
                <a:cs typeface="Arial" panose="020B0604020202020204" pitchFamily="34" charset="0"/>
              </a:rPr>
              <a:t>Click</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on</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Send</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to</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invoice</a:t>
            </a:r>
            <a:r>
              <a:rPr lang="es-ES" sz="1000" dirty="0" smtClean="0">
                <a:solidFill>
                  <a:schemeClr val="tx1"/>
                </a:solidFill>
                <a:latin typeface="Arial" panose="020B0604020202020204" pitchFamily="34" charset="0"/>
                <a:cs typeface="Arial" panose="020B0604020202020204" pitchFamily="34" charset="0"/>
              </a:rPr>
              <a:t>”</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30923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22 CuadroTexto"/>
          <p:cNvSpPr txBox="1"/>
          <p:nvPr/>
        </p:nvSpPr>
        <p:spPr>
          <a:xfrm>
            <a:off x="267321" y="980728"/>
            <a:ext cx="8121104" cy="369332"/>
          </a:xfrm>
          <a:prstGeom prst="rect">
            <a:avLst/>
          </a:prstGeom>
          <a:noFill/>
        </p:spPr>
        <p:txBody>
          <a:bodyPr wrap="square" rtlCol="0">
            <a:spAutoFit/>
          </a:bodyPr>
          <a:lstStyle/>
          <a:p>
            <a:r>
              <a:rPr lang="es-ES" b="1" dirty="0" smtClean="0">
                <a:solidFill>
                  <a:srgbClr val="254061"/>
                </a:solidFill>
              </a:rPr>
              <a:t>SENDING TO INVOICE</a:t>
            </a:r>
            <a:r>
              <a:rPr lang="es-ES" b="1" dirty="0">
                <a:solidFill>
                  <a:srgbClr val="254061"/>
                </a:solidFill>
              </a:rPr>
              <a:t> </a:t>
            </a:r>
            <a:r>
              <a:rPr lang="es-ES" b="1" dirty="0" smtClean="0">
                <a:solidFill>
                  <a:srgbClr val="254061"/>
                </a:solidFill>
              </a:rPr>
              <a:t>- II</a:t>
            </a:r>
            <a:endParaRPr lang="en-US" b="1" dirty="0">
              <a:solidFill>
                <a:srgbClr val="254061"/>
              </a:solidFill>
            </a:endParaRPr>
          </a:p>
        </p:txBody>
      </p:sp>
      <p:pic>
        <p:nvPicPr>
          <p:cNvPr id="2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470834"/>
            <a:ext cx="4542767" cy="365149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0" name="29 Rectángulo"/>
          <p:cNvSpPr/>
          <p:nvPr/>
        </p:nvSpPr>
        <p:spPr>
          <a:xfrm>
            <a:off x="8244409" y="5373216"/>
            <a:ext cx="288032" cy="26680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30 Rectángulo redondeado"/>
          <p:cNvSpPr/>
          <p:nvPr/>
        </p:nvSpPr>
        <p:spPr>
          <a:xfrm>
            <a:off x="7918831" y="5099683"/>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5</a:t>
            </a:r>
            <a:endParaRPr lang="es-ES" sz="1400" dirty="0">
              <a:solidFill>
                <a:schemeClr val="tx1"/>
              </a:solidFill>
              <a:latin typeface="Arial" panose="020B0604020202020204" pitchFamily="34" charset="0"/>
              <a:cs typeface="Arial" panose="020B0604020202020204" pitchFamily="34" charset="0"/>
            </a:endParaRPr>
          </a:p>
        </p:txBody>
      </p:sp>
      <p:sp>
        <p:nvSpPr>
          <p:cNvPr id="32" name="31 Llamada rectangular"/>
          <p:cNvSpPr/>
          <p:nvPr/>
        </p:nvSpPr>
        <p:spPr>
          <a:xfrm>
            <a:off x="7164287" y="2768940"/>
            <a:ext cx="1368153" cy="612068"/>
          </a:xfrm>
          <a:prstGeom prst="wedgeRectCallout">
            <a:avLst>
              <a:gd name="adj1" fmla="val 38621"/>
              <a:gd name="adj2" fmla="val 354603"/>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Add selection to the order</a:t>
            </a:r>
            <a:endParaRPr lang="es-ES" sz="1000" dirty="0">
              <a:solidFill>
                <a:schemeClr val="tx1"/>
              </a:solidFill>
              <a:latin typeface="Arial" panose="020B0604020202020204" pitchFamily="34" charset="0"/>
              <a:cs typeface="Arial" panose="020B0604020202020204" pitchFamily="34" charset="0"/>
            </a:endParaRPr>
          </a:p>
        </p:txBody>
      </p:sp>
      <p:pic>
        <p:nvPicPr>
          <p:cNvPr id="3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73" y="1970967"/>
            <a:ext cx="3658644" cy="211472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4" name="33 Rectángulo redondeado"/>
          <p:cNvSpPr/>
          <p:nvPr/>
        </p:nvSpPr>
        <p:spPr>
          <a:xfrm>
            <a:off x="908896" y="335145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4</a:t>
            </a:r>
            <a:endParaRPr lang="es-ES" sz="1400" dirty="0">
              <a:solidFill>
                <a:schemeClr val="tx1"/>
              </a:solidFill>
              <a:latin typeface="Arial" panose="020B0604020202020204" pitchFamily="34" charset="0"/>
              <a:cs typeface="Arial" panose="020B0604020202020204" pitchFamily="34" charset="0"/>
            </a:endParaRPr>
          </a:p>
        </p:txBody>
      </p:sp>
      <p:sp>
        <p:nvSpPr>
          <p:cNvPr id="35" name="34 Llamada rectangular"/>
          <p:cNvSpPr/>
          <p:nvPr/>
        </p:nvSpPr>
        <p:spPr>
          <a:xfrm>
            <a:off x="197073" y="4437112"/>
            <a:ext cx="3677297" cy="568814"/>
          </a:xfrm>
          <a:prstGeom prst="wedgeRectCallout">
            <a:avLst>
              <a:gd name="adj1" fmla="val -18848"/>
              <a:gd name="adj2" fmla="val -1018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smtClean="0">
                <a:solidFill>
                  <a:schemeClr val="tx1"/>
                </a:solidFill>
                <a:latin typeface="Arial" panose="020B0604020202020204" pitchFamily="34" charset="0"/>
                <a:cs typeface="Arial" panose="020B0604020202020204" pitchFamily="34" charset="0"/>
              </a:rPr>
              <a:t>Fill </a:t>
            </a:r>
            <a:r>
              <a:rPr lang="en-US" sz="1000" dirty="0">
                <a:solidFill>
                  <a:schemeClr val="tx1"/>
                </a:solidFill>
                <a:latin typeface="Arial" panose="020B0604020202020204" pitchFamily="34" charset="0"/>
                <a:cs typeface="Arial" panose="020B0604020202020204" pitchFamily="34" charset="0"/>
              </a:rPr>
              <a:t>in the order </a:t>
            </a:r>
            <a:r>
              <a:rPr lang="en-US" sz="1000" dirty="0" smtClean="0">
                <a:solidFill>
                  <a:schemeClr val="tx1"/>
                </a:solidFill>
                <a:latin typeface="Arial" panose="020B0604020202020204" pitchFamily="34" charset="0"/>
                <a:cs typeface="Arial" panose="020B0604020202020204" pitchFamily="34" charset="0"/>
              </a:rPr>
              <a:t>number, the </a:t>
            </a:r>
            <a:r>
              <a:rPr lang="en-US" sz="1000" dirty="0">
                <a:solidFill>
                  <a:schemeClr val="tx1"/>
                </a:solidFill>
                <a:latin typeface="Arial" panose="020B0604020202020204" pitchFamily="34" charset="0"/>
                <a:cs typeface="Arial" panose="020B0604020202020204" pitchFamily="34" charset="0"/>
              </a:rPr>
              <a:t>TOTAL amount of the order </a:t>
            </a:r>
            <a:r>
              <a:rPr lang="en-US" sz="1000" dirty="0" smtClean="0">
                <a:solidFill>
                  <a:schemeClr val="tx1"/>
                </a:solidFill>
                <a:latin typeface="Arial" panose="020B0604020202020204" pitchFamily="34" charset="0"/>
                <a:cs typeface="Arial" panose="020B0604020202020204" pitchFamily="34" charset="0"/>
              </a:rPr>
              <a:t>(TWO decimal places allowed) and </a:t>
            </a:r>
            <a:r>
              <a:rPr lang="en-US" sz="1000" dirty="0">
                <a:solidFill>
                  <a:schemeClr val="tx1"/>
                </a:solidFill>
                <a:latin typeface="Arial" panose="020B0604020202020204" pitchFamily="34" charset="0"/>
                <a:cs typeface="Arial" panose="020B0604020202020204" pitchFamily="34" charset="0"/>
              </a:rPr>
              <a:t>the CURRENCY in which it must be invoiced</a:t>
            </a:r>
            <a:r>
              <a:rPr lang="en-US" sz="1000" dirty="0" smtClean="0">
                <a:solidFill>
                  <a:schemeClr val="tx1"/>
                </a:solidFill>
                <a:latin typeface="Arial" panose="020B0604020202020204" pitchFamily="34" charset="0"/>
                <a:cs typeface="Arial" panose="020B0604020202020204" pitchFamily="34" charset="0"/>
              </a:rPr>
              <a:t>.</a:t>
            </a:r>
          </a:p>
        </p:txBody>
      </p:sp>
      <p:sp>
        <p:nvSpPr>
          <p:cNvPr id="36" name="35 Rectángulo"/>
          <p:cNvSpPr/>
          <p:nvPr/>
        </p:nvSpPr>
        <p:spPr>
          <a:xfrm>
            <a:off x="1389009" y="3223174"/>
            <a:ext cx="2466708" cy="4683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990918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38</a:t>
            </a:fld>
            <a:endParaRPr lang="es-E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15" y="2338480"/>
            <a:ext cx="6361295" cy="25306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Llamada rectangular"/>
          <p:cNvSpPr/>
          <p:nvPr/>
        </p:nvSpPr>
        <p:spPr>
          <a:xfrm>
            <a:off x="107504" y="1466851"/>
            <a:ext cx="3096344" cy="497635"/>
          </a:xfrm>
          <a:prstGeom prst="wedgeRectCallout">
            <a:avLst>
              <a:gd name="adj1" fmla="val 11044"/>
              <a:gd name="adj2" fmla="val 28753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err="1" smtClean="0">
                <a:solidFill>
                  <a:schemeClr val="tx1"/>
                </a:solidFill>
                <a:latin typeface="Arial" panose="020B0604020202020204" pitchFamily="34" charset="0"/>
                <a:cs typeface="Arial" panose="020B0604020202020204" pitchFamily="34" charset="0"/>
              </a:rPr>
              <a:t>Items</a:t>
            </a:r>
            <a:r>
              <a:rPr lang="es-ES" sz="1000" b="1" i="1" dirty="0" smtClean="0">
                <a:solidFill>
                  <a:schemeClr val="tx1"/>
                </a:solidFill>
                <a:latin typeface="Arial" panose="020B0604020202020204" pitchFamily="34" charset="0"/>
                <a:cs typeface="Arial" panose="020B0604020202020204" pitchFamily="34" charset="0"/>
              </a:rPr>
              <a:t>: </a:t>
            </a:r>
            <a:r>
              <a:rPr lang="en-US" sz="1000" dirty="0" smtClean="0">
                <a:solidFill>
                  <a:schemeClr val="tx1"/>
                </a:solidFill>
                <a:latin typeface="Arial" panose="020B0604020202020204" pitchFamily="34" charset="0"/>
                <a:cs typeface="Arial" panose="020B0604020202020204" pitchFamily="34" charset="0"/>
              </a:rPr>
              <a:t>Number </a:t>
            </a:r>
            <a:r>
              <a:rPr lang="en-US" sz="1000" dirty="0">
                <a:solidFill>
                  <a:schemeClr val="tx1"/>
                </a:solidFill>
                <a:latin typeface="Arial" panose="020B0604020202020204" pitchFamily="34" charset="0"/>
                <a:cs typeface="Arial" panose="020B0604020202020204" pitchFamily="34" charset="0"/>
              </a:rPr>
              <a:t>of position or positions of the customer order that matches with the carrier </a:t>
            </a:r>
            <a:endParaRPr lang="es-ES" sz="1000" dirty="0">
              <a:solidFill>
                <a:schemeClr val="tx1"/>
              </a:solidFill>
              <a:latin typeface="Arial" panose="020B0604020202020204" pitchFamily="34" charset="0"/>
              <a:cs typeface="Arial" panose="020B0604020202020204" pitchFamily="34" charset="0"/>
            </a:endParaRPr>
          </a:p>
        </p:txBody>
      </p:sp>
      <p:sp>
        <p:nvSpPr>
          <p:cNvPr id="6" name="5 Rectángulo redondeado"/>
          <p:cNvSpPr/>
          <p:nvPr/>
        </p:nvSpPr>
        <p:spPr>
          <a:xfrm>
            <a:off x="2159732" y="3017915"/>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6</a:t>
            </a:r>
            <a:endParaRPr lang="es-ES" sz="1400" dirty="0">
              <a:solidFill>
                <a:schemeClr val="tx1"/>
              </a:solidFill>
              <a:latin typeface="Arial" panose="020B0604020202020204" pitchFamily="34" charset="0"/>
              <a:cs typeface="Arial" panose="020B0604020202020204" pitchFamily="34" charset="0"/>
            </a:endParaRPr>
          </a:p>
        </p:txBody>
      </p:sp>
      <p:sp>
        <p:nvSpPr>
          <p:cNvPr id="7" name="6 Rectángulo redondeado"/>
          <p:cNvSpPr/>
          <p:nvPr/>
        </p:nvSpPr>
        <p:spPr>
          <a:xfrm>
            <a:off x="3701732" y="309169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7</a:t>
            </a:r>
            <a:endParaRPr lang="es-ES" sz="1400" dirty="0">
              <a:solidFill>
                <a:schemeClr val="tx1"/>
              </a:solidFill>
              <a:latin typeface="Arial" panose="020B0604020202020204" pitchFamily="34" charset="0"/>
              <a:cs typeface="Arial" panose="020B0604020202020204" pitchFamily="34" charset="0"/>
            </a:endParaRPr>
          </a:p>
        </p:txBody>
      </p:sp>
      <p:sp>
        <p:nvSpPr>
          <p:cNvPr id="8" name="7 Llamada rectangular"/>
          <p:cNvSpPr/>
          <p:nvPr/>
        </p:nvSpPr>
        <p:spPr>
          <a:xfrm>
            <a:off x="2863724" y="1996174"/>
            <a:ext cx="2592288" cy="497635"/>
          </a:xfrm>
          <a:prstGeom prst="wedgeRectCallout">
            <a:avLst>
              <a:gd name="adj1" fmla="val -11644"/>
              <a:gd name="adj2" fmla="val 14754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smtClean="0">
                <a:solidFill>
                  <a:schemeClr val="tx1"/>
                </a:solidFill>
                <a:latin typeface="Arial" panose="020B0604020202020204" pitchFamily="34" charset="0"/>
                <a:cs typeface="Arial" panose="020B0604020202020204" pitchFamily="34" charset="0"/>
              </a:rPr>
              <a:t>%:</a:t>
            </a:r>
            <a:r>
              <a:rPr lang="es-ES" sz="1000" dirty="0" smtClean="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Percentage</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invoiced</a:t>
            </a:r>
            <a:r>
              <a:rPr lang="es-ES" sz="1000" dirty="0">
                <a:solidFill>
                  <a:schemeClr val="tx1"/>
                </a:solidFill>
                <a:latin typeface="Arial" panose="020B0604020202020204" pitchFamily="34" charset="0"/>
                <a:cs typeface="Arial" panose="020B0604020202020204" pitchFamily="34" charset="0"/>
              </a:rPr>
              <a:t> . </a:t>
            </a:r>
            <a:r>
              <a:rPr lang="en-US" sz="1000" dirty="0">
                <a:solidFill>
                  <a:schemeClr val="tx1"/>
                </a:solidFill>
                <a:latin typeface="Arial" panose="020B0604020202020204" pitchFamily="34" charset="0"/>
                <a:cs typeface="Arial" panose="020B0604020202020204" pitchFamily="34" charset="0"/>
              </a:rPr>
              <a:t>The default value is 100</a:t>
            </a:r>
            <a:endParaRPr lang="es-ES" sz="1000" dirty="0">
              <a:solidFill>
                <a:schemeClr val="tx1"/>
              </a:solidFill>
              <a:latin typeface="Arial" panose="020B0604020202020204" pitchFamily="34" charset="0"/>
              <a:cs typeface="Arial" panose="020B0604020202020204" pitchFamily="34" charset="0"/>
            </a:endParaRPr>
          </a:p>
        </p:txBody>
      </p:sp>
      <p:sp>
        <p:nvSpPr>
          <p:cNvPr id="9" name="8 Rectángulo redondeado"/>
          <p:cNvSpPr/>
          <p:nvPr/>
        </p:nvSpPr>
        <p:spPr>
          <a:xfrm>
            <a:off x="5313343" y="285153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8</a:t>
            </a:r>
            <a:endParaRPr lang="es-ES" sz="1400" dirty="0">
              <a:solidFill>
                <a:schemeClr val="tx1"/>
              </a:solidFill>
              <a:latin typeface="Arial" panose="020B0604020202020204" pitchFamily="34" charset="0"/>
              <a:cs typeface="Arial" panose="020B0604020202020204" pitchFamily="34" charset="0"/>
            </a:endParaRPr>
          </a:p>
        </p:txBody>
      </p:sp>
      <p:sp>
        <p:nvSpPr>
          <p:cNvPr id="10" name="9 Llamada rectangular"/>
          <p:cNvSpPr/>
          <p:nvPr/>
        </p:nvSpPr>
        <p:spPr>
          <a:xfrm>
            <a:off x="5493362" y="1916832"/>
            <a:ext cx="2679037" cy="670465"/>
          </a:xfrm>
          <a:prstGeom prst="wedgeRectCallout">
            <a:avLst>
              <a:gd name="adj1" fmla="val -43674"/>
              <a:gd name="adj2" fmla="val 9051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err="1" smtClean="0">
                <a:solidFill>
                  <a:schemeClr val="tx1"/>
                </a:solidFill>
                <a:latin typeface="Arial" panose="020B0604020202020204" pitchFamily="34" charset="0"/>
                <a:cs typeface="Arial" panose="020B0604020202020204" pitchFamily="34" charset="0"/>
              </a:rPr>
              <a:t>Amount</a:t>
            </a:r>
            <a:r>
              <a:rPr lang="es-ES" sz="1000" b="1" i="1" dirty="0" smtClean="0">
                <a:solidFill>
                  <a:schemeClr val="tx1"/>
                </a:solidFill>
                <a:latin typeface="Arial" panose="020B0604020202020204" pitchFamily="34" charset="0"/>
                <a:cs typeface="Arial" panose="020B0604020202020204" pitchFamily="34" charset="0"/>
              </a:rPr>
              <a:t>:</a:t>
            </a:r>
            <a:r>
              <a:rPr lang="es-ES" sz="1000" dirty="0" smtClean="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Amount to be invoiced. If the value is 0, that carrier should not appear on the </a:t>
            </a:r>
            <a:r>
              <a:rPr lang="en-US" sz="1000" dirty="0" smtClean="0">
                <a:solidFill>
                  <a:schemeClr val="tx1"/>
                </a:solidFill>
                <a:latin typeface="Arial" panose="020B0604020202020204" pitchFamily="34" charset="0"/>
                <a:cs typeface="Arial" panose="020B0604020202020204" pitchFamily="34" charset="0"/>
              </a:rPr>
              <a:t>invoice. TWO </a:t>
            </a:r>
            <a:r>
              <a:rPr lang="en-US" sz="1000" dirty="0">
                <a:solidFill>
                  <a:schemeClr val="tx1"/>
                </a:solidFill>
                <a:latin typeface="Arial" panose="020B0604020202020204" pitchFamily="34" charset="0"/>
                <a:cs typeface="Arial" panose="020B0604020202020204" pitchFamily="34" charset="0"/>
              </a:rPr>
              <a:t>decimal places </a:t>
            </a:r>
            <a:r>
              <a:rPr lang="en-US" sz="1000" dirty="0" smtClean="0">
                <a:solidFill>
                  <a:schemeClr val="tx1"/>
                </a:solidFill>
                <a:latin typeface="Arial" panose="020B0604020202020204" pitchFamily="34" charset="0"/>
                <a:cs typeface="Arial" panose="020B0604020202020204" pitchFamily="34" charset="0"/>
              </a:rPr>
              <a:t>allowed</a:t>
            </a:r>
            <a:r>
              <a:rPr lang="en-US" sz="1000" dirty="0">
                <a:solidFill>
                  <a:schemeClr val="tx1"/>
                </a:solidFill>
                <a:latin typeface="Arial" panose="020B0604020202020204" pitchFamily="34" charset="0"/>
                <a:cs typeface="Arial" panose="020B0604020202020204" pitchFamily="34" charset="0"/>
              </a:rPr>
              <a:t>.</a:t>
            </a:r>
            <a:endParaRPr lang="es-ES" sz="1000" dirty="0">
              <a:solidFill>
                <a:schemeClr val="tx1"/>
              </a:solidFill>
              <a:latin typeface="Arial" panose="020B0604020202020204" pitchFamily="34" charset="0"/>
              <a:cs typeface="Arial" panose="020B0604020202020204" pitchFamily="34" charset="0"/>
            </a:endParaRPr>
          </a:p>
        </p:txBody>
      </p:sp>
      <p:sp>
        <p:nvSpPr>
          <p:cNvPr id="11" name="10 Rectángulo redondeado"/>
          <p:cNvSpPr/>
          <p:nvPr/>
        </p:nvSpPr>
        <p:spPr>
          <a:xfrm>
            <a:off x="2738661" y="452854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9</a:t>
            </a:r>
            <a:endParaRPr lang="es-ES" sz="1400" dirty="0">
              <a:solidFill>
                <a:schemeClr val="tx1"/>
              </a:solidFill>
              <a:latin typeface="Arial" panose="020B0604020202020204" pitchFamily="34" charset="0"/>
              <a:cs typeface="Arial" panose="020B0604020202020204" pitchFamily="34" charset="0"/>
            </a:endParaRPr>
          </a:p>
        </p:txBody>
      </p:sp>
      <p:sp>
        <p:nvSpPr>
          <p:cNvPr id="12" name="11 Llamada rectangular"/>
          <p:cNvSpPr/>
          <p:nvPr/>
        </p:nvSpPr>
        <p:spPr>
          <a:xfrm>
            <a:off x="3779912" y="4410822"/>
            <a:ext cx="2592288" cy="508986"/>
          </a:xfrm>
          <a:prstGeom prst="wedgeRectCallout">
            <a:avLst>
              <a:gd name="adj1" fmla="val -80051"/>
              <a:gd name="adj2" fmla="val 55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smtClean="0">
                <a:solidFill>
                  <a:schemeClr val="tx1"/>
                </a:solidFill>
                <a:latin typeface="Arial" panose="020B0604020202020204" pitchFamily="34" charset="0"/>
                <a:cs typeface="Arial" panose="020B0604020202020204" pitchFamily="34" charset="0"/>
              </a:rPr>
              <a:t>Additional Instructions:</a:t>
            </a:r>
            <a:r>
              <a:rPr lang="es-ES" sz="1000" dirty="0" smtClean="0">
                <a:solidFill>
                  <a:schemeClr val="tx1"/>
                </a:solidFill>
                <a:latin typeface="Arial" panose="020B0604020202020204" pitchFamily="34" charset="0"/>
                <a:cs typeface="Arial" panose="020B0604020202020204" pitchFamily="34" charset="0"/>
              </a:rPr>
              <a:t> Instructions </a:t>
            </a:r>
            <a:r>
              <a:rPr lang="es-ES" sz="1000" dirty="0" err="1" smtClean="0">
                <a:solidFill>
                  <a:schemeClr val="tx1"/>
                </a:solidFill>
                <a:latin typeface="Arial" panose="020B0604020202020204" pitchFamily="34" charset="0"/>
                <a:cs typeface="Arial" panose="020B0604020202020204" pitchFamily="34" charset="0"/>
              </a:rPr>
              <a:t>or</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additional</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info</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for</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the</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invoicing</a:t>
            </a:r>
            <a:r>
              <a:rPr lang="es-ES" sz="1000" dirty="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person</a:t>
            </a:r>
            <a:r>
              <a:rPr lang="es-ES" sz="1000" dirty="0" smtClean="0">
                <a:solidFill>
                  <a:schemeClr val="tx1"/>
                </a:solidFill>
                <a:latin typeface="Arial" panose="020B0604020202020204" pitchFamily="34" charset="0"/>
                <a:cs typeface="Arial" panose="020B0604020202020204" pitchFamily="34" charset="0"/>
              </a:rPr>
              <a:t>.</a:t>
            </a:r>
            <a:endParaRPr lang="es-ES" sz="1000" dirty="0">
              <a:solidFill>
                <a:schemeClr val="tx1"/>
              </a:solidFill>
              <a:latin typeface="Arial" panose="020B0604020202020204" pitchFamily="34" charset="0"/>
              <a:cs typeface="Arial" panose="020B0604020202020204" pitchFamily="34" charset="0"/>
            </a:endParaRPr>
          </a:p>
        </p:txBody>
      </p:sp>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5740" y="5085184"/>
            <a:ext cx="1407984" cy="113420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6" name="15 Rectángulo redondeado"/>
          <p:cNvSpPr/>
          <p:nvPr/>
        </p:nvSpPr>
        <p:spPr>
          <a:xfrm>
            <a:off x="2592177" y="5435723"/>
            <a:ext cx="467655"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10</a:t>
            </a:r>
            <a:endParaRPr lang="es-ES" sz="1400" dirty="0">
              <a:solidFill>
                <a:schemeClr val="tx1"/>
              </a:solidFill>
              <a:latin typeface="Arial" panose="020B0604020202020204" pitchFamily="34" charset="0"/>
              <a:cs typeface="Arial" panose="020B0604020202020204" pitchFamily="34" charset="0"/>
            </a:endParaRPr>
          </a:p>
        </p:txBody>
      </p:sp>
      <p:sp>
        <p:nvSpPr>
          <p:cNvPr id="17" name="16 CuadroTexto"/>
          <p:cNvSpPr txBox="1"/>
          <p:nvPr/>
        </p:nvSpPr>
        <p:spPr>
          <a:xfrm>
            <a:off x="267321" y="980728"/>
            <a:ext cx="8121104" cy="369332"/>
          </a:xfrm>
          <a:prstGeom prst="rect">
            <a:avLst/>
          </a:prstGeom>
          <a:noFill/>
        </p:spPr>
        <p:txBody>
          <a:bodyPr wrap="square" rtlCol="0">
            <a:spAutoFit/>
          </a:bodyPr>
          <a:lstStyle/>
          <a:p>
            <a:r>
              <a:rPr lang="es-ES" b="1" dirty="0" smtClean="0">
                <a:solidFill>
                  <a:srgbClr val="254061"/>
                </a:solidFill>
              </a:rPr>
              <a:t>SENDING TO INVOICE</a:t>
            </a:r>
            <a:r>
              <a:rPr lang="es-ES" b="1" dirty="0">
                <a:solidFill>
                  <a:srgbClr val="254061"/>
                </a:solidFill>
              </a:rPr>
              <a:t> </a:t>
            </a:r>
            <a:r>
              <a:rPr lang="es-ES" b="1" dirty="0" smtClean="0">
                <a:solidFill>
                  <a:srgbClr val="254061"/>
                </a:solidFill>
              </a:rPr>
              <a:t>- III</a:t>
            </a:r>
            <a:endParaRPr lang="en-US" b="1" dirty="0">
              <a:solidFill>
                <a:srgbClr val="254061"/>
              </a:solidFill>
            </a:endParaRPr>
          </a:p>
        </p:txBody>
      </p:sp>
      <p:sp>
        <p:nvSpPr>
          <p:cNvPr id="19" name="18 Llamada rectangular"/>
          <p:cNvSpPr/>
          <p:nvPr/>
        </p:nvSpPr>
        <p:spPr>
          <a:xfrm>
            <a:off x="3131375" y="5970575"/>
            <a:ext cx="2592288" cy="497635"/>
          </a:xfrm>
          <a:prstGeom prst="wedgeRectCallout">
            <a:avLst>
              <a:gd name="adj1" fmla="val -65568"/>
              <a:gd name="adj2" fmla="val -95342"/>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anose="020B0604020202020204" pitchFamily="34" charset="0"/>
                <a:cs typeface="Arial" panose="020B0604020202020204" pitchFamily="34" charset="0"/>
              </a:rPr>
              <a:t>After clicking </a:t>
            </a:r>
            <a:r>
              <a:rPr lang="en-US" sz="1000" dirty="0" smtClean="0">
                <a:solidFill>
                  <a:schemeClr val="tx1"/>
                </a:solidFill>
                <a:latin typeface="Arial" panose="020B0604020202020204" pitchFamily="34" charset="0"/>
                <a:cs typeface="Arial" panose="020B0604020202020204" pitchFamily="34" charset="0"/>
              </a:rPr>
              <a:t>on “Send </a:t>
            </a:r>
            <a:r>
              <a:rPr lang="en-US" sz="1000" dirty="0">
                <a:solidFill>
                  <a:schemeClr val="tx1"/>
                </a:solidFill>
                <a:latin typeface="Arial" panose="020B0604020202020204" pitchFamily="34" charset="0"/>
                <a:cs typeface="Arial" panose="020B0604020202020204" pitchFamily="34" charset="0"/>
              </a:rPr>
              <a:t>to invoice” the status column will change to “Invoiced”</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587795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schemeClr>
        </a:solidFill>
        <a:ln w="3175">
          <a:solidFill>
            <a:schemeClr val="tx1"/>
          </a:solidFill>
        </a:ln>
      </a:spPr>
      <a:bodyPr rtlCol="0" anchor="ctr"/>
      <a:lstStyle>
        <a:defPPr algn="ctr">
          <a:defRPr sz="14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schemeClr>
        </a:solidFill>
        <a:ln w="3175">
          <a:solidFill>
            <a:schemeClr val="tx1"/>
          </a:solidFill>
        </a:ln>
      </a:spPr>
      <a:bodyPr rtlCol="0" anchor="ctr"/>
      <a:lstStyle>
        <a:defPPr algn="ctr">
          <a:defRPr sz="14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7137</TotalTime>
  <Words>3663</Words>
  <Application>Microsoft Office PowerPoint</Application>
  <PresentationFormat>Presentación en pantalla (4:3)</PresentationFormat>
  <Paragraphs>518</Paragraphs>
  <Slides>38</Slides>
  <Notes>5</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38</vt:i4>
      </vt:variant>
    </vt:vector>
  </HeadingPairs>
  <TitlesOfParts>
    <vt:vector size="44" baseType="lpstr">
      <vt:lpstr>Arial</vt:lpstr>
      <vt:lpstr>Calibri</vt:lpstr>
      <vt:lpstr>Roboto</vt:lpstr>
      <vt:lpstr>Wingdings</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Maite Olivares Beobide</dc:creator>
  <cp:lastModifiedBy>Maite Olivares Beobide</cp:lastModifiedBy>
  <cp:revision>875</cp:revision>
  <dcterms:created xsi:type="dcterms:W3CDTF">2016-09-22T15:22:34Z</dcterms:created>
  <dcterms:modified xsi:type="dcterms:W3CDTF">2023-09-11T10:54:52Z</dcterms:modified>
</cp:coreProperties>
</file>